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omments/comment2.xml" ContentType="application/vnd.openxmlformats-officedocument.presentationml.comment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7"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3" r:id="rId56"/>
    <p:sldId id="361" r:id="rId57"/>
    <p:sldId id="364" r:id="rId58"/>
    <p:sldId id="365" r:id="rId59"/>
    <p:sldId id="366" r:id="rId60"/>
    <p:sldId id="369" r:id="rId61"/>
    <p:sldId id="371" r:id="rId62"/>
    <p:sldId id="367" r:id="rId63"/>
    <p:sldId id="372" r:id="rId64"/>
    <p:sldId id="373" r:id="rId65"/>
    <p:sldId id="374" r:id="rId66"/>
    <p:sldId id="375" r:id="rId67"/>
    <p:sldId id="376" r:id="rId68"/>
    <p:sldId id="377" r:id="rId69"/>
    <p:sldId id="378" r:id="rId70"/>
    <p:sldId id="362" r:id="rId71"/>
    <p:sldId id="299" r:id="rId72"/>
    <p:sldId id="379" r:id="rId73"/>
    <p:sldId id="380" r:id="rId74"/>
    <p:sldId id="330" r:id="rId75"/>
    <p:sldId id="331" r:id="rId76"/>
    <p:sldId id="381" r:id="rId77"/>
    <p:sldId id="332" r:id="rId78"/>
    <p:sldId id="333" r:id="rId79"/>
    <p:sldId id="334" r:id="rId80"/>
    <p:sldId id="335" r:id="rId81"/>
    <p:sldId id="382" r:id="rId82"/>
    <p:sldId id="336" r:id="rId83"/>
    <p:sldId id="337" r:id="rId84"/>
    <p:sldId id="383" r:id="rId85"/>
    <p:sldId id="384" r:id="rId86"/>
    <p:sldId id="339" r:id="rId87"/>
    <p:sldId id="340" r:id="rId88"/>
    <p:sldId id="342" r:id="rId89"/>
    <p:sldId id="343" r:id="rId90"/>
    <p:sldId id="344" r:id="rId91"/>
    <p:sldId id="345" r:id="rId92"/>
    <p:sldId id="346"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ivp" initials="i"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6EE8E5-DB72-1246-BC14-1F3459B4DD82}" v="2" dt="2026-08-12T17:52:00.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9"/>
  </p:normalViewPr>
  <p:slideViewPr>
    <p:cSldViewPr snapToGrid="0" snapToObjects="1">
      <p:cViewPr varScale="1">
        <p:scale>
          <a:sx n="158" d="100"/>
          <a:sy n="158" d="100"/>
        </p:scale>
        <p:origin x="86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zhi Sun" userId="d92104dd-b3d4-4ba4-a177-5198d7827734" providerId="ADAL" clId="{CBA22528-FB7F-5D85-8D87-EA1D32FF02C7}"/>
    <pc:docChg chg="modSld">
      <pc:chgData name="Yizhi Sun" userId="d92104dd-b3d4-4ba4-a177-5198d7827734" providerId="ADAL" clId="{CBA22528-FB7F-5D85-8D87-EA1D32FF02C7}" dt="2026-08-12T17:52:00.902" v="1" actId="478"/>
      <pc:docMkLst>
        <pc:docMk/>
      </pc:docMkLst>
      <pc:sldChg chg="addSp delSp">
        <pc:chgData name="Yizhi Sun" userId="d92104dd-b3d4-4ba4-a177-5198d7827734" providerId="ADAL" clId="{CBA22528-FB7F-5D85-8D87-EA1D32FF02C7}" dt="2026-08-12T17:52:00.902" v="1" actId="478"/>
        <pc:sldMkLst>
          <pc:docMk/>
          <pc:sldMk cId="2833131150" sldId="260"/>
        </pc:sldMkLst>
        <pc:picChg chg="add del">
          <ac:chgData name="Yizhi Sun" userId="d92104dd-b3d4-4ba4-a177-5198d7827734" providerId="ADAL" clId="{CBA22528-FB7F-5D85-8D87-EA1D32FF02C7}" dt="2026-08-12T17:52:00.902" v="1" actId="478"/>
          <ac:picMkLst>
            <pc:docMk/>
            <pc:sldMk cId="2833131150" sldId="260"/>
            <ac:picMk id="21506" creationId="{00000000-0000-0000-0000-000000000000}"/>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15-06-08T14:10:44.132" idx="1">
    <p:pos x="1823" y="2682"/>
    <p:text>Do you want to add 'through the column'  after 'passing', or leave as is?</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5-06-09T08:41:09.276" idx="4">
    <p:pos x="3221" y="1842"/>
    <p:text>Do you want to have the initial 'f'? Text just says formylmethionine.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762574-C156-614E-9DDC-DAC2E1A2AD7E}" type="datetimeFigureOut">
              <a:rPr lang="en-US" smtClean="0"/>
              <a:t>8/12/26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E3E41B8-3372-3643-9D7D-806C96DC6267}" type="slidenum">
              <a:rPr lang="en-US" smtClean="0"/>
              <a:t>‹#›</a:t>
            </a:fld>
            <a:endParaRPr lang="en-US" dirty="0"/>
          </a:p>
        </p:txBody>
      </p:sp>
    </p:spTree>
    <p:extLst>
      <p:ext uri="{BB962C8B-B14F-4D97-AF65-F5344CB8AC3E}">
        <p14:creationId xmlns:p14="http://schemas.microsoft.com/office/powerpoint/2010/main" val="21586844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16187A2-7EC8-2B4E-8079-67DEA6A2CBB2}" type="slidenum">
              <a:rPr lang="en-US"/>
              <a:pPr>
                <a:defRPr/>
              </a:pPr>
              <a:t>1</a:t>
            </a:fld>
            <a:endParaRPr lang="en-US" dirty="0"/>
          </a:p>
        </p:txBody>
      </p:sp>
      <p:sp>
        <p:nvSpPr>
          <p:cNvPr id="196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6611" name="Rectangle 3"/>
          <p:cNvSpPr>
            <a:spLocks noGrp="1" noChangeArrowheads="1"/>
          </p:cNvSpPr>
          <p:nvPr>
            <p:ph type="body" idx="1"/>
          </p:nvPr>
        </p:nvSpPr>
        <p:spPr/>
        <p:txBody>
          <a:bodyPr/>
          <a:lstStyle/>
          <a:p>
            <a:pPr>
              <a:defRPr/>
            </a:pPr>
            <a:r>
              <a:rPr lang="en-US" dirty="0"/>
              <a:t>Milk, a source of nourishment for all mammals, is composed, in part, of a</a:t>
            </a:r>
            <a:r>
              <a:rPr lang="en-US" baseline="0" dirty="0"/>
              <a:t> </a:t>
            </a:r>
            <a:r>
              <a:rPr lang="en-US" dirty="0"/>
              <a:t>variety of proteins. The protein components of milk are revealed by the</a:t>
            </a:r>
            <a:r>
              <a:rPr lang="en-US" baseline="0" dirty="0"/>
              <a:t> </a:t>
            </a:r>
            <a:r>
              <a:rPr lang="en-US" dirty="0"/>
              <a:t>technique of MALDI–TOF mass spectrometry, which separates molecules on</a:t>
            </a:r>
            <a:r>
              <a:rPr lang="en-US" baseline="0" dirty="0"/>
              <a:t> </a:t>
            </a:r>
            <a:r>
              <a:rPr lang="en-US" dirty="0"/>
              <a:t>the basis of their mass-to-charge ratio. [(Left) Okea/istockphoto.com. (Right)</a:t>
            </a:r>
            <a:r>
              <a:rPr lang="en-US" baseline="0" dirty="0"/>
              <a:t> </a:t>
            </a:r>
            <a:r>
              <a:rPr lang="en-US" dirty="0"/>
              <a:t>Courtesy of Dr. Brian Chait.]</a:t>
            </a:r>
            <a:endParaRPr lang="en-US" dirty="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8376E0B-E681-234A-9B5D-A21D9B0042B4}" type="slidenum">
              <a:rPr lang="en-US"/>
              <a:pPr>
                <a:defRPr/>
              </a:pPr>
              <a:t>2</a:t>
            </a:fld>
            <a:endParaRPr lang="en-US" dirty="0"/>
          </a:p>
        </p:txBody>
      </p:sp>
      <p:sp>
        <p:nvSpPr>
          <p:cNvPr id="1976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763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8D32A38-4FBC-8C44-9774-F36B90AB1CF7}" type="slidenum">
              <a:rPr lang="en-US"/>
              <a:pPr>
                <a:defRPr/>
              </a:pPr>
              <a:t>5</a:t>
            </a:fld>
            <a:endParaRPr lang="en-US" dirty="0"/>
          </a:p>
        </p:txBody>
      </p:sp>
      <p:sp>
        <p:nvSpPr>
          <p:cNvPr id="198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8659"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6D02FA3-C0AD-1D4D-A24F-09727D0FBA9D}" type="slidenum">
              <a:rPr lang="en-US"/>
              <a:pPr>
                <a:defRPr/>
              </a:pPr>
              <a:t>7</a:t>
            </a:fld>
            <a:endParaRPr lang="en-US" dirty="0"/>
          </a:p>
        </p:txBody>
      </p:sp>
      <p:sp>
        <p:nvSpPr>
          <p:cNvPr id="1996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9683" name="Rectangle 3"/>
          <p:cNvSpPr>
            <a:spLocks noGrp="1" noChangeArrowheads="1"/>
          </p:cNvSpPr>
          <p:nvPr>
            <p:ph type="body" idx="1"/>
          </p:nvPr>
        </p:nvSpPr>
        <p:spPr/>
        <p:txBody>
          <a:bodyPr/>
          <a:lstStyle/>
          <a:p>
            <a:pPr>
              <a:defRPr/>
            </a:pPr>
            <a:r>
              <a:rPr lang="en-US" b="1" dirty="0"/>
              <a:t>FIGURE 3.1 Differential centrifugation.</a:t>
            </a:r>
            <a:r>
              <a:rPr lang="en-US" b="1" baseline="0" dirty="0"/>
              <a:t> </a:t>
            </a:r>
            <a:r>
              <a:rPr lang="en-US" dirty="0"/>
              <a:t>Cells are disrupted in a homogenizer and the</a:t>
            </a:r>
            <a:r>
              <a:rPr lang="en-US" baseline="0" dirty="0"/>
              <a:t> </a:t>
            </a:r>
            <a:r>
              <a:rPr lang="en-US" dirty="0"/>
              <a:t>resulting mixture, called the homogenate, is</a:t>
            </a:r>
            <a:r>
              <a:rPr lang="en-US" baseline="0" dirty="0"/>
              <a:t> </a:t>
            </a:r>
            <a:r>
              <a:rPr lang="en-US" dirty="0"/>
              <a:t>centrifuged in a step-by-step fashion of</a:t>
            </a:r>
            <a:r>
              <a:rPr lang="en-US" baseline="0" dirty="0"/>
              <a:t> </a:t>
            </a:r>
            <a:r>
              <a:rPr lang="en-US" dirty="0"/>
              <a:t>increasing centrifugal force. The denser</a:t>
            </a:r>
            <a:r>
              <a:rPr lang="en-US" baseline="0" dirty="0"/>
              <a:t> </a:t>
            </a:r>
            <a:r>
              <a:rPr lang="en-US" dirty="0"/>
              <a:t>material will form a pellet at lower centrifugal</a:t>
            </a:r>
            <a:r>
              <a:rPr lang="en-US" baseline="0" dirty="0"/>
              <a:t> </a:t>
            </a:r>
            <a:r>
              <a:rPr lang="en-US" dirty="0"/>
              <a:t>force than will the less-dense material. The</a:t>
            </a:r>
            <a:r>
              <a:rPr lang="en-US" baseline="0" dirty="0"/>
              <a:t> </a:t>
            </a:r>
            <a:r>
              <a:rPr lang="en-US" dirty="0"/>
              <a:t>isolated fractions can be used for further</a:t>
            </a:r>
            <a:r>
              <a:rPr lang="en-US" baseline="0" dirty="0"/>
              <a:t> </a:t>
            </a:r>
            <a:r>
              <a:rPr lang="en-US" dirty="0"/>
              <a:t>purification. [Photographs courtesy of</a:t>
            </a:r>
            <a:r>
              <a:rPr lang="en-US" baseline="0" dirty="0"/>
              <a:t> </a:t>
            </a:r>
            <a:r>
              <a:rPr lang="en-US" dirty="0"/>
              <a:t>Dr. S. Fleischer and Dr. B. Fleischer.]</a:t>
            </a:r>
            <a:endParaRPr lang="en-US" dirty="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CF85FF9-F260-DE44-9208-DB6A3946A6E5}" type="slidenum">
              <a:rPr lang="en-US"/>
              <a:pPr>
                <a:defRPr/>
              </a:pPr>
              <a:t>9</a:t>
            </a:fld>
            <a:endParaRPr lang="en-US" dirty="0"/>
          </a:p>
        </p:txBody>
      </p:sp>
      <p:sp>
        <p:nvSpPr>
          <p:cNvPr id="200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0707" name="Rectangle 3"/>
          <p:cNvSpPr>
            <a:spLocks noGrp="1" noChangeArrowheads="1"/>
          </p:cNvSpPr>
          <p:nvPr>
            <p:ph type="body" idx="1"/>
          </p:nvPr>
        </p:nvSpPr>
        <p:spPr/>
        <p:txBody>
          <a:bodyPr/>
          <a:lstStyle/>
          <a:p>
            <a:pPr>
              <a:defRPr/>
            </a:pPr>
            <a:r>
              <a:rPr lang="en-US" b="1" dirty="0"/>
              <a:t>FIGURE 3.2 Dialysis. </a:t>
            </a:r>
            <a:r>
              <a:rPr lang="en-US" dirty="0"/>
              <a:t>Protein molecules (red)</a:t>
            </a:r>
            <a:r>
              <a:rPr lang="en-US" baseline="0" dirty="0"/>
              <a:t> </a:t>
            </a:r>
            <a:r>
              <a:rPr lang="en-US" dirty="0"/>
              <a:t>are retained within the dialysis bag, whereas</a:t>
            </a:r>
            <a:r>
              <a:rPr lang="en-US" baseline="0" dirty="0"/>
              <a:t> </a:t>
            </a:r>
            <a:r>
              <a:rPr lang="en-US" dirty="0"/>
              <a:t>small molecules (blue) diffuse down their</a:t>
            </a:r>
            <a:r>
              <a:rPr lang="en-US" baseline="0" dirty="0"/>
              <a:t> </a:t>
            </a:r>
            <a:r>
              <a:rPr lang="en-US" dirty="0"/>
              <a:t>concentration gradient into the surrounding</a:t>
            </a:r>
            <a:r>
              <a:rPr lang="en-US" baseline="0" dirty="0"/>
              <a:t> </a:t>
            </a:r>
            <a:r>
              <a:rPr lang="en-US" dirty="0"/>
              <a:t>medium.</a:t>
            </a:r>
            <a:endParaRPr lang="en-US" dirty="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8070137-AD7C-854B-9B90-85E92A18EA64}" type="slidenum">
              <a:rPr lang="en-US"/>
              <a:pPr>
                <a:defRPr/>
              </a:pPr>
              <a:t>11</a:t>
            </a:fld>
            <a:endParaRPr lang="en-US" dirty="0"/>
          </a:p>
        </p:txBody>
      </p:sp>
      <p:sp>
        <p:nvSpPr>
          <p:cNvPr id="201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1731" name="Rectangle 3"/>
          <p:cNvSpPr>
            <a:spLocks noGrp="1" noChangeArrowheads="1"/>
          </p:cNvSpPr>
          <p:nvPr>
            <p:ph type="body" idx="1"/>
          </p:nvPr>
        </p:nvSpPr>
        <p:spPr/>
        <p:txBody>
          <a:bodyPr/>
          <a:lstStyle/>
          <a:p>
            <a:pPr>
              <a:defRPr/>
            </a:pPr>
            <a:r>
              <a:rPr lang="en-US" b="1" dirty="0"/>
              <a:t>FIGURE 3.3 Gel-filtration</a:t>
            </a:r>
            <a:r>
              <a:rPr lang="en-US" b="1" baseline="0" dirty="0"/>
              <a:t> </a:t>
            </a:r>
            <a:r>
              <a:rPr lang="en-US" b="1" dirty="0"/>
              <a:t>chromatography. </a:t>
            </a:r>
            <a:r>
              <a:rPr lang="en-US" dirty="0"/>
              <a:t>A mixture</a:t>
            </a:r>
            <a:r>
              <a:rPr lang="en-US" baseline="0" dirty="0"/>
              <a:t> </a:t>
            </a:r>
            <a:r>
              <a:rPr lang="en-US" dirty="0"/>
              <a:t>of proteins in a small volume</a:t>
            </a:r>
            <a:r>
              <a:rPr lang="en-US" baseline="0" dirty="0"/>
              <a:t> </a:t>
            </a:r>
            <a:r>
              <a:rPr lang="en-US" dirty="0"/>
              <a:t>is applied to a column filled</a:t>
            </a:r>
            <a:r>
              <a:rPr lang="en-US" baseline="0" dirty="0"/>
              <a:t> </a:t>
            </a:r>
            <a:r>
              <a:rPr lang="en-US" dirty="0"/>
              <a:t>with porous beads. Because</a:t>
            </a:r>
            <a:r>
              <a:rPr lang="en-US" baseline="0" dirty="0"/>
              <a:t> </a:t>
            </a:r>
            <a:r>
              <a:rPr lang="en-US" dirty="0"/>
              <a:t>large proteins cannot enter the</a:t>
            </a:r>
            <a:r>
              <a:rPr lang="en-US" baseline="0" dirty="0"/>
              <a:t> </a:t>
            </a:r>
            <a:r>
              <a:rPr lang="en-US" dirty="0"/>
              <a:t>internal volume of the beads,</a:t>
            </a:r>
            <a:r>
              <a:rPr lang="en-US" baseline="0" dirty="0"/>
              <a:t> </a:t>
            </a:r>
            <a:r>
              <a:rPr lang="en-US" dirty="0"/>
              <a:t>they emerge sooner than do</a:t>
            </a:r>
            <a:r>
              <a:rPr lang="en-US" baseline="0" dirty="0"/>
              <a:t> </a:t>
            </a:r>
            <a:r>
              <a:rPr lang="en-US" dirty="0"/>
              <a:t>small ones.</a:t>
            </a:r>
            <a:endParaRPr lang="en-US" dirty="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512A90B-7BB4-1449-AC14-F2E86B7B9186}" type="slidenum">
              <a:rPr lang="en-US"/>
              <a:pPr>
                <a:defRPr/>
              </a:pPr>
              <a:t>13</a:t>
            </a:fld>
            <a:endParaRPr lang="en-US" dirty="0"/>
          </a:p>
        </p:txBody>
      </p:sp>
      <p:sp>
        <p:nvSpPr>
          <p:cNvPr id="203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3779" name="Rectangle 3"/>
          <p:cNvSpPr>
            <a:spLocks noGrp="1" noChangeArrowheads="1"/>
          </p:cNvSpPr>
          <p:nvPr>
            <p:ph type="body" idx="1"/>
          </p:nvPr>
        </p:nvSpPr>
        <p:spPr/>
        <p:txBody>
          <a:bodyPr/>
          <a:lstStyle/>
          <a:p>
            <a:pPr>
              <a:defRPr/>
            </a:pPr>
            <a:r>
              <a:rPr lang="en-US" b="1" dirty="0"/>
              <a:t>FIGURE 3.4 Ion-exchange chromatography.</a:t>
            </a:r>
            <a:r>
              <a:rPr lang="en-US" b="1" baseline="0" dirty="0"/>
              <a:t> </a:t>
            </a:r>
            <a:r>
              <a:rPr lang="en-US" dirty="0"/>
              <a:t>This technique separates proteins mainly</a:t>
            </a:r>
            <a:r>
              <a:rPr lang="en-US" baseline="0" dirty="0"/>
              <a:t> </a:t>
            </a:r>
            <a:r>
              <a:rPr lang="en-US" dirty="0"/>
              <a:t>according to their net charge.</a:t>
            </a:r>
            <a:endParaRPr lang="en-US" dirty="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C3B3865-2224-344F-8365-AFC512881E58}" type="slidenum">
              <a:rPr lang="en-US"/>
              <a:pPr>
                <a:defRPr/>
              </a:pPr>
              <a:t>15</a:t>
            </a:fld>
            <a:endParaRPr lang="en-US" dirty="0"/>
          </a:p>
        </p:txBody>
      </p:sp>
      <p:sp>
        <p:nvSpPr>
          <p:cNvPr id="204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4803" name="Rectangle 3"/>
          <p:cNvSpPr>
            <a:spLocks noGrp="1" noChangeArrowheads="1"/>
          </p:cNvSpPr>
          <p:nvPr>
            <p:ph type="body" idx="1"/>
          </p:nvPr>
        </p:nvSpPr>
        <p:spPr/>
        <p:txBody>
          <a:bodyPr/>
          <a:lstStyle/>
          <a:p>
            <a:pPr>
              <a:defRPr/>
            </a:pPr>
            <a:r>
              <a:rPr lang="en-US" b="1" dirty="0"/>
              <a:t>FIGURE 3.5 Affinity chromatography.</a:t>
            </a:r>
            <a:r>
              <a:rPr lang="en-US" b="1" baseline="0" dirty="0"/>
              <a:t> </a:t>
            </a:r>
            <a:r>
              <a:rPr lang="en-US" dirty="0"/>
              <a:t>Affinity chromatography of concanavalin A</a:t>
            </a:r>
            <a:r>
              <a:rPr lang="en-US" baseline="0" dirty="0"/>
              <a:t> </a:t>
            </a:r>
            <a:r>
              <a:rPr lang="en-US" dirty="0"/>
              <a:t>(shown in yellow) on a solid support</a:t>
            </a:r>
            <a:r>
              <a:rPr lang="en-US" baseline="0" dirty="0"/>
              <a:t> </a:t>
            </a:r>
            <a:r>
              <a:rPr lang="en-US" dirty="0"/>
              <a:t>containing covalently attached glucose</a:t>
            </a:r>
            <a:r>
              <a:rPr lang="en-US" baseline="0" dirty="0"/>
              <a:t> </a:t>
            </a:r>
            <a:r>
              <a:rPr lang="en-US" dirty="0"/>
              <a:t>residues (G).</a:t>
            </a:r>
            <a:endParaRPr lang="en-US" dirty="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6513255-4E7A-C04A-A4F8-7F099A9BAC64}" type="slidenum">
              <a:rPr lang="en-US"/>
              <a:pPr>
                <a:defRPr/>
              </a:pPr>
              <a:t>17</a:t>
            </a:fld>
            <a:endParaRPr lang="en-US" dirty="0"/>
          </a:p>
        </p:txBody>
      </p:sp>
      <p:sp>
        <p:nvSpPr>
          <p:cNvPr id="2058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5827"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3.6 High-performance liquid chromatography (HPLC</a:t>
            </a:r>
            <a:r>
              <a:rPr lang="en-US" sz="1200" b="0" i="0" u="none" strike="noStrike" kern="1200" baseline="0" dirty="0">
                <a:solidFill>
                  <a:schemeClr val="tx1"/>
                </a:solidFill>
                <a:latin typeface="+mn-lt"/>
                <a:ea typeface="+mn-ea"/>
                <a:cs typeface="+mn-cs"/>
              </a:rPr>
              <a:t>) . Gel filtration by HPLC clearly defines the individual proteins because of its greater resolving power: (1) thyroglobulin (669 kDa ), (2) catalase (232 kDa ), (3) bovine serum albumin </a:t>
            </a:r>
            <a:r>
              <a:rPr lang="fi-FI" sz="1200" b="0" i="0" u="none" strike="noStrike" kern="1200" baseline="0" dirty="0">
                <a:solidFill>
                  <a:schemeClr val="tx1"/>
                </a:solidFill>
                <a:latin typeface="+mn-lt"/>
                <a:ea typeface="+mn-ea"/>
                <a:cs typeface="+mn-cs"/>
              </a:rPr>
              <a:t>(67 kDa ), (4) ovalbumin (43 kDa ), and (5) ribonuclease (13.4 kDa ). [Data from K. J. Wilson and T. D. Schlabach. In Current Protocols in Molecular Biology, vol. 2, suppl. 41, F. M. Ausubel, R. Brent, R. E. Kingston, D. D. Moore, J. G. Seidman, J. A. Smith, and </a:t>
            </a:r>
            <a:r>
              <a:rPr lang="cs-CZ" sz="1200" b="0" i="0" u="none" strike="noStrike" kern="1200" baseline="0" dirty="0">
                <a:solidFill>
                  <a:schemeClr val="tx1"/>
                </a:solidFill>
                <a:latin typeface="+mn-lt"/>
                <a:ea typeface="+mn-ea"/>
                <a:cs typeface="+mn-cs"/>
              </a:rPr>
              <a:t>K. Struhl, Eds. (Wiley, 1998), p. 10.14.1.]</a:t>
            </a:r>
            <a:endParaRPr lang="en-US" dirty="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5858B0-6025-6043-B32E-88F5E481D139}" type="slidenum">
              <a:rPr lang="en-US"/>
              <a:pPr>
                <a:defRPr/>
              </a:pPr>
              <a:t>20</a:t>
            </a:fld>
            <a:endParaRPr lang="en-US" dirty="0"/>
          </a:p>
        </p:txBody>
      </p:sp>
      <p:sp>
        <p:nvSpPr>
          <p:cNvPr id="206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6851"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3.7 Polyacrylamide gel electrophoresis. </a:t>
            </a:r>
            <a:r>
              <a:rPr lang="en-US" sz="1200" b="0" i="0" u="none" strike="noStrike" kern="1200" baseline="0" dirty="0">
                <a:solidFill>
                  <a:schemeClr val="tx1"/>
                </a:solidFill>
                <a:latin typeface="+mn-lt"/>
                <a:ea typeface="+mn-ea"/>
                <a:cs typeface="+mn-cs"/>
              </a:rPr>
              <a:t>(A) Gel electrophoresis apparatus. Typically, several samples undergo electrophoresis on one flat polyacrylamide gel. A microliter pipette is used to place solutions of proteins in the wells of the slab. A cover is then placed over the gel chamber and voltage is applied. The negatively charged SDS (sodium dodecyl sulfate)–protein complexes migrate in the direction of the anode, at the bottom of the gel. (B) The sieving action of a porous polyacrylamide gel separates proteins according to size, with the smallest moving most rapidly.</a:t>
            </a:r>
            <a:endParaRPr lang="en-US" dirty="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616EB82-926C-7445-8E11-C7A868085662}" type="slidenum">
              <a:rPr lang="en-US"/>
              <a:pPr>
                <a:defRPr/>
              </a:pPr>
              <a:t>21</a:t>
            </a:fld>
            <a:endParaRPr lang="en-US" dirty="0"/>
          </a:p>
        </p:txBody>
      </p:sp>
      <p:sp>
        <p:nvSpPr>
          <p:cNvPr id="209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9923"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3.8 Formation of a polyacrylamide gel. </a:t>
            </a:r>
            <a:r>
              <a:rPr lang="en-US" sz="1200" b="0" i="0" u="none" strike="noStrike" kern="1200" baseline="0" dirty="0">
                <a:solidFill>
                  <a:schemeClr val="tx1"/>
                </a:solidFill>
                <a:latin typeface="+mn-lt"/>
                <a:ea typeface="+mn-ea"/>
                <a:cs typeface="+mn-cs"/>
              </a:rPr>
              <a:t>A three-dimensional mesh is formed by copolymerizing activated monomer (blue) and cross-linker (red).</a:t>
            </a:r>
            <a:endParaRPr lang="en-US" dirty="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E1CCA53-D820-1243-ACC9-753588575C7B}" type="slidenum">
              <a:rPr lang="en-US"/>
              <a:pPr>
                <a:defRPr/>
              </a:pPr>
              <a:t>23</a:t>
            </a:fld>
            <a:endParaRPr lang="en-US" dirty="0"/>
          </a:p>
        </p:txBody>
      </p:sp>
      <p:sp>
        <p:nvSpPr>
          <p:cNvPr id="211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1971"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3.9 Staining of proteins after electrophoresis. </a:t>
            </a:r>
            <a:r>
              <a:rPr lang="en-US" sz="1200" b="0" i="0" u="none" strike="noStrike" kern="1200" baseline="0" dirty="0">
                <a:solidFill>
                  <a:schemeClr val="tx1"/>
                </a:solidFill>
                <a:latin typeface="+mn-lt"/>
                <a:ea typeface="+mn-ea"/>
                <a:cs typeface="+mn-cs"/>
              </a:rPr>
              <a:t>Mixtures of proteins from cellular extracts subjected to electrophoresis on an SDS– polyacrylamide gel can be visualized by staining with Coomassie blue. The first lane contains a mixture of proteins of known molecular weights, which can be used to estimate the sizes of the bands in the samples. [©Dr. Robert Farrell.]</a:t>
            </a:r>
            <a:endParaRPr lang="en-US" dirty="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4E2FD46-0F88-C74E-9CF0-F3171A0D509D}" type="slidenum">
              <a:rPr lang="en-US"/>
              <a:pPr>
                <a:defRPr/>
              </a:pPr>
              <a:t>24</a:t>
            </a:fld>
            <a:endParaRPr lang="en-US" dirty="0"/>
          </a:p>
        </p:txBody>
      </p:sp>
      <p:sp>
        <p:nvSpPr>
          <p:cNvPr id="212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2995" name="Rectangle 3"/>
          <p:cNvSpPr>
            <a:spLocks noGrp="1" noChangeArrowheads="1"/>
          </p:cNvSpPr>
          <p:nvPr>
            <p:ph type="body" idx="1"/>
          </p:nvPr>
        </p:nvSpPr>
        <p:spPr/>
        <p:txBody>
          <a:bodyPr/>
          <a:lstStyle/>
          <a:p>
            <a:pPr>
              <a:defRPr/>
            </a:pPr>
            <a:r>
              <a:rPr lang="en-US" b="1" dirty="0"/>
              <a:t>FIGURE 3.10 Electrophoresis can</a:t>
            </a:r>
            <a:r>
              <a:rPr lang="en-US" b="1" baseline="0" dirty="0"/>
              <a:t> </a:t>
            </a:r>
            <a:r>
              <a:rPr lang="en-US" b="1" dirty="0"/>
              <a:t>determine mass. </a:t>
            </a:r>
            <a:r>
              <a:rPr lang="en-US" dirty="0"/>
              <a:t>The electrophoretic mobility</a:t>
            </a:r>
            <a:r>
              <a:rPr lang="en-US" baseline="0" dirty="0"/>
              <a:t> </a:t>
            </a:r>
            <a:r>
              <a:rPr lang="en-US" dirty="0"/>
              <a:t>of many proteins in SDS–polyacrylamide gels</a:t>
            </a:r>
            <a:r>
              <a:rPr lang="en-US" baseline="0" dirty="0"/>
              <a:t> </a:t>
            </a:r>
            <a:r>
              <a:rPr lang="en-US" dirty="0"/>
              <a:t>is inversely proportional to the logarithm of</a:t>
            </a:r>
            <a:r>
              <a:rPr lang="en-US" baseline="0" dirty="0"/>
              <a:t> </a:t>
            </a:r>
            <a:r>
              <a:rPr lang="en-US" dirty="0"/>
              <a:t>their mass. [Data</a:t>
            </a:r>
            <a:r>
              <a:rPr lang="en-US" baseline="0" dirty="0"/>
              <a:t> from</a:t>
            </a:r>
            <a:r>
              <a:rPr lang="en-US" dirty="0"/>
              <a:t> K. Weber and M. Osborn,</a:t>
            </a:r>
            <a:r>
              <a:rPr lang="en-US" baseline="0" dirty="0"/>
              <a:t> </a:t>
            </a:r>
            <a:r>
              <a:rPr lang="en-US" i="1" dirty="0"/>
              <a:t>The Proteins, </a:t>
            </a:r>
            <a:r>
              <a:rPr lang="en-US" dirty="0"/>
              <a:t>vol. 1, 3d ed. (Academic Press,</a:t>
            </a:r>
            <a:r>
              <a:rPr lang="en-US" baseline="0" dirty="0"/>
              <a:t> </a:t>
            </a:r>
            <a:r>
              <a:rPr lang="en-US" dirty="0"/>
              <a:t>1975), p. 179.]</a:t>
            </a:r>
            <a:endParaRPr lang="en-US" dirty="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C8744A8-F4CC-0F44-B12C-E1F6C9ACE054}" type="slidenum">
              <a:rPr lang="en-US"/>
              <a:pPr>
                <a:defRPr/>
              </a:pPr>
              <a:t>26</a:t>
            </a:fld>
            <a:endParaRPr lang="en-US" dirty="0"/>
          </a:p>
        </p:txBody>
      </p:sp>
      <p:sp>
        <p:nvSpPr>
          <p:cNvPr id="2140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4019"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3.11 The principle of isoelectric focusing</a:t>
            </a:r>
            <a:r>
              <a:rPr lang="en-US" sz="1200" b="0" i="0" u="none" strike="noStrike" kern="1200" baseline="0" dirty="0">
                <a:solidFill>
                  <a:schemeClr val="tx1"/>
                </a:solidFill>
                <a:latin typeface="+mn-lt"/>
                <a:ea typeface="+mn-ea"/>
                <a:cs typeface="+mn-cs"/>
              </a:rPr>
              <a:t>. A pH gradient is established in a gel before loading the sample. (A) Each protein, represented by the different colored circles, will possess a net positive charge in the regions of the gel where the pH is lower than its respective pI value and a net negative charge where the pH is greater than its pI. When voltage is applied to the gel, each protein will migrate to its pI, the location at which it has no net charge.</a:t>
            </a:r>
          </a:p>
          <a:p>
            <a:r>
              <a:rPr lang="en-US" sz="1200" b="0" i="0" u="none" strike="noStrike" kern="1200" baseline="0" dirty="0">
                <a:solidFill>
                  <a:schemeClr val="tx1"/>
                </a:solidFill>
                <a:latin typeface="+mn-lt"/>
                <a:ea typeface="+mn-ea"/>
                <a:cs typeface="+mn-cs"/>
              </a:rPr>
              <a:t>(B) The proteins form bands that can be excised and used for further experimentation.</a:t>
            </a:r>
            <a:endParaRPr lang="en-US" dirty="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AA9B0FE-7C34-BA47-BF02-D78386EE2820}" type="slidenum">
              <a:rPr lang="en-US"/>
              <a:pPr>
                <a:defRPr/>
              </a:pPr>
              <a:t>28</a:t>
            </a:fld>
            <a:endParaRPr lang="en-US" dirty="0"/>
          </a:p>
        </p:txBody>
      </p:sp>
      <p:sp>
        <p:nvSpPr>
          <p:cNvPr id="2150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5043" name="Rectangle 3"/>
          <p:cNvSpPr>
            <a:spLocks noGrp="1" noChangeArrowheads="1"/>
          </p:cNvSpPr>
          <p:nvPr>
            <p:ph type="body" idx="1"/>
          </p:nvPr>
        </p:nvSpPr>
        <p:spPr/>
        <p:txBody>
          <a:bodyPr/>
          <a:lstStyle/>
          <a:p>
            <a:pPr>
              <a:defRPr/>
            </a:pPr>
            <a:r>
              <a:rPr lang="en-US" b="1" dirty="0"/>
              <a:t>FIGURE 3.12 Two-dimensional gel</a:t>
            </a:r>
            <a:r>
              <a:rPr lang="en-US" b="1" baseline="0" dirty="0"/>
              <a:t> </a:t>
            </a:r>
            <a:r>
              <a:rPr lang="en-US" b="1" dirty="0"/>
              <a:t>electrophoresis. </a:t>
            </a:r>
            <a:r>
              <a:rPr lang="en-US" dirty="0"/>
              <a:t>(A) A protein sample is</a:t>
            </a:r>
            <a:r>
              <a:rPr lang="en-US" baseline="0" dirty="0"/>
              <a:t> </a:t>
            </a:r>
            <a:r>
              <a:rPr lang="en-US" dirty="0"/>
              <a:t>initially fractionated in one dimension by</a:t>
            </a:r>
            <a:r>
              <a:rPr lang="en-US" baseline="0" dirty="0"/>
              <a:t> </a:t>
            </a:r>
            <a:r>
              <a:rPr lang="en-US" dirty="0"/>
              <a:t>isoelectric focusing as described in Figure</a:t>
            </a:r>
            <a:r>
              <a:rPr lang="en-US" baseline="0" dirty="0"/>
              <a:t> </a:t>
            </a:r>
            <a:r>
              <a:rPr lang="en-US" dirty="0"/>
              <a:t>3.11. The isoelectric focusing gel is then</a:t>
            </a:r>
            <a:r>
              <a:rPr lang="en-US" baseline="0" dirty="0"/>
              <a:t> </a:t>
            </a:r>
            <a:r>
              <a:rPr lang="en-US" dirty="0"/>
              <a:t>attached to an SDS–polyacrylamide gel, and</a:t>
            </a:r>
            <a:r>
              <a:rPr lang="en-US" baseline="0" dirty="0"/>
              <a:t> </a:t>
            </a:r>
            <a:r>
              <a:rPr lang="en-US" dirty="0"/>
              <a:t>electrophoresis is performed in the second</a:t>
            </a:r>
            <a:r>
              <a:rPr lang="en-US" baseline="0" dirty="0"/>
              <a:t> </a:t>
            </a:r>
            <a:r>
              <a:rPr lang="en-US" dirty="0"/>
              <a:t>dimension, perpendicular to the original</a:t>
            </a:r>
            <a:r>
              <a:rPr lang="en-US" baseline="0" dirty="0"/>
              <a:t> </a:t>
            </a:r>
            <a:r>
              <a:rPr lang="en-US" dirty="0"/>
              <a:t>separation. Proteins with the same pI are now</a:t>
            </a:r>
            <a:r>
              <a:rPr lang="en-US" baseline="0" dirty="0"/>
              <a:t> </a:t>
            </a:r>
            <a:r>
              <a:rPr lang="en-US" dirty="0"/>
              <a:t>separated on the basis of mass. (B) Proteins</a:t>
            </a:r>
            <a:r>
              <a:rPr lang="en-US" baseline="0" dirty="0"/>
              <a:t> </a:t>
            </a:r>
            <a:r>
              <a:rPr lang="en-US" dirty="0"/>
              <a:t>from </a:t>
            </a:r>
            <a:r>
              <a:rPr lang="en-US" i="1" dirty="0"/>
              <a:t>E. coli </a:t>
            </a:r>
            <a:r>
              <a:rPr lang="en-US" dirty="0"/>
              <a:t>were separated by two-dimensional</a:t>
            </a:r>
            <a:r>
              <a:rPr lang="en-US" baseline="0" dirty="0"/>
              <a:t> </a:t>
            </a:r>
            <a:r>
              <a:rPr lang="en-US" dirty="0"/>
              <a:t>gel electrophoresis, resolving</a:t>
            </a:r>
            <a:r>
              <a:rPr lang="en-US" baseline="0" dirty="0"/>
              <a:t> </a:t>
            </a:r>
            <a:r>
              <a:rPr lang="en-US" dirty="0"/>
              <a:t>more than a thousand different proteins. The</a:t>
            </a:r>
            <a:r>
              <a:rPr lang="en-US" baseline="0" dirty="0"/>
              <a:t> </a:t>
            </a:r>
            <a:r>
              <a:rPr lang="en-US" dirty="0"/>
              <a:t>proteins were first separated according to their</a:t>
            </a:r>
            <a:r>
              <a:rPr lang="en-US" baseline="0" dirty="0"/>
              <a:t> </a:t>
            </a:r>
            <a:r>
              <a:rPr lang="en-US" dirty="0"/>
              <a:t>isoelectric pH in the horizontal direction and</a:t>
            </a:r>
            <a:r>
              <a:rPr lang="en-US" baseline="0" dirty="0"/>
              <a:t> </a:t>
            </a:r>
            <a:r>
              <a:rPr lang="en-US" dirty="0"/>
              <a:t>then by their apparent mass in the vertical</a:t>
            </a:r>
            <a:r>
              <a:rPr lang="en-US" baseline="0" dirty="0"/>
              <a:t> </a:t>
            </a:r>
            <a:r>
              <a:rPr lang="en-US" dirty="0"/>
              <a:t>direction. [(B) Courtesy of Dr. Patrick H.</a:t>
            </a:r>
            <a:r>
              <a:rPr lang="en-US" baseline="0" dirty="0"/>
              <a:t> </a:t>
            </a:r>
            <a:r>
              <a:rPr lang="en-US" dirty="0"/>
              <a:t>O’Farrell.]</a:t>
            </a:r>
            <a:endParaRPr lang="en-US" dirty="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C236188-3856-E249-AE3E-6E613DA684D7}" type="slidenum">
              <a:rPr lang="en-US"/>
              <a:pPr>
                <a:defRPr/>
              </a:pPr>
              <a:t>30</a:t>
            </a:fld>
            <a:endParaRPr lang="en-US" dirty="0"/>
          </a:p>
        </p:txBody>
      </p:sp>
      <p:sp>
        <p:nvSpPr>
          <p:cNvPr id="217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7091" name="Rectangle 3"/>
          <p:cNvSpPr>
            <a:spLocks noGrp="1" noChangeArrowheads="1"/>
          </p:cNvSpPr>
          <p:nvPr>
            <p:ph type="body" idx="1"/>
          </p:nvPr>
        </p:nvSpPr>
        <p:spPr/>
        <p:txBody>
          <a:bodyPr/>
          <a:lstStyle/>
          <a:p>
            <a:r>
              <a:rPr lang="en-US" sz="1200" b="1" kern="1200" dirty="0">
                <a:solidFill>
                  <a:schemeClr val="tx1"/>
                </a:solidFill>
                <a:effectLst/>
                <a:latin typeface="+mn-lt"/>
                <a:ea typeface="+mn-ea"/>
                <a:cs typeface="+mn-cs"/>
              </a:rPr>
              <a:t>FIGURE 3.13 Alterations in protein levels</a:t>
            </a:r>
            <a:r>
              <a:rPr lang="en-US" sz="1200" b="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detected by two-dimensional gel</a:t>
            </a:r>
            <a:r>
              <a:rPr lang="en-US" sz="1200" b="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electrophoresis. </a:t>
            </a:r>
            <a:r>
              <a:rPr lang="en-US" sz="1200" kern="1200" dirty="0">
                <a:solidFill>
                  <a:schemeClr val="tx1"/>
                </a:solidFill>
                <a:effectLst/>
                <a:latin typeface="+mn-lt"/>
                <a:ea typeface="+mn-ea"/>
                <a:cs typeface="+mn-cs"/>
              </a:rPr>
              <a:t>Samples of normal colon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mucosa and colorectal tumor tissue from the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same person were analyzed by two-dimensional</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gel electrophoresis. In the gel</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section shown, changes in the intensity of</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several spots are evident, including a dramatic</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increase in levels of the protein indicated by</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arrow, corresponding to the enzyme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glyceraldehyde-3-phosphate dehydrogenase.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[Courtesy of Lin Quinsong © 2010, The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American Society for Biochemistry and</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Molecular Biology.]</a:t>
            </a:r>
          </a:p>
          <a:p>
            <a:r>
              <a:rPr lang="en-US" sz="1200" kern="1200" dirty="0">
                <a:solidFill>
                  <a:schemeClr val="tx1"/>
                </a:solidFill>
                <a:effectLst/>
                <a:latin typeface="+mn-lt"/>
                <a:ea typeface="+mn-ea"/>
                <a:cs typeface="+mn-cs"/>
              </a:rPr>
              <a:t> </a:t>
            </a:r>
          </a:p>
          <a:p>
            <a:pPr>
              <a:defRPr/>
            </a:pPr>
            <a:endParaRPr lang="en-US" dirty="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62F0595-1DD9-424F-A0E5-413821FDAF51}" type="slidenum">
              <a:rPr lang="en-US"/>
              <a:pPr>
                <a:defRPr/>
              </a:pPr>
              <a:t>31</a:t>
            </a:fld>
            <a:endParaRPr lang="en-US" dirty="0"/>
          </a:p>
        </p:txBody>
      </p:sp>
      <p:sp>
        <p:nvSpPr>
          <p:cNvPr id="2160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6067"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3B0FF6A-9440-2840-81B8-84BEB35474B1}" type="slidenum">
              <a:rPr lang="en-US"/>
              <a:pPr>
                <a:defRPr/>
              </a:pPr>
              <a:t>32</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66BBD2C-CDB1-7345-9D9A-B55568EE07B8}" type="slidenum">
              <a:rPr lang="en-US"/>
              <a:pPr>
                <a:defRPr/>
              </a:pPr>
              <a:t>33</a:t>
            </a:fld>
            <a:endParaRPr lang="en-US" dirty="0"/>
          </a:p>
        </p:txBody>
      </p:sp>
      <p:sp>
        <p:nvSpPr>
          <p:cNvPr id="219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9139"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3.14 Electrophoretic analysis of a protein purification</a:t>
            </a:r>
            <a:r>
              <a:rPr lang="en-US" sz="1200" b="0" i="0" u="none" strike="noStrike" kern="1200" baseline="0" dirty="0">
                <a:solidFill>
                  <a:schemeClr val="tx1"/>
                </a:solidFill>
                <a:latin typeface="+mn-lt"/>
                <a:ea typeface="+mn-ea"/>
                <a:cs typeface="+mn-cs"/>
              </a:rPr>
              <a:t>. The purification scheme in Table 3.1 was analyzed by SDS-PAGE. Each lane contained 50 </a:t>
            </a:r>
            <a:r>
              <a:rPr lang="el-GR" sz="1200" b="0" i="0" u="none" strike="noStrike" kern="1200" baseline="0" dirty="0">
                <a:solidFill>
                  <a:schemeClr val="tx1"/>
                </a:solidFill>
                <a:latin typeface="+mn-lt"/>
                <a:ea typeface="+mn-ea"/>
                <a:cs typeface="+mn-cs"/>
              </a:rPr>
              <a:t>μ</a:t>
            </a:r>
            <a:r>
              <a:rPr lang="en-US" sz="1200" b="0" i="0" u="none" strike="noStrike" kern="1200" baseline="0" dirty="0">
                <a:solidFill>
                  <a:schemeClr val="tx1"/>
                </a:solidFill>
                <a:latin typeface="+mn-lt"/>
                <a:ea typeface="+mn-ea"/>
                <a:cs typeface="+mn-cs"/>
              </a:rPr>
              <a:t>g of sample. The effectiveness of the purification can be seen as the band for the protein of interest becomes more prominent relative to other bands.</a:t>
            </a:r>
            <a:endParaRPr lang="en-US" dirty="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77C07B-A8FA-DD47-B0F2-449C8A46B5E2}" type="slidenum">
              <a:rPr lang="en-US"/>
              <a:pPr>
                <a:defRPr/>
              </a:pPr>
              <a:t>36</a:t>
            </a:fld>
            <a:endParaRPr lang="en-US" dirty="0"/>
          </a:p>
        </p:txBody>
      </p:sp>
      <p:sp>
        <p:nvSpPr>
          <p:cNvPr id="220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0163"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8AC2EE1-99A0-6944-91DB-8490609F77F9}" type="slidenum">
              <a:rPr lang="en-US"/>
              <a:pPr>
                <a:defRPr/>
              </a:pPr>
              <a:t>37</a:t>
            </a:fld>
            <a:endParaRPr lang="en-US" dirty="0"/>
          </a:p>
        </p:txBody>
      </p:sp>
      <p:sp>
        <p:nvSpPr>
          <p:cNvPr id="2211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1187" name="Rectangle 3"/>
          <p:cNvSpPr>
            <a:spLocks noGrp="1" noChangeArrowheads="1"/>
          </p:cNvSpPr>
          <p:nvPr>
            <p:ph type="body" idx="1"/>
          </p:nvPr>
        </p:nvSpPr>
        <p:spPr/>
        <p:txBody>
          <a:bodyPr/>
          <a:lstStyle/>
          <a:p>
            <a:pPr>
              <a:defRPr/>
            </a:pPr>
            <a:r>
              <a:rPr lang="en-US" b="1" dirty="0"/>
              <a:t>FIGURE 3.15 Density and sedimentation coefficients of cellular components. </a:t>
            </a:r>
            <a:r>
              <a:rPr lang="en-US" dirty="0"/>
              <a:t>[Data</a:t>
            </a:r>
            <a:r>
              <a:rPr lang="en-US" baseline="0" dirty="0"/>
              <a:t> from</a:t>
            </a:r>
            <a:r>
              <a:rPr lang="en-US" dirty="0"/>
              <a:t> L. J.</a:t>
            </a:r>
            <a:r>
              <a:rPr lang="en-US" baseline="0" dirty="0"/>
              <a:t> </a:t>
            </a:r>
            <a:r>
              <a:rPr lang="en-US" dirty="0"/>
              <a:t>Kleinsmith and V. M. Kish, </a:t>
            </a:r>
            <a:r>
              <a:rPr lang="en-US" i="1" dirty="0"/>
              <a:t>Principles of Cell and Molecular Biology, </a:t>
            </a:r>
            <a:r>
              <a:rPr lang="en-US" dirty="0"/>
              <a:t>2d ed. (HarperCollins, 1995),p. 138.]</a:t>
            </a:r>
            <a:endParaRPr lang="en-US" dirty="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4DD9850-2EE1-0648-B5C9-8C7B9CB83A48}" type="slidenum">
              <a:rPr lang="en-US"/>
              <a:pPr>
                <a:defRPr/>
              </a:pPr>
              <a:t>39</a:t>
            </a:fld>
            <a:endParaRPr lang="en-US" dirty="0"/>
          </a:p>
        </p:txBody>
      </p:sp>
      <p:sp>
        <p:nvSpPr>
          <p:cNvPr id="222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2211" name="Rectangle 3"/>
          <p:cNvSpPr>
            <a:spLocks noGrp="1" noChangeArrowheads="1"/>
          </p:cNvSpPr>
          <p:nvPr>
            <p:ph type="body" idx="1"/>
          </p:nvPr>
        </p:nvSpPr>
        <p:spPr/>
        <p:txBody>
          <a:bodyPr/>
          <a:lstStyle/>
          <a:p>
            <a:pPr>
              <a:defRPr/>
            </a:pPr>
            <a:r>
              <a:rPr lang="en-US" b="1" dirty="0"/>
              <a:t>FIGURE 3.16 Zonal centrifugation. </a:t>
            </a:r>
            <a:r>
              <a:rPr lang="en-US" dirty="0"/>
              <a:t>The</a:t>
            </a:r>
            <a:r>
              <a:rPr lang="en-US" baseline="0" dirty="0"/>
              <a:t> </a:t>
            </a:r>
            <a:r>
              <a:rPr lang="en-US" dirty="0"/>
              <a:t>steps are as follows: (A) form a density</a:t>
            </a:r>
            <a:r>
              <a:rPr lang="en-US" baseline="0" dirty="0"/>
              <a:t> </a:t>
            </a:r>
            <a:r>
              <a:rPr lang="en-US" dirty="0"/>
              <a:t>gradient, (B) layer the sample on top of the</a:t>
            </a:r>
            <a:r>
              <a:rPr lang="en-US" baseline="0" dirty="0"/>
              <a:t> </a:t>
            </a:r>
            <a:r>
              <a:rPr lang="en-US" dirty="0"/>
              <a:t>gradient, (C) place the tube in a swinging bucket</a:t>
            </a:r>
            <a:r>
              <a:rPr lang="en-US" baseline="0" dirty="0"/>
              <a:t> </a:t>
            </a:r>
            <a:r>
              <a:rPr lang="en-US" dirty="0"/>
              <a:t>rotor and centrifuge it, and (D) collect</a:t>
            </a:r>
            <a:r>
              <a:rPr lang="en-US" baseline="0" dirty="0"/>
              <a:t> </a:t>
            </a:r>
            <a:r>
              <a:rPr lang="en-US" dirty="0"/>
              <a:t>the samples. [Information</a:t>
            </a:r>
            <a:r>
              <a:rPr lang="en-US" baseline="0" dirty="0"/>
              <a:t> from</a:t>
            </a:r>
            <a:r>
              <a:rPr lang="en-US" dirty="0"/>
              <a:t> D. Freifelder, </a:t>
            </a:r>
            <a:r>
              <a:rPr lang="en-US" i="1" dirty="0"/>
              <a:t>Physical</a:t>
            </a:r>
            <a:r>
              <a:rPr lang="en-US" i="1" baseline="0" dirty="0"/>
              <a:t> </a:t>
            </a:r>
            <a:r>
              <a:rPr lang="en-US" i="1" dirty="0"/>
              <a:t>Biochemistry, </a:t>
            </a:r>
            <a:r>
              <a:rPr lang="en-US" dirty="0"/>
              <a:t>2d ed. (W. H. Freeman and</a:t>
            </a:r>
            <a:r>
              <a:rPr lang="en-US" baseline="0" dirty="0"/>
              <a:t> </a:t>
            </a:r>
            <a:r>
              <a:rPr lang="en-US" dirty="0"/>
              <a:t>Company, 1982), p. 397.]</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D659615-102E-7E4A-B710-A0FAE10A4B45}" type="slidenum">
              <a:rPr lang="en-US"/>
              <a:pPr>
                <a:defRPr/>
              </a:pPr>
              <a:t>41</a:t>
            </a:fld>
            <a:endParaRPr lang="en-US" dirty="0"/>
          </a:p>
        </p:txBody>
      </p:sp>
      <p:sp>
        <p:nvSpPr>
          <p:cNvPr id="2385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859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73A389C-772C-7941-8D47-77E235D35630}" type="slidenum">
              <a:rPr lang="en-US"/>
              <a:pPr>
                <a:defRPr/>
              </a:pPr>
              <a:t>42</a:t>
            </a:fld>
            <a:endParaRPr lang="en-US" dirty="0"/>
          </a:p>
        </p:txBody>
      </p:sp>
      <p:sp>
        <p:nvSpPr>
          <p:cNvPr id="2396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9619" name="Rectangle 3"/>
          <p:cNvSpPr>
            <a:spLocks noGrp="1" noChangeArrowheads="1"/>
          </p:cNvSpPr>
          <p:nvPr>
            <p:ph type="body" idx="1"/>
          </p:nvPr>
        </p:nvSpPr>
        <p:spPr/>
        <p:txBody>
          <a:bodyPr/>
          <a:lstStyle/>
          <a:p>
            <a:pPr>
              <a:defRPr/>
            </a:pPr>
            <a:r>
              <a:rPr lang="en-US" b="1" dirty="0"/>
              <a:t>FIGURE 3.17 Antibody structure.</a:t>
            </a:r>
            <a:r>
              <a:rPr lang="en-US" b="1" baseline="0" dirty="0"/>
              <a:t> </a:t>
            </a:r>
            <a:r>
              <a:rPr lang="en-US" dirty="0"/>
              <a:t>(A) Immunoglobulin G (IgG) consists of four</a:t>
            </a:r>
            <a:r>
              <a:rPr lang="en-US" baseline="0" dirty="0"/>
              <a:t> </a:t>
            </a:r>
            <a:r>
              <a:rPr lang="en-US" dirty="0"/>
              <a:t>chains, two heavy chains (blue) and two light</a:t>
            </a:r>
            <a:r>
              <a:rPr lang="en-US" baseline="0" dirty="0"/>
              <a:t> </a:t>
            </a:r>
            <a:r>
              <a:rPr lang="en-US" dirty="0"/>
              <a:t>chains (red), linked by disulfide bonds. The</a:t>
            </a:r>
            <a:r>
              <a:rPr lang="en-US" baseline="0" dirty="0"/>
              <a:t> </a:t>
            </a:r>
            <a:r>
              <a:rPr lang="en-US" dirty="0"/>
              <a:t>heavy and light chains come together to form</a:t>
            </a:r>
            <a:r>
              <a:rPr lang="en-US" baseline="0" dirty="0"/>
              <a:t> </a:t>
            </a:r>
            <a:r>
              <a:rPr lang="en-US" dirty="0"/>
              <a:t>F</a:t>
            </a:r>
            <a:r>
              <a:rPr lang="en-US" baseline="-25000" dirty="0"/>
              <a:t>ab</a:t>
            </a:r>
            <a:r>
              <a:rPr lang="en-US" dirty="0"/>
              <a:t> domains, which have the antigen-binding</a:t>
            </a:r>
            <a:r>
              <a:rPr lang="en-US" baseline="0" dirty="0"/>
              <a:t> </a:t>
            </a:r>
            <a:r>
              <a:rPr lang="en-US" dirty="0"/>
              <a:t>sites at the ends. The two heavy chains form</a:t>
            </a:r>
            <a:r>
              <a:rPr lang="en-US" baseline="0" dirty="0"/>
              <a:t> </a:t>
            </a:r>
            <a:r>
              <a:rPr lang="en-US" dirty="0"/>
              <a:t>the F</a:t>
            </a:r>
            <a:r>
              <a:rPr lang="en-US" baseline="-25000" dirty="0"/>
              <a:t>c</a:t>
            </a:r>
            <a:r>
              <a:rPr lang="en-US" dirty="0"/>
              <a:t> domain. </a:t>
            </a:r>
            <a:r>
              <a:rPr lang="en-US" i="1" dirty="0"/>
              <a:t>Notice </a:t>
            </a:r>
            <a:r>
              <a:rPr lang="en-US" dirty="0"/>
              <a:t>that the F</a:t>
            </a:r>
            <a:r>
              <a:rPr lang="en-US" baseline="-25000" dirty="0"/>
              <a:t>ab</a:t>
            </a:r>
            <a:r>
              <a:rPr lang="en-US" dirty="0"/>
              <a:t> domains</a:t>
            </a:r>
            <a:r>
              <a:rPr lang="en-US" baseline="0" dirty="0"/>
              <a:t> </a:t>
            </a:r>
            <a:r>
              <a:rPr lang="en-US" dirty="0"/>
              <a:t>are linked to the F</a:t>
            </a:r>
            <a:r>
              <a:rPr lang="en-US" baseline="-25000" dirty="0"/>
              <a:t>c </a:t>
            </a:r>
            <a:r>
              <a:rPr lang="en-US" dirty="0"/>
              <a:t>domain by flexible linkers.</a:t>
            </a:r>
            <a:r>
              <a:rPr lang="en-US" baseline="0" dirty="0"/>
              <a:t> </a:t>
            </a:r>
            <a:r>
              <a:rPr lang="en-US" dirty="0"/>
              <a:t>(B) A more schematic representation of an</a:t>
            </a:r>
            <a:r>
              <a:rPr lang="en-US" baseline="0" dirty="0"/>
              <a:t> </a:t>
            </a:r>
            <a:r>
              <a:rPr lang="en-US" dirty="0"/>
              <a:t>IgG molecule. [Drawn from 1IGT.pdb.]</a:t>
            </a:r>
            <a:endParaRPr lang="en-US" dirty="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DEE6D5F-2F32-1547-9572-A44F42120CF2}" type="slidenum">
              <a:rPr lang="en-US"/>
              <a:pPr>
                <a:defRPr/>
              </a:pPr>
              <a:t>43</a:t>
            </a:fld>
            <a:endParaRPr lang="en-US" dirty="0"/>
          </a:p>
        </p:txBody>
      </p:sp>
      <p:sp>
        <p:nvSpPr>
          <p:cNvPr id="2416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1667" name="Rectangle 3"/>
          <p:cNvSpPr>
            <a:spLocks noGrp="1" noChangeArrowheads="1"/>
          </p:cNvSpPr>
          <p:nvPr>
            <p:ph type="body" idx="1"/>
          </p:nvPr>
        </p:nvSpPr>
        <p:spPr/>
        <p:txBody>
          <a:bodyPr/>
          <a:lstStyle/>
          <a:p>
            <a:pPr>
              <a:defRPr/>
            </a:pPr>
            <a:r>
              <a:rPr lang="en-US" b="1" dirty="0"/>
              <a:t>FIGURE 3.18 Antigen–antibody</a:t>
            </a:r>
            <a:r>
              <a:rPr lang="en-US" b="1" baseline="0" dirty="0"/>
              <a:t> </a:t>
            </a:r>
            <a:r>
              <a:rPr lang="en-US" b="1" dirty="0"/>
              <a:t>interactions. </a:t>
            </a:r>
            <a:r>
              <a:rPr lang="en-US" dirty="0"/>
              <a:t>A protein antigen, in this</a:t>
            </a:r>
            <a:r>
              <a:rPr lang="en-US" baseline="0" dirty="0"/>
              <a:t> </a:t>
            </a:r>
            <a:r>
              <a:rPr lang="en-US" dirty="0"/>
              <a:t>case lysozyme, binds to the end of an F</a:t>
            </a:r>
            <a:r>
              <a:rPr lang="en-US" baseline="-25000" dirty="0"/>
              <a:t>ab</a:t>
            </a:r>
            <a:r>
              <a:rPr lang="en-US" baseline="0" dirty="0"/>
              <a:t> </a:t>
            </a:r>
            <a:r>
              <a:rPr lang="en-US" dirty="0"/>
              <a:t>domain of an antibody. </a:t>
            </a:r>
            <a:r>
              <a:rPr lang="en-US" i="1" dirty="0"/>
              <a:t>Notice </a:t>
            </a:r>
            <a:r>
              <a:rPr lang="en-US" dirty="0"/>
              <a:t>that the</a:t>
            </a:r>
            <a:r>
              <a:rPr lang="en-US" baseline="0" dirty="0"/>
              <a:t> </a:t>
            </a:r>
            <a:r>
              <a:rPr lang="en-US" dirty="0"/>
              <a:t>end of the antibody and the antigen have</a:t>
            </a:r>
            <a:r>
              <a:rPr lang="en-US" baseline="0" dirty="0"/>
              <a:t> </a:t>
            </a:r>
            <a:r>
              <a:rPr lang="en-US" dirty="0"/>
              <a:t>complementary shapes, allowing a large</a:t>
            </a:r>
            <a:r>
              <a:rPr lang="en-US" baseline="0" dirty="0"/>
              <a:t> </a:t>
            </a:r>
            <a:r>
              <a:rPr lang="en-US" dirty="0"/>
              <a:t>amount of surface to be buried on binding.</a:t>
            </a:r>
            <a:r>
              <a:rPr lang="en-US" baseline="0" dirty="0"/>
              <a:t> </a:t>
            </a:r>
            <a:r>
              <a:rPr lang="en-US" dirty="0"/>
              <a:t>[Drawn from 1YQV.pdb.]</a:t>
            </a:r>
            <a:endParaRPr lang="en-US" dirty="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958D4572-22F4-284E-9B85-9D9942C17DE9}" type="slidenum">
              <a:rPr lang="en-US" smtClean="0"/>
              <a:pPr>
                <a:defRPr/>
              </a:pPr>
              <a:t>44</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CE1869F-074D-4543-B7CC-EDBFA01BF83D}" type="slidenum">
              <a:rPr lang="en-US"/>
              <a:pPr>
                <a:defRPr/>
              </a:pPr>
              <a:t>45</a:t>
            </a:fld>
            <a:endParaRPr lang="en-US" dirty="0"/>
          </a:p>
        </p:txBody>
      </p:sp>
      <p:sp>
        <p:nvSpPr>
          <p:cNvPr id="2426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2691" name="Rectangle 3"/>
          <p:cNvSpPr>
            <a:spLocks noGrp="1" noChangeArrowheads="1"/>
          </p:cNvSpPr>
          <p:nvPr>
            <p:ph type="body" idx="1"/>
          </p:nvPr>
        </p:nvSpPr>
        <p:spPr/>
        <p:txBody>
          <a:bodyPr/>
          <a:lstStyle/>
          <a:p>
            <a:pPr>
              <a:defRPr/>
            </a:pPr>
            <a:r>
              <a:rPr lang="en-US" b="1" dirty="0"/>
              <a:t>FIGURE 3.19 Polyclonal and monoclonal</a:t>
            </a:r>
            <a:r>
              <a:rPr lang="en-US" b="1" baseline="0" dirty="0"/>
              <a:t> </a:t>
            </a:r>
            <a:r>
              <a:rPr lang="en-US" b="1" dirty="0"/>
              <a:t>antibodies. </a:t>
            </a:r>
            <a:r>
              <a:rPr lang="en-US" dirty="0"/>
              <a:t>Most antigens have several</a:t>
            </a:r>
            <a:r>
              <a:rPr lang="en-US" baseline="0" dirty="0"/>
              <a:t> </a:t>
            </a:r>
            <a:r>
              <a:rPr lang="en-US" dirty="0"/>
              <a:t>epitopes. Polyclonal antibodies are</a:t>
            </a:r>
            <a:r>
              <a:rPr lang="en-US" baseline="0" dirty="0"/>
              <a:t> </a:t>
            </a:r>
            <a:r>
              <a:rPr lang="en-US" dirty="0"/>
              <a:t>heterogeneous mixtures of antibodies, each</a:t>
            </a:r>
            <a:r>
              <a:rPr lang="en-US" baseline="0" dirty="0"/>
              <a:t> </a:t>
            </a:r>
            <a:r>
              <a:rPr lang="en-US" dirty="0"/>
              <a:t>specific for one of the various epitopes on an</a:t>
            </a:r>
            <a:r>
              <a:rPr lang="en-US" baseline="0" dirty="0"/>
              <a:t> </a:t>
            </a:r>
            <a:r>
              <a:rPr lang="en-US" dirty="0"/>
              <a:t>antigen. Monoclonal antibodies are all</a:t>
            </a:r>
            <a:r>
              <a:rPr lang="en-US" baseline="0" dirty="0"/>
              <a:t> </a:t>
            </a:r>
            <a:r>
              <a:rPr lang="en-US" dirty="0"/>
              <a:t>identical, produced by clones of a single</a:t>
            </a:r>
            <a:r>
              <a:rPr lang="en-US" baseline="0" dirty="0"/>
              <a:t> </a:t>
            </a:r>
            <a:r>
              <a:rPr lang="en-US" dirty="0"/>
              <a:t>antibody-producing cell. They recognize one</a:t>
            </a:r>
            <a:r>
              <a:rPr lang="en-US" baseline="0" dirty="0"/>
              <a:t> </a:t>
            </a:r>
            <a:r>
              <a:rPr lang="en-US" dirty="0"/>
              <a:t>specific epitope. [Information</a:t>
            </a:r>
            <a:r>
              <a:rPr lang="en-US" baseline="0" dirty="0"/>
              <a:t> from</a:t>
            </a:r>
            <a:r>
              <a:rPr lang="en-US" dirty="0"/>
              <a:t> R. A. Goldsby, T. J.</a:t>
            </a:r>
            <a:r>
              <a:rPr lang="en-US" baseline="0" dirty="0"/>
              <a:t> </a:t>
            </a:r>
            <a:r>
              <a:rPr lang="en-US" dirty="0"/>
              <a:t>Kindt, and B. A. Osborne, </a:t>
            </a:r>
            <a:r>
              <a:rPr lang="en-US" i="1" dirty="0"/>
              <a:t>Kuby Immunology,</a:t>
            </a:r>
            <a:r>
              <a:rPr lang="en-US" i="1" baseline="0" dirty="0"/>
              <a:t> </a:t>
            </a:r>
            <a:r>
              <a:rPr lang="en-US" dirty="0"/>
              <a:t>4th ed. (W. H. Freeman and Company,</a:t>
            </a:r>
            <a:r>
              <a:rPr lang="en-US" baseline="0" dirty="0"/>
              <a:t> </a:t>
            </a:r>
            <a:r>
              <a:rPr lang="en-US" dirty="0"/>
              <a:t>2000), p. 154.]</a:t>
            </a:r>
          </a:p>
          <a:p>
            <a:pPr eaLnBrk="1" hangingPunct="1">
              <a:defRPr/>
            </a:pPr>
            <a:endParaRPr lang="en-US" dirty="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A305E07-8B4F-BC41-858B-C485691DF983}" type="slidenum">
              <a:rPr lang="en-US"/>
              <a:pPr>
                <a:defRPr/>
              </a:pPr>
              <a:t>47</a:t>
            </a:fld>
            <a:endParaRPr lang="en-US" dirty="0"/>
          </a:p>
        </p:txBody>
      </p:sp>
      <p:sp>
        <p:nvSpPr>
          <p:cNvPr id="2457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5763"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3.20 Preparation of monoclonal antibodies. </a:t>
            </a:r>
            <a:r>
              <a:rPr lang="en-US" sz="1200" b="0" i="0" u="none" strike="noStrike" kern="1200" baseline="0" dirty="0">
                <a:solidFill>
                  <a:schemeClr val="tx1"/>
                </a:solidFill>
                <a:latin typeface="+mn-lt"/>
                <a:ea typeface="+mn-ea"/>
                <a:cs typeface="+mn-cs"/>
              </a:rPr>
              <a:t>Hybridoma cells are formed by the fusion of antibody-producing cells and myeloma cells. The hybrid cells are allowed to proliferate by growing them in selective medium. They are then screened to determine which ones produce antibody of the desired specificity. [Information from C. Milstein. Monoclonal antibodies. Copyright © 1980 by Scientific American, Inc. All rights reserved.]</a:t>
            </a:r>
            <a:endParaRPr lang="en-US" dirty="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A253489-EFB7-D347-B6DA-D97951D8C699}" type="slidenum">
              <a:rPr lang="en-US"/>
              <a:pPr>
                <a:defRPr/>
              </a:pPr>
              <a:t>48</a:t>
            </a:fld>
            <a:endParaRPr lang="en-US" dirty="0"/>
          </a:p>
        </p:txBody>
      </p:sp>
      <p:sp>
        <p:nvSpPr>
          <p:cNvPr id="2467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6787" name="Rectangle 3"/>
          <p:cNvSpPr>
            <a:spLocks noGrp="1" noChangeArrowheads="1"/>
          </p:cNvSpPr>
          <p:nvPr>
            <p:ph type="body" idx="1"/>
          </p:nvPr>
        </p:nvSpPr>
        <p:spPr/>
        <p:txBody>
          <a:bodyPr/>
          <a:lstStyle/>
          <a:p>
            <a:pPr>
              <a:defRPr/>
            </a:pPr>
            <a:r>
              <a:rPr lang="en-US" b="1" dirty="0"/>
              <a:t>FIGURE 3.21 Fluorescence micrograph of</a:t>
            </a:r>
            <a:r>
              <a:rPr lang="en-US" b="1" baseline="0" dirty="0"/>
              <a:t> </a:t>
            </a:r>
            <a:r>
              <a:rPr lang="en-US" b="1" dirty="0"/>
              <a:t>a developing </a:t>
            </a:r>
            <a:r>
              <a:rPr lang="en-US" b="1" i="1" dirty="0"/>
              <a:t>Drosophila </a:t>
            </a:r>
            <a:r>
              <a:rPr lang="en-US" b="1" dirty="0"/>
              <a:t>embryo. </a:t>
            </a:r>
            <a:r>
              <a:rPr lang="en-US" dirty="0"/>
              <a:t>The</a:t>
            </a:r>
            <a:r>
              <a:rPr lang="en-US" baseline="0" dirty="0"/>
              <a:t> </a:t>
            </a:r>
            <a:r>
              <a:rPr lang="en-US" dirty="0"/>
              <a:t>embryo was stained with a fluorescence labeled</a:t>
            </a:r>
            <a:r>
              <a:rPr lang="en-US" baseline="0" dirty="0"/>
              <a:t> </a:t>
            </a:r>
            <a:r>
              <a:rPr lang="en-US" dirty="0"/>
              <a:t>monoclonal antibody for the DNA binding</a:t>
            </a:r>
            <a:r>
              <a:rPr lang="en-US" baseline="0" dirty="0"/>
              <a:t> </a:t>
            </a:r>
            <a:r>
              <a:rPr lang="en-US" dirty="0"/>
              <a:t>protein encoded by </a:t>
            </a:r>
            <a:r>
              <a:rPr lang="en-US" i="1" dirty="0"/>
              <a:t>engrailed, </a:t>
            </a:r>
            <a:r>
              <a:rPr lang="en-US" dirty="0"/>
              <a:t>an</a:t>
            </a:r>
            <a:r>
              <a:rPr lang="en-US" baseline="0" dirty="0"/>
              <a:t> </a:t>
            </a:r>
            <a:r>
              <a:rPr lang="en-US" dirty="0"/>
              <a:t>essential gene in specifying the body plan.</a:t>
            </a:r>
            <a:r>
              <a:rPr lang="en-US" baseline="0" dirty="0"/>
              <a:t> </a:t>
            </a:r>
            <a:r>
              <a:rPr lang="en-US" dirty="0"/>
              <a:t>[Courtesy of Dr. Nipam Patel and Dr. Corey</a:t>
            </a:r>
            <a:r>
              <a:rPr lang="en-US" baseline="0" dirty="0"/>
              <a:t> </a:t>
            </a:r>
            <a:r>
              <a:rPr lang="en-US" dirty="0"/>
              <a:t>Goodman.]</a:t>
            </a:r>
            <a:endParaRPr lang="en-US" dirty="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0D21B270-9F21-B445-824C-923401687AF7}" type="slidenum">
              <a:rPr lang="en-US" smtClean="0"/>
              <a:pPr>
                <a:defRPr/>
              </a:pPr>
              <a:t>49</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C93DE92-F1E0-A24D-995F-CB961654387E}" type="slidenum">
              <a:rPr lang="en-US"/>
              <a:pPr>
                <a:defRPr/>
              </a:pPr>
              <a:t>50</a:t>
            </a:fld>
            <a:endParaRPr lang="en-US" dirty="0"/>
          </a:p>
        </p:txBody>
      </p:sp>
      <p:sp>
        <p:nvSpPr>
          <p:cNvPr id="2478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47811" name="Rectangle 3"/>
          <p:cNvSpPr>
            <a:spLocks noGrp="1" noChangeArrowheads="1"/>
          </p:cNvSpPr>
          <p:nvPr>
            <p:ph type="body" idx="1"/>
          </p:nvPr>
        </p:nvSpPr>
        <p:spPr/>
        <p:txBody>
          <a:bodyPr/>
          <a:lstStyle/>
          <a:p>
            <a:pPr>
              <a:defRPr/>
            </a:pPr>
            <a:r>
              <a:rPr lang="en-US" b="1" dirty="0"/>
              <a:t>FIGURE 3.22 Indirect ELISA and sandwich ELISA. </a:t>
            </a:r>
            <a:r>
              <a:rPr lang="en-US" dirty="0"/>
              <a:t>(A) In indirect ELISA, the production of color</a:t>
            </a:r>
            <a:r>
              <a:rPr lang="en-US" baseline="0" dirty="0"/>
              <a:t> </a:t>
            </a:r>
            <a:r>
              <a:rPr lang="en-US" dirty="0"/>
              <a:t>indicates the amount of an antibody to a specific antigen. (B) In sandwich ELISA, the production of</a:t>
            </a:r>
            <a:r>
              <a:rPr lang="en-US" baseline="0" dirty="0"/>
              <a:t> </a:t>
            </a:r>
            <a:r>
              <a:rPr lang="en-US" dirty="0"/>
              <a:t>color indicates the quantity of antigen. [Information</a:t>
            </a:r>
            <a:r>
              <a:rPr lang="en-US" baseline="0" dirty="0"/>
              <a:t> from</a:t>
            </a:r>
            <a:r>
              <a:rPr lang="en-US" dirty="0"/>
              <a:t> R. A. Goldsby, T. J. Kindt, and B. A. Osborne, </a:t>
            </a:r>
            <a:r>
              <a:rPr lang="en-US" i="1" dirty="0"/>
              <a:t>Kuby</a:t>
            </a:r>
            <a:r>
              <a:rPr lang="en-US" i="1" baseline="0" dirty="0"/>
              <a:t> </a:t>
            </a:r>
            <a:r>
              <a:rPr lang="en-US" i="1" dirty="0"/>
              <a:t>Immunology, </a:t>
            </a:r>
            <a:r>
              <a:rPr lang="en-US" dirty="0"/>
              <a:t>4th ed. (W. H. Freeman and Company, 2000), p. 162.]</a:t>
            </a:r>
          </a:p>
          <a:p>
            <a:pPr eaLnBrk="1" hangingPunct="1">
              <a:defRPr/>
            </a:pPr>
            <a:endParaRPr lang="en-US" dirty="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A935FA0-A802-5548-983F-8F72EF85C112}" type="slidenum">
              <a:rPr lang="en-US"/>
              <a:pPr>
                <a:defRPr/>
              </a:pPr>
              <a:t>52</a:t>
            </a:fld>
            <a:endParaRPr lang="en-US" dirty="0"/>
          </a:p>
        </p:txBody>
      </p:sp>
      <p:sp>
        <p:nvSpPr>
          <p:cNvPr id="2508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0883"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3.23 Western blotting</a:t>
            </a:r>
            <a:r>
              <a:rPr lang="en-US" sz="1200" b="0" i="0" u="none" strike="noStrike" kern="1200" baseline="0" dirty="0">
                <a:solidFill>
                  <a:schemeClr val="tx1"/>
                </a:solidFill>
                <a:latin typeface="+mn-lt"/>
                <a:ea typeface="+mn-ea"/>
                <a:cs typeface="+mn-cs"/>
              </a:rPr>
              <a:t>. Proteins on an SDS–polyacrylamide gel are transferred to a polymer sheet. The sheet is first treated with a primary antibody, which is specific for the protein of interest, and then washed to remove unbound antibody. Next, the sheet is treated with a secondary antibody, which recognizes the primary antibody, and washed again. Since the secondary antibody is labeled (here, with a fluorescent tag indicated by the yellow circle), the band containing the protein of interest can be identified.</a:t>
            </a:r>
            <a:endParaRPr lang="en-US" dirty="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A58210E-4730-3B43-A4B3-F77167900511}" type="slidenum">
              <a:rPr lang="en-US"/>
              <a:pPr>
                <a:defRPr/>
              </a:pPr>
              <a:t>54</a:t>
            </a:fld>
            <a:endParaRPr lang="en-US" dirty="0"/>
          </a:p>
        </p:txBody>
      </p:sp>
      <p:sp>
        <p:nvSpPr>
          <p:cNvPr id="2519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1907" name="Rectangle 3"/>
          <p:cNvSpPr>
            <a:spLocks noGrp="1" noChangeArrowheads="1"/>
          </p:cNvSpPr>
          <p:nvPr>
            <p:ph type="body" idx="1"/>
          </p:nvPr>
        </p:nvSpPr>
        <p:spPr/>
        <p:txBody>
          <a:bodyPr/>
          <a:lstStyle/>
          <a:p>
            <a:pPr>
              <a:defRPr/>
            </a:pPr>
            <a:r>
              <a:rPr lang="en-US" b="1" dirty="0"/>
              <a:t>FIGURE 3.24 Actin filaments. </a:t>
            </a:r>
            <a:r>
              <a:rPr lang="en-US" dirty="0"/>
              <a:t>Fluorescence</a:t>
            </a:r>
            <a:r>
              <a:rPr lang="en-US" baseline="0" dirty="0"/>
              <a:t> </a:t>
            </a:r>
            <a:r>
              <a:rPr lang="en-US" dirty="0"/>
              <a:t>micrograph of a cell shows actin filaments stained</a:t>
            </a:r>
            <a:r>
              <a:rPr lang="en-US" baseline="0" dirty="0"/>
              <a:t> green using</a:t>
            </a:r>
            <a:r>
              <a:rPr lang="en-US" dirty="0"/>
              <a:t> an antibody specific to actin. [David</a:t>
            </a:r>
            <a:r>
              <a:rPr lang="en-US" baseline="0" dirty="0"/>
              <a:t> Becker/Science Source</a:t>
            </a:r>
            <a:r>
              <a:rPr lang="en-US" dirty="0"/>
              <a:t>.]</a:t>
            </a:r>
            <a:endParaRPr lang="en-US" dirty="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3.25 Nuclear localization of a steroid receptor. </a:t>
            </a:r>
            <a:r>
              <a:rPr lang="en-US" sz="1200" b="0" i="0" u="none" strike="noStrike" kern="1200" baseline="0" dirty="0">
                <a:solidFill>
                  <a:schemeClr val="tx1"/>
                </a:solidFill>
                <a:latin typeface="+mn-lt"/>
                <a:ea typeface="+mn-ea"/>
                <a:cs typeface="+mn-cs"/>
              </a:rPr>
              <a:t>(A) The mineralocorticoid receptor, made visible by attachment to a yellow variant of GFP, is located predominantly in the cytoplasm of the cultured cell. (B) Subsequent to the addition of corticosterone (a glucocorticoid steroid that also binds to the mineralocorticoid receptor), the receptor moves into the nucleus. [M. Nishi, M. Tanaka, K.-i. Matsuda, M. Sunaguchi, and M. Kawata. </a:t>
            </a:r>
            <a:r>
              <a:rPr lang="en-US" sz="1200" b="0" i="1" u="none" strike="noStrike" kern="1200" baseline="0" dirty="0">
                <a:solidFill>
                  <a:schemeClr val="tx1"/>
                </a:solidFill>
                <a:latin typeface="+mn-lt"/>
                <a:ea typeface="+mn-ea"/>
                <a:cs typeface="+mn-cs"/>
              </a:rPr>
              <a:t>J. Neurosci</a:t>
            </a:r>
            <a:r>
              <a:rPr lang="en-US" sz="1200" b="0" i="0" u="none" strike="noStrike" kern="1200" baseline="0" dirty="0">
                <a:solidFill>
                  <a:schemeClr val="tx1"/>
                </a:solidFill>
                <a:latin typeface="+mn-lt"/>
                <a:ea typeface="+mn-ea"/>
                <a:cs typeface="+mn-cs"/>
              </a:rPr>
              <a:t>. 24:4918–4927, 2004, Fig. 7A.]</a:t>
            </a:r>
            <a:endParaRPr lang="en-US" dirty="0"/>
          </a:p>
          <a:p>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55</a:t>
            </a:fld>
            <a:endParaRPr lang="en-US" dirty="0"/>
          </a:p>
        </p:txBody>
      </p:sp>
    </p:spTree>
    <p:extLst>
      <p:ext uri="{BB962C8B-B14F-4D97-AF65-F5344CB8AC3E}">
        <p14:creationId xmlns:p14="http://schemas.microsoft.com/office/powerpoint/2010/main" val="26888798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AA10996-2601-F442-80A3-EE045BF11DB1}" type="slidenum">
              <a:rPr lang="en-US"/>
              <a:pPr>
                <a:defRPr/>
              </a:pPr>
              <a:t>56</a:t>
            </a:fld>
            <a:endParaRPr lang="en-US" dirty="0"/>
          </a:p>
        </p:txBody>
      </p:sp>
      <p:sp>
        <p:nvSpPr>
          <p:cNvPr id="2529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2931" name="Rectangle 3"/>
          <p:cNvSpPr>
            <a:spLocks noGrp="1" noChangeArrowheads="1"/>
          </p:cNvSpPr>
          <p:nvPr>
            <p:ph type="body" idx="1"/>
          </p:nvPr>
        </p:nvSpPr>
        <p:spPr/>
        <p:txBody>
          <a:bodyPr/>
          <a:lstStyle/>
          <a:p>
            <a:pPr>
              <a:defRPr/>
            </a:pPr>
            <a:r>
              <a:rPr lang="en-US" b="1" dirty="0"/>
              <a:t>FIGURE 3.26 Immunoelectron microscopy.</a:t>
            </a:r>
            <a:r>
              <a:rPr lang="en-US" b="0" baseline="0" dirty="0"/>
              <a:t> </a:t>
            </a:r>
            <a:r>
              <a:rPr lang="en-US" dirty="0"/>
              <a:t>The opaque particles (150-Å, or 15-nm,</a:t>
            </a:r>
            <a:r>
              <a:rPr lang="en-US" baseline="0" dirty="0"/>
              <a:t> </a:t>
            </a:r>
            <a:r>
              <a:rPr lang="en-US" dirty="0"/>
              <a:t>diameter) in this electron micrograph are</a:t>
            </a:r>
            <a:r>
              <a:rPr lang="en-US" baseline="0" dirty="0"/>
              <a:t> </a:t>
            </a:r>
            <a:r>
              <a:rPr lang="en-US" dirty="0"/>
              <a:t>clusters of gold atoms bound to antibody</a:t>
            </a:r>
            <a:r>
              <a:rPr lang="en-US" baseline="0" dirty="0"/>
              <a:t> </a:t>
            </a:r>
            <a:r>
              <a:rPr lang="en-US" dirty="0"/>
              <a:t>molecules. A gold-labeled antibody against a channel</a:t>
            </a:r>
            <a:r>
              <a:rPr lang="en-US" baseline="0" dirty="0"/>
              <a:t> </a:t>
            </a:r>
            <a:r>
              <a:rPr lang="en-US" dirty="0"/>
              <a:t>protein (Section 13.4)</a:t>
            </a:r>
            <a:r>
              <a:rPr lang="en-US" baseline="0" dirty="0"/>
              <a:t> identifies membrane vesicles at the termini of neurons that contain </a:t>
            </a:r>
            <a:r>
              <a:rPr lang="en-US" dirty="0"/>
              <a:t>this protein. [Courtesy of Dr. Peter Sargent.]</a:t>
            </a:r>
          </a:p>
          <a:p>
            <a:pPr>
              <a:defRPr/>
            </a:pPr>
            <a:r>
              <a:rPr lang="en-US" dirty="0"/>
              <a:t> </a:t>
            </a:r>
          </a:p>
          <a:p>
            <a:pPr eaLnBrk="1" hangingPunct="1">
              <a:defRPr/>
            </a:pPr>
            <a:endParaRPr lang="en-US" dirty="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717D901-B1C5-6847-AAB6-62E8285272E0}" type="slidenum">
              <a:rPr lang="en-US"/>
              <a:pPr>
                <a:defRPr/>
              </a:pPr>
              <a:t>57</a:t>
            </a:fld>
            <a:endParaRPr lang="en-US" dirty="0"/>
          </a:p>
        </p:txBody>
      </p:sp>
      <p:sp>
        <p:nvSpPr>
          <p:cNvPr id="2539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395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E093E61-4F2C-C744-9BA4-6E4DA5D19455}" type="slidenum">
              <a:rPr lang="en-US"/>
              <a:pPr>
                <a:defRPr/>
              </a:pPr>
              <a:t>58</a:t>
            </a:fld>
            <a:endParaRPr lang="en-US" dirty="0"/>
          </a:p>
        </p:txBody>
      </p:sp>
      <p:sp>
        <p:nvSpPr>
          <p:cNvPr id="2560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6003" name="Rectangle 3"/>
          <p:cNvSpPr>
            <a:spLocks noGrp="1" noChangeArrowheads="1"/>
          </p:cNvSpPr>
          <p:nvPr>
            <p:ph type="body" idx="1"/>
          </p:nvPr>
        </p:nvSpPr>
        <p:spPr/>
        <p:txBody>
          <a:bodyPr/>
          <a:lstStyle/>
          <a:p>
            <a:pPr>
              <a:defRPr/>
            </a:pPr>
            <a:r>
              <a:rPr lang="en-US" b="1" dirty="0"/>
              <a:t>Figure 3.27 MALDI-TOF mass spectrometry. </a:t>
            </a:r>
            <a:r>
              <a:rPr lang="en-US" dirty="0"/>
              <a:t>(1) The protein sample, embedded in an</a:t>
            </a:r>
            <a:r>
              <a:rPr lang="en-US" baseline="0" dirty="0"/>
              <a:t> </a:t>
            </a:r>
            <a:r>
              <a:rPr lang="en-US" dirty="0"/>
              <a:t>appropriate matrix, is ionized by the application of a laser beam. (2) An electric field accelerates the</a:t>
            </a:r>
            <a:r>
              <a:rPr lang="en-US" baseline="0" dirty="0"/>
              <a:t> </a:t>
            </a:r>
            <a:r>
              <a:rPr lang="en-US" dirty="0"/>
              <a:t>ions through the flight tube toward the detector. (3) The lightest ions arrive first. (4) The ionizing</a:t>
            </a:r>
            <a:r>
              <a:rPr lang="en-US" baseline="0" dirty="0"/>
              <a:t> </a:t>
            </a:r>
            <a:r>
              <a:rPr lang="en-US" dirty="0"/>
              <a:t>laser pulse also triggers a clock that measures the time of flight (TOF) for the ions. [Information</a:t>
            </a:r>
            <a:r>
              <a:rPr lang="en-US" baseline="0" dirty="0"/>
              <a:t> from</a:t>
            </a:r>
            <a:r>
              <a:rPr lang="en-US" dirty="0"/>
              <a:t> J. T.</a:t>
            </a:r>
            <a:r>
              <a:rPr lang="en-US" baseline="0" dirty="0"/>
              <a:t> </a:t>
            </a:r>
            <a:r>
              <a:rPr lang="en-US" dirty="0"/>
              <a:t>Watson, </a:t>
            </a:r>
            <a:r>
              <a:rPr lang="en-US" i="1" dirty="0"/>
              <a:t>Introduction to Mass Spectrometry, </a:t>
            </a:r>
            <a:r>
              <a:rPr lang="en-US" dirty="0"/>
              <a:t>3d ed. (Lippincott-Raven, 1997), p. 279.]</a:t>
            </a:r>
            <a:endParaRPr lang="en-US" dirty="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431ED89-C01A-DA45-B4DF-4198D288D1C2}" type="slidenum">
              <a:rPr lang="en-US"/>
              <a:pPr>
                <a:defRPr/>
              </a:pPr>
              <a:t>59</a:t>
            </a:fld>
            <a:endParaRPr lang="en-US" dirty="0"/>
          </a:p>
        </p:txBody>
      </p:sp>
      <p:sp>
        <p:nvSpPr>
          <p:cNvPr id="2570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7027" name="Rectangle 3"/>
          <p:cNvSpPr>
            <a:spLocks noGrp="1" noChangeArrowheads="1"/>
          </p:cNvSpPr>
          <p:nvPr>
            <p:ph type="body" idx="1"/>
          </p:nvPr>
        </p:nvSpPr>
        <p:spPr/>
        <p:txBody>
          <a:bodyPr/>
          <a:lstStyle/>
          <a:p>
            <a:pPr>
              <a:defRPr/>
            </a:pPr>
            <a:r>
              <a:rPr lang="en-US" b="1" dirty="0"/>
              <a:t>FIGURE 3.28 MALDI-TOF mass spectrum of insulin and β-lactoglobulin. </a:t>
            </a:r>
            <a:r>
              <a:rPr lang="en-US" dirty="0"/>
              <a:t>A mixture of 5 pmol</a:t>
            </a:r>
            <a:r>
              <a:rPr lang="en-US" baseline="0" dirty="0"/>
              <a:t> </a:t>
            </a:r>
            <a:r>
              <a:rPr lang="en-US" dirty="0"/>
              <a:t>each of insulin (I) and β-lactoglobulin (L) was ionized by MALDI, which produces predominantly</a:t>
            </a:r>
            <a:r>
              <a:rPr lang="en-US" baseline="0" dirty="0"/>
              <a:t> </a:t>
            </a:r>
            <a:r>
              <a:rPr lang="en-US" dirty="0"/>
              <a:t>singly charged molecular ions from peptides and proteins—the insulin ion (I+H)</a:t>
            </a:r>
            <a:r>
              <a:rPr lang="en-US" baseline="30000" dirty="0"/>
              <a:t>+</a:t>
            </a:r>
            <a:r>
              <a:rPr lang="en-US" dirty="0"/>
              <a:t> and the</a:t>
            </a:r>
            <a:r>
              <a:rPr lang="en-US" baseline="0" dirty="0"/>
              <a:t> </a:t>
            </a:r>
            <a:r>
              <a:rPr lang="en-US" dirty="0"/>
              <a:t>lactoglobulin ion (L+H)</a:t>
            </a:r>
            <a:r>
              <a:rPr lang="en-US" baseline="30000" dirty="0"/>
              <a:t>+</a:t>
            </a:r>
            <a:r>
              <a:rPr lang="en-US" dirty="0"/>
              <a:t>. Molecules with multiple charges, such as those for β-lactoglobulin</a:t>
            </a:r>
            <a:r>
              <a:rPr lang="en-US" baseline="0" dirty="0"/>
              <a:t> </a:t>
            </a:r>
            <a:r>
              <a:rPr lang="en-US" dirty="0"/>
              <a:t>indicated by the blue arrows, as well as small quantities of a singly charged dimer of insulin</a:t>
            </a:r>
            <a:r>
              <a:rPr lang="en-US" baseline="0" dirty="0"/>
              <a:t> </a:t>
            </a:r>
            <a:r>
              <a:rPr lang="en-US" dirty="0"/>
              <a:t>(2 I+H)</a:t>
            </a:r>
            <a:r>
              <a:rPr lang="en-US" baseline="30000" dirty="0"/>
              <a:t>+</a:t>
            </a:r>
            <a:r>
              <a:rPr lang="en-US" dirty="0"/>
              <a:t> also are produced. [Data</a:t>
            </a:r>
            <a:r>
              <a:rPr lang="en-US" baseline="0" dirty="0"/>
              <a:t> from</a:t>
            </a:r>
            <a:r>
              <a:rPr lang="en-US" dirty="0"/>
              <a:t> J. T. Watson, </a:t>
            </a:r>
            <a:r>
              <a:rPr lang="en-US" i="1" dirty="0"/>
              <a:t>Introduction to Mass Spectrometry, </a:t>
            </a:r>
            <a:r>
              <a:rPr lang="en-US" dirty="0"/>
              <a:t>3d ed.</a:t>
            </a:r>
            <a:r>
              <a:rPr lang="en-US" baseline="0" dirty="0"/>
              <a:t> </a:t>
            </a:r>
            <a:r>
              <a:rPr lang="en-US" dirty="0"/>
              <a:t>(Lippincott-Raven, 1997), p. 282.]</a:t>
            </a:r>
            <a:endParaRPr lang="en-US" dirty="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82D0A848-F48C-C140-85BE-C0C635A146F1}" type="slidenum">
              <a:rPr lang="en-US" smtClean="0"/>
              <a:pPr>
                <a:defRPr/>
              </a:pPr>
              <a:t>60</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0E00942-5273-B242-9C92-FC94B610674A}" type="slidenum">
              <a:rPr lang="en-US"/>
              <a:pPr>
                <a:defRPr/>
              </a:pPr>
              <a:t>61</a:t>
            </a:fld>
            <a:endParaRPr lang="en-US" dirty="0"/>
          </a:p>
        </p:txBody>
      </p:sp>
      <p:sp>
        <p:nvSpPr>
          <p:cNvPr id="231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1427" name="Rectangle 3"/>
          <p:cNvSpPr>
            <a:spLocks noGrp="1" noChangeArrowheads="1"/>
          </p:cNvSpPr>
          <p:nvPr>
            <p:ph type="body" idx="1"/>
          </p:nvPr>
        </p:nvSpPr>
        <p:spPr/>
        <p:txBody>
          <a:bodyPr/>
          <a:lstStyle/>
          <a:p>
            <a:r>
              <a:rPr lang="en-US" sz="1200" b="1" i="0" u="none" strike="noStrike" kern="1200" baseline="0" dirty="0">
                <a:solidFill>
                  <a:schemeClr val="tx1"/>
                </a:solidFill>
                <a:latin typeface="+mn-lt"/>
                <a:ea typeface="+mn-ea"/>
                <a:cs typeface="+mn-cs"/>
              </a:rPr>
              <a:t>FIGURE 3.29 The Edman degradation</a:t>
            </a:r>
            <a:r>
              <a:rPr lang="en-US" sz="1200" b="0" i="0" u="none" strike="noStrike" kern="1200" baseline="0" dirty="0">
                <a:solidFill>
                  <a:schemeClr val="tx1"/>
                </a:solidFill>
                <a:latin typeface="+mn-lt"/>
                <a:ea typeface="+mn-ea"/>
                <a:cs typeface="+mn-cs"/>
              </a:rPr>
              <a:t>. The labeled amino-terminal residue (PTH–alanine in the first round) can be released without hydrolyzing the rest of the peptide. Hence, the amino-terminal residue of the shortened peptide (Gly-Asp-Phe-Arg-Gly) can be determined in the second round. Three more rounds of the Edman degradation reveal the complete sequence of the original peptide.</a:t>
            </a:r>
            <a:endParaRPr lang="en-US" dirty="0">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3.30 Peptide sequencing by tandem mass spectrometry</a:t>
            </a:r>
            <a:r>
              <a:rPr lang="en-US" sz="1200" b="0" i="0" u="none" strike="noStrike" kern="1200" baseline="0" dirty="0">
                <a:solidFill>
                  <a:schemeClr val="tx1"/>
                </a:solidFill>
                <a:latin typeface="+mn-lt"/>
                <a:ea typeface="+mn-ea"/>
                <a:cs typeface="+mn-cs"/>
              </a:rPr>
              <a:t>. (A) Within the mass spectrometer, peptides can be fragmented by bombardment with inert gaseous ions to generate a family of product ions in which individual amino acids have been removed from one end. In this example, the carboxyl fragment of the cleaved peptide bond is ionized. (B) The product ions are detected in the second mass analyzer. The mass differences between the peaks indicate the sequence of amino acids in the precursor ion. [Data from H. Steen and M. Mann. </a:t>
            </a:r>
            <a:r>
              <a:rPr lang="en-US" sz="1200" b="0" i="1" u="none" strike="noStrike" kern="1200" baseline="0" dirty="0">
                <a:solidFill>
                  <a:schemeClr val="tx1"/>
                </a:solidFill>
                <a:latin typeface="+mn-lt"/>
                <a:ea typeface="+mn-ea"/>
                <a:cs typeface="+mn-cs"/>
              </a:rPr>
              <a:t>Nat. </a:t>
            </a:r>
            <a:r>
              <a:rPr lang="sv-SE" sz="1200" b="0" i="1" u="none" strike="noStrike" kern="1200" baseline="0" dirty="0">
                <a:solidFill>
                  <a:schemeClr val="tx1"/>
                </a:solidFill>
                <a:latin typeface="+mn-lt"/>
                <a:ea typeface="+mn-ea"/>
                <a:cs typeface="+mn-cs"/>
              </a:rPr>
              <a:t>Rev. Mol. Cell Biol</a:t>
            </a:r>
            <a:r>
              <a:rPr lang="sv-SE" sz="1200" b="0" i="0" u="none" strike="noStrike" kern="1200" baseline="0" dirty="0">
                <a:solidFill>
                  <a:schemeClr val="tx1"/>
                </a:solidFill>
                <a:latin typeface="+mn-lt"/>
                <a:ea typeface="+mn-ea"/>
                <a:cs typeface="+mn-cs"/>
              </a:rPr>
              <a:t>. 5:699–711, 2004.]</a:t>
            </a:r>
            <a:endParaRPr lang="en-US" dirty="0"/>
          </a:p>
        </p:txBody>
      </p:sp>
      <p:sp>
        <p:nvSpPr>
          <p:cNvPr id="4" name="Slide Number Placeholder 3"/>
          <p:cNvSpPr>
            <a:spLocks noGrp="1"/>
          </p:cNvSpPr>
          <p:nvPr>
            <p:ph type="sldNum" sz="quarter" idx="5"/>
          </p:nvPr>
        </p:nvSpPr>
        <p:spPr/>
        <p:txBody>
          <a:bodyPr/>
          <a:lstStyle/>
          <a:p>
            <a:pPr>
              <a:defRPr/>
            </a:pPr>
            <a:fld id="{82D0A848-F48C-C140-85BE-C0C635A146F1}" type="slidenum">
              <a:rPr lang="en-US" smtClean="0"/>
              <a:pPr>
                <a:defRPr/>
              </a:pPr>
              <a:t>62</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AD317F-C49B-554C-A03E-0B0FE4254FF2}" type="slidenum">
              <a:rPr lang="en-US"/>
              <a:pPr>
                <a:defRPr/>
              </a:pPr>
              <a:t>63</a:t>
            </a:fld>
            <a:endParaRPr lang="en-US" dirty="0"/>
          </a:p>
        </p:txBody>
      </p:sp>
      <p:sp>
        <p:nvSpPr>
          <p:cNvPr id="229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9379"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BEE6D39-4221-E84B-B38E-21B0616C545B}" type="slidenum">
              <a:rPr lang="en-US"/>
              <a:pPr>
                <a:defRPr/>
              </a:pPr>
              <a:t>64</a:t>
            </a:fld>
            <a:endParaRPr lang="en-US" dirty="0"/>
          </a:p>
        </p:txBody>
      </p:sp>
      <p:sp>
        <p:nvSpPr>
          <p:cNvPr id="233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3475"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EA7E406-EBE7-EC49-A6A9-36E06AA160CE}" type="slidenum">
              <a:rPr lang="en-US"/>
              <a:pPr>
                <a:defRPr/>
              </a:pPr>
              <a:t>65</a:t>
            </a:fld>
            <a:endParaRPr lang="en-US" dirty="0"/>
          </a:p>
        </p:txBody>
      </p:sp>
      <p:sp>
        <p:nvSpPr>
          <p:cNvPr id="2344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4499" name="Rectangle 3"/>
          <p:cNvSpPr>
            <a:spLocks noGrp="1" noChangeArrowheads="1"/>
          </p:cNvSpPr>
          <p:nvPr>
            <p:ph type="body" idx="1"/>
          </p:nvPr>
        </p:nvSpPr>
        <p:spPr/>
        <p:txBody>
          <a:bodyPr/>
          <a:lstStyle/>
          <a:p>
            <a:pPr>
              <a:defRPr/>
            </a:pPr>
            <a:r>
              <a:rPr lang="en-US" b="1" dirty="0"/>
              <a:t>FIGURE 3.31 Overlap peptides. </a:t>
            </a:r>
            <a:r>
              <a:rPr lang="en-US" dirty="0"/>
              <a:t>The peptide obtained by</a:t>
            </a:r>
            <a:r>
              <a:rPr lang="en-US" baseline="0" dirty="0"/>
              <a:t> </a:t>
            </a:r>
            <a:r>
              <a:rPr lang="en-US" dirty="0"/>
              <a:t>chymotryptic digestion overlaps two tryptic peptides, establishing</a:t>
            </a:r>
            <a:r>
              <a:rPr lang="en-US" baseline="0" dirty="0"/>
              <a:t> </a:t>
            </a:r>
            <a:r>
              <a:rPr lang="en-US" dirty="0"/>
              <a:t>their order.</a:t>
            </a:r>
            <a:endParaRPr lang="en-US" dirty="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3.32 Disulfide-bond reduction. </a:t>
            </a:r>
            <a:r>
              <a:rPr lang="en-US" sz="1200" b="0" i="0" u="none" strike="noStrike" kern="1200" baseline="0" dirty="0">
                <a:solidFill>
                  <a:schemeClr val="tx1"/>
                </a:solidFill>
                <a:latin typeface="+mn-lt"/>
                <a:ea typeface="+mn-ea"/>
                <a:cs typeface="+mn-cs"/>
              </a:rPr>
              <a:t>Polypeptides linked by disulfide bonds can be separated by reduction with dithiothreitol followed by alkylation to prevent them from re-forming.</a:t>
            </a:r>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67</a:t>
            </a:fld>
            <a:endParaRPr lang="en-US" dirty="0"/>
          </a:p>
        </p:txBody>
      </p:sp>
    </p:spTree>
    <p:extLst>
      <p:ext uri="{BB962C8B-B14F-4D97-AF65-F5344CB8AC3E}">
        <p14:creationId xmlns:p14="http://schemas.microsoft.com/office/powerpoint/2010/main" val="34659740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AAD317F-C49B-554C-A03E-0B0FE4254FF2}" type="slidenum">
              <a:rPr lang="en-US"/>
              <a:pPr>
                <a:defRPr/>
              </a:pPr>
              <a:t>68</a:t>
            </a:fld>
            <a:endParaRPr lang="en-US" dirty="0"/>
          </a:p>
        </p:txBody>
      </p:sp>
      <p:sp>
        <p:nvSpPr>
          <p:cNvPr id="229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9379"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3.33 DNA sequence yields the amino acid sequence. </a:t>
            </a:r>
            <a:r>
              <a:rPr lang="en-US" sz="1200" b="0" i="0" u="none" strike="noStrike" kern="1200" baseline="0" dirty="0">
                <a:solidFill>
                  <a:schemeClr val="tx1"/>
                </a:solidFill>
                <a:latin typeface="+mn-lt"/>
                <a:ea typeface="+mn-ea"/>
                <a:cs typeface="+mn-cs"/>
              </a:rPr>
              <a:t>The complete nucleotide sequence of HIV-1 (human immunodeficiency virus), the cause of AIDS (acquired immune deficiency syndrome), was determined within a year after the isolation of the virus. A part of the DNA sequence specified by the RNA genome of the virus is shown here with the corresponding amino acid sequence (deduced from a knowledge of the genetic code).</a:t>
            </a:r>
            <a:endParaRPr lang="en-US" dirty="0"/>
          </a:p>
        </p:txBody>
      </p:sp>
      <p:sp>
        <p:nvSpPr>
          <p:cNvPr id="4" name="Slide Number Placeholder 3"/>
          <p:cNvSpPr>
            <a:spLocks noGrp="1"/>
          </p:cNvSpPr>
          <p:nvPr>
            <p:ph type="sldNum" sz="quarter" idx="5"/>
          </p:nvPr>
        </p:nvSpPr>
        <p:spPr/>
        <p:txBody>
          <a:bodyPr/>
          <a:lstStyle/>
          <a:p>
            <a:pPr>
              <a:defRPr/>
            </a:pPr>
            <a:fld id="{F918EB2B-2BF4-664D-9A33-526831B5FB8A}" type="slidenum">
              <a:rPr lang="en-US" smtClean="0"/>
              <a:pPr>
                <a:defRPr/>
              </a:pPr>
              <a:t>69</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6755A2F-95E2-3643-A3BD-178EEE3EDE6D}" type="slidenum">
              <a:rPr lang="en-US"/>
              <a:pPr>
                <a:defRPr/>
              </a:pPr>
              <a:t>71</a:t>
            </a:fld>
            <a:endParaRPr lang="en-US" dirty="0"/>
          </a:p>
        </p:txBody>
      </p:sp>
      <p:sp>
        <p:nvSpPr>
          <p:cNvPr id="226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6307" name="Rectangle 3"/>
          <p:cNvSpPr>
            <a:spLocks noGrp="1" noChangeArrowheads="1"/>
          </p:cNvSpPr>
          <p:nvPr>
            <p:ph type="body" idx="1"/>
          </p:nvPr>
        </p:nvSpPr>
        <p:spPr/>
        <p:txBody>
          <a:bodyPr/>
          <a:lstStyle/>
          <a:p>
            <a:pPr>
              <a:defRPr/>
            </a:pPr>
            <a:r>
              <a:rPr lang="en-US" b="1" dirty="0"/>
              <a:t>FIGURE 3.34 Repeating motifs in a</a:t>
            </a:r>
            <a:r>
              <a:rPr lang="en-US" b="1" baseline="0" dirty="0"/>
              <a:t> </a:t>
            </a:r>
            <a:r>
              <a:rPr lang="en-US" b="1" dirty="0"/>
              <a:t>protein chain. </a:t>
            </a:r>
            <a:r>
              <a:rPr lang="en-US" dirty="0"/>
              <a:t>Calmodulin, a calcium sensor,</a:t>
            </a:r>
            <a:r>
              <a:rPr lang="en-US" baseline="0" dirty="0"/>
              <a:t> </a:t>
            </a:r>
            <a:r>
              <a:rPr lang="en-US" dirty="0"/>
              <a:t>contains four similar units (shown in red,</a:t>
            </a:r>
            <a:r>
              <a:rPr lang="en-US" baseline="0" dirty="0"/>
              <a:t> </a:t>
            </a:r>
            <a:r>
              <a:rPr lang="en-US" dirty="0"/>
              <a:t>yellow, blue, and orange) in a single</a:t>
            </a:r>
            <a:r>
              <a:rPr lang="en-US" baseline="0" dirty="0"/>
              <a:t> </a:t>
            </a:r>
            <a:r>
              <a:rPr lang="en-US" dirty="0"/>
              <a:t>polypeptide chain. </a:t>
            </a:r>
            <a:r>
              <a:rPr lang="en-US" i="1" dirty="0"/>
              <a:t>Notice </a:t>
            </a:r>
            <a:r>
              <a:rPr lang="en-US" dirty="0"/>
              <a:t>that each unit binds</a:t>
            </a:r>
            <a:r>
              <a:rPr lang="en-US" baseline="0" dirty="0"/>
              <a:t> </a:t>
            </a:r>
            <a:r>
              <a:rPr lang="en-US" dirty="0"/>
              <a:t>a calcium ion (shown in green). [Drawn from</a:t>
            </a:r>
            <a:r>
              <a:rPr lang="en-US" baseline="0" dirty="0"/>
              <a:t> </a:t>
            </a:r>
            <a:r>
              <a:rPr lang="en-US" dirty="0"/>
              <a:t>1CLL.pdb.]</a:t>
            </a:r>
            <a:endParaRPr lang="en-US" dirty="0">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047701-7703-9A4E-821C-BE66C80E39DA}" type="slidenum">
              <a:rPr lang="en-US"/>
              <a:pPr>
                <a:defRPr/>
              </a:pPr>
              <a:t>72</a:t>
            </a:fld>
            <a:endParaRPr lang="en-US" dirty="0"/>
          </a:p>
        </p:txBody>
      </p:sp>
      <p:sp>
        <p:nvSpPr>
          <p:cNvPr id="2580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8051" name="Rectangle 3"/>
          <p:cNvSpPr>
            <a:spLocks noGrp="1" noChangeArrowheads="1"/>
          </p:cNvSpPr>
          <p:nvPr>
            <p:ph type="body" idx="1"/>
          </p:nvPr>
        </p:nvSpPr>
        <p:spPr/>
        <p:txBody>
          <a:bodyPr/>
          <a:lstStyle/>
          <a:p>
            <a:pPr>
              <a:defRPr/>
            </a:pPr>
            <a:endParaRPr lang="en-US" dirty="0">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3.35 Proteomic analysis by mass spectrometry. </a:t>
            </a:r>
            <a:r>
              <a:rPr lang="en-US" sz="1200" b="0" i="0" u="none" strike="noStrike" kern="1200" baseline="0" dirty="0">
                <a:solidFill>
                  <a:schemeClr val="tx1"/>
                </a:solidFill>
                <a:latin typeface="+mn-lt"/>
                <a:ea typeface="+mn-ea"/>
                <a:cs typeface="+mn-cs"/>
              </a:rPr>
              <a:t>This mass spectrum was obtained by analyzing a trypsin-treated band in a gel derived from a yeast nuclear-pore sample. Many of the peaks were found to match the masses predicted for peptide fragments from three proteins (Nup120p, Kap122p, and Kap120p) within the yeast genome. The band corresponded to an apparent molecular mass of 100 kDa. [Data from M. P. Rout, J. D. Aitchison, A. Suprapto, K. Hjertaas, Y. Zhao, and </a:t>
            </a:r>
            <a:r>
              <a:rPr lang="fr-FR" sz="1200" b="0" i="0" u="none" strike="noStrike" kern="1200" baseline="0" dirty="0">
                <a:solidFill>
                  <a:schemeClr val="tx1"/>
                </a:solidFill>
                <a:latin typeface="+mn-lt"/>
                <a:ea typeface="+mn-ea"/>
                <a:cs typeface="+mn-cs"/>
              </a:rPr>
              <a:t>B. T. Chait. </a:t>
            </a:r>
            <a:r>
              <a:rPr lang="fr-FR" sz="1200" b="0" i="1" u="none" strike="noStrike" kern="1200" baseline="0" dirty="0">
                <a:solidFill>
                  <a:schemeClr val="tx1"/>
                </a:solidFill>
                <a:latin typeface="+mn-lt"/>
                <a:ea typeface="+mn-ea"/>
                <a:cs typeface="+mn-cs"/>
              </a:rPr>
              <a:t>J. Cell Biol</a:t>
            </a:r>
            <a:r>
              <a:rPr lang="fr-FR" sz="1200" b="0" i="0" u="none" strike="noStrike" kern="1200" baseline="0" dirty="0">
                <a:solidFill>
                  <a:schemeClr val="tx1"/>
                </a:solidFill>
                <a:latin typeface="+mn-lt"/>
                <a:ea typeface="+mn-ea"/>
                <a:cs typeface="+mn-cs"/>
              </a:rPr>
              <a:t>. 148:635–651, 2000.]</a:t>
            </a:r>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73</a:t>
            </a:fld>
            <a:endParaRPr lang="en-US" dirty="0"/>
          </a:p>
        </p:txBody>
      </p:sp>
    </p:spTree>
    <p:extLst>
      <p:ext uri="{BB962C8B-B14F-4D97-AF65-F5344CB8AC3E}">
        <p14:creationId xmlns:p14="http://schemas.microsoft.com/office/powerpoint/2010/main" val="33391465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E2B91A8-EC86-6B46-BFAD-738AD839458B}" type="slidenum">
              <a:rPr lang="en-US"/>
              <a:pPr>
                <a:defRPr/>
              </a:pPr>
              <a:t>74</a:t>
            </a:fld>
            <a:endParaRPr lang="en-US" dirty="0"/>
          </a:p>
        </p:txBody>
      </p:sp>
      <p:sp>
        <p:nvSpPr>
          <p:cNvPr id="2611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1123" name="Rectangle 3"/>
          <p:cNvSpPr>
            <a:spLocks noGrp="1" noChangeArrowheads="1"/>
          </p:cNvSpPr>
          <p:nvPr>
            <p:ph type="body" idx="1"/>
          </p:nvPr>
        </p:nvSpPr>
        <p:spPr/>
        <p:txBody>
          <a:bodyPr/>
          <a:lstStyle/>
          <a:p>
            <a:pPr>
              <a:defRPr/>
            </a:pPr>
            <a:endParaRPr lang="en-US" dirty="0">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C5D9D75-A8AB-9A4C-B938-DC1EC36BAF9E}" type="slidenum">
              <a:rPr lang="en-US"/>
              <a:pPr>
                <a:defRPr/>
              </a:pPr>
              <a:t>75</a:t>
            </a:fld>
            <a:endParaRPr lang="en-US" dirty="0"/>
          </a:p>
        </p:txBody>
      </p:sp>
      <p:sp>
        <p:nvSpPr>
          <p:cNvPr id="2621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2147"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t>FIGURE 3.36 Vasopressin and a synthetic</a:t>
            </a:r>
            <a:r>
              <a:rPr lang="en-US" b="1" baseline="0" dirty="0"/>
              <a:t> </a:t>
            </a:r>
            <a:r>
              <a:rPr lang="en-US" b="1" dirty="0"/>
              <a:t>vasopressin analog. </a:t>
            </a:r>
            <a:r>
              <a:rPr lang="en-US" dirty="0"/>
              <a:t>Structural formulas of</a:t>
            </a:r>
            <a:r>
              <a:rPr lang="en-US" baseline="0" dirty="0"/>
              <a:t> </a:t>
            </a:r>
            <a:r>
              <a:rPr lang="en-US" dirty="0"/>
              <a:t>(A) vasopressin, a peptide hormone that</a:t>
            </a:r>
            <a:r>
              <a:rPr lang="en-US" baseline="0" dirty="0"/>
              <a:t> </a:t>
            </a:r>
            <a:r>
              <a:rPr lang="en-US" dirty="0"/>
              <a:t>stimulates water</a:t>
            </a:r>
            <a:r>
              <a:rPr lang="en-US" baseline="0" dirty="0"/>
              <a:t> </a:t>
            </a:r>
            <a:r>
              <a:rPr lang="en-US" dirty="0"/>
              <a:t>resorption, and</a:t>
            </a:r>
            <a:r>
              <a:rPr lang="en-US" baseline="0" dirty="0"/>
              <a:t> </a:t>
            </a:r>
            <a:r>
              <a:rPr lang="en-US" dirty="0"/>
              <a:t>(B) 1-desamino-8-D-arginine vasopressin,</a:t>
            </a:r>
            <a:r>
              <a:rPr lang="en-US" baseline="0" dirty="0"/>
              <a:t> </a:t>
            </a:r>
            <a:r>
              <a:rPr lang="en-US" dirty="0"/>
              <a:t>a more stable synthetic analog of this</a:t>
            </a:r>
            <a:r>
              <a:rPr lang="en-US" baseline="0" dirty="0"/>
              <a:t> </a:t>
            </a:r>
            <a:r>
              <a:rPr lang="en-US" dirty="0"/>
              <a:t>antidiuretic hormone.</a:t>
            </a:r>
          </a:p>
          <a:p>
            <a:pPr eaLnBrk="1" hangingPunct="1">
              <a:defRPr/>
            </a:pPr>
            <a:endParaRPr lang="en-US" dirty="0">
              <a:cs typeface="+mn-cs"/>
            </a:endParaRPr>
          </a:p>
          <a:p>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76</a:t>
            </a:fld>
            <a:endParaRPr lang="en-US" dirty="0"/>
          </a:p>
        </p:txBody>
      </p:sp>
    </p:spTree>
    <p:extLst>
      <p:ext uri="{BB962C8B-B14F-4D97-AF65-F5344CB8AC3E}">
        <p14:creationId xmlns:p14="http://schemas.microsoft.com/office/powerpoint/2010/main" val="15480925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6E17A41-98F5-8D48-B87B-048078975520}" type="slidenum">
              <a:rPr lang="en-US"/>
              <a:pPr>
                <a:defRPr/>
              </a:pPr>
              <a:t>77</a:t>
            </a:fld>
            <a:endParaRPr lang="en-US" dirty="0"/>
          </a:p>
        </p:txBody>
      </p:sp>
      <p:sp>
        <p:nvSpPr>
          <p:cNvPr id="2631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3171" name="Rectangle 3"/>
          <p:cNvSpPr>
            <a:spLocks noGrp="1" noChangeArrowheads="1"/>
          </p:cNvSpPr>
          <p:nvPr>
            <p:ph type="body" idx="1"/>
          </p:nvPr>
        </p:nvSpPr>
        <p:spPr/>
        <p:txBody>
          <a:bodyPr/>
          <a:lstStyle/>
          <a:p>
            <a:pPr>
              <a:defRPr/>
            </a:pPr>
            <a:endParaRPr lang="en-US" dirty="0">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D71625B-ABBC-CC4F-B8B0-2A7800256AD7}" type="slidenum">
              <a:rPr lang="en-US"/>
              <a:pPr>
                <a:defRPr/>
              </a:pPr>
              <a:t>78</a:t>
            </a:fld>
            <a:endParaRPr lang="en-US" dirty="0"/>
          </a:p>
        </p:txBody>
      </p:sp>
      <p:sp>
        <p:nvSpPr>
          <p:cNvPr id="2672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67267" name="Rectangle 3"/>
          <p:cNvSpPr>
            <a:spLocks noGrp="1" noChangeArrowheads="1"/>
          </p:cNvSpPr>
          <p:nvPr>
            <p:ph type="body" idx="1"/>
          </p:nvPr>
        </p:nvSpPr>
        <p:spPr/>
        <p:txBody>
          <a:bodyPr/>
          <a:lstStyle/>
          <a:p>
            <a:pPr>
              <a:defRPr/>
            </a:pPr>
            <a:r>
              <a:rPr lang="en-US" b="1" dirty="0"/>
              <a:t>FIGURE 3.37 Solid-phase peptide</a:t>
            </a:r>
            <a:r>
              <a:rPr lang="en-US" b="1" baseline="0" dirty="0"/>
              <a:t> </a:t>
            </a:r>
            <a:r>
              <a:rPr lang="en-US" b="1" dirty="0"/>
              <a:t>synthesis. </a:t>
            </a:r>
            <a:r>
              <a:rPr lang="en-US" dirty="0"/>
              <a:t>The sequence of steps in solid phase</a:t>
            </a:r>
            <a:r>
              <a:rPr lang="en-US" baseline="0" dirty="0"/>
              <a:t> </a:t>
            </a:r>
            <a:r>
              <a:rPr lang="en-US" dirty="0"/>
              <a:t>synthesis is: (1) anchoring of the</a:t>
            </a:r>
            <a:r>
              <a:rPr lang="en-US" baseline="0" dirty="0"/>
              <a:t> </a:t>
            </a:r>
            <a:r>
              <a:rPr lang="en-US" dirty="0"/>
              <a:t>C-terminal amino acid to a solid resin,</a:t>
            </a:r>
            <a:r>
              <a:rPr lang="en-US" baseline="0" dirty="0"/>
              <a:t> </a:t>
            </a:r>
            <a:r>
              <a:rPr lang="en-US" dirty="0"/>
              <a:t>(2) deprotection of the amino terminus, and</a:t>
            </a:r>
            <a:r>
              <a:rPr lang="en-US" baseline="0" dirty="0"/>
              <a:t> </a:t>
            </a:r>
            <a:r>
              <a:rPr lang="en-US" dirty="0"/>
              <a:t>(3) coupling of the free amino terminus with</a:t>
            </a:r>
            <a:r>
              <a:rPr lang="en-US" baseline="0" dirty="0"/>
              <a:t> </a:t>
            </a:r>
            <a:r>
              <a:rPr lang="en-US" dirty="0"/>
              <a:t>the DCC-activated carboxyl group of the next</a:t>
            </a:r>
            <a:r>
              <a:rPr lang="en-US" baseline="0" dirty="0"/>
              <a:t> </a:t>
            </a:r>
            <a:r>
              <a:rPr lang="en-US" dirty="0"/>
              <a:t>amino acid. Steps 2 and 3 are repeated for</a:t>
            </a:r>
            <a:r>
              <a:rPr lang="en-US" baseline="0" dirty="0"/>
              <a:t> </a:t>
            </a:r>
            <a:r>
              <a:rPr lang="en-US" dirty="0"/>
              <a:t>each added amino acid. Finally, in step 4, the</a:t>
            </a:r>
            <a:r>
              <a:rPr lang="en-US" baseline="0" dirty="0"/>
              <a:t> </a:t>
            </a:r>
            <a:r>
              <a:rPr lang="en-US" dirty="0"/>
              <a:t>completed peptide is released from the resin.</a:t>
            </a:r>
            <a:endParaRPr lang="en-US" dirty="0">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8339152-1430-BB45-887F-7DB2C68E4A15}" type="slidenum">
              <a:rPr lang="en-US"/>
              <a:pPr>
                <a:defRPr/>
              </a:pPr>
              <a:t>80</a:t>
            </a:fld>
            <a:endParaRPr lang="en-US" dirty="0"/>
          </a:p>
        </p:txBody>
      </p:sp>
      <p:sp>
        <p:nvSpPr>
          <p:cNvPr id="2723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2387" name="Rectangle 3"/>
          <p:cNvSpPr>
            <a:spLocks noGrp="1" noChangeArrowheads="1"/>
          </p:cNvSpPr>
          <p:nvPr>
            <p:ph type="body" idx="1"/>
          </p:nvPr>
        </p:nvSpPr>
        <p:spPr/>
        <p:txBody>
          <a:bodyPr/>
          <a:lstStyle/>
          <a:p>
            <a:pPr>
              <a:defRPr/>
            </a:pPr>
            <a:r>
              <a:rPr lang="en-US" b="1" dirty="0"/>
              <a:t>FIGURE 3.38 An x-ray crystallographic</a:t>
            </a:r>
            <a:r>
              <a:rPr lang="en-US" b="1" baseline="0" dirty="0"/>
              <a:t> </a:t>
            </a:r>
            <a:r>
              <a:rPr lang="en-US" b="1" dirty="0"/>
              <a:t>experiment. </a:t>
            </a:r>
            <a:r>
              <a:rPr lang="en-US" dirty="0"/>
              <a:t>An x-ray source generates a</a:t>
            </a:r>
            <a:r>
              <a:rPr lang="en-US" baseline="0" dirty="0"/>
              <a:t> </a:t>
            </a:r>
            <a:r>
              <a:rPr lang="en-US" dirty="0"/>
              <a:t>beam, which is diffracted by a crystal. The</a:t>
            </a:r>
            <a:r>
              <a:rPr lang="en-US" baseline="0" dirty="0"/>
              <a:t> </a:t>
            </a:r>
            <a:r>
              <a:rPr lang="en-US" dirty="0"/>
              <a:t>resulting diffraction pattern is collected on a</a:t>
            </a:r>
            <a:r>
              <a:rPr lang="en-US" baseline="0" dirty="0"/>
              <a:t> </a:t>
            </a:r>
            <a:r>
              <a:rPr lang="en-US" dirty="0"/>
              <a:t>detector.</a:t>
            </a:r>
          </a:p>
          <a:p>
            <a:pPr>
              <a:defRPr/>
            </a:pPr>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3.39 An x-ray diffraction pattern</a:t>
            </a:r>
            <a:r>
              <a:rPr lang="en-US" sz="1200" b="0" i="0" u="none" strike="noStrike" kern="1200" baseline="0" dirty="0">
                <a:solidFill>
                  <a:schemeClr val="tx1"/>
                </a:solidFill>
                <a:latin typeface="+mn-lt"/>
                <a:ea typeface="+mn-ea"/>
                <a:cs typeface="+mn-cs"/>
              </a:rPr>
              <a:t>. A protein crystal diffracts x-rays to produce a pattern of spots, or reflections, on the detector surface. The white silhouette in the center of the image is from a beam stop which protects the detector from the intense, undiffracted x-rays. [S. Lansky, O. Alalouf, V. Solomon, A. Alhassid, L. Govada, N. E. Chayan, H. Belrhali, Y. Shoham, and G. Shoham. </a:t>
            </a:r>
            <a:r>
              <a:rPr lang="pl-PL" sz="1200" b="0" i="1" u="none" strike="noStrike" kern="1200" baseline="0" dirty="0">
                <a:solidFill>
                  <a:schemeClr val="tx1"/>
                </a:solidFill>
                <a:latin typeface="+mn-lt"/>
                <a:ea typeface="+mn-ea"/>
                <a:cs typeface="+mn-cs"/>
              </a:rPr>
              <a:t>Acta Cryst</a:t>
            </a:r>
            <a:r>
              <a:rPr lang="pl-PL" sz="1200" b="0" i="0" u="none" strike="noStrike" kern="1200" baseline="0" dirty="0">
                <a:solidFill>
                  <a:schemeClr val="tx1"/>
                </a:solidFill>
                <a:latin typeface="+mn-lt"/>
                <a:ea typeface="+mn-ea"/>
                <a:cs typeface="+mn-cs"/>
              </a:rPr>
              <a:t>. F69:430–434, 2013, Fig. 2.]</a:t>
            </a:r>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81</a:t>
            </a:fld>
            <a:endParaRPr lang="en-US" dirty="0"/>
          </a:p>
        </p:txBody>
      </p:sp>
    </p:spTree>
    <p:extLst>
      <p:ext uri="{BB962C8B-B14F-4D97-AF65-F5344CB8AC3E}">
        <p14:creationId xmlns:p14="http://schemas.microsoft.com/office/powerpoint/2010/main" val="11913221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3CD20CF-0321-514B-B908-A67AB3EB9584}" type="slidenum">
              <a:rPr lang="en-US"/>
              <a:pPr>
                <a:defRPr/>
              </a:pPr>
              <a:t>82</a:t>
            </a:fld>
            <a:endParaRPr lang="en-US" dirty="0"/>
          </a:p>
        </p:txBody>
      </p:sp>
      <p:sp>
        <p:nvSpPr>
          <p:cNvPr id="2744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4435" name="Rectangle 3"/>
          <p:cNvSpPr>
            <a:spLocks noGrp="1" noChangeArrowheads="1"/>
          </p:cNvSpPr>
          <p:nvPr>
            <p:ph type="body" idx="1"/>
          </p:nvPr>
        </p:nvSpPr>
        <p:spPr/>
        <p:txBody>
          <a:bodyPr/>
          <a:lstStyle/>
          <a:p>
            <a:pPr>
              <a:defRPr/>
            </a:pPr>
            <a:r>
              <a:rPr lang="en-US" b="1" dirty="0"/>
              <a:t>FIGURE 3.40 Interpretation of an</a:t>
            </a:r>
            <a:r>
              <a:rPr lang="en-US" b="1" baseline="0" dirty="0"/>
              <a:t> </a:t>
            </a:r>
            <a:r>
              <a:rPr lang="en-US" b="1" dirty="0"/>
              <a:t>electron-density map. </a:t>
            </a:r>
            <a:r>
              <a:rPr lang="en-US" dirty="0"/>
              <a:t>(A) A segment of</a:t>
            </a:r>
            <a:r>
              <a:rPr lang="en-US" baseline="0" dirty="0"/>
              <a:t> </a:t>
            </a:r>
            <a:r>
              <a:rPr lang="en-US" dirty="0"/>
              <a:t>an electron-density map is drawn as a three-dimensional</a:t>
            </a:r>
            <a:r>
              <a:rPr lang="en-US" baseline="0" dirty="0"/>
              <a:t> </a:t>
            </a:r>
            <a:r>
              <a:rPr lang="en-US" dirty="0"/>
              <a:t>contour plot, in which the</a:t>
            </a:r>
            <a:r>
              <a:rPr lang="en-US" baseline="0" dirty="0"/>
              <a:t> </a:t>
            </a:r>
            <a:r>
              <a:rPr lang="en-US" dirty="0"/>
              <a:t>regions inside the “cage” represent the</a:t>
            </a:r>
            <a:r>
              <a:rPr lang="en-US" baseline="0" dirty="0"/>
              <a:t> </a:t>
            </a:r>
            <a:r>
              <a:rPr lang="en-US" dirty="0"/>
              <a:t>regions of highest electron density.</a:t>
            </a:r>
            <a:r>
              <a:rPr lang="en-US" baseline="0" dirty="0"/>
              <a:t> </a:t>
            </a:r>
            <a:r>
              <a:rPr lang="en-US" dirty="0"/>
              <a:t>(B) A model of the protein is built into this</a:t>
            </a:r>
            <a:r>
              <a:rPr lang="en-US" baseline="0" dirty="0"/>
              <a:t> </a:t>
            </a:r>
            <a:r>
              <a:rPr lang="en-US" dirty="0"/>
              <a:t>map so as to maximize the placement of</a:t>
            </a:r>
            <a:r>
              <a:rPr lang="en-US" baseline="0" dirty="0"/>
              <a:t> </a:t>
            </a:r>
            <a:r>
              <a:rPr lang="en-US" dirty="0"/>
              <a:t>atoms within this density. [Drawn from</a:t>
            </a:r>
            <a:r>
              <a:rPr lang="en-US" baseline="0" dirty="0"/>
              <a:t> </a:t>
            </a:r>
            <a:r>
              <a:rPr lang="en-US" dirty="0"/>
              <a:t>1FCH.pdb.]</a:t>
            </a:r>
            <a:endParaRPr lang="en-US" dirty="0">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201F197-41A8-DE4B-B639-9DB4740E0C3D}" type="slidenum">
              <a:rPr lang="en-US"/>
              <a:pPr>
                <a:defRPr/>
              </a:pPr>
              <a:t>83</a:t>
            </a:fld>
            <a:endParaRPr lang="en-US" dirty="0"/>
          </a:p>
        </p:txBody>
      </p:sp>
      <p:sp>
        <p:nvSpPr>
          <p:cNvPr id="275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5459" name="Rectangle 3"/>
          <p:cNvSpPr>
            <a:spLocks noGrp="1" noChangeArrowheads="1"/>
          </p:cNvSpPr>
          <p:nvPr>
            <p:ph type="body" idx="1"/>
          </p:nvPr>
        </p:nvSpPr>
        <p:spPr/>
        <p:txBody>
          <a:bodyPr/>
          <a:lstStyle/>
          <a:p>
            <a:pPr>
              <a:defRPr/>
            </a:pPr>
            <a:r>
              <a:rPr lang="en-US" b="1" dirty="0"/>
              <a:t>FIGURE 3.41 Resolution affects the</a:t>
            </a:r>
            <a:r>
              <a:rPr lang="en-US" b="1" baseline="0" dirty="0"/>
              <a:t> </a:t>
            </a:r>
            <a:r>
              <a:rPr lang="en-US" b="1" dirty="0"/>
              <a:t>quality of an image. </a:t>
            </a:r>
            <a:r>
              <a:rPr lang="en-US" dirty="0"/>
              <a:t>The effect of resolution</a:t>
            </a:r>
            <a:r>
              <a:rPr lang="en-US" baseline="0" dirty="0"/>
              <a:t> </a:t>
            </a:r>
            <a:r>
              <a:rPr lang="en-US" dirty="0"/>
              <a:t>on the quality of a reconstructed image is</a:t>
            </a:r>
            <a:r>
              <a:rPr lang="en-US" baseline="0" dirty="0"/>
              <a:t> </a:t>
            </a:r>
            <a:r>
              <a:rPr lang="en-US" dirty="0"/>
              <a:t>shown by an optical analog of x-ray diffraction:</a:t>
            </a:r>
            <a:r>
              <a:rPr lang="en-US" baseline="0" dirty="0"/>
              <a:t> </a:t>
            </a:r>
            <a:r>
              <a:rPr lang="en-US" dirty="0"/>
              <a:t>(A) a photograph of the Parthenon; (B) an</a:t>
            </a:r>
            <a:r>
              <a:rPr lang="en-US" baseline="0" dirty="0"/>
              <a:t> </a:t>
            </a:r>
            <a:r>
              <a:rPr lang="en-US" dirty="0"/>
              <a:t>optical diffraction pattern of the Parthenon; (C</a:t>
            </a:r>
            <a:r>
              <a:rPr lang="en-US" baseline="0" dirty="0"/>
              <a:t> </a:t>
            </a:r>
            <a:r>
              <a:rPr lang="en-US" dirty="0"/>
              <a:t>and D) images reconstructed from the pattern</a:t>
            </a:r>
            <a:r>
              <a:rPr lang="en-US" baseline="0" dirty="0"/>
              <a:t> </a:t>
            </a:r>
            <a:r>
              <a:rPr lang="en-US" dirty="0"/>
              <a:t>in part B. More data were used to obtain</a:t>
            </a:r>
            <a:r>
              <a:rPr lang="en-US" baseline="0" dirty="0"/>
              <a:t> </a:t>
            </a:r>
            <a:r>
              <a:rPr lang="en-US" dirty="0"/>
              <a:t>image D than image C, which accounts for</a:t>
            </a:r>
            <a:r>
              <a:rPr lang="en-US" baseline="0" dirty="0"/>
              <a:t> </a:t>
            </a:r>
            <a:r>
              <a:rPr lang="en-US" dirty="0"/>
              <a:t>the higher quality of image D. [Courtesy of</a:t>
            </a:r>
            <a:r>
              <a:rPr lang="en-US" baseline="0" dirty="0"/>
              <a:t> </a:t>
            </a:r>
            <a:r>
              <a:rPr lang="en-US" dirty="0"/>
              <a:t>Dr. Thomas Steitz (part A) and Dr. David</a:t>
            </a:r>
            <a:r>
              <a:rPr lang="en-US" baseline="0" dirty="0"/>
              <a:t> </a:t>
            </a:r>
            <a:r>
              <a:rPr lang="en-US" dirty="0"/>
              <a:t>DeRosier (part B).]</a:t>
            </a:r>
          </a:p>
          <a:p>
            <a:pPr>
              <a:defRPr/>
            </a:pPr>
            <a:endParaRPr lang="en-US" dirty="0">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FIGURE 3.42 Resolution affects the quality of the electron density map. </a:t>
            </a:r>
            <a:r>
              <a:rPr lang="en-US" sz="1200" b="0" i="0" u="none" strike="noStrike" kern="1200" baseline="0" dirty="0">
                <a:solidFill>
                  <a:schemeClr val="tx1"/>
                </a:solidFill>
                <a:latin typeface="+mn-lt"/>
                <a:ea typeface="+mn-ea"/>
                <a:cs typeface="+mn-cs"/>
              </a:rPr>
              <a:t>The electron density maps of a tyrosine residue at four different resolution levels (1.0 Å, 2.0 Å, 2.7 Å, and 3.0 Å) are shown. At the lower resolution levels (2.7 Å and 3.0 Å), only a group of atoms corresponding to the side chain is visible, whereas at the highest resolution (1.0 Å), individual atoms within the side chain are distinguishable. [Data from www.rcsb.org/pdb/101/static101.</a:t>
            </a:r>
          </a:p>
          <a:p>
            <a:r>
              <a:rPr lang="en-US" sz="1200" b="0" i="0" u="none" strike="noStrike" kern="1200" baseline="0" dirty="0">
                <a:solidFill>
                  <a:schemeClr val="tx1"/>
                </a:solidFill>
                <a:latin typeface="+mn-lt"/>
                <a:ea typeface="+mn-ea"/>
                <a:cs typeface="+mn-cs"/>
              </a:rPr>
              <a:t>do?p=education_discussion/Looking-at- Structures/resolution.html]</a:t>
            </a:r>
            <a:endParaRPr lang="en-US" dirty="0"/>
          </a:p>
        </p:txBody>
      </p:sp>
      <p:sp>
        <p:nvSpPr>
          <p:cNvPr id="4" name="Slide Number Placeholder 3"/>
          <p:cNvSpPr>
            <a:spLocks noGrp="1"/>
          </p:cNvSpPr>
          <p:nvPr>
            <p:ph type="sldNum" sz="quarter" idx="10"/>
          </p:nvPr>
        </p:nvSpPr>
        <p:spPr/>
        <p:txBody>
          <a:bodyPr/>
          <a:lstStyle/>
          <a:p>
            <a:fld id="{5E3E41B8-3372-3643-9D7D-806C96DC6267}" type="slidenum">
              <a:rPr lang="en-US" smtClean="0"/>
              <a:t>84</a:t>
            </a:fld>
            <a:endParaRPr lang="en-US" dirty="0"/>
          </a:p>
        </p:txBody>
      </p:sp>
    </p:spTree>
    <p:extLst>
      <p:ext uri="{BB962C8B-B14F-4D97-AF65-F5344CB8AC3E}">
        <p14:creationId xmlns:p14="http://schemas.microsoft.com/office/powerpoint/2010/main" val="26778817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8D240A8-9F8C-4F4D-B6F3-624BDEB80320}" type="slidenum">
              <a:rPr lang="en-US"/>
              <a:pPr>
                <a:defRPr/>
              </a:pPr>
              <a:t>86</a:t>
            </a:fld>
            <a:endParaRPr lang="en-US" dirty="0"/>
          </a:p>
        </p:txBody>
      </p:sp>
      <p:sp>
        <p:nvSpPr>
          <p:cNvPr id="2764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6483" name="Rectangle 3"/>
          <p:cNvSpPr>
            <a:spLocks noGrp="1" noChangeArrowheads="1"/>
          </p:cNvSpPr>
          <p:nvPr>
            <p:ph type="body" idx="1"/>
          </p:nvPr>
        </p:nvSpPr>
        <p:spPr/>
        <p:txBody>
          <a:bodyPr/>
          <a:lstStyle/>
          <a:p>
            <a:pPr eaLnBrk="1" hangingPunct="1">
              <a:defRPr/>
            </a:pPr>
            <a:endParaRPr lang="en-US" dirty="0">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AC6ED5F-DFF5-F148-9533-A7F2D295A0F1}" type="slidenum">
              <a:rPr lang="en-US"/>
              <a:pPr>
                <a:defRPr/>
              </a:pPr>
              <a:t>87</a:t>
            </a:fld>
            <a:endParaRPr lang="en-US" dirty="0"/>
          </a:p>
        </p:txBody>
      </p:sp>
      <p:sp>
        <p:nvSpPr>
          <p:cNvPr id="2775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7507" name="Rectangle 3"/>
          <p:cNvSpPr>
            <a:spLocks noGrp="1" noChangeArrowheads="1"/>
          </p:cNvSpPr>
          <p:nvPr>
            <p:ph type="body" idx="1"/>
          </p:nvPr>
        </p:nvSpPr>
        <p:spPr/>
        <p:txBody>
          <a:bodyPr/>
          <a:lstStyle/>
          <a:p>
            <a:pPr>
              <a:defRPr/>
            </a:pPr>
            <a:r>
              <a:rPr lang="en-US" b="1" dirty="0"/>
              <a:t>FIGURE 3.43 Basis of NMR spectroscopy.</a:t>
            </a:r>
            <a:r>
              <a:rPr lang="en-US" b="1" baseline="0" dirty="0"/>
              <a:t> </a:t>
            </a:r>
            <a:r>
              <a:rPr lang="en-US" dirty="0"/>
              <a:t>The energies of the two orientations of a</a:t>
            </a:r>
            <a:r>
              <a:rPr lang="en-US" baseline="0" dirty="0"/>
              <a:t> </a:t>
            </a:r>
            <a:r>
              <a:rPr lang="en-US" dirty="0"/>
              <a:t>nucleus of spin 1/2 (such as </a:t>
            </a:r>
            <a:r>
              <a:rPr lang="en-US" baseline="30000" dirty="0"/>
              <a:t>31</a:t>
            </a:r>
            <a:r>
              <a:rPr lang="en-US" dirty="0"/>
              <a:t>P and </a:t>
            </a:r>
            <a:r>
              <a:rPr lang="en-US" baseline="30000" dirty="0"/>
              <a:t>1</a:t>
            </a:r>
            <a:r>
              <a:rPr lang="en-US" dirty="0"/>
              <a:t>H)</a:t>
            </a:r>
            <a:r>
              <a:rPr lang="en-US" baseline="0" dirty="0"/>
              <a:t> </a:t>
            </a:r>
            <a:r>
              <a:rPr lang="en-US" dirty="0"/>
              <a:t>depend on the strength of the applied</a:t>
            </a:r>
            <a:r>
              <a:rPr lang="en-US" baseline="0" dirty="0"/>
              <a:t> </a:t>
            </a:r>
            <a:r>
              <a:rPr lang="en-US" dirty="0"/>
              <a:t>magnetic field. Absorption of electromagnetic</a:t>
            </a:r>
            <a:r>
              <a:rPr lang="en-US" baseline="0" dirty="0"/>
              <a:t> </a:t>
            </a:r>
            <a:r>
              <a:rPr lang="en-US" dirty="0"/>
              <a:t>radiation of appropriate frequency induces a</a:t>
            </a:r>
            <a:r>
              <a:rPr lang="en-US" baseline="0" dirty="0"/>
              <a:t> </a:t>
            </a:r>
            <a:r>
              <a:rPr lang="en-US" dirty="0"/>
              <a:t>transition from the lower to the upper level.</a:t>
            </a:r>
            <a:endParaRPr lang="en-US" dirty="0">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B0620AE-1AF7-AF4B-AD42-E73241CEF6F3}" type="slidenum">
              <a:rPr lang="en-US"/>
              <a:pPr>
                <a:defRPr/>
              </a:pPr>
              <a:t>88</a:t>
            </a:fld>
            <a:endParaRPr lang="en-US" dirty="0"/>
          </a:p>
        </p:txBody>
      </p:sp>
      <p:sp>
        <p:nvSpPr>
          <p:cNvPr id="278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8531" name="Rectangle 3"/>
          <p:cNvSpPr>
            <a:spLocks noGrp="1" noChangeArrowheads="1"/>
          </p:cNvSpPr>
          <p:nvPr>
            <p:ph type="body" idx="1"/>
          </p:nvPr>
        </p:nvSpPr>
        <p:spPr/>
        <p:txBody>
          <a:bodyPr/>
          <a:lstStyle/>
          <a:p>
            <a:pPr>
              <a:defRPr/>
            </a:pPr>
            <a:r>
              <a:rPr lang="en-US" b="1" dirty="0"/>
              <a:t>FIGURE 3.44 One-dimensional NMR spectra. </a:t>
            </a:r>
            <a:r>
              <a:rPr lang="en-US" dirty="0"/>
              <a:t>(A) </a:t>
            </a:r>
            <a:r>
              <a:rPr lang="en-US" baseline="30000" dirty="0"/>
              <a:t>1</a:t>
            </a:r>
            <a:r>
              <a:rPr lang="en-US" dirty="0"/>
              <a:t>H-NMR spectrum of ethanol (CH</a:t>
            </a:r>
            <a:r>
              <a:rPr lang="en-US" baseline="-25000" dirty="0"/>
              <a:t>3</a:t>
            </a:r>
            <a:r>
              <a:rPr lang="en-US" dirty="0"/>
              <a:t>CH</a:t>
            </a:r>
            <a:r>
              <a:rPr lang="en-US" baseline="-25000" dirty="0"/>
              <a:t>2</a:t>
            </a:r>
            <a:r>
              <a:rPr lang="en-US" dirty="0"/>
              <a:t>OH)</a:t>
            </a:r>
            <a:r>
              <a:rPr lang="en-US" baseline="0" dirty="0"/>
              <a:t> </a:t>
            </a:r>
            <a:r>
              <a:rPr lang="en-US" dirty="0"/>
              <a:t>shows that the chemical shifts for the hydrogen are clearly resolved. (B) </a:t>
            </a:r>
            <a:r>
              <a:rPr lang="en-US" baseline="30000" dirty="0"/>
              <a:t>1</a:t>
            </a:r>
            <a:r>
              <a:rPr lang="en-US" dirty="0"/>
              <a:t>H-NMR spectrum of a 55</a:t>
            </a:r>
            <a:r>
              <a:rPr lang="en-US" baseline="0" dirty="0"/>
              <a:t> </a:t>
            </a:r>
            <a:r>
              <a:rPr lang="en-US" dirty="0"/>
              <a:t>amino acid fragment of a protein having a role in RNA splicing shows a greater degree of</a:t>
            </a:r>
            <a:r>
              <a:rPr lang="en-US" baseline="0" dirty="0"/>
              <a:t> </a:t>
            </a:r>
            <a:r>
              <a:rPr lang="en-US" dirty="0"/>
              <a:t>complexity. A large number of peaks are present and many overlap. [(A) Data</a:t>
            </a:r>
            <a:r>
              <a:rPr lang="en-US" baseline="0" dirty="0"/>
              <a:t> from</a:t>
            </a:r>
            <a:r>
              <a:rPr lang="en-US" dirty="0"/>
              <a:t> C. Branden and</a:t>
            </a:r>
            <a:r>
              <a:rPr lang="en-US" baseline="0" dirty="0"/>
              <a:t> </a:t>
            </a:r>
            <a:r>
              <a:rPr lang="en-US" dirty="0"/>
              <a:t>J. Tooze, </a:t>
            </a:r>
            <a:r>
              <a:rPr lang="en-US" i="1" dirty="0"/>
              <a:t>Introduction to Protein Structure </a:t>
            </a:r>
            <a:r>
              <a:rPr lang="en-US" dirty="0"/>
              <a:t>(Garland, 1991), p. 280; (B) courtesy of Dr. Barbara</a:t>
            </a:r>
            <a:r>
              <a:rPr lang="en-US" baseline="0" dirty="0"/>
              <a:t> </a:t>
            </a:r>
            <a:r>
              <a:rPr lang="en-US" dirty="0"/>
              <a:t>Amann and Dr. Wesley McDermott.]</a:t>
            </a:r>
            <a:endParaRPr lang="en-US" dirty="0">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FB938F5-9D54-6A41-964E-12F21A0B2508}" type="slidenum">
              <a:rPr lang="en-US"/>
              <a:pPr>
                <a:defRPr/>
              </a:pPr>
              <a:t>89</a:t>
            </a:fld>
            <a:endParaRPr lang="en-US" dirty="0"/>
          </a:p>
        </p:txBody>
      </p:sp>
      <p:sp>
        <p:nvSpPr>
          <p:cNvPr id="280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0579" name="Rectangle 3"/>
          <p:cNvSpPr>
            <a:spLocks noGrp="1" noChangeArrowheads="1"/>
          </p:cNvSpPr>
          <p:nvPr>
            <p:ph type="body" idx="1"/>
          </p:nvPr>
        </p:nvSpPr>
        <p:spPr/>
        <p:txBody>
          <a:bodyPr/>
          <a:lstStyle/>
          <a:p>
            <a:pPr>
              <a:defRPr/>
            </a:pPr>
            <a:r>
              <a:rPr lang="en-US" b="1" dirty="0"/>
              <a:t>FIGURE 3.45 The nuclear Overhauser effect. </a:t>
            </a:r>
            <a:r>
              <a:rPr lang="en-US" dirty="0"/>
              <a:t>The nuclear Overhauser effect (NOE) identifies</a:t>
            </a:r>
            <a:r>
              <a:rPr lang="en-US" baseline="0" dirty="0"/>
              <a:t> </a:t>
            </a:r>
            <a:r>
              <a:rPr lang="en-US" dirty="0"/>
              <a:t>pairs of protons that are in close proximity. (A) Schematic representation of a polypeptide chain</a:t>
            </a:r>
            <a:r>
              <a:rPr lang="en-US" baseline="0" dirty="0"/>
              <a:t> </a:t>
            </a:r>
            <a:r>
              <a:rPr lang="en-US" dirty="0"/>
              <a:t>highlighting five particular protons. Protons 2 and 5 are in close proximity (~4 Å apart), whereas</a:t>
            </a:r>
            <a:r>
              <a:rPr lang="en-US" baseline="0" dirty="0"/>
              <a:t> </a:t>
            </a:r>
            <a:r>
              <a:rPr lang="en-US" dirty="0"/>
              <a:t>other pairs are farther apart. (B) A highly simplified NOESY spectrum. The diagonal shows five</a:t>
            </a:r>
            <a:r>
              <a:rPr lang="en-US" baseline="0" dirty="0"/>
              <a:t> </a:t>
            </a:r>
            <a:r>
              <a:rPr lang="en-US" dirty="0"/>
              <a:t>peaks corresponding to the five protons in part A. The peak above the diagonal and the</a:t>
            </a:r>
            <a:r>
              <a:rPr lang="en-US" baseline="0" dirty="0"/>
              <a:t> </a:t>
            </a:r>
            <a:r>
              <a:rPr lang="en-US" dirty="0"/>
              <a:t>symmetrically related one below reveal that proton 2 is close to proton 5.</a:t>
            </a:r>
            <a:endParaRPr lang="en-US" dirty="0">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A6B56C-5476-3042-BED4-49454F09E2B0}" type="slidenum">
              <a:rPr lang="en-US"/>
              <a:pPr>
                <a:defRPr/>
              </a:pPr>
              <a:t>90</a:t>
            </a:fld>
            <a:endParaRPr lang="en-US" dirty="0"/>
          </a:p>
        </p:txBody>
      </p:sp>
      <p:sp>
        <p:nvSpPr>
          <p:cNvPr id="2836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3651" name="Rectangle 3"/>
          <p:cNvSpPr>
            <a:spLocks noGrp="1" noChangeArrowheads="1"/>
          </p:cNvSpPr>
          <p:nvPr>
            <p:ph type="body" idx="1"/>
          </p:nvPr>
        </p:nvSpPr>
        <p:spPr/>
        <p:txBody>
          <a:bodyPr/>
          <a:lstStyle/>
          <a:p>
            <a:pPr>
              <a:defRPr/>
            </a:pPr>
            <a:r>
              <a:rPr lang="en-US" b="1" dirty="0"/>
              <a:t>FIGURE 3.46 Detecting short proton–proton distances. </a:t>
            </a:r>
            <a:r>
              <a:rPr lang="en-US" dirty="0"/>
              <a:t>A NOESY spectrum for a</a:t>
            </a:r>
            <a:r>
              <a:rPr lang="en-US" baseline="0" dirty="0"/>
              <a:t> </a:t>
            </a:r>
            <a:r>
              <a:rPr lang="en-US" dirty="0"/>
              <a:t>55 amino acid domain from a protein having</a:t>
            </a:r>
            <a:r>
              <a:rPr lang="en-US" baseline="0" dirty="0"/>
              <a:t> </a:t>
            </a:r>
            <a:r>
              <a:rPr lang="en-US" dirty="0"/>
              <a:t>a role in RNA splicing. Each off-diagonal peak</a:t>
            </a:r>
            <a:r>
              <a:rPr lang="en-US" baseline="0" dirty="0"/>
              <a:t> </a:t>
            </a:r>
            <a:r>
              <a:rPr lang="en-US" dirty="0"/>
              <a:t>corresponds to a short proton–proton</a:t>
            </a:r>
            <a:r>
              <a:rPr lang="en-US" baseline="0" dirty="0"/>
              <a:t> </a:t>
            </a:r>
            <a:r>
              <a:rPr lang="en-US" dirty="0"/>
              <a:t>separation. This spectrum reveals hundreds of</a:t>
            </a:r>
            <a:r>
              <a:rPr lang="en-US" baseline="0" dirty="0"/>
              <a:t> </a:t>
            </a:r>
            <a:r>
              <a:rPr lang="en-US" dirty="0"/>
              <a:t>such short proton–proton distances, which</a:t>
            </a:r>
          </a:p>
          <a:p>
            <a:pPr>
              <a:defRPr/>
            </a:pPr>
            <a:r>
              <a:rPr lang="en-US" dirty="0"/>
              <a:t>can be used to determine the three-dimensional</a:t>
            </a:r>
            <a:r>
              <a:rPr lang="en-US" baseline="0" dirty="0"/>
              <a:t> </a:t>
            </a:r>
            <a:r>
              <a:rPr lang="en-US" dirty="0"/>
              <a:t>structure of this domain.</a:t>
            </a:r>
            <a:r>
              <a:rPr lang="en-US" baseline="0" dirty="0"/>
              <a:t> </a:t>
            </a:r>
            <a:r>
              <a:rPr lang="en-US" dirty="0"/>
              <a:t>[Courtesy of Dr. Barbara Amann and</a:t>
            </a:r>
            <a:r>
              <a:rPr lang="en-US" baseline="0" dirty="0"/>
              <a:t> </a:t>
            </a:r>
            <a:r>
              <a:rPr lang="en-US" dirty="0"/>
              <a:t>Dr. Wesley McDermott.]</a:t>
            </a:r>
            <a:endParaRPr lang="en-US" dirty="0">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DF2F822-0B52-9041-99FD-9B453A38194B}" type="slidenum">
              <a:rPr lang="en-US"/>
              <a:pPr>
                <a:defRPr/>
              </a:pPr>
              <a:t>91</a:t>
            </a:fld>
            <a:endParaRPr lang="en-US" dirty="0"/>
          </a:p>
        </p:txBody>
      </p:sp>
      <p:sp>
        <p:nvSpPr>
          <p:cNvPr id="284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4675" name="Rectangle 3"/>
          <p:cNvSpPr>
            <a:spLocks noGrp="1" noChangeArrowheads="1"/>
          </p:cNvSpPr>
          <p:nvPr>
            <p:ph type="body" idx="1"/>
          </p:nvPr>
        </p:nvSpPr>
        <p:spPr/>
        <p:txBody>
          <a:bodyPr/>
          <a:lstStyle/>
          <a:p>
            <a:pPr>
              <a:defRPr/>
            </a:pPr>
            <a:r>
              <a:rPr lang="en-US" b="1" dirty="0"/>
              <a:t>FIGURE 3.47 Structures calculated on the</a:t>
            </a:r>
            <a:r>
              <a:rPr lang="en-US" b="1" baseline="0" dirty="0"/>
              <a:t> </a:t>
            </a:r>
            <a:r>
              <a:rPr lang="en-US" b="1" dirty="0"/>
              <a:t>basis of NMR constraints. </a:t>
            </a:r>
            <a:r>
              <a:rPr lang="en-US" dirty="0"/>
              <a:t>(A) NOESY</a:t>
            </a:r>
            <a:r>
              <a:rPr lang="en-US" baseline="0" dirty="0"/>
              <a:t> </a:t>
            </a:r>
            <a:r>
              <a:rPr lang="en-US" dirty="0"/>
              <a:t>observations show that protons (connected</a:t>
            </a:r>
            <a:r>
              <a:rPr lang="en-US" baseline="0" dirty="0"/>
              <a:t> </a:t>
            </a:r>
            <a:r>
              <a:rPr lang="en-US" dirty="0"/>
              <a:t>by dotted red lines) are close to one another</a:t>
            </a:r>
            <a:r>
              <a:rPr lang="en-US" baseline="0" dirty="0"/>
              <a:t> </a:t>
            </a:r>
            <a:r>
              <a:rPr lang="en-US" dirty="0"/>
              <a:t>in space. (B) A three-dimensional structure</a:t>
            </a:r>
            <a:r>
              <a:rPr lang="en-US" baseline="0" dirty="0"/>
              <a:t> </a:t>
            </a:r>
            <a:r>
              <a:rPr lang="en-US" dirty="0"/>
              <a:t>calculated with these proton pairs constrained</a:t>
            </a:r>
            <a:r>
              <a:rPr lang="en-US" baseline="0" dirty="0"/>
              <a:t> </a:t>
            </a:r>
            <a:r>
              <a:rPr lang="en-US" dirty="0"/>
              <a:t>to be close together.</a:t>
            </a:r>
            <a:endParaRPr lang="en-US" dirty="0">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543DA08-0BAA-C548-A8D7-43A1192274B4}" type="slidenum">
              <a:rPr lang="en-US"/>
              <a:pPr>
                <a:defRPr/>
              </a:pPr>
              <a:t>92</a:t>
            </a:fld>
            <a:endParaRPr lang="en-US" dirty="0"/>
          </a:p>
        </p:txBody>
      </p:sp>
      <p:sp>
        <p:nvSpPr>
          <p:cNvPr id="2856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5699" name="Rectangle 3"/>
          <p:cNvSpPr>
            <a:spLocks noGrp="1" noChangeArrowheads="1"/>
          </p:cNvSpPr>
          <p:nvPr>
            <p:ph type="body" idx="1"/>
          </p:nvPr>
        </p:nvSpPr>
        <p:spPr/>
        <p:txBody>
          <a:bodyPr/>
          <a:lstStyle/>
          <a:p>
            <a:pPr>
              <a:defRPr/>
            </a:pPr>
            <a:r>
              <a:rPr lang="en-US" b="1"/>
              <a:t>FIGURE 3.48 </a:t>
            </a:r>
            <a:r>
              <a:rPr lang="en-US" b="1" dirty="0"/>
              <a:t>A family of structures. </a:t>
            </a:r>
            <a:r>
              <a:rPr lang="en-US" dirty="0"/>
              <a:t>A set</a:t>
            </a:r>
            <a:r>
              <a:rPr lang="en-US" baseline="0" dirty="0"/>
              <a:t> </a:t>
            </a:r>
            <a:r>
              <a:rPr lang="en-US" dirty="0"/>
              <a:t>of 25 structures for a 28 amino acid domain</a:t>
            </a:r>
            <a:r>
              <a:rPr lang="en-US" baseline="0" dirty="0"/>
              <a:t> </a:t>
            </a:r>
            <a:r>
              <a:rPr lang="en-US" dirty="0"/>
              <a:t>from a zinc-finger-DNA-binding protein. The</a:t>
            </a:r>
            <a:r>
              <a:rPr lang="en-US" baseline="0" dirty="0"/>
              <a:t> </a:t>
            </a:r>
            <a:r>
              <a:rPr lang="en-US" dirty="0"/>
              <a:t>red line traces the average course of the</a:t>
            </a:r>
            <a:r>
              <a:rPr lang="en-US" baseline="0" dirty="0"/>
              <a:t> </a:t>
            </a:r>
            <a:r>
              <a:rPr lang="en-US" dirty="0"/>
              <a:t>protein backbone. Each of these structures is</a:t>
            </a:r>
            <a:r>
              <a:rPr lang="en-US" baseline="0" dirty="0"/>
              <a:t> </a:t>
            </a:r>
            <a:r>
              <a:rPr lang="en-US" dirty="0"/>
              <a:t>consistent with hundreds of constraints</a:t>
            </a:r>
            <a:r>
              <a:rPr lang="en-US" baseline="0" dirty="0"/>
              <a:t> </a:t>
            </a:r>
            <a:r>
              <a:rPr lang="en-US" dirty="0"/>
              <a:t>derived from NMR experiments. The</a:t>
            </a:r>
            <a:r>
              <a:rPr lang="en-US" baseline="0" dirty="0"/>
              <a:t> </a:t>
            </a:r>
            <a:r>
              <a:rPr lang="en-US" dirty="0"/>
              <a:t>differences between the individual structures</a:t>
            </a:r>
            <a:r>
              <a:rPr lang="en-US" baseline="0" dirty="0"/>
              <a:t> </a:t>
            </a:r>
            <a:r>
              <a:rPr lang="en-US" dirty="0"/>
              <a:t>are due to a combination of imperfections in</a:t>
            </a:r>
            <a:r>
              <a:rPr lang="en-US" baseline="0" dirty="0"/>
              <a:t> </a:t>
            </a:r>
            <a:r>
              <a:rPr lang="en-US" dirty="0"/>
              <a:t>the experimental data and the dynamic nature</a:t>
            </a:r>
            <a:r>
              <a:rPr lang="en-US" baseline="0" dirty="0"/>
              <a:t> </a:t>
            </a:r>
            <a:r>
              <a:rPr lang="en-US" dirty="0"/>
              <a:t>of proteins in solution. [Courtesy of</a:t>
            </a:r>
            <a:r>
              <a:rPr lang="en-US" baseline="0" dirty="0"/>
              <a:t> </a:t>
            </a:r>
            <a:r>
              <a:rPr lang="en-US" dirty="0"/>
              <a:t>Dr. Barbara Amann.]</a:t>
            </a:r>
            <a:endParaRPr lang="en-US" dirty="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D8BBE83-8203-784C-8B0E-C9C65D896FCE}" type="datetimeFigureOut">
              <a:rPr lang="en-US" smtClean="0"/>
              <a:t>8/12/26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863910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8BBE83-8203-784C-8B0E-C9C65D896FCE}" type="datetimeFigureOut">
              <a:rPr lang="en-US" smtClean="0"/>
              <a:t>8/12/26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1771409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BBE83-8203-784C-8B0E-C9C65D896FCE}" type="datetimeFigureOut">
              <a:rPr lang="en-US" smtClean="0"/>
              <a:t>8/12/26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07889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8BBE83-8203-784C-8B0E-C9C65D896FCE}" type="datetimeFigureOut">
              <a:rPr lang="en-US" smtClean="0"/>
              <a:t>8/12/26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753047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8BBE83-8203-784C-8B0E-C9C65D896FCE}" type="datetimeFigureOut">
              <a:rPr lang="en-US" smtClean="0"/>
              <a:t>8/12/26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4000722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8BBE83-8203-784C-8B0E-C9C65D896FCE}" type="datetimeFigureOut">
              <a:rPr lang="en-US" smtClean="0"/>
              <a:t>8/12/26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800292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8BBE83-8203-784C-8B0E-C9C65D896FCE}" type="datetimeFigureOut">
              <a:rPr lang="en-US" smtClean="0"/>
              <a:t>8/12/26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17183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8BBE83-8203-784C-8B0E-C9C65D896FCE}" type="datetimeFigureOut">
              <a:rPr lang="en-US" smtClean="0"/>
              <a:t>8/12/26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718589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8BBE83-8203-784C-8B0E-C9C65D896FCE}" type="datetimeFigureOut">
              <a:rPr lang="en-US" smtClean="0"/>
              <a:t>8/12/26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913233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8BBE83-8203-784C-8B0E-C9C65D896FCE}" type="datetimeFigureOut">
              <a:rPr lang="en-US" smtClean="0"/>
              <a:t>8/12/26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778137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8BBE83-8203-784C-8B0E-C9C65D896FCE}" type="datetimeFigureOut">
              <a:rPr lang="en-US" smtClean="0"/>
              <a:t>8/12/26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533E74-5558-0749-9370-CC49D31C632C}" type="slidenum">
              <a:rPr lang="en-US" smtClean="0"/>
              <a:t>‹#›</a:t>
            </a:fld>
            <a:endParaRPr lang="en-US" dirty="0"/>
          </a:p>
        </p:txBody>
      </p:sp>
    </p:spTree>
    <p:extLst>
      <p:ext uri="{BB962C8B-B14F-4D97-AF65-F5344CB8AC3E}">
        <p14:creationId xmlns:p14="http://schemas.microsoft.com/office/powerpoint/2010/main" val="249704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BBE83-8203-784C-8B0E-C9C65D896FCE}" type="datetimeFigureOut">
              <a:rPr lang="en-US" smtClean="0"/>
              <a:t>8/12/26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33E74-5558-0749-9370-CC49D31C632C}" type="slidenum">
              <a:rPr lang="en-US" smtClean="0"/>
              <a:t>‹#›</a:t>
            </a:fld>
            <a:endParaRPr lang="en-US" dirty="0"/>
          </a:p>
        </p:txBody>
      </p:sp>
    </p:spTree>
    <p:extLst>
      <p:ext uri="{BB962C8B-B14F-4D97-AF65-F5344CB8AC3E}">
        <p14:creationId xmlns:p14="http://schemas.microsoft.com/office/powerpoint/2010/main" val="263220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comments" Target="../comments/commen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3.emf"/><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1.jpeg"/></Relationships>
</file>

<file path=ppt/slides/_rels/slide4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6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70.jpeg"/><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6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6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comments" Target="../comments/comment2.xml"/><Relationship Id="rId4" Type="http://schemas.openxmlformats.org/officeDocument/2006/relationships/image" Target="../media/image82.jpeg"/></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84.jpeg"/></Relationships>
</file>

<file path=ppt/slides/_rels/slide7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97.jpeg"/></Relationships>
</file>

<file path=ppt/slides/_rels/slide8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00.jpg"/>
          <p:cNvPicPr>
            <a:picLocks noChangeAspect="1"/>
          </p:cNvPicPr>
          <p:nvPr/>
        </p:nvPicPr>
        <p:blipFill>
          <a:blip r:embed="rId3"/>
          <a:stretch>
            <a:fillRect/>
          </a:stretch>
        </p:blipFill>
        <p:spPr>
          <a:xfrm>
            <a:off x="304800" y="1374648"/>
            <a:ext cx="8534400" cy="4108704"/>
          </a:xfrm>
          <a:prstGeom prst="rect">
            <a:avLst/>
          </a:prstGeom>
        </p:spPr>
      </p:pic>
    </p:spTree>
    <p:extLst>
      <p:ext uri="{BB962C8B-B14F-4D97-AF65-F5344CB8AC3E}">
        <p14:creationId xmlns:p14="http://schemas.microsoft.com/office/powerpoint/2010/main" val="3325467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425700" y="965200"/>
            <a:ext cx="4279900" cy="4914900"/>
          </a:xfrm>
          <a:prstGeom prst="rect">
            <a:avLst/>
          </a:prstGeom>
        </p:spPr>
      </p:pic>
    </p:spTree>
    <p:extLst>
      <p:ext uri="{BB962C8B-B14F-4D97-AF65-F5344CB8AC3E}">
        <p14:creationId xmlns:p14="http://schemas.microsoft.com/office/powerpoint/2010/main" val="1965197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838200"/>
            <a:ext cx="6019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2" name="TextBox 2"/>
          <p:cNvSpPr txBox="1">
            <a:spLocks noChangeArrowheads="1"/>
          </p:cNvSpPr>
          <p:nvPr/>
        </p:nvSpPr>
        <p:spPr bwMode="auto">
          <a:xfrm>
            <a:off x="990600" y="1752600"/>
            <a:ext cx="7391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proteome is the entire set of proteins expressed and modified by a cell under a particular set of biochemical conditions.</a:t>
            </a:r>
          </a:p>
          <a:p>
            <a:endParaRPr lang="en-US" sz="1800" dirty="0"/>
          </a:p>
          <a:p>
            <a:r>
              <a:rPr lang="en-US" sz="1800" dirty="0"/>
              <a:t>Unlike the genome, the proteome is not an unvarying characteristic of the cell.</a:t>
            </a:r>
          </a:p>
        </p:txBody>
      </p:sp>
    </p:spTree>
    <p:extLst>
      <p:ext uri="{BB962C8B-B14F-4D97-AF65-F5344CB8AC3E}">
        <p14:creationId xmlns:p14="http://schemas.microsoft.com/office/powerpoint/2010/main" val="307385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95400"/>
            <a:ext cx="7035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Box 3"/>
          <p:cNvSpPr txBox="1">
            <a:spLocks noChangeArrowheads="1"/>
          </p:cNvSpPr>
          <p:nvPr/>
        </p:nvSpPr>
        <p:spPr bwMode="auto">
          <a:xfrm>
            <a:off x="935038" y="2189163"/>
            <a:ext cx="72183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Proteins can be purified on the basis of differences in their chemical properties.</a:t>
            </a:r>
          </a:p>
        </p:txBody>
      </p:sp>
      <p:sp>
        <p:nvSpPr>
          <p:cNvPr id="21508" name="TextBox 4"/>
          <p:cNvSpPr txBox="1">
            <a:spLocks noChangeArrowheads="1"/>
          </p:cNvSpPr>
          <p:nvPr/>
        </p:nvSpPr>
        <p:spPr bwMode="auto">
          <a:xfrm>
            <a:off x="914400" y="3276600"/>
            <a:ext cx="78597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 purification requires a test, or assay,  that determines whether the protein of interest is present.</a:t>
            </a:r>
          </a:p>
        </p:txBody>
      </p:sp>
      <p:pic>
        <p:nvPicPr>
          <p:cNvPr id="2" name="Picture 1"/>
          <p:cNvPicPr>
            <a:picLocks noChangeAspect="1"/>
          </p:cNvPicPr>
          <p:nvPr/>
        </p:nvPicPr>
        <p:blipFill>
          <a:blip r:embed="rId3"/>
          <a:stretch>
            <a:fillRect/>
          </a:stretch>
        </p:blipFill>
        <p:spPr>
          <a:xfrm>
            <a:off x="935038" y="338667"/>
            <a:ext cx="6489700" cy="863600"/>
          </a:xfrm>
          <a:prstGeom prst="rect">
            <a:avLst/>
          </a:prstGeom>
        </p:spPr>
      </p:pic>
    </p:spTree>
    <p:extLst>
      <p:ext uri="{BB962C8B-B14F-4D97-AF65-F5344CB8AC3E}">
        <p14:creationId xmlns:p14="http://schemas.microsoft.com/office/powerpoint/2010/main" val="2833131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95400"/>
            <a:ext cx="7035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TextBox 4"/>
          <p:cNvSpPr txBox="1">
            <a:spLocks noChangeArrowheads="1"/>
          </p:cNvSpPr>
          <p:nvPr/>
        </p:nvSpPr>
        <p:spPr bwMode="auto">
          <a:xfrm>
            <a:off x="990600" y="2133600"/>
            <a:ext cx="71405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An assay for the enzyme lactate dehydrogenase is based on the fact that a product of the reaction, NADH, can be detected spectrophotometrically</a:t>
            </a:r>
            <a:r>
              <a:rPr lang="en-US" dirty="0"/>
              <a:t>. </a:t>
            </a:r>
          </a:p>
        </p:txBody>
      </p:sp>
      <p:pic>
        <p:nvPicPr>
          <p:cNvPr id="2" name="Picture 1"/>
          <p:cNvPicPr>
            <a:picLocks noChangeAspect="1"/>
          </p:cNvPicPr>
          <p:nvPr/>
        </p:nvPicPr>
        <p:blipFill>
          <a:blip r:embed="rId4"/>
          <a:stretch>
            <a:fillRect/>
          </a:stretch>
        </p:blipFill>
        <p:spPr>
          <a:xfrm>
            <a:off x="1151466" y="203200"/>
            <a:ext cx="6489700" cy="863600"/>
          </a:xfrm>
          <a:prstGeom prst="rect">
            <a:avLst/>
          </a:prstGeom>
        </p:spPr>
      </p:pic>
      <p:pic>
        <p:nvPicPr>
          <p:cNvPr id="7" name="Picture 6" descr="unnumbered_03_p67.jpg"/>
          <p:cNvPicPr>
            <a:picLocks noChangeAspect="1"/>
          </p:cNvPicPr>
          <p:nvPr/>
        </p:nvPicPr>
        <p:blipFill>
          <a:blip r:embed="rId5"/>
          <a:stretch>
            <a:fillRect/>
          </a:stretch>
        </p:blipFill>
        <p:spPr>
          <a:xfrm>
            <a:off x="304800" y="3267688"/>
            <a:ext cx="8534400" cy="2950464"/>
          </a:xfrm>
          <a:prstGeom prst="rect">
            <a:avLst/>
          </a:prstGeom>
        </p:spPr>
      </p:pic>
    </p:spTree>
    <p:extLst>
      <p:ext uri="{BB962C8B-B14F-4D97-AF65-F5344CB8AC3E}">
        <p14:creationId xmlns:p14="http://schemas.microsoft.com/office/powerpoint/2010/main" val="188224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447800"/>
            <a:ext cx="5283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Box 3"/>
          <p:cNvSpPr txBox="1">
            <a:spLocks noChangeArrowheads="1"/>
          </p:cNvSpPr>
          <p:nvPr/>
        </p:nvSpPr>
        <p:spPr bwMode="auto">
          <a:xfrm>
            <a:off x="533400" y="2133600"/>
            <a:ext cx="7883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Cells are disrupted to form a homogenate, which is a mixture of all of the components of the cell, but no intact cells.</a:t>
            </a:r>
          </a:p>
        </p:txBody>
      </p:sp>
      <p:sp>
        <p:nvSpPr>
          <p:cNvPr id="24580" name="TextBox 4"/>
          <p:cNvSpPr txBox="1">
            <a:spLocks noChangeArrowheads="1"/>
          </p:cNvSpPr>
          <p:nvPr/>
        </p:nvSpPr>
        <p:spPr bwMode="auto">
          <a:xfrm>
            <a:off x="533400" y="3200400"/>
            <a:ext cx="827246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homogenate is then centrifuged at low speed to yield a pellet consisting of nuclei and a supernatant. This supernatant is then centrifuged at a higher centrifugal force to yield another pellet and supernatant. This process, called differential centrifugation, is repeated several more times to yield a series of pellets enriched in various cellular materials and a final supernatant, the soluble portion of the cytoplasm.</a:t>
            </a:r>
          </a:p>
        </p:txBody>
      </p:sp>
      <p:pic>
        <p:nvPicPr>
          <p:cNvPr id="2" name="Picture 1"/>
          <p:cNvPicPr>
            <a:picLocks noChangeAspect="1"/>
          </p:cNvPicPr>
          <p:nvPr/>
        </p:nvPicPr>
        <p:blipFill>
          <a:blip r:embed="rId3"/>
          <a:stretch>
            <a:fillRect/>
          </a:stretch>
        </p:blipFill>
        <p:spPr>
          <a:xfrm>
            <a:off x="1320800" y="118534"/>
            <a:ext cx="6489700" cy="863600"/>
          </a:xfrm>
          <a:prstGeom prst="rect">
            <a:avLst/>
          </a:prstGeom>
        </p:spPr>
      </p:pic>
    </p:spTree>
    <p:extLst>
      <p:ext uri="{BB962C8B-B14F-4D97-AF65-F5344CB8AC3E}">
        <p14:creationId xmlns:p14="http://schemas.microsoft.com/office/powerpoint/2010/main" val="301099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01.jpg"/>
          <p:cNvPicPr>
            <a:picLocks noChangeAspect="1"/>
          </p:cNvPicPr>
          <p:nvPr/>
        </p:nvPicPr>
        <p:blipFill>
          <a:blip r:embed="rId3"/>
          <a:stretch>
            <a:fillRect/>
          </a:stretch>
        </p:blipFill>
        <p:spPr>
          <a:xfrm>
            <a:off x="1645920" y="283464"/>
            <a:ext cx="5852160" cy="6291072"/>
          </a:xfrm>
          <a:prstGeom prst="rect">
            <a:avLst/>
          </a:prstGeom>
        </p:spPr>
      </p:pic>
    </p:spTree>
    <p:extLst>
      <p:ext uri="{BB962C8B-B14F-4D97-AF65-F5344CB8AC3E}">
        <p14:creationId xmlns:p14="http://schemas.microsoft.com/office/powerpoint/2010/main" val="152639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311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Box 6"/>
          <p:cNvSpPr txBox="1">
            <a:spLocks noChangeArrowheads="1"/>
          </p:cNvSpPr>
          <p:nvPr/>
        </p:nvSpPr>
        <p:spPr bwMode="auto">
          <a:xfrm>
            <a:off x="838200" y="2362200"/>
            <a:ext cx="74660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Salting out takes advantage of the fact that the solubility of proteins varies with the salt concentration. Most proteins require some salt to dissolve in water, a process called salting in. As the salt concentration is increased, different proteins will precipitate at different salt concentrations, a process called salting out.</a:t>
            </a:r>
          </a:p>
        </p:txBody>
      </p:sp>
      <p:pic>
        <p:nvPicPr>
          <p:cNvPr id="2765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7813" y="1905000"/>
            <a:ext cx="196240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6387" y="4005938"/>
            <a:ext cx="121602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TextBox 10"/>
          <p:cNvSpPr txBox="1">
            <a:spLocks noChangeArrowheads="1"/>
          </p:cNvSpPr>
          <p:nvPr/>
        </p:nvSpPr>
        <p:spPr bwMode="auto">
          <a:xfrm>
            <a:off x="914400" y="4572000"/>
            <a:ext cx="71739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salt can be removed from a protein solution by dialysis. The protein solution is placed in a cellophane bag with pores too small to allow the protein to diffuse, but big enough to allow the salt to equilibrate with the solution surround the dialysis bag.</a:t>
            </a:r>
          </a:p>
        </p:txBody>
      </p:sp>
      <p:pic>
        <p:nvPicPr>
          <p:cNvPr id="2" name="Picture 1"/>
          <p:cNvPicPr>
            <a:picLocks noChangeAspect="1"/>
          </p:cNvPicPr>
          <p:nvPr/>
        </p:nvPicPr>
        <p:blipFill>
          <a:blip r:embed="rId5"/>
          <a:stretch>
            <a:fillRect/>
          </a:stretch>
        </p:blipFill>
        <p:spPr>
          <a:xfrm>
            <a:off x="1117600" y="254000"/>
            <a:ext cx="6489700" cy="863600"/>
          </a:xfrm>
          <a:prstGeom prst="rect">
            <a:avLst/>
          </a:prstGeom>
        </p:spPr>
      </p:pic>
    </p:spTree>
    <p:extLst>
      <p:ext uri="{BB962C8B-B14F-4D97-AF65-F5344CB8AC3E}">
        <p14:creationId xmlns:p14="http://schemas.microsoft.com/office/powerpoint/2010/main" val="353072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02.jpg"/>
          <p:cNvPicPr>
            <a:picLocks noChangeAspect="1"/>
          </p:cNvPicPr>
          <p:nvPr/>
        </p:nvPicPr>
        <p:blipFill>
          <a:blip r:embed="rId3"/>
          <a:stretch>
            <a:fillRect/>
          </a:stretch>
        </p:blipFill>
        <p:spPr>
          <a:xfrm>
            <a:off x="457200" y="366916"/>
            <a:ext cx="7711440" cy="6473952"/>
          </a:xfrm>
          <a:prstGeom prst="rect">
            <a:avLst/>
          </a:prstGeom>
        </p:spPr>
      </p:pic>
    </p:spTree>
    <p:extLst>
      <p:ext uri="{BB962C8B-B14F-4D97-AF65-F5344CB8AC3E}">
        <p14:creationId xmlns:p14="http://schemas.microsoft.com/office/powerpoint/2010/main" val="317204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311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33600"/>
            <a:ext cx="4316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Box 8"/>
          <p:cNvSpPr txBox="1">
            <a:spLocks noChangeArrowheads="1"/>
          </p:cNvSpPr>
          <p:nvPr/>
        </p:nvSpPr>
        <p:spPr bwMode="auto">
          <a:xfrm>
            <a:off x="685800" y="3124200"/>
            <a:ext cx="79644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Gel filtration chromatography, also known as molecular exclusion chromatography,  allows the separation of proteins on the basis of size. A glass column is filled with porous beads. When a protein solution is passed over the beads, large proteins cannot enter the beads and exit the column first. Small proteins can enter the beads and thus have a longer path and exit the column last. </a:t>
            </a:r>
          </a:p>
        </p:txBody>
      </p:sp>
      <p:pic>
        <p:nvPicPr>
          <p:cNvPr id="2" name="Picture 1"/>
          <p:cNvPicPr>
            <a:picLocks noChangeAspect="1"/>
          </p:cNvPicPr>
          <p:nvPr/>
        </p:nvPicPr>
        <p:blipFill>
          <a:blip r:embed="rId4"/>
          <a:stretch>
            <a:fillRect/>
          </a:stretch>
        </p:blipFill>
        <p:spPr>
          <a:xfrm>
            <a:off x="880533" y="203200"/>
            <a:ext cx="6489700" cy="863600"/>
          </a:xfrm>
          <a:prstGeom prst="rect">
            <a:avLst/>
          </a:prstGeom>
        </p:spPr>
      </p:pic>
    </p:spTree>
    <p:extLst>
      <p:ext uri="{BB962C8B-B14F-4D97-AF65-F5344CB8AC3E}">
        <p14:creationId xmlns:p14="http://schemas.microsoft.com/office/powerpoint/2010/main" val="2200737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03.jpg"/>
          <p:cNvPicPr>
            <a:picLocks noChangeAspect="1"/>
          </p:cNvPicPr>
          <p:nvPr/>
        </p:nvPicPr>
        <p:blipFill>
          <a:blip r:embed="rId3"/>
          <a:stretch>
            <a:fillRect/>
          </a:stretch>
        </p:blipFill>
        <p:spPr>
          <a:xfrm>
            <a:off x="304800" y="481583"/>
            <a:ext cx="8534400" cy="5894832"/>
          </a:xfrm>
          <a:prstGeom prst="rect">
            <a:avLst/>
          </a:prstGeom>
        </p:spPr>
      </p:pic>
    </p:spTree>
    <p:extLst>
      <p:ext uri="{BB962C8B-B14F-4D97-AF65-F5344CB8AC3E}">
        <p14:creationId xmlns:p14="http://schemas.microsoft.com/office/powerpoint/2010/main" val="1572215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311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6"/>
          <p:cNvSpPr txBox="1">
            <a:spLocks noChangeArrowheads="1"/>
          </p:cNvSpPr>
          <p:nvPr/>
        </p:nvSpPr>
        <p:spPr bwMode="auto">
          <a:xfrm>
            <a:off x="874713" y="3048000"/>
            <a:ext cx="8269287"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Ion exchange chromatography allows separation of  proteins on the basis of charge. The beads in the column are made so as to have a charge. When a mixture of proteins is passed through the column, proteins with the same charge as on the column will exit the column quickly. Proteins with the opposite charge will bind to the beads, and are subsequently released by increasing the salt concentration or adjusting the pH of the buffer that is passed through the column.</a:t>
            </a:r>
          </a:p>
        </p:txBody>
      </p:sp>
      <p:pic>
        <p:nvPicPr>
          <p:cNvPr id="3379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86000"/>
            <a:ext cx="3762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117600" y="220134"/>
            <a:ext cx="6489700" cy="863600"/>
          </a:xfrm>
          <a:prstGeom prst="rect">
            <a:avLst/>
          </a:prstGeom>
        </p:spPr>
      </p:pic>
    </p:spTree>
    <p:extLst>
      <p:ext uri="{BB962C8B-B14F-4D97-AF65-F5344CB8AC3E}">
        <p14:creationId xmlns:p14="http://schemas.microsoft.com/office/powerpoint/2010/main" val="1244708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04.jpg"/>
          <p:cNvPicPr>
            <a:picLocks noChangeAspect="1"/>
          </p:cNvPicPr>
          <p:nvPr/>
        </p:nvPicPr>
        <p:blipFill>
          <a:blip r:embed="rId3"/>
          <a:stretch>
            <a:fillRect/>
          </a:stretch>
        </p:blipFill>
        <p:spPr>
          <a:xfrm>
            <a:off x="159544" y="192023"/>
            <a:ext cx="3988197" cy="5158910"/>
          </a:xfrm>
          <a:prstGeom prst="rect">
            <a:avLst/>
          </a:prstGeom>
        </p:spPr>
      </p:pic>
      <p:pic>
        <p:nvPicPr>
          <p:cNvPr id="5" name="Picture 4" descr="unnumbered_03_p70.jpg"/>
          <p:cNvPicPr>
            <a:picLocks noChangeAspect="1"/>
          </p:cNvPicPr>
          <p:nvPr/>
        </p:nvPicPr>
        <p:blipFill>
          <a:blip r:embed="rId4"/>
          <a:stretch>
            <a:fillRect/>
          </a:stretch>
        </p:blipFill>
        <p:spPr>
          <a:xfrm>
            <a:off x="3576261" y="4013200"/>
            <a:ext cx="5567740" cy="2692400"/>
          </a:xfrm>
          <a:prstGeom prst="rect">
            <a:avLst/>
          </a:prstGeom>
        </p:spPr>
      </p:pic>
    </p:spTree>
    <p:extLst>
      <p:ext uri="{BB962C8B-B14F-4D97-AF65-F5344CB8AC3E}">
        <p14:creationId xmlns:p14="http://schemas.microsoft.com/office/powerpoint/2010/main" val="402889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311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09800"/>
            <a:ext cx="3365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Box 7"/>
          <p:cNvSpPr txBox="1">
            <a:spLocks noChangeArrowheads="1"/>
          </p:cNvSpPr>
          <p:nvPr/>
        </p:nvSpPr>
        <p:spPr bwMode="auto">
          <a:xfrm>
            <a:off x="685800" y="2895600"/>
            <a:ext cx="7818438"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Affinity chromatography takes advantage of the fact that some proteins have a high affinity for specific chemicals or chemical groups. Beads are made with the specific chemical attached. A protein mixture is passed through the column. Only proteins with affinity for the attached group will be retained. The bound protein is then released by passing a solution enriched in the chemical to which the protein is bound through the column</a:t>
            </a:r>
            <a:r>
              <a:rPr lang="en-US" dirty="0"/>
              <a:t>.</a:t>
            </a:r>
          </a:p>
        </p:txBody>
      </p:sp>
      <p:pic>
        <p:nvPicPr>
          <p:cNvPr id="2" name="Picture 1"/>
          <p:cNvPicPr>
            <a:picLocks noChangeAspect="1"/>
          </p:cNvPicPr>
          <p:nvPr/>
        </p:nvPicPr>
        <p:blipFill>
          <a:blip r:embed="rId4"/>
          <a:stretch>
            <a:fillRect/>
          </a:stretch>
        </p:blipFill>
        <p:spPr>
          <a:xfrm>
            <a:off x="965200" y="186267"/>
            <a:ext cx="6489700" cy="863600"/>
          </a:xfrm>
          <a:prstGeom prst="rect">
            <a:avLst/>
          </a:prstGeom>
        </p:spPr>
      </p:pic>
    </p:spTree>
    <p:extLst>
      <p:ext uri="{BB962C8B-B14F-4D97-AF65-F5344CB8AC3E}">
        <p14:creationId xmlns:p14="http://schemas.microsoft.com/office/powerpoint/2010/main" val="3064720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05.jpg"/>
          <p:cNvPicPr>
            <a:picLocks noChangeAspect="1"/>
          </p:cNvPicPr>
          <p:nvPr/>
        </p:nvPicPr>
        <p:blipFill>
          <a:blip r:embed="rId3"/>
          <a:stretch>
            <a:fillRect/>
          </a:stretch>
        </p:blipFill>
        <p:spPr>
          <a:xfrm>
            <a:off x="304800" y="1368551"/>
            <a:ext cx="8534400" cy="4120896"/>
          </a:xfrm>
          <a:prstGeom prst="rect">
            <a:avLst/>
          </a:prstGeom>
        </p:spPr>
      </p:pic>
    </p:spTree>
    <p:extLst>
      <p:ext uri="{BB962C8B-B14F-4D97-AF65-F5344CB8AC3E}">
        <p14:creationId xmlns:p14="http://schemas.microsoft.com/office/powerpoint/2010/main" val="244719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311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extBox 6"/>
          <p:cNvSpPr txBox="1">
            <a:spLocks noChangeArrowheads="1"/>
          </p:cNvSpPr>
          <p:nvPr/>
        </p:nvSpPr>
        <p:spPr bwMode="auto">
          <a:xfrm>
            <a:off x="1143000" y="2971800"/>
            <a:ext cx="720725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resolving power of any chromatographic technique is related to the number of potential sites of interaction between the protein and the column beads. Very fine beads allow more interactions and thus greater resolving power, but flow rates through such columns are too slow.</a:t>
            </a:r>
          </a:p>
          <a:p>
            <a:endParaRPr lang="en-US" sz="1800" dirty="0"/>
          </a:p>
          <a:p>
            <a:r>
              <a:rPr lang="en-US" sz="1800" dirty="0"/>
              <a:t>High-performance liquid chromatography (HPLC) uses very fine beads in metal columns and high pressure pumps to move the liquid through the column. Because of the increased number of interaction sites, the resolving power of HPLC is greater than normal columns.</a:t>
            </a:r>
          </a:p>
        </p:txBody>
      </p:sp>
      <p:pic>
        <p:nvPicPr>
          <p:cNvPr id="2" name="Picture 1"/>
          <p:cNvPicPr>
            <a:picLocks noChangeAspect="1"/>
          </p:cNvPicPr>
          <p:nvPr/>
        </p:nvPicPr>
        <p:blipFill>
          <a:blip r:embed="rId3"/>
          <a:stretch>
            <a:fillRect/>
          </a:stretch>
        </p:blipFill>
        <p:spPr>
          <a:xfrm>
            <a:off x="1143000" y="152400"/>
            <a:ext cx="6489700" cy="863600"/>
          </a:xfrm>
          <a:prstGeom prst="rect">
            <a:avLst/>
          </a:prstGeom>
        </p:spPr>
      </p:pic>
      <p:pic>
        <p:nvPicPr>
          <p:cNvPr id="3" name="Picture 2"/>
          <p:cNvPicPr>
            <a:picLocks noChangeAspect="1"/>
          </p:cNvPicPr>
          <p:nvPr/>
        </p:nvPicPr>
        <p:blipFill>
          <a:blip r:embed="rId4"/>
          <a:stretch>
            <a:fillRect/>
          </a:stretch>
        </p:blipFill>
        <p:spPr>
          <a:xfrm>
            <a:off x="202095" y="2104400"/>
            <a:ext cx="6131337" cy="464495"/>
          </a:xfrm>
          <a:prstGeom prst="rect">
            <a:avLst/>
          </a:prstGeom>
        </p:spPr>
      </p:pic>
    </p:spTree>
    <p:extLst>
      <p:ext uri="{BB962C8B-B14F-4D97-AF65-F5344CB8AC3E}">
        <p14:creationId xmlns:p14="http://schemas.microsoft.com/office/powerpoint/2010/main" val="1579978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figure_03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0" y="139700"/>
            <a:ext cx="4205288" cy="659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829979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28800"/>
            <a:ext cx="28717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Box 7"/>
          <p:cNvSpPr txBox="1">
            <a:spLocks noChangeArrowheads="1"/>
          </p:cNvSpPr>
          <p:nvPr/>
        </p:nvSpPr>
        <p:spPr bwMode="auto">
          <a:xfrm>
            <a:off x="533400" y="2362200"/>
            <a:ext cx="84058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Proteins will migrate in an electrical field with a velocity (</a:t>
            </a:r>
            <a:r>
              <a:rPr lang="en-US" sz="1800" i="1" dirty="0"/>
              <a:t>v</a:t>
            </a:r>
            <a:r>
              <a:rPr lang="en-US" sz="1800" dirty="0"/>
              <a:t>) directly proportional to electric field strength (</a:t>
            </a:r>
            <a:r>
              <a:rPr lang="en-US" sz="1800" i="1" dirty="0"/>
              <a:t>E</a:t>
            </a:r>
            <a:r>
              <a:rPr lang="en-US" sz="1800" dirty="0"/>
              <a:t>), the charge on the protein (</a:t>
            </a:r>
            <a:r>
              <a:rPr lang="en-US" sz="1800" i="1" dirty="0"/>
              <a:t>z</a:t>
            </a:r>
            <a:r>
              <a:rPr lang="en-US" sz="1800" dirty="0"/>
              <a:t>), and inversely proportional to the frictional coefficient (    ).</a:t>
            </a:r>
          </a:p>
        </p:txBody>
      </p:sp>
      <p:pic>
        <p:nvPicPr>
          <p:cNvPr id="43013"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429000"/>
            <a:ext cx="1117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641600" y="2971800"/>
            <a:ext cx="17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TextBox 9"/>
          <p:cNvSpPr txBox="1">
            <a:spLocks noChangeArrowheads="1"/>
          </p:cNvSpPr>
          <p:nvPr/>
        </p:nvSpPr>
        <p:spPr bwMode="auto">
          <a:xfrm>
            <a:off x="838200" y="4038600"/>
            <a:ext cx="6800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frictional coefficient is a function of the protein mass, shape, radius (</a:t>
            </a:r>
            <a:r>
              <a:rPr lang="en-US" sz="1800" i="1" dirty="0"/>
              <a:t>r</a:t>
            </a:r>
            <a:r>
              <a:rPr lang="en-US" sz="1800" dirty="0"/>
              <a:t>) and the density of the medium ( </a:t>
            </a:r>
            <a:r>
              <a:rPr lang="en-US" sz="1800" i="1" dirty="0"/>
              <a:t>η</a:t>
            </a:r>
            <a:r>
              <a:rPr lang="en-US" sz="1800" dirty="0"/>
              <a:t> ).</a:t>
            </a:r>
          </a:p>
        </p:txBody>
      </p:sp>
      <p:pic>
        <p:nvPicPr>
          <p:cNvPr id="43017" name="Picture 1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5334000"/>
            <a:ext cx="1257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8" name="TextBox 12"/>
          <p:cNvSpPr txBox="1">
            <a:spLocks noChangeArrowheads="1"/>
          </p:cNvSpPr>
          <p:nvPr/>
        </p:nvSpPr>
        <p:spPr bwMode="auto">
          <a:xfrm>
            <a:off x="914400" y="5867400"/>
            <a:ext cx="746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When the migration occurs in a gel, it is called gel electrophoresis.</a:t>
            </a:r>
          </a:p>
        </p:txBody>
      </p:sp>
      <p:pic>
        <p:nvPicPr>
          <p:cNvPr id="2" name="Picture 1"/>
          <p:cNvPicPr>
            <a:picLocks noChangeAspect="1"/>
          </p:cNvPicPr>
          <p:nvPr/>
        </p:nvPicPr>
        <p:blipFill>
          <a:blip r:embed="rId7"/>
          <a:stretch>
            <a:fillRect/>
          </a:stretch>
        </p:blipFill>
        <p:spPr>
          <a:xfrm>
            <a:off x="1210733" y="186267"/>
            <a:ext cx="6489700" cy="863600"/>
          </a:xfrm>
          <a:prstGeom prst="rect">
            <a:avLst/>
          </a:prstGeom>
        </p:spPr>
      </p:pic>
    </p:spTree>
    <p:extLst>
      <p:ext uri="{BB962C8B-B14F-4D97-AF65-F5344CB8AC3E}">
        <p14:creationId xmlns:p14="http://schemas.microsoft.com/office/powerpoint/2010/main" val="246032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28800"/>
            <a:ext cx="28717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TextBox 4"/>
          <p:cNvSpPr txBox="1">
            <a:spLocks noChangeArrowheads="1"/>
          </p:cNvSpPr>
          <p:nvPr/>
        </p:nvSpPr>
        <p:spPr bwMode="auto">
          <a:xfrm>
            <a:off x="457200" y="2514600"/>
            <a:ext cx="84058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Sodium dodecyl sulfate-polyacrylamide gel electrophoresis (SDS-PAGE) allows accurate determination of mass. SDS denatures proteins, and for most proteins, 1 molecule of SDS binds for every two amino acids. Thus, proteins have the same charge to mass ratio and migrate in the gel on the basis of mass only.</a:t>
            </a:r>
          </a:p>
        </p:txBody>
      </p:sp>
      <p:pic>
        <p:nvPicPr>
          <p:cNvPr id="2" name="Picture 1"/>
          <p:cNvPicPr>
            <a:picLocks noChangeAspect="1"/>
          </p:cNvPicPr>
          <p:nvPr/>
        </p:nvPicPr>
        <p:blipFill>
          <a:blip r:embed="rId4"/>
          <a:stretch>
            <a:fillRect/>
          </a:stretch>
        </p:blipFill>
        <p:spPr>
          <a:xfrm>
            <a:off x="1066800" y="0"/>
            <a:ext cx="6489700" cy="863600"/>
          </a:xfrm>
          <a:prstGeom prst="rect">
            <a:avLst/>
          </a:prstGeom>
        </p:spPr>
      </p:pic>
    </p:spTree>
    <p:extLst>
      <p:ext uri="{BB962C8B-B14F-4D97-AF65-F5344CB8AC3E}">
        <p14:creationId xmlns:p14="http://schemas.microsoft.com/office/powerpoint/2010/main" val="943985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07.jpg"/>
          <p:cNvPicPr>
            <a:picLocks noChangeAspect="1"/>
          </p:cNvPicPr>
          <p:nvPr/>
        </p:nvPicPr>
        <p:blipFill>
          <a:blip r:embed="rId3"/>
          <a:stretch>
            <a:fillRect/>
          </a:stretch>
        </p:blipFill>
        <p:spPr>
          <a:xfrm>
            <a:off x="304800" y="1548383"/>
            <a:ext cx="8534400" cy="3761232"/>
          </a:xfrm>
          <a:prstGeom prst="rect">
            <a:avLst/>
          </a:prstGeom>
        </p:spPr>
      </p:pic>
    </p:spTree>
    <p:extLst>
      <p:ext uri="{BB962C8B-B14F-4D97-AF65-F5344CB8AC3E}">
        <p14:creationId xmlns:p14="http://schemas.microsoft.com/office/powerpoint/2010/main" val="3526089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08.jpg"/>
          <p:cNvPicPr>
            <a:picLocks noChangeAspect="1"/>
          </p:cNvPicPr>
          <p:nvPr/>
        </p:nvPicPr>
        <p:blipFill>
          <a:blip r:embed="rId3"/>
          <a:stretch>
            <a:fillRect/>
          </a:stretch>
        </p:blipFill>
        <p:spPr>
          <a:xfrm>
            <a:off x="0" y="192023"/>
            <a:ext cx="5907024" cy="6473952"/>
          </a:xfrm>
          <a:prstGeom prst="rect">
            <a:avLst/>
          </a:prstGeom>
        </p:spPr>
      </p:pic>
      <p:pic>
        <p:nvPicPr>
          <p:cNvPr id="5" name="Picture 4" descr="unnumbered_03_p72.jpg"/>
          <p:cNvPicPr>
            <a:picLocks noChangeAspect="1"/>
          </p:cNvPicPr>
          <p:nvPr/>
        </p:nvPicPr>
        <p:blipFill>
          <a:blip r:embed="rId4"/>
          <a:stretch>
            <a:fillRect/>
          </a:stretch>
        </p:blipFill>
        <p:spPr>
          <a:xfrm>
            <a:off x="6049601" y="778934"/>
            <a:ext cx="2710439" cy="4854108"/>
          </a:xfrm>
          <a:prstGeom prst="rect">
            <a:avLst/>
          </a:prstGeom>
        </p:spPr>
      </p:pic>
    </p:spTree>
    <p:extLst>
      <p:ext uri="{BB962C8B-B14F-4D97-AF65-F5344CB8AC3E}">
        <p14:creationId xmlns:p14="http://schemas.microsoft.com/office/powerpoint/2010/main" val="930273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828800"/>
            <a:ext cx="28717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Box 5"/>
          <p:cNvSpPr txBox="1">
            <a:spLocks noChangeArrowheads="1"/>
          </p:cNvSpPr>
          <p:nvPr/>
        </p:nvSpPr>
        <p:spPr bwMode="auto">
          <a:xfrm>
            <a:off x="679450" y="3148013"/>
            <a:ext cx="7524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Proteins separated by SDS-PAGE are visualized by staining the gel with dyes such as Coomassie blue.</a:t>
            </a:r>
          </a:p>
        </p:txBody>
      </p:sp>
      <p:pic>
        <p:nvPicPr>
          <p:cNvPr id="2" name="Picture 1"/>
          <p:cNvPicPr>
            <a:picLocks noChangeAspect="1"/>
          </p:cNvPicPr>
          <p:nvPr/>
        </p:nvPicPr>
        <p:blipFill>
          <a:blip r:embed="rId4"/>
          <a:stretch>
            <a:fillRect/>
          </a:stretch>
        </p:blipFill>
        <p:spPr>
          <a:xfrm>
            <a:off x="1066800" y="0"/>
            <a:ext cx="6489700" cy="863600"/>
          </a:xfrm>
          <a:prstGeom prst="rect">
            <a:avLst/>
          </a:prstGeom>
        </p:spPr>
      </p:pic>
    </p:spTree>
    <p:extLst>
      <p:ext uri="{BB962C8B-B14F-4D97-AF65-F5344CB8AC3E}">
        <p14:creationId xmlns:p14="http://schemas.microsoft.com/office/powerpoint/2010/main" val="2678955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09.jpg"/>
          <p:cNvPicPr>
            <a:picLocks noChangeAspect="1"/>
          </p:cNvPicPr>
          <p:nvPr/>
        </p:nvPicPr>
        <p:blipFill>
          <a:blip r:embed="rId3"/>
          <a:stretch>
            <a:fillRect/>
          </a:stretch>
        </p:blipFill>
        <p:spPr>
          <a:xfrm>
            <a:off x="304800" y="249935"/>
            <a:ext cx="8534400" cy="6358128"/>
          </a:xfrm>
          <a:prstGeom prst="rect">
            <a:avLst/>
          </a:prstGeom>
        </p:spPr>
      </p:pic>
    </p:spTree>
    <p:extLst>
      <p:ext uri="{BB962C8B-B14F-4D97-AF65-F5344CB8AC3E}">
        <p14:creationId xmlns:p14="http://schemas.microsoft.com/office/powerpoint/2010/main" val="2192101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0.jpg"/>
          <p:cNvPicPr>
            <a:picLocks noChangeAspect="1"/>
          </p:cNvPicPr>
          <p:nvPr/>
        </p:nvPicPr>
        <p:blipFill>
          <a:blip r:embed="rId3"/>
          <a:stretch>
            <a:fillRect/>
          </a:stretch>
        </p:blipFill>
        <p:spPr>
          <a:xfrm>
            <a:off x="2298192" y="192023"/>
            <a:ext cx="4547616" cy="6473952"/>
          </a:xfrm>
          <a:prstGeom prst="rect">
            <a:avLst/>
          </a:prstGeom>
        </p:spPr>
      </p:pic>
    </p:spTree>
    <p:extLst>
      <p:ext uri="{BB962C8B-B14F-4D97-AF65-F5344CB8AC3E}">
        <p14:creationId xmlns:p14="http://schemas.microsoft.com/office/powerpoint/2010/main" val="1004376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905000"/>
            <a:ext cx="295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Box 6"/>
          <p:cNvSpPr txBox="1">
            <a:spLocks noChangeArrowheads="1"/>
          </p:cNvSpPr>
          <p:nvPr/>
        </p:nvSpPr>
        <p:spPr bwMode="auto">
          <a:xfrm>
            <a:off x="679450" y="3005138"/>
            <a:ext cx="8281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Isoelectric focusing allows separation of proteins in a gel on the basis of their relative amounts of acidic and basic amino acids. If a mixture of proteins is placed in a gel with a pH gradient and an electrical field is applied, proteins will migrate to their isoelectric point, the pH at which they have no net charge. </a:t>
            </a:r>
          </a:p>
        </p:txBody>
      </p:sp>
      <p:pic>
        <p:nvPicPr>
          <p:cNvPr id="2" name="Picture 1"/>
          <p:cNvPicPr>
            <a:picLocks noChangeAspect="1"/>
          </p:cNvPicPr>
          <p:nvPr/>
        </p:nvPicPr>
        <p:blipFill>
          <a:blip r:embed="rId4"/>
          <a:stretch>
            <a:fillRect/>
          </a:stretch>
        </p:blipFill>
        <p:spPr>
          <a:xfrm>
            <a:off x="1295400" y="186266"/>
            <a:ext cx="6489700" cy="863600"/>
          </a:xfrm>
          <a:prstGeom prst="rect">
            <a:avLst/>
          </a:prstGeom>
        </p:spPr>
      </p:pic>
    </p:spTree>
    <p:extLst>
      <p:ext uri="{BB962C8B-B14F-4D97-AF65-F5344CB8AC3E}">
        <p14:creationId xmlns:p14="http://schemas.microsoft.com/office/powerpoint/2010/main" val="1771884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1.jpg"/>
          <p:cNvPicPr>
            <a:picLocks noChangeAspect="1"/>
          </p:cNvPicPr>
          <p:nvPr/>
        </p:nvPicPr>
        <p:blipFill>
          <a:blip r:embed="rId3"/>
          <a:stretch>
            <a:fillRect/>
          </a:stretch>
        </p:blipFill>
        <p:spPr>
          <a:xfrm>
            <a:off x="304800" y="1411223"/>
            <a:ext cx="8534400" cy="4035552"/>
          </a:xfrm>
          <a:prstGeom prst="rect">
            <a:avLst/>
          </a:prstGeom>
        </p:spPr>
      </p:pic>
    </p:spTree>
    <p:extLst>
      <p:ext uri="{BB962C8B-B14F-4D97-AF65-F5344CB8AC3E}">
        <p14:creationId xmlns:p14="http://schemas.microsoft.com/office/powerpoint/2010/main" val="2322641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76400"/>
            <a:ext cx="49482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Box 7"/>
          <p:cNvSpPr txBox="1">
            <a:spLocks noChangeArrowheads="1"/>
          </p:cNvSpPr>
          <p:nvPr/>
        </p:nvSpPr>
        <p:spPr bwMode="auto">
          <a:xfrm>
            <a:off x="914400" y="2971800"/>
            <a:ext cx="69405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two-dimensional gel electrophoresis, proteins are separated in one direction by isoelectric focusing. This gel is then attached to an SDS-PAGE gel and electrophoresis is performed at a 90</a:t>
            </a:r>
            <a:r>
              <a:rPr lang="en-US" sz="1800" baseline="30000" dirty="0"/>
              <a:t>o</a:t>
            </a:r>
            <a:r>
              <a:rPr lang="en-US" sz="1800" dirty="0"/>
              <a:t> angle to the direction of the isoelectric focusing separation.</a:t>
            </a:r>
          </a:p>
        </p:txBody>
      </p:sp>
      <p:pic>
        <p:nvPicPr>
          <p:cNvPr id="2" name="Picture 1"/>
          <p:cNvPicPr>
            <a:picLocks noChangeAspect="1"/>
          </p:cNvPicPr>
          <p:nvPr/>
        </p:nvPicPr>
        <p:blipFill>
          <a:blip r:embed="rId4"/>
          <a:stretch>
            <a:fillRect/>
          </a:stretch>
        </p:blipFill>
        <p:spPr>
          <a:xfrm>
            <a:off x="1066800" y="0"/>
            <a:ext cx="6489700" cy="863600"/>
          </a:xfrm>
          <a:prstGeom prst="rect">
            <a:avLst/>
          </a:prstGeom>
        </p:spPr>
      </p:pic>
    </p:spTree>
    <p:extLst>
      <p:ext uri="{BB962C8B-B14F-4D97-AF65-F5344CB8AC3E}">
        <p14:creationId xmlns:p14="http://schemas.microsoft.com/office/powerpoint/2010/main" val="2454307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3_12b.jpg"/>
          <p:cNvPicPr>
            <a:picLocks noChangeAspect="1"/>
          </p:cNvPicPr>
          <p:nvPr/>
        </p:nvPicPr>
        <p:blipFill>
          <a:blip r:embed="rId3"/>
          <a:stretch>
            <a:fillRect/>
          </a:stretch>
        </p:blipFill>
        <p:spPr>
          <a:xfrm>
            <a:off x="4555067" y="3411940"/>
            <a:ext cx="4588932" cy="3446059"/>
          </a:xfrm>
          <a:prstGeom prst="rect">
            <a:avLst/>
          </a:prstGeom>
        </p:spPr>
      </p:pic>
      <p:pic>
        <p:nvPicPr>
          <p:cNvPr id="4" name="Picture 3" descr="figure_03_12a.jpg"/>
          <p:cNvPicPr>
            <a:picLocks noChangeAspect="1"/>
          </p:cNvPicPr>
          <p:nvPr/>
        </p:nvPicPr>
        <p:blipFill>
          <a:blip r:embed="rId4"/>
          <a:stretch>
            <a:fillRect/>
          </a:stretch>
        </p:blipFill>
        <p:spPr>
          <a:xfrm>
            <a:off x="0" y="99499"/>
            <a:ext cx="4842933" cy="4571729"/>
          </a:xfrm>
          <a:prstGeom prst="rect">
            <a:avLst/>
          </a:prstGeom>
        </p:spPr>
      </p:pic>
    </p:spTree>
    <p:extLst>
      <p:ext uri="{BB962C8B-B14F-4D97-AF65-F5344CB8AC3E}">
        <p14:creationId xmlns:p14="http://schemas.microsoft.com/office/powerpoint/2010/main" val="3315124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2611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76400"/>
            <a:ext cx="49482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Box 4"/>
          <p:cNvSpPr txBox="1">
            <a:spLocks noChangeArrowheads="1"/>
          </p:cNvSpPr>
          <p:nvPr/>
        </p:nvSpPr>
        <p:spPr bwMode="auto">
          <a:xfrm>
            <a:off x="914400" y="2514600"/>
            <a:ext cx="800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Two-dimensional electrophoresis can be used to detect differences in protein expression under different physiological circumstances.</a:t>
            </a:r>
          </a:p>
        </p:txBody>
      </p:sp>
      <p:pic>
        <p:nvPicPr>
          <p:cNvPr id="2" name="Picture 1"/>
          <p:cNvPicPr>
            <a:picLocks noChangeAspect="1"/>
          </p:cNvPicPr>
          <p:nvPr/>
        </p:nvPicPr>
        <p:blipFill>
          <a:blip r:embed="rId4"/>
          <a:stretch>
            <a:fillRect/>
          </a:stretch>
        </p:blipFill>
        <p:spPr>
          <a:xfrm>
            <a:off x="914400" y="0"/>
            <a:ext cx="6489700" cy="863600"/>
          </a:xfrm>
          <a:prstGeom prst="rect">
            <a:avLst/>
          </a:prstGeom>
        </p:spPr>
      </p:pic>
    </p:spTree>
    <p:extLst>
      <p:ext uri="{BB962C8B-B14F-4D97-AF65-F5344CB8AC3E}">
        <p14:creationId xmlns:p14="http://schemas.microsoft.com/office/powerpoint/2010/main" val="2656286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3.jpg"/>
          <p:cNvPicPr>
            <a:picLocks noChangeAspect="1"/>
          </p:cNvPicPr>
          <p:nvPr/>
        </p:nvPicPr>
        <p:blipFill>
          <a:blip r:embed="rId3"/>
          <a:stretch>
            <a:fillRect/>
          </a:stretch>
        </p:blipFill>
        <p:spPr>
          <a:xfrm>
            <a:off x="304800" y="722376"/>
            <a:ext cx="8534400" cy="5413248"/>
          </a:xfrm>
          <a:prstGeom prst="rect">
            <a:avLst/>
          </a:prstGeom>
        </p:spPr>
      </p:pic>
    </p:spTree>
    <p:extLst>
      <p:ext uri="{BB962C8B-B14F-4D97-AF65-F5344CB8AC3E}">
        <p14:creationId xmlns:p14="http://schemas.microsoft.com/office/powerpoint/2010/main" val="1430779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95400"/>
            <a:ext cx="49911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TextBox 4"/>
          <p:cNvSpPr txBox="1">
            <a:spLocks noChangeArrowheads="1"/>
          </p:cNvSpPr>
          <p:nvPr/>
        </p:nvSpPr>
        <p:spPr bwMode="auto">
          <a:xfrm>
            <a:off x="1066800" y="2286000"/>
            <a:ext cx="752951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effectiveness of a purification scheme is measured by calculating the specific activity after each separation technique. </a:t>
            </a:r>
          </a:p>
          <a:p>
            <a:endParaRPr lang="en-US" sz="1800" dirty="0"/>
          </a:p>
          <a:p>
            <a:r>
              <a:rPr lang="en-US" sz="1800" dirty="0"/>
              <a:t>Specific activity is the ratio of enzyme activity to protein concentration. Specific activity should increase with each step of the purification procedure.</a:t>
            </a:r>
          </a:p>
          <a:p>
            <a:endParaRPr lang="en-US" sz="1800" dirty="0"/>
          </a:p>
          <a:p>
            <a:r>
              <a:rPr lang="en-US" sz="1800" dirty="0"/>
              <a:t>SDS-PAGE allows a visual evaluation of the purification scheme.</a:t>
            </a:r>
          </a:p>
        </p:txBody>
      </p:sp>
      <p:pic>
        <p:nvPicPr>
          <p:cNvPr id="2" name="Picture 1"/>
          <p:cNvPicPr>
            <a:picLocks noChangeAspect="1"/>
          </p:cNvPicPr>
          <p:nvPr/>
        </p:nvPicPr>
        <p:blipFill>
          <a:blip r:embed="rId4"/>
          <a:stretch>
            <a:fillRect/>
          </a:stretch>
        </p:blipFill>
        <p:spPr>
          <a:xfrm>
            <a:off x="1320800" y="270933"/>
            <a:ext cx="6489700" cy="863600"/>
          </a:xfrm>
          <a:prstGeom prst="rect">
            <a:avLst/>
          </a:prstGeom>
        </p:spPr>
      </p:pic>
    </p:spTree>
    <p:extLst>
      <p:ext uri="{BB962C8B-B14F-4D97-AF65-F5344CB8AC3E}">
        <p14:creationId xmlns:p14="http://schemas.microsoft.com/office/powerpoint/2010/main" val="2490501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 3.1.jpg"/>
          <p:cNvPicPr>
            <a:picLocks noChangeAspect="1"/>
          </p:cNvPicPr>
          <p:nvPr/>
        </p:nvPicPr>
        <p:blipFill>
          <a:blip r:embed="rId3"/>
          <a:stretch>
            <a:fillRect/>
          </a:stretch>
        </p:blipFill>
        <p:spPr>
          <a:xfrm>
            <a:off x="304800" y="1629156"/>
            <a:ext cx="8534400" cy="3599688"/>
          </a:xfrm>
          <a:prstGeom prst="rect">
            <a:avLst/>
          </a:prstGeom>
        </p:spPr>
      </p:pic>
    </p:spTree>
    <p:extLst>
      <p:ext uri="{BB962C8B-B14F-4D97-AF65-F5344CB8AC3E}">
        <p14:creationId xmlns:p14="http://schemas.microsoft.com/office/powerpoint/2010/main" val="428465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4.jpg"/>
          <p:cNvPicPr>
            <a:picLocks noChangeAspect="1"/>
          </p:cNvPicPr>
          <p:nvPr/>
        </p:nvPicPr>
        <p:blipFill>
          <a:blip r:embed="rId3"/>
          <a:stretch>
            <a:fillRect/>
          </a:stretch>
        </p:blipFill>
        <p:spPr>
          <a:xfrm>
            <a:off x="1362455" y="192023"/>
            <a:ext cx="6419088" cy="6473952"/>
          </a:xfrm>
          <a:prstGeom prst="rect">
            <a:avLst/>
          </a:prstGeom>
        </p:spPr>
      </p:pic>
    </p:spTree>
    <p:extLst>
      <p:ext uri="{BB962C8B-B14F-4D97-AF65-F5344CB8AC3E}">
        <p14:creationId xmlns:p14="http://schemas.microsoft.com/office/powerpoint/2010/main" val="1953268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62865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Box 4"/>
          <p:cNvSpPr txBox="1">
            <a:spLocks noChangeArrowheads="1"/>
          </p:cNvSpPr>
          <p:nvPr/>
        </p:nvSpPr>
        <p:spPr bwMode="auto">
          <a:xfrm>
            <a:off x="609600" y="2362200"/>
            <a:ext cx="7527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Ultracentrifugation can be used to examine proteins. When subjected to a centrifugal force, the rate of movement of a particle is defined by the sedimentation coefficient, </a:t>
            </a:r>
            <a:r>
              <a:rPr lang="en-US" sz="1800" i="1" dirty="0"/>
              <a:t>s</a:t>
            </a:r>
          </a:p>
        </p:txBody>
      </p:sp>
      <p:sp>
        <p:nvSpPr>
          <p:cNvPr id="69636" name="TextBox 5"/>
          <p:cNvSpPr txBox="1">
            <a:spLocks noChangeArrowheads="1"/>
          </p:cNvSpPr>
          <p:nvPr/>
        </p:nvSpPr>
        <p:spPr bwMode="auto">
          <a:xfrm>
            <a:off x="838200" y="5257800"/>
            <a:ext cx="76676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Where </a:t>
            </a:r>
            <a:r>
              <a:rPr lang="en-US" sz="1800" i="1" dirty="0"/>
              <a:t>m</a:t>
            </a:r>
            <a:r>
              <a:rPr lang="en-US" sz="1800" dirty="0"/>
              <a:t>=mass,   = the partial specific volume (or one over the mass of the particle, </a:t>
            </a:r>
            <a:r>
              <a:rPr lang="en-US" sz="1800" i="1" dirty="0"/>
              <a:t>ρ</a:t>
            </a:r>
            <a:r>
              <a:rPr lang="en-US" sz="1800" dirty="0"/>
              <a:t>=density of the medium, and ƒ =the frictional coefficient of the particle.</a:t>
            </a:r>
          </a:p>
        </p:txBody>
      </p:sp>
      <p:pic>
        <p:nvPicPr>
          <p:cNvPr id="6963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7841" y="4158856"/>
            <a:ext cx="2093981" cy="48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151466" y="203200"/>
            <a:ext cx="6489700" cy="863600"/>
          </a:xfrm>
          <a:prstGeom prst="rect">
            <a:avLst/>
          </a:prstGeom>
        </p:spPr>
      </p:pic>
      <p:pic>
        <p:nvPicPr>
          <p:cNvPr id="9" name="Picture 8"/>
          <p:cNvPicPr>
            <a:picLocks noChangeAspect="1"/>
          </p:cNvPicPr>
          <p:nvPr/>
        </p:nvPicPr>
        <p:blipFill>
          <a:blip r:embed="rId5"/>
          <a:stretch>
            <a:fillRect/>
          </a:stretch>
        </p:blipFill>
        <p:spPr>
          <a:xfrm>
            <a:off x="2387600" y="5349875"/>
            <a:ext cx="185738" cy="257175"/>
          </a:xfrm>
          <a:prstGeom prst="rect">
            <a:avLst/>
          </a:prstGeom>
        </p:spPr>
      </p:pic>
    </p:spTree>
    <p:extLst>
      <p:ext uri="{BB962C8B-B14F-4D97-AF65-F5344CB8AC3E}">
        <p14:creationId xmlns:p14="http://schemas.microsoft.com/office/powerpoint/2010/main" val="578268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62865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TextBox 3"/>
          <p:cNvSpPr txBox="1">
            <a:spLocks noChangeArrowheads="1"/>
          </p:cNvSpPr>
          <p:nvPr/>
        </p:nvSpPr>
        <p:spPr bwMode="auto">
          <a:xfrm>
            <a:off x="152400" y="228600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Sedimentation coefficients are usually expressed as Svedberg units (S), equal to 10</a:t>
            </a:r>
            <a:r>
              <a:rPr lang="en-US" sz="1800" baseline="30000" dirty="0"/>
              <a:t>-13 </a:t>
            </a:r>
            <a:r>
              <a:rPr lang="en-US" sz="1800" dirty="0"/>
              <a:t>s.</a:t>
            </a:r>
          </a:p>
          <a:p>
            <a:endParaRPr lang="en-US" sz="1800" dirty="0"/>
          </a:p>
          <a:p>
            <a:endParaRPr lang="en-US" sz="1800" dirty="0"/>
          </a:p>
          <a:p>
            <a:r>
              <a:rPr lang="en-US" sz="1800" dirty="0"/>
              <a:t>The smaller the S value, the slower the protein moves in a centrifugal field.</a:t>
            </a:r>
          </a:p>
        </p:txBody>
      </p:sp>
      <p:pic>
        <p:nvPicPr>
          <p:cNvPr id="2" name="Picture 1"/>
          <p:cNvPicPr>
            <a:picLocks noChangeAspect="1"/>
          </p:cNvPicPr>
          <p:nvPr/>
        </p:nvPicPr>
        <p:blipFill>
          <a:blip r:embed="rId3"/>
          <a:stretch>
            <a:fillRect/>
          </a:stretch>
        </p:blipFill>
        <p:spPr>
          <a:xfrm>
            <a:off x="1134533" y="270934"/>
            <a:ext cx="6489700" cy="863600"/>
          </a:xfrm>
          <a:prstGeom prst="rect">
            <a:avLst/>
          </a:prstGeom>
        </p:spPr>
      </p:pic>
    </p:spTree>
    <p:extLst>
      <p:ext uri="{BB962C8B-B14F-4D97-AF65-F5344CB8AC3E}">
        <p14:creationId xmlns:p14="http://schemas.microsoft.com/office/powerpoint/2010/main" val="1975283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 3.2.jpg"/>
          <p:cNvPicPr>
            <a:picLocks noChangeAspect="1"/>
          </p:cNvPicPr>
          <p:nvPr/>
        </p:nvPicPr>
        <p:blipFill>
          <a:blip r:embed="rId3"/>
          <a:stretch>
            <a:fillRect/>
          </a:stretch>
        </p:blipFill>
        <p:spPr>
          <a:xfrm>
            <a:off x="304800" y="1495044"/>
            <a:ext cx="8534400" cy="3867912"/>
          </a:xfrm>
          <a:prstGeom prst="rect">
            <a:avLst/>
          </a:prstGeom>
        </p:spPr>
      </p:pic>
    </p:spTree>
    <p:extLst>
      <p:ext uri="{BB962C8B-B14F-4D97-AF65-F5344CB8AC3E}">
        <p14:creationId xmlns:p14="http://schemas.microsoft.com/office/powerpoint/2010/main" val="4183599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5.jpg"/>
          <p:cNvPicPr>
            <a:picLocks noChangeAspect="1"/>
          </p:cNvPicPr>
          <p:nvPr/>
        </p:nvPicPr>
        <p:blipFill>
          <a:blip r:embed="rId3"/>
          <a:stretch>
            <a:fillRect/>
          </a:stretch>
        </p:blipFill>
        <p:spPr>
          <a:xfrm>
            <a:off x="405384" y="192023"/>
            <a:ext cx="8333232" cy="6473952"/>
          </a:xfrm>
          <a:prstGeom prst="rect">
            <a:avLst/>
          </a:prstGeom>
        </p:spPr>
      </p:pic>
    </p:spTree>
    <p:extLst>
      <p:ext uri="{BB962C8B-B14F-4D97-AF65-F5344CB8AC3E}">
        <p14:creationId xmlns:p14="http://schemas.microsoft.com/office/powerpoint/2010/main" val="3281298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62865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TextBox 4"/>
          <p:cNvSpPr txBox="1">
            <a:spLocks noChangeArrowheads="1"/>
          </p:cNvSpPr>
          <p:nvPr/>
        </p:nvSpPr>
        <p:spPr bwMode="auto">
          <a:xfrm>
            <a:off x="1219200" y="2057400"/>
            <a:ext cx="68484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density gradient is formed in a centrifuge tube, and a mixture of proteins in solution is placed on top of the gradient.</a:t>
            </a:r>
          </a:p>
          <a:p>
            <a:endParaRPr lang="en-US" sz="1800" dirty="0"/>
          </a:p>
          <a:p>
            <a:r>
              <a:rPr lang="en-US" sz="1800" dirty="0"/>
              <a:t>After the centrifugation is complete, a small hole is made in the bottom of the tube and portions of the gradient are collected. These portions are analyzed for protein concentration, enzyme activity or other biochemical characteristics.</a:t>
            </a:r>
          </a:p>
        </p:txBody>
      </p:sp>
      <p:pic>
        <p:nvPicPr>
          <p:cNvPr id="2" name="Picture 1"/>
          <p:cNvPicPr>
            <a:picLocks noChangeAspect="1"/>
          </p:cNvPicPr>
          <p:nvPr/>
        </p:nvPicPr>
        <p:blipFill>
          <a:blip r:embed="rId3"/>
          <a:stretch>
            <a:fillRect/>
          </a:stretch>
        </p:blipFill>
        <p:spPr>
          <a:xfrm>
            <a:off x="1219200" y="0"/>
            <a:ext cx="6489700" cy="863600"/>
          </a:xfrm>
          <a:prstGeom prst="rect">
            <a:avLst/>
          </a:prstGeom>
        </p:spPr>
      </p:pic>
    </p:spTree>
    <p:extLst>
      <p:ext uri="{BB962C8B-B14F-4D97-AF65-F5344CB8AC3E}">
        <p14:creationId xmlns:p14="http://schemas.microsoft.com/office/powerpoint/2010/main" val="3841641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16.jpg"/>
          <p:cNvPicPr>
            <a:picLocks noChangeAspect="1"/>
          </p:cNvPicPr>
          <p:nvPr/>
        </p:nvPicPr>
        <p:blipFill>
          <a:blip r:embed="rId3"/>
          <a:stretch>
            <a:fillRect/>
          </a:stretch>
        </p:blipFill>
        <p:spPr>
          <a:xfrm>
            <a:off x="304800" y="1676400"/>
            <a:ext cx="8534400" cy="3505200"/>
          </a:xfrm>
          <a:prstGeom prst="rect">
            <a:avLst/>
          </a:prstGeom>
        </p:spPr>
      </p:pic>
    </p:spTree>
    <p:extLst>
      <p:ext uri="{BB962C8B-B14F-4D97-AF65-F5344CB8AC3E}">
        <p14:creationId xmlns:p14="http://schemas.microsoft.com/office/powerpoint/2010/main" val="2121138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19200"/>
            <a:ext cx="67437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Box 4"/>
          <p:cNvSpPr txBox="1">
            <a:spLocks noChangeArrowheads="1"/>
          </p:cNvSpPr>
          <p:nvPr/>
        </p:nvSpPr>
        <p:spPr bwMode="auto">
          <a:xfrm>
            <a:off x="1270000" y="2506663"/>
            <a:ext cx="7264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buFontTx/>
              <a:buAutoNum type="arabicPeriod"/>
            </a:pPr>
            <a:r>
              <a:rPr lang="en-US" sz="1800" dirty="0"/>
              <a:t>Large quantities of proteins can be obtained.</a:t>
            </a:r>
          </a:p>
          <a:p>
            <a:pPr>
              <a:buFontTx/>
              <a:buAutoNum type="arabicPeriod"/>
            </a:pPr>
            <a:endParaRPr lang="en-US" sz="1800" dirty="0"/>
          </a:p>
          <a:p>
            <a:pPr>
              <a:buFontTx/>
              <a:buAutoNum type="arabicPeriod"/>
            </a:pPr>
            <a:r>
              <a:rPr lang="en-US" sz="1800" dirty="0"/>
              <a:t>Proteins can be modified with affinity tags that allow purification of the protein or visualization of the protein in the cell.</a:t>
            </a:r>
          </a:p>
          <a:p>
            <a:pPr>
              <a:buFontTx/>
              <a:buAutoNum type="arabicPeriod"/>
            </a:pPr>
            <a:endParaRPr lang="en-US" sz="1800" dirty="0"/>
          </a:p>
          <a:p>
            <a:pPr>
              <a:buFontTx/>
              <a:buAutoNum type="arabicPeriod"/>
            </a:pPr>
            <a:r>
              <a:rPr lang="en-US" sz="1800" dirty="0"/>
              <a:t>Proteins with modified primary structure can be generated.</a:t>
            </a:r>
          </a:p>
        </p:txBody>
      </p:sp>
      <p:pic>
        <p:nvPicPr>
          <p:cNvPr id="2" name="Picture 1"/>
          <p:cNvPicPr>
            <a:picLocks noChangeAspect="1"/>
          </p:cNvPicPr>
          <p:nvPr/>
        </p:nvPicPr>
        <p:blipFill>
          <a:blip r:embed="rId3"/>
          <a:stretch>
            <a:fillRect/>
          </a:stretch>
        </p:blipFill>
        <p:spPr>
          <a:xfrm>
            <a:off x="1320800" y="118533"/>
            <a:ext cx="6489700" cy="863600"/>
          </a:xfrm>
          <a:prstGeom prst="rect">
            <a:avLst/>
          </a:prstGeom>
        </p:spPr>
      </p:pic>
    </p:spTree>
    <p:extLst>
      <p:ext uri="{BB962C8B-B14F-4D97-AF65-F5344CB8AC3E}">
        <p14:creationId xmlns:p14="http://schemas.microsoft.com/office/powerpoint/2010/main" val="12349215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00200"/>
            <a:ext cx="4851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extBox 4"/>
          <p:cNvSpPr txBox="1">
            <a:spLocks noChangeArrowheads="1"/>
          </p:cNvSpPr>
          <p:nvPr/>
        </p:nvSpPr>
        <p:spPr bwMode="auto">
          <a:xfrm>
            <a:off x="838200" y="2514600"/>
            <a:ext cx="7959725"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An antibody is a protein synthesized in response to the presence of a foreign substance called an antigen.</a:t>
            </a:r>
          </a:p>
          <a:p>
            <a:endParaRPr lang="en-US" sz="1800" dirty="0"/>
          </a:p>
          <a:p>
            <a:r>
              <a:rPr lang="en-US" sz="1800" dirty="0"/>
              <a:t>The antibody recognizes a particular structural feature on the antigen called the antigenic determinant or epitope.</a:t>
            </a:r>
          </a:p>
          <a:p>
            <a:endParaRPr lang="en-US" dirty="0"/>
          </a:p>
        </p:txBody>
      </p:sp>
      <p:pic>
        <p:nvPicPr>
          <p:cNvPr id="2" name="Picture 1"/>
          <p:cNvPicPr>
            <a:picLocks noChangeAspect="1"/>
          </p:cNvPicPr>
          <p:nvPr/>
        </p:nvPicPr>
        <p:blipFill>
          <a:blip r:embed="rId4"/>
          <a:stretch>
            <a:fillRect/>
          </a:stretch>
        </p:blipFill>
        <p:spPr>
          <a:xfrm>
            <a:off x="973667" y="215900"/>
            <a:ext cx="6959600" cy="939800"/>
          </a:xfrm>
          <a:prstGeom prst="rect">
            <a:avLst/>
          </a:prstGeom>
        </p:spPr>
      </p:pic>
    </p:spTree>
    <p:extLst>
      <p:ext uri="{BB962C8B-B14F-4D97-AF65-F5344CB8AC3E}">
        <p14:creationId xmlns:p14="http://schemas.microsoft.com/office/powerpoint/2010/main" val="787558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17a.jpg"/>
          <p:cNvPicPr>
            <a:picLocks noChangeAspect="1"/>
          </p:cNvPicPr>
          <p:nvPr/>
        </p:nvPicPr>
        <p:blipFill>
          <a:blip r:embed="rId3"/>
          <a:stretch>
            <a:fillRect/>
          </a:stretch>
        </p:blipFill>
        <p:spPr>
          <a:xfrm>
            <a:off x="304800" y="211694"/>
            <a:ext cx="5558985" cy="3748344"/>
          </a:xfrm>
          <a:prstGeom prst="rect">
            <a:avLst/>
          </a:prstGeom>
        </p:spPr>
      </p:pic>
      <p:pic>
        <p:nvPicPr>
          <p:cNvPr id="5" name="Picture 4" descr="figure_03_17b.jpg"/>
          <p:cNvPicPr>
            <a:picLocks noChangeAspect="1"/>
          </p:cNvPicPr>
          <p:nvPr/>
        </p:nvPicPr>
        <p:blipFill>
          <a:blip r:embed="rId4"/>
          <a:stretch>
            <a:fillRect/>
          </a:stretch>
        </p:blipFill>
        <p:spPr>
          <a:xfrm>
            <a:off x="4309020" y="3528231"/>
            <a:ext cx="4711134" cy="3065602"/>
          </a:xfrm>
          <a:prstGeom prst="rect">
            <a:avLst/>
          </a:prstGeom>
        </p:spPr>
      </p:pic>
    </p:spTree>
    <p:extLst>
      <p:ext uri="{BB962C8B-B14F-4D97-AF65-F5344CB8AC3E}">
        <p14:creationId xmlns:p14="http://schemas.microsoft.com/office/powerpoint/2010/main" val="3961961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8.jpg"/>
          <p:cNvPicPr>
            <a:picLocks noChangeAspect="1"/>
          </p:cNvPicPr>
          <p:nvPr/>
        </p:nvPicPr>
        <p:blipFill>
          <a:blip r:embed="rId3"/>
          <a:stretch>
            <a:fillRect/>
          </a:stretch>
        </p:blipFill>
        <p:spPr>
          <a:xfrm>
            <a:off x="1691639" y="192023"/>
            <a:ext cx="5760720" cy="6473952"/>
          </a:xfrm>
          <a:prstGeom prst="rect">
            <a:avLst/>
          </a:prstGeom>
        </p:spPr>
      </p:pic>
    </p:spTree>
    <p:extLst>
      <p:ext uri="{BB962C8B-B14F-4D97-AF65-F5344CB8AC3E}">
        <p14:creationId xmlns:p14="http://schemas.microsoft.com/office/powerpoint/2010/main" val="3858045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Box 1"/>
          <p:cNvSpPr txBox="1">
            <a:spLocks noChangeArrowheads="1"/>
          </p:cNvSpPr>
          <p:nvPr/>
        </p:nvSpPr>
        <p:spPr bwMode="auto">
          <a:xfrm>
            <a:off x="858838" y="3041650"/>
            <a:ext cx="7977187"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Any antibody-producing cell synthesizes antibodies that recognize only one epitope. Each antibody-producing cell thus synthesizes a monoclonal antibody.</a:t>
            </a:r>
          </a:p>
          <a:p>
            <a:endParaRPr lang="en-US" sz="1800" dirty="0"/>
          </a:p>
          <a:p>
            <a:r>
              <a:rPr lang="en-US" sz="1800" dirty="0"/>
              <a:t>Any antigen may have multiple epitopes. The antibodies produced to the antigen by different cells are said to be polyclonal. </a:t>
            </a:r>
          </a:p>
        </p:txBody>
      </p:sp>
      <p:pic>
        <p:nvPicPr>
          <p:cNvPr id="10957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00200"/>
            <a:ext cx="4851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858838" y="215900"/>
            <a:ext cx="6959600" cy="939800"/>
          </a:xfrm>
          <a:prstGeom prst="rect">
            <a:avLst/>
          </a:prstGeom>
        </p:spPr>
      </p:pic>
    </p:spTree>
    <p:extLst>
      <p:ext uri="{BB962C8B-B14F-4D97-AF65-F5344CB8AC3E}">
        <p14:creationId xmlns:p14="http://schemas.microsoft.com/office/powerpoint/2010/main" val="1145474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19.jpg"/>
          <p:cNvPicPr>
            <a:picLocks noChangeAspect="1"/>
          </p:cNvPicPr>
          <p:nvPr/>
        </p:nvPicPr>
        <p:blipFill>
          <a:blip r:embed="rId3"/>
          <a:stretch>
            <a:fillRect/>
          </a:stretch>
        </p:blipFill>
        <p:spPr>
          <a:xfrm>
            <a:off x="2609088" y="192023"/>
            <a:ext cx="3925824" cy="6473952"/>
          </a:xfrm>
          <a:prstGeom prst="rect">
            <a:avLst/>
          </a:prstGeom>
        </p:spPr>
      </p:pic>
    </p:spTree>
    <p:extLst>
      <p:ext uri="{BB962C8B-B14F-4D97-AF65-F5344CB8AC3E}">
        <p14:creationId xmlns:p14="http://schemas.microsoft.com/office/powerpoint/2010/main" val="2414408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47800"/>
            <a:ext cx="65024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7" name="TextBox 3"/>
          <p:cNvSpPr txBox="1">
            <a:spLocks noChangeArrowheads="1"/>
          </p:cNvSpPr>
          <p:nvPr/>
        </p:nvSpPr>
        <p:spPr bwMode="auto">
          <a:xfrm>
            <a:off x="914400" y="2743200"/>
            <a:ext cx="78882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Immortal cell lines producing monoclonal antibodies can be generated by fusing normal antibody-producing cells with cells from a type of cancer called multiple myeloma.</a:t>
            </a:r>
          </a:p>
          <a:p>
            <a:endParaRPr lang="en-US" sz="1800" dirty="0"/>
          </a:p>
          <a:p>
            <a:r>
              <a:rPr lang="en-US" sz="1800" dirty="0"/>
              <a:t>A monoclonal cell line is isolated by screening for the antibody of interest.</a:t>
            </a:r>
          </a:p>
        </p:txBody>
      </p:sp>
      <p:pic>
        <p:nvPicPr>
          <p:cNvPr id="2" name="Picture 1"/>
          <p:cNvPicPr>
            <a:picLocks noChangeAspect="1"/>
          </p:cNvPicPr>
          <p:nvPr/>
        </p:nvPicPr>
        <p:blipFill>
          <a:blip r:embed="rId3"/>
          <a:stretch>
            <a:fillRect/>
          </a:stretch>
        </p:blipFill>
        <p:spPr>
          <a:xfrm>
            <a:off x="1295400" y="266700"/>
            <a:ext cx="6959600" cy="939800"/>
          </a:xfrm>
          <a:prstGeom prst="rect">
            <a:avLst/>
          </a:prstGeom>
        </p:spPr>
      </p:pic>
    </p:spTree>
    <p:extLst>
      <p:ext uri="{BB962C8B-B14F-4D97-AF65-F5344CB8AC3E}">
        <p14:creationId xmlns:p14="http://schemas.microsoft.com/office/powerpoint/2010/main" val="111122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0.jpg"/>
          <p:cNvPicPr>
            <a:picLocks noChangeAspect="1"/>
          </p:cNvPicPr>
          <p:nvPr/>
        </p:nvPicPr>
        <p:blipFill>
          <a:blip r:embed="rId3"/>
          <a:stretch>
            <a:fillRect/>
          </a:stretch>
        </p:blipFill>
        <p:spPr>
          <a:xfrm>
            <a:off x="1987295" y="192023"/>
            <a:ext cx="5169408" cy="6473952"/>
          </a:xfrm>
          <a:prstGeom prst="rect">
            <a:avLst/>
          </a:prstGeom>
        </p:spPr>
      </p:pic>
    </p:spTree>
    <p:extLst>
      <p:ext uri="{BB962C8B-B14F-4D97-AF65-F5344CB8AC3E}">
        <p14:creationId xmlns:p14="http://schemas.microsoft.com/office/powerpoint/2010/main" val="3160593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1.jpg"/>
          <p:cNvPicPr>
            <a:picLocks noChangeAspect="1"/>
          </p:cNvPicPr>
          <p:nvPr/>
        </p:nvPicPr>
        <p:blipFill>
          <a:blip r:embed="rId3"/>
          <a:stretch>
            <a:fillRect/>
          </a:stretch>
        </p:blipFill>
        <p:spPr>
          <a:xfrm>
            <a:off x="2636520" y="283464"/>
            <a:ext cx="3870960" cy="6291072"/>
          </a:xfrm>
          <a:prstGeom prst="rect">
            <a:avLst/>
          </a:prstGeom>
        </p:spPr>
      </p:pic>
    </p:spTree>
    <p:extLst>
      <p:ext uri="{BB962C8B-B14F-4D97-AF65-F5344CB8AC3E}">
        <p14:creationId xmlns:p14="http://schemas.microsoft.com/office/powerpoint/2010/main" val="382879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371600"/>
            <a:ext cx="6718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7" name="TextBox 3"/>
          <p:cNvSpPr txBox="1">
            <a:spLocks noChangeArrowheads="1"/>
          </p:cNvSpPr>
          <p:nvPr/>
        </p:nvSpPr>
        <p:spPr bwMode="auto">
          <a:xfrm>
            <a:off x="719138" y="2971800"/>
            <a:ext cx="84248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Antibodies are used as a reagent to quantify the amount of a protein or other antigen. Enzyme-linked immunosorbent assay (ELISA) quantifies the amount of protein present because the antibody is linked to an enzyme whose reaction yields a readily identified colored product.</a:t>
            </a:r>
          </a:p>
        </p:txBody>
      </p:sp>
      <p:pic>
        <p:nvPicPr>
          <p:cNvPr id="2" name="Picture 1"/>
          <p:cNvPicPr>
            <a:picLocks noChangeAspect="1"/>
          </p:cNvPicPr>
          <p:nvPr/>
        </p:nvPicPr>
        <p:blipFill>
          <a:blip r:embed="rId4"/>
          <a:stretch>
            <a:fillRect/>
          </a:stretch>
        </p:blipFill>
        <p:spPr>
          <a:xfrm>
            <a:off x="1092200" y="165100"/>
            <a:ext cx="6959600" cy="939800"/>
          </a:xfrm>
          <a:prstGeom prst="rect">
            <a:avLst/>
          </a:prstGeom>
        </p:spPr>
      </p:pic>
    </p:spTree>
    <p:extLst>
      <p:ext uri="{BB962C8B-B14F-4D97-AF65-F5344CB8AC3E}">
        <p14:creationId xmlns:p14="http://schemas.microsoft.com/office/powerpoint/2010/main" val="3690149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2.jpg"/>
          <p:cNvPicPr>
            <a:picLocks noChangeAspect="1"/>
          </p:cNvPicPr>
          <p:nvPr/>
        </p:nvPicPr>
        <p:blipFill>
          <a:blip r:embed="rId3"/>
          <a:stretch>
            <a:fillRect/>
          </a:stretch>
        </p:blipFill>
        <p:spPr>
          <a:xfrm>
            <a:off x="304800" y="426720"/>
            <a:ext cx="8534400" cy="6004560"/>
          </a:xfrm>
          <a:prstGeom prst="rect">
            <a:avLst/>
          </a:prstGeom>
        </p:spPr>
      </p:pic>
    </p:spTree>
    <p:extLst>
      <p:ext uri="{BB962C8B-B14F-4D97-AF65-F5344CB8AC3E}">
        <p14:creationId xmlns:p14="http://schemas.microsoft.com/office/powerpoint/2010/main" val="13690559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0"/>
            <a:ext cx="6286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TextBox 3"/>
          <p:cNvSpPr txBox="1">
            <a:spLocks noChangeArrowheads="1"/>
          </p:cNvSpPr>
          <p:nvPr/>
        </p:nvSpPr>
        <p:spPr bwMode="auto">
          <a:xfrm>
            <a:off x="1066800" y="2895600"/>
            <a:ext cx="695801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western blotting or immuonoblotting, proteins are separated in an SDS-PAGE gel, transferred to a polymer, and then stained with an antibody specific for the protein, called the primary antibody. A second antibody, the secondary antibody, specific for the first antibody is then added. The secondary antibody is attached to an enzyme that generates a chemiluminescent product or contains a fluorescently labeled tag, thereby allowing the detection of the primary antibody.</a:t>
            </a:r>
          </a:p>
        </p:txBody>
      </p:sp>
      <p:pic>
        <p:nvPicPr>
          <p:cNvPr id="2" name="Picture 1"/>
          <p:cNvPicPr>
            <a:picLocks noChangeAspect="1"/>
          </p:cNvPicPr>
          <p:nvPr/>
        </p:nvPicPr>
        <p:blipFill>
          <a:blip r:embed="rId3"/>
          <a:stretch>
            <a:fillRect/>
          </a:stretch>
        </p:blipFill>
        <p:spPr>
          <a:xfrm>
            <a:off x="1065213" y="182033"/>
            <a:ext cx="6959600" cy="939800"/>
          </a:xfrm>
          <a:prstGeom prst="rect">
            <a:avLst/>
          </a:prstGeom>
        </p:spPr>
      </p:pic>
    </p:spTree>
    <p:extLst>
      <p:ext uri="{BB962C8B-B14F-4D97-AF65-F5344CB8AC3E}">
        <p14:creationId xmlns:p14="http://schemas.microsoft.com/office/powerpoint/2010/main" val="3769623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3.jpg"/>
          <p:cNvPicPr>
            <a:picLocks noChangeAspect="1"/>
          </p:cNvPicPr>
          <p:nvPr/>
        </p:nvPicPr>
        <p:blipFill>
          <a:blip r:embed="rId3"/>
          <a:stretch>
            <a:fillRect/>
          </a:stretch>
        </p:blipFill>
        <p:spPr>
          <a:xfrm>
            <a:off x="304800" y="1767839"/>
            <a:ext cx="8534400" cy="3322320"/>
          </a:xfrm>
          <a:prstGeom prst="rect">
            <a:avLst/>
          </a:prstGeom>
        </p:spPr>
      </p:pic>
    </p:spTree>
    <p:extLst>
      <p:ext uri="{BB962C8B-B14F-4D97-AF65-F5344CB8AC3E}">
        <p14:creationId xmlns:p14="http://schemas.microsoft.com/office/powerpoint/2010/main" val="19755489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6070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5" name="TextBox 3"/>
          <p:cNvSpPr txBox="1">
            <a:spLocks noChangeArrowheads="1"/>
          </p:cNvSpPr>
          <p:nvPr/>
        </p:nvSpPr>
        <p:spPr bwMode="auto">
          <a:xfrm>
            <a:off x="1066800" y="2438400"/>
            <a:ext cx="7135813"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Fluorescently labeled antibodies to particular proteins, coupled with fluorescence microscopy, allows the cellular location of proteins to be determined.</a:t>
            </a:r>
          </a:p>
          <a:p>
            <a:endParaRPr lang="en-US" sz="1800" dirty="0"/>
          </a:p>
          <a:p>
            <a:r>
              <a:rPr lang="en-US" sz="1800" dirty="0"/>
              <a:t>Green fluorescent protein can also be used to tag cellular proteins and to followed their movement in the cell.</a:t>
            </a:r>
          </a:p>
          <a:p>
            <a:endParaRPr lang="en-US" sz="1800" dirty="0"/>
          </a:p>
          <a:p>
            <a:r>
              <a:rPr lang="en-US" sz="1800" dirty="0"/>
              <a:t>Antibodies labeled with clusters of electron dense metal can be used in electron microscopy.</a:t>
            </a:r>
          </a:p>
        </p:txBody>
      </p:sp>
      <p:pic>
        <p:nvPicPr>
          <p:cNvPr id="2" name="Picture 1"/>
          <p:cNvPicPr>
            <a:picLocks noChangeAspect="1"/>
          </p:cNvPicPr>
          <p:nvPr/>
        </p:nvPicPr>
        <p:blipFill>
          <a:blip r:embed="rId3"/>
          <a:stretch>
            <a:fillRect/>
          </a:stretch>
        </p:blipFill>
        <p:spPr>
          <a:xfrm>
            <a:off x="1066800" y="317500"/>
            <a:ext cx="6959600" cy="939800"/>
          </a:xfrm>
          <a:prstGeom prst="rect">
            <a:avLst/>
          </a:prstGeom>
        </p:spPr>
      </p:pic>
    </p:spTree>
    <p:extLst>
      <p:ext uri="{BB962C8B-B14F-4D97-AF65-F5344CB8AC3E}">
        <p14:creationId xmlns:p14="http://schemas.microsoft.com/office/powerpoint/2010/main" val="21116217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4.jpg"/>
          <p:cNvPicPr>
            <a:picLocks noChangeAspect="1"/>
          </p:cNvPicPr>
          <p:nvPr/>
        </p:nvPicPr>
        <p:blipFill>
          <a:blip r:embed="rId3"/>
          <a:stretch>
            <a:fillRect/>
          </a:stretch>
        </p:blipFill>
        <p:spPr>
          <a:xfrm>
            <a:off x="1584960" y="192023"/>
            <a:ext cx="5974080" cy="6473952"/>
          </a:xfrm>
          <a:prstGeom prst="rect">
            <a:avLst/>
          </a:prstGeom>
        </p:spPr>
      </p:pic>
    </p:spTree>
    <p:extLst>
      <p:ext uri="{BB962C8B-B14F-4D97-AF65-F5344CB8AC3E}">
        <p14:creationId xmlns:p14="http://schemas.microsoft.com/office/powerpoint/2010/main" val="341089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3_25.jpg"/>
          <p:cNvPicPr>
            <a:picLocks noChangeAspect="1"/>
          </p:cNvPicPr>
          <p:nvPr/>
        </p:nvPicPr>
        <p:blipFill>
          <a:blip r:embed="rId3"/>
          <a:stretch>
            <a:fillRect/>
          </a:stretch>
        </p:blipFill>
        <p:spPr>
          <a:xfrm>
            <a:off x="304800" y="1594104"/>
            <a:ext cx="8534400" cy="3669792"/>
          </a:xfrm>
          <a:prstGeom prst="rect">
            <a:avLst/>
          </a:prstGeom>
        </p:spPr>
      </p:pic>
    </p:spTree>
    <p:extLst>
      <p:ext uri="{BB962C8B-B14F-4D97-AF65-F5344CB8AC3E}">
        <p14:creationId xmlns:p14="http://schemas.microsoft.com/office/powerpoint/2010/main" val="2425989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3_26.jpg"/>
          <p:cNvPicPr>
            <a:picLocks noChangeAspect="1"/>
          </p:cNvPicPr>
          <p:nvPr/>
        </p:nvPicPr>
        <p:blipFill>
          <a:blip r:embed="rId3"/>
          <a:stretch>
            <a:fillRect/>
          </a:stretch>
        </p:blipFill>
        <p:spPr>
          <a:xfrm>
            <a:off x="1749551" y="192023"/>
            <a:ext cx="5644896" cy="6473952"/>
          </a:xfrm>
          <a:prstGeom prst="rect">
            <a:avLst/>
          </a:prstGeom>
        </p:spPr>
      </p:pic>
    </p:spTree>
    <p:extLst>
      <p:ext uri="{BB962C8B-B14F-4D97-AF65-F5344CB8AC3E}">
        <p14:creationId xmlns:p14="http://schemas.microsoft.com/office/powerpoint/2010/main" val="17040044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TextBox 3"/>
          <p:cNvSpPr txBox="1">
            <a:spLocks noChangeArrowheads="1"/>
          </p:cNvSpPr>
          <p:nvPr/>
        </p:nvSpPr>
        <p:spPr bwMode="auto">
          <a:xfrm>
            <a:off x="685800" y="2209800"/>
            <a:ext cx="8085138"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Mass spectrometry allows the highly accurate and sensitive detection of the mass of the molecule of interest, or analyte.</a:t>
            </a:r>
          </a:p>
          <a:p>
            <a:endParaRPr lang="en-US" sz="1800" dirty="0"/>
          </a:p>
          <a:p>
            <a:r>
              <a:rPr lang="en-US" sz="1800" dirty="0"/>
              <a:t>Mass spectrometers convert the analyte into gas-phase ions. The mass-to-charge ratio (</a:t>
            </a:r>
            <a:r>
              <a:rPr lang="en-US" sz="1800" i="1" dirty="0"/>
              <a:t>m</a:t>
            </a:r>
            <a:r>
              <a:rPr lang="en-US" sz="1800" dirty="0"/>
              <a:t>/</a:t>
            </a:r>
            <a:r>
              <a:rPr lang="en-US" sz="1800" i="1" dirty="0"/>
              <a:t>z</a:t>
            </a:r>
            <a:r>
              <a:rPr lang="en-US" sz="1800" dirty="0"/>
              <a:t>) can be determined.</a:t>
            </a:r>
          </a:p>
          <a:p>
            <a:endParaRPr lang="en-US" sz="1800" dirty="0"/>
          </a:p>
          <a:p>
            <a:r>
              <a:rPr lang="en-US" sz="1800" dirty="0"/>
              <a:t>Mass spectrometers consist of three components: an ion source, a mass analyzer and a detector.</a:t>
            </a:r>
          </a:p>
          <a:p>
            <a:endParaRPr lang="en-US" sz="1800" dirty="0"/>
          </a:p>
          <a:p>
            <a:r>
              <a:rPr lang="en-US" sz="1800" dirty="0"/>
              <a:t>Matrix-assisted laser desorption/ionization (MALDI) is often combined with a time-of-flight (TOF)  detector.</a:t>
            </a:r>
          </a:p>
        </p:txBody>
      </p:sp>
      <p:pic>
        <p:nvPicPr>
          <p:cNvPr id="2" name="Picture 1"/>
          <p:cNvPicPr>
            <a:picLocks noChangeAspect="1"/>
          </p:cNvPicPr>
          <p:nvPr/>
        </p:nvPicPr>
        <p:blipFill>
          <a:blip r:embed="rId3"/>
          <a:stretch>
            <a:fillRect/>
          </a:stretch>
        </p:blipFill>
        <p:spPr>
          <a:xfrm>
            <a:off x="1152935" y="599108"/>
            <a:ext cx="6426200" cy="889000"/>
          </a:xfrm>
          <a:prstGeom prst="rect">
            <a:avLst/>
          </a:prstGeom>
        </p:spPr>
      </p:pic>
    </p:spTree>
    <p:extLst>
      <p:ext uri="{BB962C8B-B14F-4D97-AF65-F5344CB8AC3E}">
        <p14:creationId xmlns:p14="http://schemas.microsoft.com/office/powerpoint/2010/main" val="17216538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27.jpg"/>
          <p:cNvPicPr>
            <a:picLocks noChangeAspect="1"/>
          </p:cNvPicPr>
          <p:nvPr/>
        </p:nvPicPr>
        <p:blipFill>
          <a:blip r:embed="rId3"/>
          <a:stretch>
            <a:fillRect/>
          </a:stretch>
        </p:blipFill>
        <p:spPr>
          <a:xfrm>
            <a:off x="304800" y="691895"/>
            <a:ext cx="8534400" cy="5474208"/>
          </a:xfrm>
          <a:prstGeom prst="rect">
            <a:avLst/>
          </a:prstGeom>
        </p:spPr>
      </p:pic>
    </p:spTree>
    <p:extLst>
      <p:ext uri="{BB962C8B-B14F-4D97-AF65-F5344CB8AC3E}">
        <p14:creationId xmlns:p14="http://schemas.microsoft.com/office/powerpoint/2010/main" val="3005375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28.jpg"/>
          <p:cNvPicPr>
            <a:picLocks noChangeAspect="1"/>
          </p:cNvPicPr>
          <p:nvPr/>
        </p:nvPicPr>
        <p:blipFill>
          <a:blip r:embed="rId3"/>
          <a:stretch>
            <a:fillRect/>
          </a:stretch>
        </p:blipFill>
        <p:spPr>
          <a:xfrm>
            <a:off x="304800" y="569976"/>
            <a:ext cx="8534400" cy="5718048"/>
          </a:xfrm>
          <a:prstGeom prst="rect">
            <a:avLst/>
          </a:prstGeom>
        </p:spPr>
      </p:pic>
    </p:spTree>
    <p:extLst>
      <p:ext uri="{BB962C8B-B14F-4D97-AF65-F5344CB8AC3E}">
        <p14:creationId xmlns:p14="http://schemas.microsoft.com/office/powerpoint/2010/main" val="1657435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990600"/>
            <a:ext cx="5080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219200" y="101600"/>
            <a:ext cx="6426200" cy="889000"/>
          </a:xfrm>
          <a:prstGeom prst="rect">
            <a:avLst/>
          </a:prstGeom>
        </p:spPr>
      </p:pic>
      <p:sp>
        <p:nvSpPr>
          <p:cNvPr id="7" name="TextBox 4"/>
          <p:cNvSpPr txBox="1">
            <a:spLocks noChangeArrowheads="1"/>
          </p:cNvSpPr>
          <p:nvPr/>
        </p:nvSpPr>
        <p:spPr bwMode="auto">
          <a:xfrm>
            <a:off x="609600" y="2286000"/>
            <a:ext cx="8077200" cy="2862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Although mass spectrometry has supplanted most chemical methods for determining amino acid sequence, it is illustrative to examine a once popular chemical method, the Edman degradation.</a:t>
            </a:r>
          </a:p>
          <a:p>
            <a:endParaRPr lang="en-US" sz="1800" dirty="0"/>
          </a:p>
          <a:p>
            <a:r>
              <a:rPr lang="en-US" sz="1800" dirty="0"/>
              <a:t>The amino acid sequence can be determined by Edman degradation. The protein is exposed to phenyl isothiocyanate (PTH), which reacts with the N-terminal amino acid to form a PTH-derivative.  The PTH-amino acid can be released without cleaving the remainder of the protein, and the degradation is subsequently repeated.</a:t>
            </a:r>
          </a:p>
          <a:p>
            <a:endParaRPr lang="en-US" sz="1800" dirty="0"/>
          </a:p>
          <a:p>
            <a:r>
              <a:rPr lang="en-US" sz="1800" dirty="0"/>
              <a:t>High-performance liquid chromatography is used to identify the amino acids.</a:t>
            </a:r>
          </a:p>
        </p:txBody>
      </p:sp>
    </p:spTree>
    <p:extLst>
      <p:ext uri="{BB962C8B-B14F-4D97-AF65-F5344CB8AC3E}">
        <p14:creationId xmlns:p14="http://schemas.microsoft.com/office/powerpoint/2010/main" val="719900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29.jpg"/>
          <p:cNvPicPr>
            <a:picLocks noChangeAspect="1"/>
          </p:cNvPicPr>
          <p:nvPr/>
        </p:nvPicPr>
        <p:blipFill>
          <a:blip r:embed="rId3"/>
          <a:stretch>
            <a:fillRect/>
          </a:stretch>
        </p:blipFill>
        <p:spPr>
          <a:xfrm>
            <a:off x="304800" y="780288"/>
            <a:ext cx="8534400" cy="5297424"/>
          </a:xfrm>
          <a:prstGeom prst="rect">
            <a:avLst/>
          </a:prstGeom>
        </p:spPr>
      </p:pic>
    </p:spTree>
    <p:extLst>
      <p:ext uri="{BB962C8B-B14F-4D97-AF65-F5344CB8AC3E}">
        <p14:creationId xmlns:p14="http://schemas.microsoft.com/office/powerpoint/2010/main" val="30178615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990600"/>
            <a:ext cx="5080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19" name="TextBox 3"/>
          <p:cNvSpPr txBox="1">
            <a:spLocks noChangeArrowheads="1"/>
          </p:cNvSpPr>
          <p:nvPr/>
        </p:nvSpPr>
        <p:spPr bwMode="auto">
          <a:xfrm>
            <a:off x="1219200" y="1447800"/>
            <a:ext cx="6623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Tandem mass spectrometry facilitates protein sequence determination</a:t>
            </a:r>
          </a:p>
        </p:txBody>
      </p:sp>
      <p:pic>
        <p:nvPicPr>
          <p:cNvPr id="2" name="Picture 1"/>
          <p:cNvPicPr>
            <a:picLocks noChangeAspect="1"/>
          </p:cNvPicPr>
          <p:nvPr/>
        </p:nvPicPr>
        <p:blipFill>
          <a:blip r:embed="rId4"/>
          <a:stretch>
            <a:fillRect/>
          </a:stretch>
        </p:blipFill>
        <p:spPr>
          <a:xfrm>
            <a:off x="1219200" y="101600"/>
            <a:ext cx="6426200" cy="889000"/>
          </a:xfrm>
          <a:prstGeom prst="rect">
            <a:avLst/>
          </a:prstGeom>
        </p:spPr>
      </p:pic>
      <p:pic>
        <p:nvPicPr>
          <p:cNvPr id="7" name="Picture 6" descr="Figure 3.30.jpg"/>
          <p:cNvPicPr>
            <a:picLocks noChangeAspect="1"/>
          </p:cNvPicPr>
          <p:nvPr/>
        </p:nvPicPr>
        <p:blipFill>
          <a:blip r:embed="rId5"/>
          <a:stretch>
            <a:fillRect/>
          </a:stretch>
        </p:blipFill>
        <p:spPr>
          <a:xfrm>
            <a:off x="2291648" y="2007846"/>
            <a:ext cx="4208783" cy="4624601"/>
          </a:xfrm>
          <a:prstGeom prst="rect">
            <a:avLst/>
          </a:prstGeom>
        </p:spPr>
      </p:pic>
    </p:spTree>
    <p:extLst>
      <p:ext uri="{BB962C8B-B14F-4D97-AF65-F5344CB8AC3E}">
        <p14:creationId xmlns:p14="http://schemas.microsoft.com/office/powerpoint/2010/main" val="17830829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TextBox 5"/>
          <p:cNvSpPr txBox="1">
            <a:spLocks noChangeArrowheads="1"/>
          </p:cNvSpPr>
          <p:nvPr/>
        </p:nvSpPr>
        <p:spPr bwMode="auto">
          <a:xfrm>
            <a:off x="858838" y="2217738"/>
            <a:ext cx="645636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Because the reactions of the Edman degradation and mass spectrometry procedure are not 100% effective, it is not possible to sequence polypeptides longer than 50 amino acids.</a:t>
            </a:r>
          </a:p>
          <a:p>
            <a:endParaRPr lang="en-US" sz="1800" dirty="0"/>
          </a:p>
          <a:p>
            <a:r>
              <a:rPr lang="en-US" sz="1800" dirty="0"/>
              <a:t>In order to sequence the entire protein, the protein is chemically or enzymatically cleaved to yield peptides of fewer than 50 amino acids.</a:t>
            </a:r>
          </a:p>
          <a:p>
            <a:endParaRPr lang="en-US" sz="1800" dirty="0"/>
          </a:p>
          <a:p>
            <a:r>
              <a:rPr lang="en-US" sz="1800" dirty="0"/>
              <a:t>The peptides are then ordered by performing a different cleavage procedure in order to generate overlap peptides.</a:t>
            </a:r>
          </a:p>
        </p:txBody>
      </p:sp>
      <p:pic>
        <p:nvPicPr>
          <p:cNvPr id="6" name="Picture 5"/>
          <p:cNvPicPr>
            <a:picLocks noChangeAspect="1"/>
          </p:cNvPicPr>
          <p:nvPr/>
        </p:nvPicPr>
        <p:blipFill>
          <a:blip r:embed="rId3"/>
          <a:stretch>
            <a:fillRect/>
          </a:stretch>
        </p:blipFill>
        <p:spPr>
          <a:xfrm>
            <a:off x="1219200" y="101600"/>
            <a:ext cx="6426200" cy="889000"/>
          </a:xfrm>
          <a:prstGeom prst="rect">
            <a:avLst/>
          </a:prstGeom>
        </p:spPr>
      </p:pic>
      <p:pic>
        <p:nvPicPr>
          <p:cNvPr id="2" name="Picture 1"/>
          <p:cNvPicPr>
            <a:picLocks noChangeAspect="1"/>
          </p:cNvPicPr>
          <p:nvPr/>
        </p:nvPicPr>
        <p:blipFill>
          <a:blip r:embed="rId4"/>
          <a:stretch>
            <a:fillRect/>
          </a:stretch>
        </p:blipFill>
        <p:spPr>
          <a:xfrm>
            <a:off x="1373102" y="1183338"/>
            <a:ext cx="5942098" cy="535892"/>
          </a:xfrm>
          <a:prstGeom prst="rect">
            <a:avLst/>
          </a:prstGeom>
        </p:spPr>
      </p:pic>
    </p:spTree>
    <p:extLst>
      <p:ext uri="{BB962C8B-B14F-4D97-AF65-F5344CB8AC3E}">
        <p14:creationId xmlns:p14="http://schemas.microsoft.com/office/powerpoint/2010/main" val="12729327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 3.3.jpg"/>
          <p:cNvPicPr>
            <a:picLocks noChangeAspect="1"/>
          </p:cNvPicPr>
          <p:nvPr/>
        </p:nvPicPr>
        <p:blipFill>
          <a:blip r:embed="rId3"/>
          <a:stretch>
            <a:fillRect/>
          </a:stretch>
        </p:blipFill>
        <p:spPr>
          <a:xfrm>
            <a:off x="304800" y="894588"/>
            <a:ext cx="8534400" cy="5068824"/>
          </a:xfrm>
          <a:prstGeom prst="rect">
            <a:avLst/>
          </a:prstGeom>
        </p:spPr>
      </p:pic>
    </p:spTree>
    <p:extLst>
      <p:ext uri="{BB962C8B-B14F-4D97-AF65-F5344CB8AC3E}">
        <p14:creationId xmlns:p14="http://schemas.microsoft.com/office/powerpoint/2010/main" val="1116690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31.jpg"/>
          <p:cNvPicPr>
            <a:picLocks noChangeAspect="1"/>
          </p:cNvPicPr>
          <p:nvPr/>
        </p:nvPicPr>
        <p:blipFill>
          <a:blip r:embed="rId3"/>
          <a:stretch>
            <a:fillRect/>
          </a:stretch>
        </p:blipFill>
        <p:spPr>
          <a:xfrm>
            <a:off x="798576" y="192023"/>
            <a:ext cx="7546848" cy="6473952"/>
          </a:xfrm>
          <a:prstGeom prst="rect">
            <a:avLst/>
          </a:prstGeom>
        </p:spPr>
      </p:pic>
    </p:spTree>
    <p:extLst>
      <p:ext uri="{BB962C8B-B14F-4D97-AF65-F5344CB8AC3E}">
        <p14:creationId xmlns:p14="http://schemas.microsoft.com/office/powerpoint/2010/main" val="27005274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Box 3"/>
          <p:cNvSpPr txBox="1">
            <a:spLocks noChangeArrowheads="1"/>
          </p:cNvSpPr>
          <p:nvPr/>
        </p:nvSpPr>
        <p:spPr bwMode="auto">
          <a:xfrm>
            <a:off x="703715" y="2740025"/>
            <a:ext cx="779235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Extra steps are required for the determination of the disulfide bonds.</a:t>
            </a:r>
          </a:p>
          <a:p>
            <a:endParaRPr lang="en-US" sz="1800" dirty="0"/>
          </a:p>
          <a:p>
            <a:r>
              <a:rPr lang="en-US" sz="1800" dirty="0"/>
              <a:t>Disulfide bonds are cleaved by the addition of a reducing agent.</a:t>
            </a:r>
          </a:p>
          <a:p>
            <a:endParaRPr lang="en-US" sz="1800" dirty="0"/>
          </a:p>
          <a:p>
            <a:r>
              <a:rPr lang="en-US" sz="1800" dirty="0"/>
              <a:t>Disulfide bond reformation is prevented by the alkylation of the cysteine residues.</a:t>
            </a:r>
          </a:p>
        </p:txBody>
      </p:sp>
      <p:pic>
        <p:nvPicPr>
          <p:cNvPr id="6" name="Picture 5"/>
          <p:cNvPicPr>
            <a:picLocks noChangeAspect="1"/>
          </p:cNvPicPr>
          <p:nvPr/>
        </p:nvPicPr>
        <p:blipFill>
          <a:blip r:embed="rId2"/>
          <a:stretch>
            <a:fillRect/>
          </a:stretch>
        </p:blipFill>
        <p:spPr>
          <a:xfrm>
            <a:off x="1219200" y="101600"/>
            <a:ext cx="6426200" cy="889000"/>
          </a:xfrm>
          <a:prstGeom prst="rect">
            <a:avLst/>
          </a:prstGeom>
        </p:spPr>
      </p:pic>
      <p:pic>
        <p:nvPicPr>
          <p:cNvPr id="7" name="Picture 6"/>
          <p:cNvPicPr>
            <a:picLocks noChangeAspect="1"/>
          </p:cNvPicPr>
          <p:nvPr/>
        </p:nvPicPr>
        <p:blipFill>
          <a:blip r:embed="rId3"/>
          <a:stretch>
            <a:fillRect/>
          </a:stretch>
        </p:blipFill>
        <p:spPr>
          <a:xfrm>
            <a:off x="1373102" y="1183338"/>
            <a:ext cx="5942098" cy="535892"/>
          </a:xfrm>
          <a:prstGeom prst="rect">
            <a:avLst/>
          </a:prstGeom>
        </p:spPr>
      </p:pic>
    </p:spTree>
    <p:extLst>
      <p:ext uri="{BB962C8B-B14F-4D97-AF65-F5344CB8AC3E}">
        <p14:creationId xmlns:p14="http://schemas.microsoft.com/office/powerpoint/2010/main" val="27225120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 3.32.jpg"/>
          <p:cNvPicPr>
            <a:picLocks noChangeAspect="1"/>
          </p:cNvPicPr>
          <p:nvPr/>
        </p:nvPicPr>
        <p:blipFill>
          <a:blip r:embed="rId3"/>
          <a:stretch>
            <a:fillRect/>
          </a:stretch>
        </p:blipFill>
        <p:spPr>
          <a:xfrm>
            <a:off x="3368040" y="225552"/>
            <a:ext cx="2407920" cy="6406896"/>
          </a:xfrm>
          <a:prstGeom prst="rect">
            <a:avLst/>
          </a:prstGeom>
        </p:spPr>
      </p:pic>
    </p:spTree>
    <p:extLst>
      <p:ext uri="{BB962C8B-B14F-4D97-AF65-F5344CB8AC3E}">
        <p14:creationId xmlns:p14="http://schemas.microsoft.com/office/powerpoint/2010/main" val="2872475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219200" y="101600"/>
            <a:ext cx="6426200" cy="889000"/>
          </a:xfrm>
          <a:prstGeom prst="rect">
            <a:avLst/>
          </a:prstGeom>
        </p:spPr>
      </p:pic>
      <p:pic>
        <p:nvPicPr>
          <p:cNvPr id="3" name="Picture 2"/>
          <p:cNvPicPr>
            <a:picLocks noChangeAspect="1"/>
          </p:cNvPicPr>
          <p:nvPr/>
        </p:nvPicPr>
        <p:blipFill>
          <a:blip r:embed="rId4"/>
          <a:stretch>
            <a:fillRect/>
          </a:stretch>
        </p:blipFill>
        <p:spPr>
          <a:xfrm>
            <a:off x="1417561" y="1530630"/>
            <a:ext cx="5575300" cy="317500"/>
          </a:xfrm>
          <a:prstGeom prst="rect">
            <a:avLst/>
          </a:prstGeom>
        </p:spPr>
      </p:pic>
      <p:sp>
        <p:nvSpPr>
          <p:cNvPr id="4" name="TextBox 3"/>
          <p:cNvSpPr txBox="1"/>
          <p:nvPr/>
        </p:nvSpPr>
        <p:spPr>
          <a:xfrm>
            <a:off x="806698" y="2591324"/>
            <a:ext cx="8032646" cy="1477328"/>
          </a:xfrm>
          <a:prstGeom prst="rect">
            <a:avLst/>
          </a:prstGeom>
          <a:noFill/>
        </p:spPr>
        <p:txBody>
          <a:bodyPr wrap="square" rtlCol="0">
            <a:spAutoFit/>
          </a:bodyPr>
          <a:lstStyle/>
          <a:p>
            <a:r>
              <a:rPr lang="en-US" dirty="0"/>
              <a:t>Even with today’s techniques, determining the amino acid sequence of a protein is sometimes a challenge. </a:t>
            </a:r>
          </a:p>
          <a:p>
            <a:endParaRPr lang="en-US" dirty="0"/>
          </a:p>
          <a:p>
            <a:r>
              <a:rPr lang="en-US" dirty="0"/>
              <a:t>Genomic techniques that reveal the DNA sequence of the gene encoding a protein also allow determination of the amino acid sequence.</a:t>
            </a:r>
          </a:p>
        </p:txBody>
      </p:sp>
    </p:spTree>
    <p:extLst>
      <p:ext uri="{BB962C8B-B14F-4D97-AF65-F5344CB8AC3E}">
        <p14:creationId xmlns:p14="http://schemas.microsoft.com/office/powerpoint/2010/main" val="3295851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3_33.jpg"/>
          <p:cNvPicPr>
            <a:picLocks noChangeAspect="1"/>
          </p:cNvPicPr>
          <p:nvPr/>
        </p:nvPicPr>
        <p:blipFill>
          <a:blip r:embed="rId3"/>
          <a:stretch>
            <a:fillRect/>
          </a:stretch>
        </p:blipFill>
        <p:spPr>
          <a:xfrm>
            <a:off x="304800" y="2612135"/>
            <a:ext cx="8534400" cy="1633728"/>
          </a:xfrm>
          <a:prstGeom prst="rect">
            <a:avLst/>
          </a:prstGeom>
        </p:spPr>
      </p:pic>
    </p:spTree>
    <p:extLst>
      <p:ext uri="{BB962C8B-B14F-4D97-AF65-F5344CB8AC3E}">
        <p14:creationId xmlns:p14="http://schemas.microsoft.com/office/powerpoint/2010/main" val="4722215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19200" y="101600"/>
            <a:ext cx="6426200" cy="889000"/>
          </a:xfrm>
          <a:prstGeom prst="rect">
            <a:avLst/>
          </a:prstGeom>
        </p:spPr>
      </p:pic>
      <p:pic>
        <p:nvPicPr>
          <p:cNvPr id="2" name="Picture 1"/>
          <p:cNvPicPr>
            <a:picLocks noChangeAspect="1"/>
          </p:cNvPicPr>
          <p:nvPr/>
        </p:nvPicPr>
        <p:blipFill>
          <a:blip r:embed="rId3"/>
          <a:stretch>
            <a:fillRect/>
          </a:stretch>
        </p:blipFill>
        <p:spPr>
          <a:xfrm>
            <a:off x="1066800" y="1226191"/>
            <a:ext cx="6934200" cy="355600"/>
          </a:xfrm>
          <a:prstGeom prst="rect">
            <a:avLst/>
          </a:prstGeom>
        </p:spPr>
      </p:pic>
      <p:sp>
        <p:nvSpPr>
          <p:cNvPr id="3" name="TextBox 2"/>
          <p:cNvSpPr txBox="1"/>
          <p:nvPr/>
        </p:nvSpPr>
        <p:spPr>
          <a:xfrm>
            <a:off x="291784" y="1819074"/>
            <a:ext cx="8358758" cy="3970318"/>
          </a:xfrm>
          <a:prstGeom prst="rect">
            <a:avLst/>
          </a:prstGeom>
          <a:noFill/>
        </p:spPr>
        <p:txBody>
          <a:bodyPr wrap="square" rtlCol="0">
            <a:spAutoFit/>
          </a:bodyPr>
          <a:lstStyle/>
          <a:p>
            <a:pPr marL="342900" indent="-342900">
              <a:buAutoNum type="arabicPeriod"/>
            </a:pPr>
            <a:r>
              <a:rPr lang="en-US" dirty="0"/>
              <a:t>Amino acid sequences of proteins can be compared to identify similarities.</a:t>
            </a:r>
          </a:p>
          <a:p>
            <a:pPr marL="342900" indent="-342900">
              <a:buAutoNum type="arabicPeriod"/>
            </a:pPr>
            <a:endParaRPr lang="en-US" dirty="0"/>
          </a:p>
          <a:p>
            <a:pPr marL="342900" indent="-342900">
              <a:buAutoNum type="arabicPeriod"/>
            </a:pPr>
            <a:r>
              <a:rPr lang="en-US" dirty="0"/>
              <a:t>Comparison of the sequence of the same protein from different species yields evolutionary information.</a:t>
            </a:r>
          </a:p>
          <a:p>
            <a:pPr marL="342900" indent="-342900">
              <a:buAutoNum type="arabicPeriod"/>
            </a:pPr>
            <a:endParaRPr lang="en-US" dirty="0"/>
          </a:p>
          <a:p>
            <a:pPr marL="342900" indent="-342900">
              <a:buAutoNum type="arabicPeriod"/>
            </a:pPr>
            <a:r>
              <a:rPr lang="en-US" dirty="0"/>
              <a:t>Amino acid sequence searches can reveal the presence of internal repeats.</a:t>
            </a:r>
          </a:p>
          <a:p>
            <a:pPr marL="342900" indent="-342900">
              <a:buAutoNum type="arabicPeriod"/>
            </a:pPr>
            <a:endParaRPr lang="en-US" dirty="0"/>
          </a:p>
          <a:p>
            <a:pPr marL="342900" indent="-342900">
              <a:buAutoNum type="arabicPeriod"/>
            </a:pPr>
            <a:r>
              <a:rPr lang="en-US" dirty="0"/>
              <a:t>Sequencing information can identify signals that determine the location of the protein or processing signals.</a:t>
            </a:r>
          </a:p>
          <a:p>
            <a:pPr marL="342900" indent="-342900">
              <a:buAutoNum type="arabicPeriod"/>
            </a:pPr>
            <a:endParaRPr lang="en-US" dirty="0"/>
          </a:p>
          <a:p>
            <a:pPr marL="342900" indent="-342900">
              <a:buAutoNum type="arabicPeriod"/>
            </a:pPr>
            <a:r>
              <a:rPr lang="en-US" dirty="0"/>
              <a:t>Sequence information can be used to generate antibodies for the protein.</a:t>
            </a:r>
          </a:p>
          <a:p>
            <a:pPr marL="342900" indent="-342900">
              <a:buAutoNum type="arabicPeriod"/>
            </a:pPr>
            <a:endParaRPr lang="en-US" dirty="0"/>
          </a:p>
          <a:p>
            <a:pPr marL="342900" indent="-342900">
              <a:buAutoNum type="arabicPeriod"/>
            </a:pPr>
            <a:r>
              <a:rPr lang="en-US" dirty="0"/>
              <a:t>Amino acid sequence can be used to generate DNA probes specific for the gene encoding the protein.</a:t>
            </a:r>
          </a:p>
        </p:txBody>
      </p:sp>
    </p:spTree>
    <p:extLst>
      <p:ext uri="{BB962C8B-B14F-4D97-AF65-F5344CB8AC3E}">
        <p14:creationId xmlns:p14="http://schemas.microsoft.com/office/powerpoint/2010/main" val="19721177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34.jpg"/>
          <p:cNvPicPr>
            <a:picLocks noChangeAspect="1"/>
          </p:cNvPicPr>
          <p:nvPr/>
        </p:nvPicPr>
        <p:blipFill>
          <a:blip r:embed="rId3"/>
          <a:stretch>
            <a:fillRect/>
          </a:stretch>
        </p:blipFill>
        <p:spPr>
          <a:xfrm>
            <a:off x="304800" y="188976"/>
            <a:ext cx="8534400" cy="6480048"/>
          </a:xfrm>
          <a:prstGeom prst="rect">
            <a:avLst/>
          </a:prstGeom>
        </p:spPr>
      </p:pic>
    </p:spTree>
    <p:extLst>
      <p:ext uri="{BB962C8B-B14F-4D97-AF65-F5344CB8AC3E}">
        <p14:creationId xmlns:p14="http://schemas.microsoft.com/office/powerpoint/2010/main" val="39153047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143000"/>
            <a:ext cx="5854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7" name="TextBox 4"/>
          <p:cNvSpPr txBox="1">
            <a:spLocks noChangeArrowheads="1"/>
          </p:cNvSpPr>
          <p:nvPr/>
        </p:nvSpPr>
        <p:spPr bwMode="auto">
          <a:xfrm>
            <a:off x="457200" y="2246313"/>
            <a:ext cx="822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Specific protein cleavage, followed by separation of of the resulting peptides and mass spectrometry, allows the identification of individual proteins.</a:t>
            </a:r>
          </a:p>
          <a:p>
            <a:endParaRPr lang="en-US" sz="1800" dirty="0"/>
          </a:p>
          <a:p>
            <a:r>
              <a:rPr lang="en-US" sz="1800" dirty="0"/>
              <a:t>This technique for protein identification is called peptide mass fingerprinting.</a:t>
            </a:r>
          </a:p>
        </p:txBody>
      </p:sp>
      <p:pic>
        <p:nvPicPr>
          <p:cNvPr id="2" name="Picture 1"/>
          <p:cNvPicPr>
            <a:picLocks noChangeAspect="1"/>
          </p:cNvPicPr>
          <p:nvPr/>
        </p:nvPicPr>
        <p:blipFill>
          <a:blip r:embed="rId4"/>
          <a:stretch>
            <a:fillRect/>
          </a:stretch>
        </p:blipFill>
        <p:spPr>
          <a:xfrm>
            <a:off x="1358900" y="0"/>
            <a:ext cx="6426200" cy="889000"/>
          </a:xfrm>
          <a:prstGeom prst="rect">
            <a:avLst/>
          </a:prstGeom>
        </p:spPr>
      </p:pic>
    </p:spTree>
    <p:extLst>
      <p:ext uri="{BB962C8B-B14F-4D97-AF65-F5344CB8AC3E}">
        <p14:creationId xmlns:p14="http://schemas.microsoft.com/office/powerpoint/2010/main" val="15295564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3_35.jpg"/>
          <p:cNvPicPr>
            <a:picLocks noChangeAspect="1"/>
          </p:cNvPicPr>
          <p:nvPr/>
        </p:nvPicPr>
        <p:blipFill>
          <a:blip r:embed="rId3"/>
          <a:stretch>
            <a:fillRect/>
          </a:stretch>
        </p:blipFill>
        <p:spPr>
          <a:xfrm>
            <a:off x="432815" y="192023"/>
            <a:ext cx="8278368" cy="6473952"/>
          </a:xfrm>
          <a:prstGeom prst="rect">
            <a:avLst/>
          </a:prstGeom>
        </p:spPr>
      </p:pic>
    </p:spTree>
    <p:extLst>
      <p:ext uri="{BB962C8B-B14F-4D97-AF65-F5344CB8AC3E}">
        <p14:creationId xmlns:p14="http://schemas.microsoft.com/office/powerpoint/2010/main" val="204834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Box 2"/>
          <p:cNvSpPr txBox="1">
            <a:spLocks noChangeArrowheads="1"/>
          </p:cNvSpPr>
          <p:nvPr/>
        </p:nvSpPr>
        <p:spPr bwMode="auto">
          <a:xfrm>
            <a:off x="768350" y="1971675"/>
            <a:ext cx="41084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buFontTx/>
              <a:buAutoNum type="arabicPeriod"/>
            </a:pPr>
            <a:r>
              <a:rPr lang="en-US" sz="1800" dirty="0"/>
              <a:t>Synthetic peptides can be used as antigens to produce antibodies.</a:t>
            </a:r>
          </a:p>
          <a:p>
            <a:pPr>
              <a:buFontTx/>
              <a:buAutoNum type="arabicPeriod"/>
            </a:pPr>
            <a:endParaRPr lang="en-US" sz="1800" dirty="0"/>
          </a:p>
          <a:p>
            <a:pPr>
              <a:buFontTx/>
              <a:buAutoNum type="arabicPeriod"/>
            </a:pPr>
            <a:r>
              <a:rPr lang="en-US" sz="1800" dirty="0"/>
              <a:t>Synthetic peptides can be used to isolate receptors. Synthetic peptides containing </a:t>
            </a:r>
            <a:r>
              <a:rPr lang="en-US" sz="1800" dirty="0" err="1"/>
              <a:t>formylmethionine</a:t>
            </a:r>
            <a:r>
              <a:rPr lang="en-US" sz="1800" dirty="0"/>
              <a:t> (</a:t>
            </a:r>
            <a:r>
              <a:rPr lang="en-US" sz="1800" dirty="0" err="1"/>
              <a:t>fMet</a:t>
            </a:r>
            <a:r>
              <a:rPr lang="en-US" sz="1800" dirty="0"/>
              <a:t>) have been used to identify receptors on white blood cells.</a:t>
            </a:r>
          </a:p>
        </p:txBody>
      </p:sp>
      <p:pic>
        <p:nvPicPr>
          <p:cNvPr id="2" name="Picture 1"/>
          <p:cNvPicPr>
            <a:picLocks noChangeAspect="1"/>
          </p:cNvPicPr>
          <p:nvPr/>
        </p:nvPicPr>
        <p:blipFill>
          <a:blip r:embed="rId3"/>
          <a:stretch>
            <a:fillRect/>
          </a:stretch>
        </p:blipFill>
        <p:spPr>
          <a:xfrm>
            <a:off x="1409700" y="530464"/>
            <a:ext cx="6324600" cy="876300"/>
          </a:xfrm>
          <a:prstGeom prst="rect">
            <a:avLst/>
          </a:prstGeom>
        </p:spPr>
      </p:pic>
      <p:pic>
        <p:nvPicPr>
          <p:cNvPr id="6" name="Picture 5" descr="unnumbered_03_p92.jpg"/>
          <p:cNvPicPr>
            <a:picLocks noChangeAspect="1"/>
          </p:cNvPicPr>
          <p:nvPr/>
        </p:nvPicPr>
        <p:blipFill>
          <a:blip r:embed="rId4"/>
          <a:stretch>
            <a:fillRect/>
          </a:stretch>
        </p:blipFill>
        <p:spPr>
          <a:xfrm>
            <a:off x="5932445" y="3298897"/>
            <a:ext cx="1801855" cy="2661432"/>
          </a:xfrm>
          <a:prstGeom prst="rect">
            <a:avLst/>
          </a:prstGeom>
        </p:spPr>
      </p:pic>
    </p:spTree>
    <p:extLst>
      <p:ext uri="{BB962C8B-B14F-4D97-AF65-F5344CB8AC3E}">
        <p14:creationId xmlns:p14="http://schemas.microsoft.com/office/powerpoint/2010/main" val="25107175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Box 1"/>
          <p:cNvSpPr txBox="1">
            <a:spLocks noChangeArrowheads="1"/>
          </p:cNvSpPr>
          <p:nvPr/>
        </p:nvSpPr>
        <p:spPr bwMode="auto">
          <a:xfrm>
            <a:off x="617538" y="2232935"/>
            <a:ext cx="60515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3. Synthetic peptides can be drugs.</a:t>
            </a:r>
          </a:p>
          <a:p>
            <a:endParaRPr lang="en-US" sz="1800" dirty="0"/>
          </a:p>
          <a:p>
            <a:r>
              <a:rPr lang="en-US" sz="1800" dirty="0"/>
              <a:t>4. Synthetic peptides can be used to understand protein folding.</a:t>
            </a:r>
          </a:p>
        </p:txBody>
      </p:sp>
      <p:pic>
        <p:nvPicPr>
          <p:cNvPr id="2" name="Picture 1"/>
          <p:cNvPicPr>
            <a:picLocks noChangeAspect="1"/>
          </p:cNvPicPr>
          <p:nvPr/>
        </p:nvPicPr>
        <p:blipFill>
          <a:blip r:embed="rId3"/>
          <a:stretch>
            <a:fillRect/>
          </a:stretch>
        </p:blipFill>
        <p:spPr>
          <a:xfrm>
            <a:off x="1169407" y="204403"/>
            <a:ext cx="6324600" cy="876300"/>
          </a:xfrm>
          <a:prstGeom prst="rect">
            <a:avLst/>
          </a:prstGeom>
        </p:spPr>
      </p:pic>
    </p:spTree>
    <p:extLst>
      <p:ext uri="{BB962C8B-B14F-4D97-AF65-F5344CB8AC3E}">
        <p14:creationId xmlns:p14="http://schemas.microsoft.com/office/powerpoint/2010/main" val="38224055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3_36.jpg"/>
          <p:cNvPicPr>
            <a:picLocks noChangeAspect="1"/>
          </p:cNvPicPr>
          <p:nvPr/>
        </p:nvPicPr>
        <p:blipFill>
          <a:blip r:embed="rId3"/>
          <a:stretch>
            <a:fillRect/>
          </a:stretch>
        </p:blipFill>
        <p:spPr>
          <a:xfrm>
            <a:off x="1136903" y="192023"/>
            <a:ext cx="6870192" cy="6473952"/>
          </a:xfrm>
          <a:prstGeom prst="rect">
            <a:avLst/>
          </a:prstGeom>
        </p:spPr>
      </p:pic>
    </p:spTree>
    <p:extLst>
      <p:ext uri="{BB962C8B-B14F-4D97-AF65-F5344CB8AC3E}">
        <p14:creationId xmlns:p14="http://schemas.microsoft.com/office/powerpoint/2010/main" val="27071922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Box 1"/>
          <p:cNvSpPr txBox="1">
            <a:spLocks noChangeArrowheads="1"/>
          </p:cNvSpPr>
          <p:nvPr/>
        </p:nvSpPr>
        <p:spPr bwMode="auto">
          <a:xfrm>
            <a:off x="990600" y="1524000"/>
            <a:ext cx="6858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Synthetic peptide are synthesized in a step-wise fashion with the carboxyl terminus of the growing chain attached to an inert matrix.</a:t>
            </a:r>
          </a:p>
          <a:p>
            <a:endParaRPr lang="en-US" sz="1800" dirty="0"/>
          </a:p>
          <a:p>
            <a:r>
              <a:rPr lang="en-US" sz="1800" dirty="0"/>
              <a:t>t-Boc blocks the amino group of the incoming amino acid and DCC facilitates peptide bond formation.</a:t>
            </a:r>
          </a:p>
        </p:txBody>
      </p:sp>
      <p:pic>
        <p:nvPicPr>
          <p:cNvPr id="2" name="Picture 1"/>
          <p:cNvPicPr>
            <a:picLocks noChangeAspect="1"/>
          </p:cNvPicPr>
          <p:nvPr/>
        </p:nvPicPr>
        <p:blipFill>
          <a:blip r:embed="rId3"/>
          <a:stretch>
            <a:fillRect/>
          </a:stretch>
        </p:blipFill>
        <p:spPr>
          <a:xfrm>
            <a:off x="1409700" y="255887"/>
            <a:ext cx="6324600" cy="876300"/>
          </a:xfrm>
          <a:prstGeom prst="rect">
            <a:avLst/>
          </a:prstGeom>
        </p:spPr>
      </p:pic>
      <p:pic>
        <p:nvPicPr>
          <p:cNvPr id="6" name="Picture 5" descr="unnumbered_03_p93.jpg"/>
          <p:cNvPicPr>
            <a:picLocks noChangeAspect="1"/>
          </p:cNvPicPr>
          <p:nvPr/>
        </p:nvPicPr>
        <p:blipFill>
          <a:blip r:embed="rId4"/>
          <a:stretch>
            <a:fillRect/>
          </a:stretch>
        </p:blipFill>
        <p:spPr>
          <a:xfrm>
            <a:off x="2913387" y="3354139"/>
            <a:ext cx="2872447" cy="3100141"/>
          </a:xfrm>
          <a:prstGeom prst="rect">
            <a:avLst/>
          </a:prstGeom>
        </p:spPr>
      </p:pic>
    </p:spTree>
    <p:extLst>
      <p:ext uri="{BB962C8B-B14F-4D97-AF65-F5344CB8AC3E}">
        <p14:creationId xmlns:p14="http://schemas.microsoft.com/office/powerpoint/2010/main" val="27683312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3.37.jpg"/>
          <p:cNvPicPr>
            <a:picLocks noChangeAspect="1"/>
          </p:cNvPicPr>
          <p:nvPr/>
        </p:nvPicPr>
        <p:blipFill>
          <a:blip r:embed="rId3"/>
          <a:stretch>
            <a:fillRect/>
          </a:stretch>
        </p:blipFill>
        <p:spPr>
          <a:xfrm>
            <a:off x="2630424" y="225552"/>
            <a:ext cx="3883152" cy="6406896"/>
          </a:xfrm>
          <a:prstGeom prst="rect">
            <a:avLst/>
          </a:prstGeom>
        </p:spPr>
      </p:pic>
    </p:spTree>
    <p:extLst>
      <p:ext uri="{BB962C8B-B14F-4D97-AF65-F5344CB8AC3E}">
        <p14:creationId xmlns:p14="http://schemas.microsoft.com/office/powerpoint/2010/main" val="6212681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57400"/>
            <a:ext cx="73533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68375" y="2740025"/>
            <a:ext cx="7108825" cy="2308324"/>
          </a:xfrm>
          <a:prstGeom prst="rect">
            <a:avLst/>
          </a:prstGeom>
          <a:noFill/>
        </p:spPr>
        <p:txBody>
          <a:bodyPr>
            <a:spAutoFit/>
          </a:bodyPr>
          <a:lstStyle/>
          <a:p>
            <a:pPr>
              <a:defRPr/>
            </a:pPr>
            <a:r>
              <a:rPr lang="en-US" sz="1800" dirty="0"/>
              <a:t>Crystals of proteins are irradiated with x-rays.</a:t>
            </a:r>
          </a:p>
          <a:p>
            <a:pPr>
              <a:defRPr/>
            </a:pPr>
            <a:endParaRPr lang="en-US" sz="1800" dirty="0"/>
          </a:p>
          <a:p>
            <a:pPr marL="457200" indent="-457200">
              <a:buFontTx/>
              <a:buAutoNum type="arabicPeriod"/>
              <a:defRPr/>
            </a:pPr>
            <a:r>
              <a:rPr lang="en-US" sz="1800" dirty="0"/>
              <a:t>Electrons of the atoms scatter x-rays.</a:t>
            </a:r>
          </a:p>
          <a:p>
            <a:pPr>
              <a:defRPr/>
            </a:pPr>
            <a:endParaRPr lang="en-US" sz="1800" dirty="0"/>
          </a:p>
          <a:p>
            <a:pPr marL="342900" indent="-342900">
              <a:buAutoNum type="arabicPeriod" startAt="2"/>
              <a:defRPr/>
            </a:pPr>
            <a:r>
              <a:rPr lang="en-US" sz="1800" dirty="0"/>
              <a:t>The scattered waves recombine.</a:t>
            </a:r>
          </a:p>
          <a:p>
            <a:pPr marL="342900" indent="-342900">
              <a:buAutoNum type="arabicPeriod" startAt="2"/>
              <a:defRPr/>
            </a:pPr>
            <a:endParaRPr lang="en-US" dirty="0"/>
          </a:p>
          <a:p>
            <a:pPr marL="342900" indent="-342900">
              <a:buAutoNum type="arabicPeriod" startAt="2"/>
              <a:defRPr/>
            </a:pPr>
            <a:r>
              <a:rPr lang="en-US" sz="1800" dirty="0"/>
              <a:t>The way in which the scattered x-rays recombine reveals the atomic arrangement.</a:t>
            </a:r>
          </a:p>
        </p:txBody>
      </p:sp>
      <p:pic>
        <p:nvPicPr>
          <p:cNvPr id="2" name="Picture 1"/>
          <p:cNvPicPr>
            <a:picLocks noChangeAspect="1"/>
          </p:cNvPicPr>
          <p:nvPr/>
        </p:nvPicPr>
        <p:blipFill>
          <a:blip r:embed="rId3"/>
          <a:stretch>
            <a:fillRect/>
          </a:stretch>
        </p:blipFill>
        <p:spPr>
          <a:xfrm>
            <a:off x="635000" y="458997"/>
            <a:ext cx="7175500" cy="952500"/>
          </a:xfrm>
          <a:prstGeom prst="rect">
            <a:avLst/>
          </a:prstGeom>
        </p:spPr>
      </p:pic>
    </p:spTree>
    <p:extLst>
      <p:ext uri="{BB962C8B-B14F-4D97-AF65-F5344CB8AC3E}">
        <p14:creationId xmlns:p14="http://schemas.microsoft.com/office/powerpoint/2010/main" val="29925197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38.jpg"/>
          <p:cNvPicPr>
            <a:picLocks noChangeAspect="1"/>
          </p:cNvPicPr>
          <p:nvPr/>
        </p:nvPicPr>
        <p:blipFill>
          <a:blip r:embed="rId3"/>
          <a:stretch>
            <a:fillRect/>
          </a:stretch>
        </p:blipFill>
        <p:spPr>
          <a:xfrm>
            <a:off x="2118360" y="192023"/>
            <a:ext cx="4907280" cy="6473952"/>
          </a:xfrm>
          <a:prstGeom prst="rect">
            <a:avLst/>
          </a:prstGeom>
        </p:spPr>
      </p:pic>
    </p:spTree>
    <p:extLst>
      <p:ext uri="{BB962C8B-B14F-4D97-AF65-F5344CB8AC3E}">
        <p14:creationId xmlns:p14="http://schemas.microsoft.com/office/powerpoint/2010/main" val="6886907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3_39.jpg"/>
          <p:cNvPicPr>
            <a:picLocks noChangeAspect="1"/>
          </p:cNvPicPr>
          <p:nvPr/>
        </p:nvPicPr>
        <p:blipFill>
          <a:blip r:embed="rId3"/>
          <a:stretch>
            <a:fillRect/>
          </a:stretch>
        </p:blipFill>
        <p:spPr>
          <a:xfrm>
            <a:off x="304800" y="667511"/>
            <a:ext cx="8534400" cy="5522976"/>
          </a:xfrm>
          <a:prstGeom prst="rect">
            <a:avLst/>
          </a:prstGeom>
        </p:spPr>
      </p:pic>
    </p:spTree>
    <p:extLst>
      <p:ext uri="{BB962C8B-B14F-4D97-AF65-F5344CB8AC3E}">
        <p14:creationId xmlns:p14="http://schemas.microsoft.com/office/powerpoint/2010/main" val="30670986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0.jpg"/>
          <p:cNvPicPr>
            <a:picLocks noChangeAspect="1"/>
          </p:cNvPicPr>
          <p:nvPr/>
        </p:nvPicPr>
        <p:blipFill>
          <a:blip r:embed="rId3"/>
          <a:stretch>
            <a:fillRect/>
          </a:stretch>
        </p:blipFill>
        <p:spPr>
          <a:xfrm>
            <a:off x="2063495" y="192023"/>
            <a:ext cx="5017008" cy="6473952"/>
          </a:xfrm>
          <a:prstGeom prst="rect">
            <a:avLst/>
          </a:prstGeom>
        </p:spPr>
      </p:pic>
    </p:spTree>
    <p:extLst>
      <p:ext uri="{BB962C8B-B14F-4D97-AF65-F5344CB8AC3E}">
        <p14:creationId xmlns:p14="http://schemas.microsoft.com/office/powerpoint/2010/main" val="26501972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1.jpg"/>
          <p:cNvPicPr>
            <a:picLocks noChangeAspect="1"/>
          </p:cNvPicPr>
          <p:nvPr/>
        </p:nvPicPr>
        <p:blipFill>
          <a:blip r:embed="rId3"/>
          <a:stretch>
            <a:fillRect/>
          </a:stretch>
        </p:blipFill>
        <p:spPr>
          <a:xfrm>
            <a:off x="304800" y="417576"/>
            <a:ext cx="8534400" cy="6022848"/>
          </a:xfrm>
          <a:prstGeom prst="rect">
            <a:avLst/>
          </a:prstGeom>
        </p:spPr>
      </p:pic>
    </p:spTree>
    <p:extLst>
      <p:ext uri="{BB962C8B-B14F-4D97-AF65-F5344CB8AC3E}">
        <p14:creationId xmlns:p14="http://schemas.microsoft.com/office/powerpoint/2010/main" val="41223510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3_42.jpg"/>
          <p:cNvPicPr>
            <a:picLocks noChangeAspect="1"/>
          </p:cNvPicPr>
          <p:nvPr/>
        </p:nvPicPr>
        <p:blipFill>
          <a:blip r:embed="rId3"/>
          <a:stretch>
            <a:fillRect/>
          </a:stretch>
        </p:blipFill>
        <p:spPr>
          <a:xfrm>
            <a:off x="1569720" y="283464"/>
            <a:ext cx="6004560" cy="6291072"/>
          </a:xfrm>
          <a:prstGeom prst="rect">
            <a:avLst/>
          </a:prstGeom>
        </p:spPr>
      </p:pic>
    </p:spTree>
    <p:extLst>
      <p:ext uri="{BB962C8B-B14F-4D97-AF65-F5344CB8AC3E}">
        <p14:creationId xmlns:p14="http://schemas.microsoft.com/office/powerpoint/2010/main" val="42717759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Box 2"/>
          <p:cNvSpPr txBox="1">
            <a:spLocks noChangeArrowheads="1"/>
          </p:cNvSpPr>
          <p:nvPr/>
        </p:nvSpPr>
        <p:spPr bwMode="auto">
          <a:xfrm>
            <a:off x="838200" y="2438400"/>
            <a:ext cx="733425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NMR is based on the fact that certain atomic nuclei are intrinsically magnetic and can exist in two spin states when an external magnetic field is applied. </a:t>
            </a:r>
          </a:p>
          <a:p>
            <a:endParaRPr lang="en-US" sz="1800" dirty="0"/>
          </a:p>
          <a:p>
            <a:r>
              <a:rPr lang="en-US" sz="1800" dirty="0"/>
              <a:t>The nuclei of the sample absorb electromagnetic radiation at different frequencies termed chemical shifts.</a:t>
            </a:r>
          </a:p>
          <a:p>
            <a:endParaRPr lang="en-US" sz="1800" dirty="0"/>
          </a:p>
          <a:p>
            <a:r>
              <a:rPr lang="en-US" sz="1800" dirty="0"/>
              <a:t>The chemical shifts depend on the environment of the nuclei, and the environment depends on protein structure.</a:t>
            </a:r>
          </a:p>
          <a:p>
            <a:endParaRPr lang="en-US" sz="1800" dirty="0"/>
          </a:p>
          <a:p>
            <a:r>
              <a:rPr lang="en-US" sz="1800" dirty="0"/>
              <a:t>One-dimensional NMR reveals changes to a particular chemical group under different conditions.</a:t>
            </a:r>
          </a:p>
          <a:p>
            <a:endParaRPr lang="en-US" sz="1800" dirty="0"/>
          </a:p>
          <a:p>
            <a:r>
              <a:rPr lang="en-US" sz="1800" dirty="0"/>
              <a:t>Two-dimensional NMR (NOSEY) displays groups that are in close proximity.</a:t>
            </a:r>
          </a:p>
        </p:txBody>
      </p:sp>
      <p:pic>
        <p:nvPicPr>
          <p:cNvPr id="16179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466170"/>
            <a:ext cx="53594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996950" y="494340"/>
            <a:ext cx="7175500" cy="952500"/>
          </a:xfrm>
          <a:prstGeom prst="rect">
            <a:avLst/>
          </a:prstGeom>
        </p:spPr>
      </p:pic>
    </p:spTree>
    <p:extLst>
      <p:ext uri="{BB962C8B-B14F-4D97-AF65-F5344CB8AC3E}">
        <p14:creationId xmlns:p14="http://schemas.microsoft.com/office/powerpoint/2010/main" val="5131876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2" name="Picture 2" descr="table_03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900" y="139700"/>
            <a:ext cx="5922963" cy="659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5998807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3.jpg"/>
          <p:cNvPicPr>
            <a:picLocks noChangeAspect="1"/>
          </p:cNvPicPr>
          <p:nvPr/>
        </p:nvPicPr>
        <p:blipFill>
          <a:blip r:embed="rId3"/>
          <a:stretch>
            <a:fillRect/>
          </a:stretch>
        </p:blipFill>
        <p:spPr>
          <a:xfrm>
            <a:off x="585215" y="192023"/>
            <a:ext cx="7973568" cy="6473952"/>
          </a:xfrm>
          <a:prstGeom prst="rect">
            <a:avLst/>
          </a:prstGeom>
        </p:spPr>
      </p:pic>
    </p:spTree>
    <p:extLst>
      <p:ext uri="{BB962C8B-B14F-4D97-AF65-F5344CB8AC3E}">
        <p14:creationId xmlns:p14="http://schemas.microsoft.com/office/powerpoint/2010/main" val="11055100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3_44b.jpg"/>
          <p:cNvPicPr>
            <a:picLocks noChangeAspect="1"/>
          </p:cNvPicPr>
          <p:nvPr/>
        </p:nvPicPr>
        <p:blipFill>
          <a:blip r:embed="rId3"/>
          <a:stretch>
            <a:fillRect/>
          </a:stretch>
        </p:blipFill>
        <p:spPr>
          <a:xfrm>
            <a:off x="1345546" y="3286614"/>
            <a:ext cx="5357556" cy="3386741"/>
          </a:xfrm>
          <a:prstGeom prst="rect">
            <a:avLst/>
          </a:prstGeom>
        </p:spPr>
      </p:pic>
      <p:pic>
        <p:nvPicPr>
          <p:cNvPr id="4" name="Picture 3" descr="figure_03_44a.jpg"/>
          <p:cNvPicPr>
            <a:picLocks noChangeAspect="1"/>
          </p:cNvPicPr>
          <p:nvPr/>
        </p:nvPicPr>
        <p:blipFill>
          <a:blip r:embed="rId4"/>
          <a:stretch>
            <a:fillRect/>
          </a:stretch>
        </p:blipFill>
        <p:spPr>
          <a:xfrm>
            <a:off x="1345545" y="256316"/>
            <a:ext cx="5357556" cy="3451797"/>
          </a:xfrm>
          <a:prstGeom prst="rect">
            <a:avLst/>
          </a:prstGeom>
        </p:spPr>
      </p:pic>
    </p:spTree>
    <p:extLst>
      <p:ext uri="{BB962C8B-B14F-4D97-AF65-F5344CB8AC3E}">
        <p14:creationId xmlns:p14="http://schemas.microsoft.com/office/powerpoint/2010/main" val="20802211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5.jpg"/>
          <p:cNvPicPr>
            <a:picLocks noChangeAspect="1"/>
          </p:cNvPicPr>
          <p:nvPr/>
        </p:nvPicPr>
        <p:blipFill>
          <a:blip r:embed="rId3"/>
          <a:stretch>
            <a:fillRect/>
          </a:stretch>
        </p:blipFill>
        <p:spPr>
          <a:xfrm>
            <a:off x="304800" y="1127760"/>
            <a:ext cx="8534400" cy="4602480"/>
          </a:xfrm>
          <a:prstGeom prst="rect">
            <a:avLst/>
          </a:prstGeom>
        </p:spPr>
      </p:pic>
    </p:spTree>
    <p:extLst>
      <p:ext uri="{BB962C8B-B14F-4D97-AF65-F5344CB8AC3E}">
        <p14:creationId xmlns:p14="http://schemas.microsoft.com/office/powerpoint/2010/main" val="15594873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6.jpg"/>
          <p:cNvPicPr>
            <a:picLocks noChangeAspect="1"/>
          </p:cNvPicPr>
          <p:nvPr/>
        </p:nvPicPr>
        <p:blipFill>
          <a:blip r:embed="rId3"/>
          <a:stretch>
            <a:fillRect/>
          </a:stretch>
        </p:blipFill>
        <p:spPr>
          <a:xfrm>
            <a:off x="1673351" y="283464"/>
            <a:ext cx="5797296" cy="6291072"/>
          </a:xfrm>
          <a:prstGeom prst="rect">
            <a:avLst/>
          </a:prstGeom>
        </p:spPr>
      </p:pic>
    </p:spTree>
    <p:extLst>
      <p:ext uri="{BB962C8B-B14F-4D97-AF65-F5344CB8AC3E}">
        <p14:creationId xmlns:p14="http://schemas.microsoft.com/office/powerpoint/2010/main" val="31683010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3_47.jpg"/>
          <p:cNvPicPr>
            <a:picLocks noChangeAspect="1"/>
          </p:cNvPicPr>
          <p:nvPr/>
        </p:nvPicPr>
        <p:blipFill>
          <a:blip r:embed="rId3"/>
          <a:stretch>
            <a:fillRect/>
          </a:stretch>
        </p:blipFill>
        <p:spPr>
          <a:xfrm>
            <a:off x="304800" y="1703832"/>
            <a:ext cx="8534400" cy="3450336"/>
          </a:xfrm>
          <a:prstGeom prst="rect">
            <a:avLst/>
          </a:prstGeom>
        </p:spPr>
      </p:pic>
    </p:spTree>
    <p:extLst>
      <p:ext uri="{BB962C8B-B14F-4D97-AF65-F5344CB8AC3E}">
        <p14:creationId xmlns:p14="http://schemas.microsoft.com/office/powerpoint/2010/main" val="855692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3_48.jpg"/>
          <p:cNvPicPr>
            <a:picLocks noChangeAspect="1"/>
          </p:cNvPicPr>
          <p:nvPr/>
        </p:nvPicPr>
        <p:blipFill>
          <a:blip r:embed="rId3"/>
          <a:stretch>
            <a:fillRect/>
          </a:stretch>
        </p:blipFill>
        <p:spPr>
          <a:xfrm>
            <a:off x="2011679" y="283464"/>
            <a:ext cx="5120640" cy="6291072"/>
          </a:xfrm>
          <a:prstGeom prst="rect">
            <a:avLst/>
          </a:prstGeom>
        </p:spPr>
      </p:pic>
    </p:spTree>
    <p:extLst>
      <p:ext uri="{BB962C8B-B14F-4D97-AF65-F5344CB8AC3E}">
        <p14:creationId xmlns:p14="http://schemas.microsoft.com/office/powerpoint/2010/main" val="2239650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2426</TotalTime>
  <Words>5859</Words>
  <Application>Microsoft Macintosh PowerPoint</Application>
  <PresentationFormat>On-screen Show (4:3)</PresentationFormat>
  <Paragraphs>245</Paragraphs>
  <Slides>92</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Carleton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Yizhi Sun</cp:lastModifiedBy>
  <cp:revision>110</cp:revision>
  <dcterms:created xsi:type="dcterms:W3CDTF">2015-05-22T13:09:36Z</dcterms:created>
  <dcterms:modified xsi:type="dcterms:W3CDTF">2026-08-12T17:52:11Z</dcterms:modified>
</cp:coreProperties>
</file>