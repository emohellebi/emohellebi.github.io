
<file path=[Content_Types].xml><?xml version="1.0" encoding="utf-8"?>
<Types xmlns="http://schemas.openxmlformats.org/package/2006/content-types">
  <Override PartName="/ppt/slides/slide41.xml" ContentType="application/vnd.openxmlformats-officedocument.presentationml.slide+xml"/>
  <Override PartName="/ppt/notesSlides/notesSlide16.xml" ContentType="application/vnd.openxmlformats-officedocument.presentationml.notesSlide+xml"/>
  <Override PartName="/ppt/slides/slide50.xml" ContentType="application/vnd.openxmlformats-officedocument.presentationml.slide+xml"/>
  <Override PartName="/ppt/slides/slide18.xml" ContentType="application/vnd.openxmlformats-officedocument.presentationml.slide+xml"/>
  <Override PartName="/ppt/notesSlides/notesSlide26.xml" ContentType="application/vnd.openxmlformats-officedocument.presentationml.notesSlide+xml"/>
  <Override PartName="/ppt/slides/slide60.xml" ContentType="application/vnd.openxmlformats-officedocument.presentationml.slide+xml"/>
  <Override PartName="/ppt/slides/slide28.xml" ContentType="application/vnd.openxmlformats-officedocument.presentationml.slide+xml"/>
  <Override PartName="/ppt/slides/slide37.xml" ContentType="application/vnd.openxmlformats-officedocument.presentationml.slide+xml"/>
  <Override PartName="/ppt/slides/slide70.xml" ContentType="application/vnd.openxmlformats-officedocument.presentationml.slide+xml"/>
  <Override PartName="/ppt/slides/slide9.xml" ContentType="application/vnd.openxmlformats-officedocument.presentationml.slide+xml"/>
  <Override PartName="/ppt/notesSlides/notesSlide45.xml" ContentType="application/vnd.openxmlformats-officedocument.presentationml.notesSlide+xml"/>
  <Override PartName="/ppt/slides/slide47.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Masters/notesMaster1.xml" ContentType="application/vnd.openxmlformats-officedocument.presentationml.notesMaster+xml"/>
  <Override PartName="/ppt/notesSlides/notesSlide64.xml" ContentType="application/vnd.openxmlformats-officedocument.presentationml.notesSlide+xml"/>
  <Override PartName="/ppt/slides/slide66.xml" ContentType="application/vnd.openxmlformats-officedocument.presentationml.slide+xml"/>
  <Override PartName="/ppt/theme/theme1.xml" ContentType="application/vnd.openxmlformats-officedocument.theme+xml"/>
  <Override PartName="/ppt/notesSlides/notesSlide74.xml" ContentType="application/vnd.openxmlformats-officedocument.presentationml.notesSlide+xml"/>
  <Override PartName="/ppt/notesSlides/notesSlide2.xml" ContentType="application/vnd.openxmlformats-officedocument.presentationml.notesSlide+xml"/>
  <Override PartName="/ppt/slides/slide75.xml" ContentType="application/vnd.openxmlformats-officedocument.presentationml.slide+xml"/>
  <Override PartName="/ppt/slides/slide85.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Default Extension="jpeg" ContentType="image/jpeg"/>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slide4.xml" ContentType="application/vnd.openxmlformats-officedocument.presentationml.slide+xml"/>
  <Override PartName="/ppt/notesSlides/notesSlide40.xml" ContentType="application/vnd.openxmlformats-officedocument.presentationml.notesSlide+xml"/>
  <Override PartName="/ppt/slideLayouts/slideLayout5.xml" ContentType="application/vnd.openxmlformats-officedocument.presentationml.slideLayout+xml"/>
  <Override PartName="/ppt/slides/slide42.xml" ContentType="application/vnd.openxmlformats-officedocument.presentationml.slide+xml"/>
  <Override PartName="/ppt/notesSlides/notesSlide17.xml" ContentType="application/vnd.openxmlformats-officedocument.presentationml.notesSlide+xml"/>
  <Override PartName="/ppt/notesSlides/notesSlide50.xml" ContentType="application/vnd.openxmlformats-officedocument.presentationml.notesSlide+xml"/>
  <Override PartName="/ppt/slides/slide51.xml" ContentType="application/vnd.openxmlformats-officedocument.presentationml.slide+xml"/>
  <Override PartName="/ppt/slides/slide19.xml" ContentType="application/vnd.openxmlformats-officedocument.presentationml.slide+xml"/>
  <Override PartName="/ppt/notesSlides/notesSlide27.xml" ContentType="application/vnd.openxmlformats-officedocument.presentationml.notesSlide+xml"/>
  <Override PartName="/ppt/slideLayouts/slideLayout10.xml" ContentType="application/vnd.openxmlformats-officedocument.presentationml.slideLayout+xml"/>
  <Override PartName="/ppt/slides/slide61.xml" ContentType="application/vnd.openxmlformats-officedocument.presentationml.slide+xml"/>
  <Override PartName="/ppt/slides/slide29.xml" ContentType="application/vnd.openxmlformats-officedocument.presentationml.slide+xml"/>
  <Override PartName="/ppt/notesSlides/notesSlide36.xml" ContentType="application/vnd.openxmlformats-officedocument.presentationml.notesSlide+xml"/>
  <Override PartName="/ppt/slides/slide38.xml" ContentType="application/vnd.openxmlformats-officedocument.presentationml.slide+xml"/>
  <Override PartName="/ppt/slides/slide71.xml" ContentType="application/vnd.openxmlformats-officedocument.presentationml.slide+xml"/>
  <Override PartName="/ppt/notesSlides/notesSlide46.xml" ContentType="application/vnd.openxmlformats-officedocument.presentationml.notesSlide+xml"/>
  <Override PartName="/ppt/slides/slide80.xml" ContentType="application/vnd.openxmlformats-officedocument.presentationml.slide+xml"/>
  <Override PartName="/ppt/slides/slide48.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slides/slide90.xml" ContentType="application/vnd.openxmlformats-officedocument.presentationml.slide+xml"/>
  <Override PartName="/ppt/notesSlides/notesSlide65.xml" ContentType="application/vnd.openxmlformats-officedocument.presentationml.notesSlide+xml"/>
  <Override PartName="/ppt/slides/slide67.xml" ContentType="application/vnd.openxmlformats-officedocument.presentationml.slide+xml"/>
  <Override PartName="/ppt/theme/theme2.xml" ContentType="application/vnd.openxmlformats-officedocument.theme+xml"/>
  <Override PartName="/ppt/notesSlides/notesSlide75.xml" ContentType="application/vnd.openxmlformats-officedocument.presentationml.notesSlide+xml"/>
  <Override PartName="/ppt/notesSlides/notesSlide3.xml" ContentType="application/vnd.openxmlformats-officedocument.presentationml.notesSlide+xml"/>
  <Override PartName="/ppt/slides/slide76.xml" ContentType="application/vnd.openxmlformats-officedocument.presentationml.slide+xml"/>
  <Override PartName="/ppt/slides/slide86.xml" ContentType="application/vnd.openxmlformats-officedocument.presentationml.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22.xml" ContentType="application/vnd.openxmlformats-officedocument.presentationml.notesSlide+xml"/>
  <Override PartName="/ppt/slides/slide24.xml" ContentType="application/vnd.openxmlformats-officedocument.presentationml.slide+xml"/>
  <Default Extension="bin" ContentType="application/vnd.openxmlformats-officedocument.presentationml.printerSettings"/>
  <Override PartName="/ppt/notesSlides/notesSlide32.xml" ContentType="application/vnd.openxmlformats-officedocument.presentationml.notesSlide+xml"/>
  <Override PartName="/ppt/slides/slide33.xml" ContentType="application/vnd.openxmlformats-officedocument.presentationml.slide+xml"/>
  <Override PartName="/ppt/slides/slide5.xml" ContentType="application/vnd.openxmlformats-officedocument.presentationml.slide+xml"/>
  <Default Extension="xml" ContentType="application/xml"/>
  <Override PartName="/ppt/slideLayouts/slideLayout6.xml" ContentType="application/vnd.openxmlformats-officedocument.presentationml.slideLayout+xml"/>
  <Override PartName="/ppt/tableStyles.xml" ContentType="application/vnd.openxmlformats-officedocument.presentationml.tableStyles+xml"/>
  <Override PartName="/ppt/slides/slide43.xml" ContentType="application/vnd.openxmlformats-officedocument.presentationml.slide+xml"/>
  <Override PartName="/ppt/notesSlides/notesSlide41.xml" ContentType="application/vnd.openxmlformats-officedocument.presentationml.notesSlide+xml"/>
  <Override PartName="/ppt/notesSlides/notesSlide18.xml" ContentType="application/vnd.openxmlformats-officedocument.presentationml.notes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60.xml" ContentType="application/vnd.openxmlformats-officedocument.presentationml.notesSlide+xml"/>
  <Override PartName="/ppt/notesSlides/notesSlide28.xml" ContentType="application/vnd.openxmlformats-officedocument.presentationml.notesSlide+xml"/>
  <Override PartName="/ppt/slideLayouts/slideLayout11.xml" ContentType="application/vnd.openxmlformats-officedocument.presentationml.slideLayout+xml"/>
  <Override PartName="/ppt/slides/slide62.xml" ContentType="application/vnd.openxmlformats-officedocument.presentationml.slide+xml"/>
  <Override PartName="/ppt/notesSlides/notesSlide37.xml" ContentType="application/vnd.openxmlformats-officedocument.presentationml.notesSlide+xml"/>
  <Override PartName="/ppt/notesSlides/notesSlide70.xml" ContentType="application/vnd.openxmlformats-officedocument.presentationml.notesSlide+xml"/>
  <Override PartName="/docProps/app.xml" ContentType="application/vnd.openxmlformats-officedocument.extended-properties+xml"/>
  <Override PartName="/ppt/slides/slide39.xml" ContentType="application/vnd.openxmlformats-officedocument.presentationml.slide+xml"/>
  <Override PartName="/ppt/notesSlides/notesSlide47.xml" ContentType="application/vnd.openxmlformats-officedocument.presentationml.notesSlide+xml"/>
  <Override PartName="/ppt/slides/slide81.xml" ContentType="application/vnd.openxmlformats-officedocument.presentationml.slide+xml"/>
  <Override PartName="/ppt/slides/slide49.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slides/slide91.xml" ContentType="application/vnd.openxmlformats-officedocument.presentationml.slide+xml"/>
  <Override PartName="/ppt/notesSlides/notesSlide66.xml" ContentType="application/vnd.openxmlformats-officedocument.presentationml.notesSlide+xml"/>
  <Override PartName="/docProps/core.xml" ContentType="application/vnd.openxmlformats-package.core-properties+xml"/>
  <Override PartName="/ppt/slides/slide68.xml" ContentType="application/vnd.openxmlformats-officedocument.presentationml.slide+xml"/>
  <Override PartName="/ppt/notesSlides/notesSlide76.xml" ContentType="application/vnd.openxmlformats-officedocument.presentationml.notesSlide+xml"/>
  <Override PartName="/ppt/notesSlides/notesSlide4.xml" ContentType="application/vnd.openxmlformats-officedocument.presentationml.notesSlide+xml"/>
  <Override PartName="/ppt/slides/slide77.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Layouts/slideLayout1.xml" ContentType="application/vnd.openxmlformats-officedocument.presentationml.slideLayout+xml"/>
  <Override PartName="/ppt/slides/slide104.xml" ContentType="application/vnd.openxmlformats-officedocument.presentationml.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notesSlides/notesSlide42.xml" ContentType="application/vnd.openxmlformats-officedocument.presentationml.notesSlide+xml"/>
  <Override PartName="/ppt/slides/slide44.xml" ContentType="application/vnd.openxmlformats-officedocument.presentationml.slide+xml"/>
  <Override PartName="/ppt/notesSlides/notesSlide19.xml" ContentType="application/vnd.openxmlformats-officedocument.presentationml.notes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61.xml" ContentType="application/vnd.openxmlformats-officedocument.presentationml.notesSlide+xml"/>
  <Override PartName="/ppt/notesSlides/notesSlide29.xml" ContentType="application/vnd.openxmlformats-officedocument.presentationml.notesSlide+xml"/>
  <Override PartName="/ppt/slides/slide63.xml" ContentType="application/vnd.openxmlformats-officedocument.presentationml.slide+xml"/>
  <Override PartName="/ppt/notesSlides/notesSlide38.xml" ContentType="application/vnd.openxmlformats-officedocument.presentationml.notes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80.xml" ContentType="application/vnd.openxmlformats-officedocument.presentationml.notesSlide+xml"/>
  <Override PartName="/ppt/notesSlides/notesSlide48.xml" ContentType="application/vnd.openxmlformats-officedocument.presentationml.notesSlide+xml"/>
  <Override PartName="/ppt/slides/slide82.xml" ContentType="application/vnd.openxmlformats-officedocument.presentationml.slide+xml"/>
  <Override PartName="/ppt/notesSlides/notesSlide58.xml" ContentType="application/vnd.openxmlformats-officedocument.presentationml.notesSlide+xml"/>
  <Override PartName="/ppt/slides/slide92.xml" ContentType="application/vnd.openxmlformats-officedocument.presentationml.slide+xml"/>
  <Override PartName="/ppt/slides/slide59.xml" ContentType="application/vnd.openxmlformats-officedocument.presentationml.slide+xml"/>
  <Override PartName="/ppt/notesSlides/notesSlide67.xml" ContentType="application/vnd.openxmlformats-officedocument.presentationml.notesSlide+xml"/>
  <Override PartName="/ppt/slides/slide100.xml" ContentType="application/vnd.openxmlformats-officedocument.presentationml.slide+xml"/>
  <Override PartName="/ppt/slides/slide69.xml" ContentType="application/vnd.openxmlformats-officedocument.presentationml.slide+xml"/>
  <Override PartName="/ppt/notesSlides/notesSlide77.xml" ContentType="application/vnd.openxmlformats-officedocument.presentationml.notesSlide+xml"/>
  <Override PartName="/ppt/notesSlides/notesSlide5.xml" ContentType="application/vnd.openxmlformats-officedocument.presentationml.notesSlide+xml"/>
  <Override PartName="/ppt/slides/slide78.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slides/slide88.xml" ContentType="application/vnd.openxmlformats-officedocument.presentationml.slide+xml"/>
  <Override PartName="/ppt/slides/slide20.xml" ContentType="application/vnd.openxmlformats-officedocument.presentationml.slide+xml"/>
  <Override PartName="/ppt/slides/slide97.xml" ContentType="application/vnd.openxmlformats-officedocument.presentationml.slide+xml"/>
  <Override PartName="/ppt/slides/slide1.xml" ContentType="application/vnd.openxmlformats-officedocument.presentationml.slide+xml"/>
  <Override PartName="/ppt/slideLayouts/slideLayout2.xml" ContentType="application/vnd.openxmlformats-officedocument.presentationml.slideLayout+xml"/>
  <Override PartName="/ppt/slides/slide105.xml" ContentType="application/vnd.openxmlformats-officedocument.presentationml.slide+xml"/>
  <Override PartName="/ppt/notesSlides/notesSlide14.xml" ContentType="application/vnd.openxmlformats-officedocument.presentationml.notesSlide+xml"/>
  <Override PartName="/ppt/slides/slide16.xml" ContentType="application/vnd.openxmlformats-officedocument.presentationml.slide+xml"/>
  <Override PartName="/ppt/notesSlides/notesSlide24.xml" ContentType="application/vnd.openxmlformats-officedocument.presentationml.notesSlide+xml"/>
  <Override PartName="/ppt/viewProps.xml" ContentType="application/vnd.openxmlformats-officedocument.presentationml.viewProps+xml"/>
  <Default Extension="rels" ContentType="application/vnd.openxmlformats-package.relationships+xml"/>
  <Override PartName="/ppt/slides/slide26.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slide7.xml" ContentType="application/vnd.openxmlformats-officedocument.presentationml.slide+xml"/>
  <Override PartName="/ppt/notesSlides/notesSlide43.xml" ContentType="application/vnd.openxmlformats-officedocument.presentationml.notesSlide+xml"/>
  <Override PartName="/ppt/slideLayouts/slideLayout8.xml" ContentType="application/vnd.openxmlformats-officedocument.presentationml.slideLayout+xml"/>
  <Override PartName="/ppt/slides/slide45.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62.xml" ContentType="application/vnd.openxmlformats-officedocument.presentationml.notesSlide+xml"/>
  <Override PartName="/ppt/slides/slide64.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72.xml" ContentType="application/vnd.openxmlformats-officedocument.presentationml.notesSlide+xml"/>
  <Override PartName="/ppt/slides/slide73.xml" ContentType="application/vnd.openxmlformats-officedocument.presentationml.slide+xml"/>
  <Override PartName="/ppt/presentation.xml" ContentType="application/vnd.openxmlformats-officedocument.presentationml.presentation.main+xml"/>
  <Override PartName="/ppt/notesSlides/notesSlide49.xml" ContentType="application/vnd.openxmlformats-officedocument.presentationml.notesSlide+xml"/>
  <Override PartName="/ppt/slides/slide83.xml" ContentType="application/vnd.openxmlformats-officedocument.presentationml.slide+xml"/>
  <Override PartName="/ppt/notesSlides/notesSlide59.xml" ContentType="application/vnd.openxmlformats-officedocument.presentationml.notesSlide+xml"/>
  <Override PartName="/ppt/slides/slide93.xml" ContentType="application/vnd.openxmlformats-officedocument.presentationml.slide+xml"/>
  <Override PartName="/ppt/notesSlides/notesSlide68.xml" ContentType="application/vnd.openxmlformats-officedocument.presentationml.notesSlide+xml"/>
  <Override PartName="/ppt/slides/slide101.xml" ContentType="application/vnd.openxmlformats-officedocument.presentationml.slide+xml"/>
  <Override PartName="/ppt/notesSlides/notesSlide78.xml" ContentType="application/vnd.openxmlformats-officedocument.presentationml.notesSlide+xml"/>
  <Override PartName="/ppt/notesSlides/notesSlide6.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slide89.xml" ContentType="application/vnd.openxmlformats-officedocument.presentationml.slide+xml"/>
  <Override PartName="/ppt/slides/slide21.xml" ContentType="application/vnd.openxmlformats-officedocument.presentationml.slide+xml"/>
  <Override PartName="/ppt/slides/slide98.xml" ContentType="application/vnd.openxmlformats-officedocument.presentationml.slide+xml"/>
  <Override PartName="/ppt/slides/slide30.xml" ContentType="application/vnd.openxmlformats-officedocument.presentationml.slide+xml"/>
  <Override PartName="/ppt/slides/slide2.xml" ContentType="application/vnd.openxmlformats-officedocument.presentationml.slide+xml"/>
  <Override PartName="/ppt/slideLayouts/slideLayout3.xml" ContentType="application/vnd.openxmlformats-officedocument.presentationml.slideLayout+xml"/>
  <Override PartName="/ppt/slides/slide40.xml" ContentType="application/vnd.openxmlformats-officedocument.presentationml.slide+xml"/>
  <Override PartName="/ppt/notesSlides/notesSlide15.xml" ContentType="application/vnd.openxmlformats-officedocument.presentationml.notesSlide+xml"/>
  <Override PartName="/ppt/slides/slide17.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slide8.xml" ContentType="application/vnd.openxmlformats-officedocument.presentationml.slide+xml"/>
  <Override PartName="/ppt/notesSlides/notesSlide44.xml" ContentType="application/vnd.openxmlformats-officedocument.presentationml.notesSlide+xml"/>
  <Override PartName="/ppt/slideLayouts/slideLayout9.xml" ContentType="application/vnd.openxmlformats-officedocument.presentationml.slideLayout+xml"/>
  <Override PartName="/ppt/slides/slide46.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63.xml" ContentType="application/vnd.openxmlformats-officedocument.presentationml.notesSlide+xml"/>
  <Override PartName="/ppt/slides/slide65.xml" ContentType="application/vnd.openxmlformats-officedocument.presentationml.slide+xml"/>
  <Override PartName="/ppt/notesSlides/notesSlide73.xml" ContentType="application/vnd.openxmlformats-officedocument.presentationml.notesSlide+xml"/>
  <Override PartName="/ppt/notesSlides/notesSlide1.xml" ContentType="application/vnd.openxmlformats-officedocument.presentationml.notesSlide+xml"/>
  <Override PartName="/ppt/slides/slide74.xml" ContentType="application/vnd.openxmlformats-officedocument.presentationml.slide+xml"/>
  <Override PartName="/ppt/slides/slide84.xml" ContentType="application/vnd.openxmlformats-officedocument.presentationml.slide+xml"/>
  <Override PartName="/ppt/slides/slide94.xml" ContentType="application/vnd.openxmlformats-officedocument.presentationml.slide+xml"/>
  <Override PartName="/ppt/notesSlides/notesSlide69.xml" ContentType="application/vnd.openxmlformats-officedocument.presentationml.notesSlide+xml"/>
  <Override PartName="/ppt/slides/slide102.xml" ContentType="application/vnd.openxmlformats-officedocument.presentationml.slide+xml"/>
  <Override PartName="/ppt/notesSlides/notesSlide79.xml" ContentType="application/vnd.openxmlformats-officedocument.presentationml.notesSlide+xml"/>
  <Override PartName="/ppt/notesSlides/notesSlide7.xml" ContentType="application/vnd.openxmlformats-officedocument.presentationml.notesSlide+xml"/>
  <Override PartName="/ppt/slides/slide12.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slides/slide99.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slide3.xml" ContentType="application/vnd.openxmlformats-officedocument.presentationml.slide+xml"/>
  <Override PartName="/ppt/slideLayouts/slideLayout4.xml" ContentType="application/vnd.openxmlformats-officedocument.presentationml.slideLayout+xml"/>
  <Override PartName="/ppt/slideMasters/slideMaster1.xml" ContentType="application/vnd.openxmlformats-officedocument.presentationml.slideMaster+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notesMasterIdLst>
    <p:notesMasterId r:id="rId107"/>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61" r:id="rId51"/>
    <p:sldId id="307" r:id="rId52"/>
    <p:sldId id="308" r:id="rId53"/>
    <p:sldId id="309" r:id="rId54"/>
    <p:sldId id="310" r:id="rId55"/>
    <p:sldId id="311" r:id="rId56"/>
    <p:sldId id="312" r:id="rId57"/>
    <p:sldId id="313" r:id="rId58"/>
    <p:sldId id="314" r:id="rId59"/>
    <p:sldId id="315" r:id="rId60"/>
    <p:sldId id="316" r:id="rId61"/>
    <p:sldId id="317" r:id="rId62"/>
    <p:sldId id="362"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mAuthor id="0" name="ivp" initials="i" lastIdx="3" clrIdx="0"/>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extLst>
    <p:ext uri="{E76CE94A-603C-4142-B9EB-6D1370010A27}">
      <p14:discardImageEditData xmlns:p14="http://schemas.microsoft.com/office/powerpoint/2010/main" xmlns:p="http://schemas.openxmlformats.org/presentationml/2006/main" xmlns:r="http://schemas.openxmlformats.org/officeDocument/2006/relationships" xmlns:a="http://schemas.openxmlformats.org/drawingml/2006/main" xmlns="" val="0"/>
    </p:ext>
    <p:ext uri="{D31A062A-798A-4329-ABDD-BBA856620510}">
      <p14:defaultImageDpi xmlns:p14="http://schemas.microsoft.com/office/powerpoint/2010/main" xmlns:p="http://schemas.openxmlformats.org/presentationml/2006/main" xmlns:r="http://schemas.openxmlformats.org/officeDocument/2006/relationships" xmlns:a="http://schemas.openxmlformats.org/drawingml/2006/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Grid="0" snapToObjects="1">
      <p:cViewPr>
        <p:scale>
          <a:sx n="144" d="100"/>
          <a:sy n="144" d="100"/>
        </p:scale>
        <p:origin x="-1328" y="-22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printerSettings" Target="printerSettings/printerSettings1.bin"/><Relationship Id="rId109" Type="http://schemas.openxmlformats.org/officeDocument/2006/relationships/commentAuthors" Target="commentAuthor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presProps" Target="presProps.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11" Type="http://schemas.openxmlformats.org/officeDocument/2006/relationships/viewProps" Target="viewProps.xml"/><Relationship Id="rId112" Type="http://schemas.openxmlformats.org/officeDocument/2006/relationships/theme" Target="theme/theme1.xml"/><Relationship Id="rId113"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ABF255-1330-F24D-AF48-E6A9A65C2CF9}" type="datetimeFigureOut">
              <a:rPr lang="en-US" smtClean="0"/>
              <a:pPr/>
              <a:t>7/7/15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367E78-22B7-7F46-87F0-B71A15384A0D}"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4705788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E5EA526-65EF-4B43-BE94-1B0E3C66E5F2}" type="slidenum">
              <a:rPr lang="en-US"/>
              <a:pPr>
                <a:defRPr/>
              </a:pPr>
              <a:t>1</a:t>
            </a:fld>
            <a:endParaRPr lang="en-US" dirty="0"/>
          </a:p>
        </p:txBody>
      </p:sp>
      <p:sp>
        <p:nvSpPr>
          <p:cNvPr id="1976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197635" name="Rectangle 3"/>
          <p:cNvSpPr>
            <a:spLocks noGrp="1" noChangeArrowheads="1"/>
          </p:cNvSpPr>
          <p:nvPr>
            <p:ph type="body" idx="1"/>
          </p:nvPr>
        </p:nvSpPr>
        <p:spPr/>
        <p:txBody>
          <a:bodyPr/>
          <a:lstStyle/>
          <a:p>
            <a:r>
              <a:rPr lang="en-US" sz="1200" b="0" i="0" u="none" strike="noStrike" kern="1200" baseline="0" dirty="0" smtClean="0">
                <a:solidFill>
                  <a:schemeClr val="tx1"/>
                </a:solidFill>
                <a:latin typeface="+mn-lt"/>
                <a:ea typeface="+mn-ea"/>
                <a:cs typeface="+mn-cs"/>
              </a:rPr>
              <a:t>Insulin is a protein hormone, crucial for maintaining blood sugar at appropriate levels. Chains of amino acids in a specific sequence (the primary structure) define a protein such as insulin. Amino acids close to one another within this sequence can fold into regular structures (the secondary structure), such as the α-helix. Entire chains fold into well-defined structures (the tertiary structure)—in this case, a single insulin molecule. Such structures assemble with other chains to form arrays such as the complex of six insulin molecules shown at the far right (the quaternary structure). These arrays can often be induced to form well-defined crystals (photograph at left), which allows a determination of these structures in detail. [Photograph from Christo Nanev.]</a:t>
            </a:r>
            <a:endParaRPr lang="en-US" dirty="0" smtClean="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A63D711-AE8C-734F-AB31-3C43C0A9C6E7}" type="slidenum">
              <a:rPr lang="en-US"/>
              <a:pPr>
                <a:defRPr/>
              </a:pPr>
              <a:t>4</a:t>
            </a:fld>
            <a:endParaRPr lang="en-US" dirty="0"/>
          </a:p>
        </p:txBody>
      </p:sp>
      <p:sp>
        <p:nvSpPr>
          <p:cNvPr id="1986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198659" name="Rectangle 3"/>
          <p:cNvSpPr>
            <a:spLocks noGrp="1" noChangeArrowheads="1"/>
          </p:cNvSpPr>
          <p:nvPr>
            <p:ph type="body" idx="1"/>
          </p:nvPr>
        </p:nvSpPr>
        <p:spPr/>
        <p:txBody>
          <a:bodyPr/>
          <a:lstStyle/>
          <a:p>
            <a:pPr>
              <a:defRPr/>
            </a:pPr>
            <a:r>
              <a:rPr lang="en-US" b="1" dirty="0" smtClean="0"/>
              <a:t>FIGURE 2.1 Structure dictates</a:t>
            </a:r>
            <a:r>
              <a:rPr lang="en-US" b="1" baseline="0" dirty="0" smtClean="0"/>
              <a:t> </a:t>
            </a:r>
            <a:r>
              <a:rPr lang="en-US" b="1" dirty="0" smtClean="0"/>
              <a:t>function. </a:t>
            </a:r>
            <a:r>
              <a:rPr lang="en-US" dirty="0" smtClean="0"/>
              <a:t>A protein component of the DNA</a:t>
            </a:r>
            <a:r>
              <a:rPr lang="en-US" baseline="0" dirty="0" smtClean="0"/>
              <a:t> </a:t>
            </a:r>
            <a:r>
              <a:rPr lang="en-US" dirty="0" smtClean="0"/>
              <a:t>replication machinery surrounds a section of</a:t>
            </a:r>
            <a:r>
              <a:rPr lang="en-US" baseline="0" dirty="0" smtClean="0"/>
              <a:t> </a:t>
            </a:r>
            <a:r>
              <a:rPr lang="en-US" dirty="0" smtClean="0"/>
              <a:t>DNA double helix depicted as a cylinder. The</a:t>
            </a:r>
            <a:r>
              <a:rPr lang="en-US" baseline="0" dirty="0" smtClean="0"/>
              <a:t> </a:t>
            </a:r>
            <a:r>
              <a:rPr lang="en-US" dirty="0" smtClean="0"/>
              <a:t>protein, which consists of two identical</a:t>
            </a:r>
            <a:r>
              <a:rPr lang="en-US" baseline="0" dirty="0" smtClean="0"/>
              <a:t> </a:t>
            </a:r>
            <a:r>
              <a:rPr lang="en-US" dirty="0" smtClean="0"/>
              <a:t>subunits (shown in red and yellow), acts as a</a:t>
            </a:r>
            <a:r>
              <a:rPr lang="en-US" baseline="0" dirty="0" smtClean="0"/>
              <a:t> </a:t>
            </a:r>
            <a:r>
              <a:rPr lang="en-US" dirty="0" smtClean="0"/>
              <a:t>clamp that allows large segments of DNA to</a:t>
            </a:r>
            <a:r>
              <a:rPr lang="en-US" baseline="0" dirty="0" smtClean="0"/>
              <a:t> </a:t>
            </a:r>
            <a:r>
              <a:rPr lang="en-US" dirty="0" smtClean="0"/>
              <a:t>be copied without the replication machinery</a:t>
            </a:r>
            <a:r>
              <a:rPr lang="en-US" baseline="0" dirty="0" smtClean="0"/>
              <a:t> </a:t>
            </a:r>
            <a:r>
              <a:rPr lang="en-US" dirty="0" smtClean="0"/>
              <a:t>dissociating from the DNA. [Drawn from 2POL.pdb.]</a:t>
            </a:r>
            <a:endParaRPr lang="en-US" dirty="0" smtClean="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EFD5A46-712D-3D4C-9259-9A1036B3E6DB}" type="slidenum">
              <a:rPr lang="en-US"/>
              <a:pPr>
                <a:defRPr/>
              </a:pPr>
              <a:t>5</a:t>
            </a:fld>
            <a:endParaRPr lang="en-US" dirty="0"/>
          </a:p>
        </p:txBody>
      </p:sp>
      <p:sp>
        <p:nvSpPr>
          <p:cNvPr id="1996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19968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2.2 A complex protein assembly. </a:t>
            </a:r>
            <a:r>
              <a:rPr lang="en-US" sz="1200" b="0" i="0" u="none" strike="noStrike" kern="1200" baseline="0" dirty="0" smtClean="0">
                <a:solidFill>
                  <a:schemeClr val="tx1"/>
                </a:solidFill>
                <a:latin typeface="+mn-lt"/>
                <a:ea typeface="+mn-ea"/>
                <a:cs typeface="+mn-cs"/>
              </a:rPr>
              <a:t>(A) A single muscle cell contains multiple myofibrils, each of which is comprised of numerous repeats of a</a:t>
            </a:r>
          </a:p>
          <a:p>
            <a:r>
              <a:rPr lang="en-US" sz="1200" b="0" i="0" u="none" strike="noStrike" kern="1200" baseline="0" dirty="0" smtClean="0">
                <a:solidFill>
                  <a:schemeClr val="tx1"/>
                </a:solidFill>
                <a:latin typeface="+mn-lt"/>
                <a:ea typeface="+mn-ea"/>
                <a:cs typeface="+mn-cs"/>
              </a:rPr>
              <a:t>complex protein assembly known as the sarcomere. (B) The banding pattern of a sarcomere, evident by electron microscopy, is caused by (C) the interdigitation of filaments made up of many individual proteins. [(B) Courtesy of Dr. Hugh Huxley.]</a:t>
            </a:r>
            <a:endParaRPr lang="en-US" dirty="0" smtClean="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4A4788C-4309-5647-A4D5-66B22E6E498B}" type="slidenum">
              <a:rPr lang="en-US"/>
              <a:pPr>
                <a:defRPr/>
              </a:pPr>
              <a:t>6</a:t>
            </a:fld>
            <a:endParaRPr lang="en-US" dirty="0"/>
          </a:p>
        </p:txBody>
      </p:sp>
      <p:sp>
        <p:nvSpPr>
          <p:cNvPr id="2007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00707" name="Rectangle 3"/>
          <p:cNvSpPr>
            <a:spLocks noGrp="1" noChangeArrowheads="1"/>
          </p:cNvSpPr>
          <p:nvPr>
            <p:ph type="body" idx="1"/>
          </p:nvPr>
        </p:nvSpPr>
        <p:spPr/>
        <p:txBody>
          <a:bodyPr/>
          <a:lstStyle/>
          <a:p>
            <a:pPr>
              <a:defRPr/>
            </a:pPr>
            <a:r>
              <a:rPr lang="en-US" b="1" dirty="0" smtClean="0"/>
              <a:t>FIGURE 2.3 Flexibility and function. </a:t>
            </a:r>
            <a:r>
              <a:rPr lang="en-US" dirty="0" smtClean="0"/>
              <a:t>On binding iron, the protein lactoferrin undergoes a</a:t>
            </a:r>
            <a:r>
              <a:rPr lang="en-US" baseline="0" dirty="0" smtClean="0"/>
              <a:t> </a:t>
            </a:r>
            <a:r>
              <a:rPr lang="en-US" dirty="0" smtClean="0"/>
              <a:t>substantial change in conformation that allows other molecules to distinguish between the iron-free</a:t>
            </a:r>
            <a:r>
              <a:rPr lang="en-US" baseline="0" dirty="0" smtClean="0"/>
              <a:t> </a:t>
            </a:r>
            <a:r>
              <a:rPr lang="en-US" dirty="0" smtClean="0"/>
              <a:t>and the iron-bound forms. [Drawn from 1 LFH.pdb and 1 LFG.pdb.]</a:t>
            </a:r>
            <a:endParaRPr lang="en-US" dirty="0" smtClean="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DC76A3D-4811-D648-8E24-C29A6574DC09}" type="slidenum">
              <a:rPr lang="en-US"/>
              <a:pPr>
                <a:defRPr/>
              </a:pPr>
              <a:t>8</a:t>
            </a:fld>
            <a:endParaRPr lang="en-US" dirty="0"/>
          </a:p>
        </p:txBody>
      </p:sp>
      <p:sp>
        <p:nvSpPr>
          <p:cNvPr id="2017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01731" name="Rectangle 3"/>
          <p:cNvSpPr>
            <a:spLocks noGrp="1" noChangeArrowheads="1"/>
          </p:cNvSpPr>
          <p:nvPr>
            <p:ph type="body" idx="1"/>
          </p:nvPr>
        </p:nvSpPr>
        <p:spPr/>
        <p:txBody>
          <a:bodyPr/>
          <a:lstStyle/>
          <a:p>
            <a:pPr>
              <a:defRPr/>
            </a:pPr>
            <a:r>
              <a:rPr lang="en-US" b="1" dirty="0" smtClean="0"/>
              <a:t>FIGURE 2.4 The L and D isomers of amino acids. </a:t>
            </a:r>
            <a:r>
              <a:rPr lang="en-US" dirty="0" smtClean="0"/>
              <a:t>The letter R refers to the side chain. The L and</a:t>
            </a:r>
            <a:r>
              <a:rPr lang="en-US" baseline="0" dirty="0" smtClean="0"/>
              <a:t> </a:t>
            </a:r>
            <a:r>
              <a:rPr lang="en-US" dirty="0" smtClean="0"/>
              <a:t>D isomers are mirror images of each other.</a:t>
            </a:r>
            <a:endParaRPr lang="en-US" dirty="0" smtClean="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9F1860F-806F-C543-9460-A52BAA93B101}" type="slidenum">
              <a:rPr lang="en-US"/>
              <a:pPr>
                <a:defRPr/>
              </a:pPr>
              <a:t>9</a:t>
            </a:fld>
            <a:endParaRPr lang="en-US" dirty="0"/>
          </a:p>
        </p:txBody>
      </p:sp>
      <p:sp>
        <p:nvSpPr>
          <p:cNvPr id="2027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02755" name="Rectangle 3"/>
          <p:cNvSpPr>
            <a:spLocks noGrp="1" noChangeArrowheads="1"/>
          </p:cNvSpPr>
          <p:nvPr>
            <p:ph type="body" idx="1"/>
          </p:nvPr>
        </p:nvSpPr>
        <p:spPr/>
        <p:txBody>
          <a:bodyPr/>
          <a:lstStyle/>
          <a:p>
            <a:pPr>
              <a:defRPr/>
            </a:pPr>
            <a:r>
              <a:rPr lang="en-US" b="1" dirty="0" smtClean="0"/>
              <a:t>FIGURE 2.5 Only L amino acids are found</a:t>
            </a:r>
            <a:r>
              <a:rPr lang="en-US" b="1" baseline="0" dirty="0" smtClean="0"/>
              <a:t> </a:t>
            </a:r>
            <a:r>
              <a:rPr lang="en-US" b="1" dirty="0" smtClean="0"/>
              <a:t>in proteins. </a:t>
            </a:r>
            <a:r>
              <a:rPr lang="en-US" dirty="0" smtClean="0"/>
              <a:t>Almost all L amino acids have an</a:t>
            </a:r>
            <a:r>
              <a:rPr lang="en-US" baseline="0" dirty="0" smtClean="0"/>
              <a:t> </a:t>
            </a:r>
            <a:r>
              <a:rPr lang="en-US" i="1" dirty="0" smtClean="0"/>
              <a:t>S </a:t>
            </a:r>
            <a:r>
              <a:rPr lang="en-US" dirty="0" smtClean="0"/>
              <a:t>absolute configuration. The counterclockwise</a:t>
            </a:r>
            <a:r>
              <a:rPr lang="en-US" baseline="0" dirty="0" smtClean="0"/>
              <a:t> </a:t>
            </a:r>
            <a:r>
              <a:rPr lang="en-US" dirty="0" smtClean="0"/>
              <a:t>direction of the arrow from highest- to lowest priority</a:t>
            </a:r>
            <a:r>
              <a:rPr lang="en-US" baseline="0" dirty="0" smtClean="0"/>
              <a:t> </a:t>
            </a:r>
            <a:r>
              <a:rPr lang="en-US" dirty="0" smtClean="0"/>
              <a:t>substituents indicates that the chiral</a:t>
            </a:r>
            <a:r>
              <a:rPr lang="en-US" baseline="0" dirty="0" smtClean="0"/>
              <a:t> </a:t>
            </a:r>
            <a:r>
              <a:rPr lang="en-US" dirty="0" smtClean="0"/>
              <a:t>center is of the </a:t>
            </a:r>
            <a:r>
              <a:rPr lang="en-US" i="1" dirty="0" smtClean="0"/>
              <a:t>S </a:t>
            </a:r>
            <a:r>
              <a:rPr lang="en-US" dirty="0" smtClean="0"/>
              <a:t>configuration.</a:t>
            </a:r>
            <a:endParaRPr lang="en-US" dirty="0" smtClean="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B422BA0-2AAF-5540-8475-BD8E34E8F596}" type="slidenum">
              <a:rPr lang="en-US"/>
              <a:pPr>
                <a:defRPr/>
              </a:pPr>
              <a:t>11</a:t>
            </a:fld>
            <a:endParaRPr lang="en-US" dirty="0"/>
          </a:p>
        </p:txBody>
      </p:sp>
      <p:sp>
        <p:nvSpPr>
          <p:cNvPr id="2037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03779" name="Rectangle 3"/>
          <p:cNvSpPr>
            <a:spLocks noGrp="1" noChangeArrowheads="1"/>
          </p:cNvSpPr>
          <p:nvPr>
            <p:ph type="body" idx="1"/>
          </p:nvPr>
        </p:nvSpPr>
        <p:spPr/>
        <p:txBody>
          <a:bodyPr/>
          <a:lstStyle/>
          <a:p>
            <a:pPr>
              <a:defRPr/>
            </a:pPr>
            <a:r>
              <a:rPr lang="en-US" b="1" dirty="0" smtClean="0"/>
              <a:t>FIGURE 2.6 Ionization state as a function</a:t>
            </a:r>
            <a:r>
              <a:rPr lang="en-US" b="1" baseline="0" dirty="0" smtClean="0"/>
              <a:t> </a:t>
            </a:r>
            <a:r>
              <a:rPr lang="en-US" b="1" dirty="0" smtClean="0"/>
              <a:t>of pH. </a:t>
            </a:r>
            <a:r>
              <a:rPr lang="en-US" dirty="0" smtClean="0"/>
              <a:t>The ionization state of amino acids is</a:t>
            </a:r>
            <a:r>
              <a:rPr lang="en-US" baseline="0" dirty="0" smtClean="0"/>
              <a:t> </a:t>
            </a:r>
            <a:r>
              <a:rPr lang="en-US" dirty="0" smtClean="0"/>
              <a:t>altered by a change in pH. The zwitterionic</a:t>
            </a:r>
            <a:r>
              <a:rPr lang="en-US" baseline="0" dirty="0" smtClean="0"/>
              <a:t> </a:t>
            </a:r>
            <a:r>
              <a:rPr lang="en-US" dirty="0" smtClean="0"/>
              <a:t>form predominates near physiological pH.</a:t>
            </a:r>
            <a:endParaRPr lang="en-US" dirty="0" smtClean="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9F63077-7EB1-CF4E-8B89-4A2270AD2001}" type="slidenum">
              <a:rPr lang="en-US"/>
              <a:pPr>
                <a:defRPr/>
              </a:pPr>
              <a:t>14</a:t>
            </a:fld>
            <a:endParaRPr lang="en-US" dirty="0"/>
          </a:p>
        </p:txBody>
      </p:sp>
      <p:sp>
        <p:nvSpPr>
          <p:cNvPr id="2048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04803" name="Rectangle 3"/>
          <p:cNvSpPr>
            <a:spLocks noGrp="1" noChangeArrowheads="1"/>
          </p:cNvSpPr>
          <p:nvPr>
            <p:ph type="body" idx="1"/>
          </p:nvPr>
        </p:nvSpPr>
        <p:spPr/>
        <p:txBody>
          <a:bodyPr/>
          <a:lstStyle/>
          <a:p>
            <a:pPr>
              <a:defRPr/>
            </a:pPr>
            <a:r>
              <a:rPr lang="en-US" b="1" dirty="0" smtClean="0"/>
              <a:t>FIGURE 2.7 Structures of hydrophobic amino acids. </a:t>
            </a:r>
            <a:r>
              <a:rPr lang="en-US" dirty="0" smtClean="0"/>
              <a:t>For each amino acid, a ball-and stick</a:t>
            </a:r>
            <a:r>
              <a:rPr lang="en-US" baseline="0" dirty="0" smtClean="0"/>
              <a:t> </a:t>
            </a:r>
            <a:r>
              <a:rPr lang="en-US" dirty="0" smtClean="0"/>
              <a:t>model (top) shows the arrangement of atoms and bonds in space. A</a:t>
            </a:r>
            <a:r>
              <a:rPr lang="en-US" baseline="0" dirty="0" smtClean="0"/>
              <a:t> </a:t>
            </a:r>
            <a:r>
              <a:rPr lang="en-US" dirty="0" smtClean="0"/>
              <a:t>stereochemically realistic formula (middle) shows the geometric arrangement of bonds</a:t>
            </a:r>
            <a:r>
              <a:rPr lang="en-US" baseline="0" dirty="0" smtClean="0"/>
              <a:t> </a:t>
            </a:r>
            <a:r>
              <a:rPr lang="en-US" dirty="0" smtClean="0"/>
              <a:t>around atoms, and a Fischer projection (bottom) shows all bonds as being perpendicular</a:t>
            </a:r>
            <a:r>
              <a:rPr lang="en-US" baseline="0" dirty="0" smtClean="0"/>
              <a:t> </a:t>
            </a:r>
            <a:r>
              <a:rPr lang="en-US" dirty="0" smtClean="0"/>
              <a:t>for a simplified representation (see the Appendix to Chapter 1). The additional chiral center of isoleucine</a:t>
            </a:r>
            <a:r>
              <a:rPr lang="en-US" baseline="0" dirty="0" smtClean="0"/>
              <a:t> is indicated by an asterisk.</a:t>
            </a:r>
            <a:endParaRPr lang="en-US" dirty="0" smtClean="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A70AF51-E992-E649-BE6B-60F8DCE3CAED}" type="slidenum">
              <a:rPr lang="en-US"/>
              <a:pPr>
                <a:defRPr/>
              </a:pPr>
              <a:t>16</a:t>
            </a:fld>
            <a:endParaRPr lang="en-US" dirty="0"/>
          </a:p>
        </p:txBody>
      </p:sp>
      <p:sp>
        <p:nvSpPr>
          <p:cNvPr id="2078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07875" name="Rectangle 3"/>
          <p:cNvSpPr>
            <a:spLocks noGrp="1" noChangeArrowheads="1"/>
          </p:cNvSpPr>
          <p:nvPr>
            <p:ph type="body" idx="1"/>
          </p:nvPr>
        </p:nvSpPr>
        <p:spPr/>
        <p:txBody>
          <a:bodyPr/>
          <a:lstStyle/>
          <a:p>
            <a:pPr>
              <a:defRPr/>
            </a:pPr>
            <a:r>
              <a:rPr lang="en-US" b="1" dirty="0" smtClean="0"/>
              <a:t>FIGURE 2.8 Structures of the polar amino</a:t>
            </a:r>
            <a:r>
              <a:rPr lang="en-US" b="1" baseline="0" dirty="0" smtClean="0"/>
              <a:t> </a:t>
            </a:r>
            <a:r>
              <a:rPr lang="en-US" b="1" dirty="0" smtClean="0"/>
              <a:t>acids. </a:t>
            </a:r>
            <a:r>
              <a:rPr lang="en-US" dirty="0" smtClean="0"/>
              <a:t>The additional chiral center in threonine</a:t>
            </a:r>
            <a:r>
              <a:rPr lang="en-US" baseline="0" dirty="0" smtClean="0"/>
              <a:t> </a:t>
            </a:r>
            <a:r>
              <a:rPr lang="en-US" dirty="0" smtClean="0"/>
              <a:t>is indicated by an asterisk.</a:t>
            </a:r>
            <a:endParaRPr lang="en-US" dirty="0" smtClean="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09E0701-76A2-024C-A499-2F2B6B8712D7}" type="slidenum">
              <a:rPr lang="en-US"/>
              <a:pPr>
                <a:defRPr/>
              </a:pPr>
              <a:t>18</a:t>
            </a:fld>
            <a:endParaRPr lang="en-US" dirty="0"/>
          </a:p>
        </p:txBody>
      </p:sp>
      <p:sp>
        <p:nvSpPr>
          <p:cNvPr id="2088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08899" name="Rectangle 3"/>
          <p:cNvSpPr>
            <a:spLocks noGrp="1" noChangeArrowheads="1"/>
          </p:cNvSpPr>
          <p:nvPr>
            <p:ph type="body" idx="1"/>
          </p:nvPr>
        </p:nvSpPr>
        <p:spPr/>
        <p:txBody>
          <a:bodyPr/>
          <a:lstStyle/>
          <a:p>
            <a:pPr>
              <a:defRPr/>
            </a:pPr>
            <a:r>
              <a:rPr lang="en-US" b="1" dirty="0" smtClean="0"/>
              <a:t>FIGURE 2.9 Positively charged amino</a:t>
            </a:r>
            <a:r>
              <a:rPr lang="en-US" b="1" baseline="0" dirty="0" smtClean="0"/>
              <a:t> </a:t>
            </a:r>
            <a:r>
              <a:rPr lang="en-US" b="1" dirty="0" smtClean="0"/>
              <a:t>acids lysine, arginine, and histidine.</a:t>
            </a:r>
            <a:endParaRPr lang="en-US" dirty="0" smtClean="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7CEC2C8-F89B-D84D-90B4-DDE76E41EDD8}" type="slidenum">
              <a:rPr lang="en-US"/>
              <a:pPr>
                <a:defRPr/>
              </a:pPr>
              <a:t>20</a:t>
            </a:fld>
            <a:endParaRPr lang="en-US" dirty="0"/>
          </a:p>
        </p:txBody>
      </p:sp>
      <p:sp>
        <p:nvSpPr>
          <p:cNvPr id="2099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09923" name="Rectangle 3"/>
          <p:cNvSpPr>
            <a:spLocks noGrp="1" noChangeArrowheads="1"/>
          </p:cNvSpPr>
          <p:nvPr>
            <p:ph type="body" idx="1"/>
          </p:nvPr>
        </p:nvSpPr>
        <p:spPr/>
        <p:txBody>
          <a:bodyPr/>
          <a:lstStyle/>
          <a:p>
            <a:pPr eaLnBrk="1" hangingPunct="1">
              <a:defRPr/>
            </a:pPr>
            <a:r>
              <a:rPr lang="en-US" b="1" dirty="0" smtClean="0"/>
              <a:t>FIGURE 2.10 Histidine ionization. </a:t>
            </a:r>
            <a:r>
              <a:rPr lang="en-US" dirty="0" smtClean="0"/>
              <a:t>Histidine can bind or release protons near physiological pH.</a:t>
            </a:r>
            <a:endParaRPr lang="en-US" dirty="0" smtClean="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4FA01CA-CAA3-8441-8CA2-41ECB16D1132}" type="slidenum">
              <a:rPr lang="en-US"/>
              <a:pPr>
                <a:defRPr/>
              </a:pPr>
              <a:t>21</a:t>
            </a:fld>
            <a:endParaRPr lang="en-US" dirty="0"/>
          </a:p>
        </p:txBody>
      </p:sp>
      <p:sp>
        <p:nvSpPr>
          <p:cNvPr id="2109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0947"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606C74E-42ED-DE4E-9978-003E90D5749B}" type="slidenum">
              <a:rPr lang="en-US"/>
              <a:pPr>
                <a:defRPr/>
              </a:pPr>
              <a:t>22</a:t>
            </a:fld>
            <a:endParaRPr lang="en-US" dirty="0"/>
          </a:p>
        </p:txBody>
      </p:sp>
      <p:sp>
        <p:nvSpPr>
          <p:cNvPr id="2119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1971" name="Rectangle 3"/>
          <p:cNvSpPr>
            <a:spLocks noGrp="1" noChangeArrowheads="1"/>
          </p:cNvSpPr>
          <p:nvPr>
            <p:ph type="body" idx="1"/>
          </p:nvPr>
        </p:nvSpPr>
        <p:spPr/>
        <p:txBody>
          <a:bodyPr/>
          <a:lstStyle/>
          <a:p>
            <a:pPr eaLnBrk="1" hangingPunct="1">
              <a:defRPr/>
            </a:pPr>
            <a:r>
              <a:rPr lang="en-US" b="1" dirty="0" smtClean="0"/>
              <a:t>FIGURE 2.11 Negatively charged amino acids.</a:t>
            </a:r>
            <a:endParaRPr lang="en-US" dirty="0" smtClean="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8650EE5-F3A1-384F-9BA6-5EDB7018D8D6}" type="slidenum">
              <a:rPr lang="en-US"/>
              <a:pPr>
                <a:defRPr/>
              </a:pPr>
              <a:t>24</a:t>
            </a:fld>
            <a:endParaRPr lang="en-US" dirty="0"/>
          </a:p>
        </p:txBody>
      </p:sp>
      <p:sp>
        <p:nvSpPr>
          <p:cNvPr id="2140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4019"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2E7ADD8-79A9-044D-A6F6-808F43865195}" type="slidenum">
              <a:rPr lang="en-US"/>
              <a:pPr>
                <a:defRPr/>
              </a:pPr>
              <a:t>25</a:t>
            </a:fld>
            <a:endParaRPr lang="en-US" dirty="0"/>
          </a:p>
        </p:txBody>
      </p:sp>
      <p:sp>
        <p:nvSpPr>
          <p:cNvPr id="212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299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29EDD74-B3FF-B040-8C6D-C8F59895209B}" type="slidenum">
              <a:rPr lang="en-US"/>
              <a:pPr>
                <a:defRPr/>
              </a:pPr>
              <a:t>26</a:t>
            </a:fld>
            <a:endParaRPr lang="en-US" dirty="0"/>
          </a:p>
        </p:txBody>
      </p:sp>
      <p:sp>
        <p:nvSpPr>
          <p:cNvPr id="2150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5043" name="Rectangle 3"/>
          <p:cNvSpPr>
            <a:spLocks noGrp="1" noChangeArrowheads="1"/>
          </p:cNvSpPr>
          <p:nvPr>
            <p:ph type="body" idx="1"/>
          </p:nvPr>
        </p:nvSpPr>
        <p:spPr/>
        <p:txBody>
          <a:bodyPr/>
          <a:lstStyle/>
          <a:p>
            <a:pPr>
              <a:defRPr/>
            </a:pPr>
            <a:r>
              <a:rPr lang="en-US" b="1" dirty="0" smtClean="0"/>
              <a:t>FIGURE 2.12 Undesirable</a:t>
            </a:r>
            <a:r>
              <a:rPr lang="en-US" b="1" baseline="0" dirty="0" smtClean="0"/>
              <a:t> </a:t>
            </a:r>
            <a:r>
              <a:rPr lang="en-US" b="1" dirty="0" smtClean="0"/>
              <a:t>reactivity in amino acids.</a:t>
            </a:r>
            <a:r>
              <a:rPr lang="en-US" b="1" baseline="0" dirty="0" smtClean="0"/>
              <a:t> </a:t>
            </a:r>
            <a:r>
              <a:rPr lang="en-US" dirty="0" smtClean="0"/>
              <a:t>Some amino acids are</a:t>
            </a:r>
            <a:r>
              <a:rPr lang="en-US" baseline="0" dirty="0" smtClean="0"/>
              <a:t> </a:t>
            </a:r>
            <a:r>
              <a:rPr lang="en-US" dirty="0" smtClean="0"/>
              <a:t>unsuitable for proteins because</a:t>
            </a:r>
            <a:r>
              <a:rPr lang="en-US" baseline="0" dirty="0" smtClean="0"/>
              <a:t> </a:t>
            </a:r>
            <a:r>
              <a:rPr lang="en-US" dirty="0" smtClean="0"/>
              <a:t>of undesirable cyclization.</a:t>
            </a:r>
            <a:r>
              <a:rPr lang="en-US" baseline="0" dirty="0" smtClean="0"/>
              <a:t> </a:t>
            </a:r>
            <a:r>
              <a:rPr lang="en-US" dirty="0" smtClean="0"/>
              <a:t>Homoserine can cyclize to</a:t>
            </a:r>
            <a:r>
              <a:rPr lang="en-US" baseline="0" dirty="0" smtClean="0"/>
              <a:t> </a:t>
            </a:r>
            <a:r>
              <a:rPr lang="en-US" dirty="0" smtClean="0"/>
              <a:t>form a stable, five-membered</a:t>
            </a:r>
            <a:r>
              <a:rPr lang="en-US" baseline="0" dirty="0" smtClean="0"/>
              <a:t> </a:t>
            </a:r>
            <a:r>
              <a:rPr lang="en-US" dirty="0" smtClean="0"/>
              <a:t>ring, potentially resulting in</a:t>
            </a:r>
            <a:r>
              <a:rPr lang="en-US" baseline="0" dirty="0" smtClean="0"/>
              <a:t> </a:t>
            </a:r>
            <a:r>
              <a:rPr lang="en-US" dirty="0" smtClean="0"/>
              <a:t>peptide-bond cleavage. The</a:t>
            </a:r>
            <a:r>
              <a:rPr lang="en-US" baseline="0" dirty="0" smtClean="0"/>
              <a:t> </a:t>
            </a:r>
            <a:r>
              <a:rPr lang="en-US" dirty="0" smtClean="0"/>
              <a:t>cyclization of serine would</a:t>
            </a:r>
            <a:r>
              <a:rPr lang="en-US" baseline="0" dirty="0" smtClean="0"/>
              <a:t> </a:t>
            </a:r>
            <a:r>
              <a:rPr lang="en-US" dirty="0" smtClean="0"/>
              <a:t>form a strained, four membered</a:t>
            </a:r>
            <a:r>
              <a:rPr lang="en-US" baseline="0" dirty="0" smtClean="0"/>
              <a:t> </a:t>
            </a:r>
            <a:r>
              <a:rPr lang="en-US" dirty="0" smtClean="0"/>
              <a:t>ring and is thus</a:t>
            </a:r>
            <a:r>
              <a:rPr lang="en-US" baseline="0" dirty="0" smtClean="0"/>
              <a:t> </a:t>
            </a:r>
            <a:r>
              <a:rPr lang="en-US" dirty="0" smtClean="0"/>
              <a:t>disfavored. X can be an amino</a:t>
            </a:r>
            <a:r>
              <a:rPr lang="en-US" baseline="0" dirty="0" smtClean="0"/>
              <a:t> </a:t>
            </a:r>
            <a:r>
              <a:rPr lang="en-US" dirty="0" smtClean="0"/>
              <a:t>group from a neighboring</a:t>
            </a:r>
            <a:r>
              <a:rPr lang="en-US" baseline="0" dirty="0" smtClean="0"/>
              <a:t> </a:t>
            </a:r>
            <a:r>
              <a:rPr lang="en-US" dirty="0" smtClean="0"/>
              <a:t>amino acid or another</a:t>
            </a:r>
            <a:r>
              <a:rPr lang="en-US" baseline="0" dirty="0" smtClean="0"/>
              <a:t> </a:t>
            </a:r>
            <a:r>
              <a:rPr lang="en-US" dirty="0" smtClean="0"/>
              <a:t>potential leaving group.</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C561180-040B-A94A-ADF3-678C9DAC4F23}" type="slidenum">
              <a:rPr lang="en-US"/>
              <a:pPr>
                <a:defRPr/>
              </a:pPr>
              <a:t>27</a:t>
            </a:fld>
            <a:endParaRPr lang="en-US" dirty="0"/>
          </a:p>
        </p:txBody>
      </p:sp>
      <p:sp>
        <p:nvSpPr>
          <p:cNvPr id="2160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6067" name="Rectangle 3"/>
          <p:cNvSpPr>
            <a:spLocks noGrp="1" noChangeArrowheads="1"/>
          </p:cNvSpPr>
          <p:nvPr>
            <p:ph type="body" idx="1"/>
          </p:nvPr>
        </p:nvSpPr>
        <p:spPr/>
        <p:txBody>
          <a:bodyPr/>
          <a:lstStyle/>
          <a:p>
            <a:pPr>
              <a:defRPr/>
            </a:pPr>
            <a:r>
              <a:rPr lang="en-US" b="1" dirty="0" smtClean="0"/>
              <a:t>FIGURE 2.13 Peptide-bond formation. </a:t>
            </a:r>
            <a:r>
              <a:rPr lang="en-US" dirty="0" smtClean="0"/>
              <a:t>The linking of two amino acids is accompanied by the</a:t>
            </a:r>
            <a:r>
              <a:rPr lang="en-US" baseline="0" dirty="0" smtClean="0"/>
              <a:t> </a:t>
            </a:r>
            <a:r>
              <a:rPr lang="en-US" dirty="0" smtClean="0"/>
              <a:t>loss of a molecule of water.</a:t>
            </a:r>
            <a:endParaRPr lang="en-US" dirty="0" smtClean="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0B8637A-E33D-F64D-B70B-968F01D04673}" type="slidenum">
              <a:rPr lang="en-US"/>
              <a:pPr>
                <a:defRPr/>
              </a:pPr>
              <a:t>29</a:t>
            </a:fld>
            <a:endParaRPr lang="en-US" dirty="0"/>
          </a:p>
        </p:txBody>
      </p:sp>
      <p:sp>
        <p:nvSpPr>
          <p:cNvPr id="2170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7091" name="Rectangle 3"/>
          <p:cNvSpPr>
            <a:spLocks noGrp="1" noChangeArrowheads="1"/>
          </p:cNvSpPr>
          <p:nvPr>
            <p:ph type="body" idx="1"/>
          </p:nvPr>
        </p:nvSpPr>
        <p:spPr/>
        <p:txBody>
          <a:bodyPr/>
          <a:lstStyle/>
          <a:p>
            <a:pPr>
              <a:defRPr/>
            </a:pPr>
            <a:r>
              <a:rPr lang="en-US" b="1" dirty="0" smtClean="0"/>
              <a:t>FIGURE 2.14 Amino acid sequences have direction. </a:t>
            </a:r>
            <a:r>
              <a:rPr lang="en-US" dirty="0" smtClean="0"/>
              <a:t>This illustration of the pentapeptide Try-Gly-Gly-Phe-Leu (YGGFL) shows the sequence from the amino terminus to the carboxyl terminus.</a:t>
            </a:r>
            <a:r>
              <a:rPr lang="en-US" baseline="0" dirty="0" smtClean="0"/>
              <a:t> </a:t>
            </a:r>
            <a:r>
              <a:rPr lang="en-US" dirty="0" smtClean="0"/>
              <a:t>This pentapeptide, Leu-enkephalin, is an opioid peptide that modulates the perception of pain.</a:t>
            </a:r>
            <a:r>
              <a:rPr lang="en-US" baseline="0" dirty="0" smtClean="0"/>
              <a:t> </a:t>
            </a:r>
            <a:r>
              <a:rPr lang="en-US" dirty="0" smtClean="0"/>
              <a:t>The reverse pentapeptide, Leu-Phe-Gly-Gly-Tyr (LFGGY), is a different molecule and has no</a:t>
            </a:r>
            <a:r>
              <a:rPr lang="en-US" baseline="0" dirty="0" smtClean="0"/>
              <a:t> </a:t>
            </a:r>
            <a:r>
              <a:rPr lang="en-US" dirty="0" smtClean="0"/>
              <a:t>such effects.</a:t>
            </a:r>
            <a:endParaRPr lang="en-US" dirty="0" smtClean="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92AD588-711F-324C-A706-713006CAF6E2}" type="slidenum">
              <a:rPr lang="en-US"/>
              <a:pPr>
                <a:defRPr/>
              </a:pPr>
              <a:t>31</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8115" name="Rectangle 3"/>
          <p:cNvSpPr>
            <a:spLocks noGrp="1" noChangeArrowheads="1"/>
          </p:cNvSpPr>
          <p:nvPr>
            <p:ph type="body" idx="1"/>
          </p:nvPr>
        </p:nvSpPr>
        <p:spPr/>
        <p:txBody>
          <a:bodyPr/>
          <a:lstStyle/>
          <a:p>
            <a:pPr>
              <a:defRPr/>
            </a:pPr>
            <a:r>
              <a:rPr lang="en-US" b="1" dirty="0" smtClean="0"/>
              <a:t>FIGURE 2.15 Components of a polypeptide chain. </a:t>
            </a:r>
            <a:r>
              <a:rPr lang="en-US" dirty="0" smtClean="0"/>
              <a:t>A polypeptide</a:t>
            </a:r>
            <a:r>
              <a:rPr lang="en-US" baseline="0" dirty="0" smtClean="0"/>
              <a:t> </a:t>
            </a:r>
            <a:r>
              <a:rPr lang="en-US" dirty="0" smtClean="0"/>
              <a:t>chain consists of a constant backbone (shown in black) and variable side</a:t>
            </a:r>
            <a:r>
              <a:rPr lang="en-US" baseline="0" dirty="0" smtClean="0"/>
              <a:t> </a:t>
            </a:r>
            <a:r>
              <a:rPr lang="en-US" dirty="0" smtClean="0"/>
              <a:t>chains (shown in green).</a:t>
            </a:r>
            <a:endParaRPr lang="en-US" dirty="0" smtClean="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10AFDF1-FBC7-CD43-996C-F89B12C1B0DF}" type="slidenum">
              <a:rPr lang="en-US"/>
              <a:pPr>
                <a:defRPr/>
              </a:pPr>
              <a:t>33</a:t>
            </a:fld>
            <a:endParaRPr lang="en-US" dirty="0"/>
          </a:p>
        </p:txBody>
      </p:sp>
      <p:sp>
        <p:nvSpPr>
          <p:cNvPr id="2191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19139" name="Rectangle 3"/>
          <p:cNvSpPr>
            <a:spLocks noGrp="1" noChangeArrowheads="1"/>
          </p:cNvSpPr>
          <p:nvPr>
            <p:ph type="body" idx="1"/>
          </p:nvPr>
        </p:nvSpPr>
        <p:spPr/>
        <p:txBody>
          <a:bodyPr/>
          <a:lstStyle/>
          <a:p>
            <a:pPr>
              <a:defRPr/>
            </a:pPr>
            <a:r>
              <a:rPr lang="en-US" b="1" dirty="0" smtClean="0"/>
              <a:t>FIGURE 2.16 Cross-links. </a:t>
            </a:r>
            <a:r>
              <a:rPr lang="en-US" dirty="0" smtClean="0"/>
              <a:t>The formation of a disulfide bond from two</a:t>
            </a:r>
            <a:r>
              <a:rPr lang="en-US" baseline="0" dirty="0" smtClean="0"/>
              <a:t> </a:t>
            </a:r>
            <a:r>
              <a:rPr lang="en-US" dirty="0" smtClean="0"/>
              <a:t>cysteine residues is an oxidation reaction.</a:t>
            </a:r>
            <a:endParaRPr lang="en-US" dirty="0" smtClean="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2.17 Amino acid sequence of bovine insulin.</a:t>
            </a:r>
            <a:endParaRPr lang="en-US" dirty="0"/>
          </a:p>
        </p:txBody>
      </p:sp>
      <p:sp>
        <p:nvSpPr>
          <p:cNvPr id="4" name="Slide Number Placeholder 3"/>
          <p:cNvSpPr>
            <a:spLocks noGrp="1"/>
          </p:cNvSpPr>
          <p:nvPr>
            <p:ph type="sldNum" sz="quarter" idx="5"/>
          </p:nvPr>
        </p:nvSpPr>
        <p:spPr/>
        <p:txBody>
          <a:bodyPr/>
          <a:lstStyle/>
          <a:p>
            <a:pPr>
              <a:defRPr/>
            </a:pPr>
            <a:fld id="{7C7819D8-C91E-624F-B472-FF0081CB4323}" type="slidenum">
              <a:rPr lang="en-US" smtClean="0"/>
              <a:pPr>
                <a:defRPr/>
              </a:pPr>
              <a:t>34</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0EAD760-C085-6540-9F76-2E9BC268A207}" type="slidenum">
              <a:rPr lang="en-US"/>
              <a:pPr>
                <a:defRPr/>
              </a:pPr>
              <a:t>35</a:t>
            </a:fld>
            <a:endParaRPr lang="en-US" dirty="0"/>
          </a:p>
        </p:txBody>
      </p:sp>
      <p:sp>
        <p:nvSpPr>
          <p:cNvPr id="2201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0163"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CCDBF8C-C312-5948-BEAD-C33393EE180F}" type="slidenum">
              <a:rPr lang="en-US"/>
              <a:pPr>
                <a:defRPr/>
              </a:pPr>
              <a:t>36</a:t>
            </a:fld>
            <a:endParaRPr lang="en-US" dirty="0"/>
          </a:p>
        </p:txBody>
      </p:sp>
      <p:sp>
        <p:nvSpPr>
          <p:cNvPr id="2211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1187" name="Rectangle 3"/>
          <p:cNvSpPr>
            <a:spLocks noGrp="1" noChangeArrowheads="1"/>
          </p:cNvSpPr>
          <p:nvPr>
            <p:ph type="body" idx="1"/>
          </p:nvPr>
        </p:nvSpPr>
        <p:spPr/>
        <p:txBody>
          <a:bodyPr/>
          <a:lstStyle/>
          <a:p>
            <a:pPr>
              <a:defRPr/>
            </a:pPr>
            <a:r>
              <a:rPr lang="en-US" b="1" dirty="0" smtClean="0"/>
              <a:t>FIGURE 2.18 Peptide bonds are planar. </a:t>
            </a:r>
            <a:r>
              <a:rPr lang="en-US" dirty="0" smtClean="0"/>
              <a:t>In a pair of linked</a:t>
            </a:r>
            <a:r>
              <a:rPr lang="en-US" baseline="0" dirty="0" smtClean="0"/>
              <a:t> </a:t>
            </a:r>
            <a:r>
              <a:rPr lang="en-US" dirty="0" smtClean="0"/>
              <a:t>amino acids, six atoms (C</a:t>
            </a:r>
            <a:r>
              <a:rPr lang="en-US" baseline="-25000" dirty="0" smtClean="0"/>
              <a:t>α,</a:t>
            </a:r>
            <a:r>
              <a:rPr lang="en-US" dirty="0" smtClean="0"/>
              <a:t> C, O, N, H, and C</a:t>
            </a:r>
            <a:r>
              <a:rPr lang="en-US" baseline="-25000" dirty="0" smtClean="0"/>
              <a:t>α</a:t>
            </a:r>
            <a:r>
              <a:rPr lang="en-US" dirty="0" smtClean="0"/>
              <a:t>) lie in a plane.</a:t>
            </a:r>
            <a:r>
              <a:rPr lang="en-US" baseline="0" dirty="0" smtClean="0"/>
              <a:t> </a:t>
            </a:r>
            <a:r>
              <a:rPr lang="en-US" dirty="0" smtClean="0"/>
              <a:t>Side chains are shown as green balls.</a:t>
            </a:r>
            <a:endParaRPr lang="en-US" dirty="0" smtClean="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8967719-4B9A-D243-A916-1E265FEDB6B8}" type="slidenum">
              <a:rPr lang="en-US"/>
              <a:pPr>
                <a:defRPr/>
              </a:pPr>
              <a:t>37</a:t>
            </a:fld>
            <a:endParaRPr lang="en-US" dirty="0"/>
          </a:p>
        </p:txBody>
      </p:sp>
      <p:sp>
        <p:nvSpPr>
          <p:cNvPr id="2232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3235" name="Rectangle 3"/>
          <p:cNvSpPr>
            <a:spLocks noGrp="1" noChangeArrowheads="1"/>
          </p:cNvSpPr>
          <p:nvPr>
            <p:ph type="body" idx="1"/>
          </p:nvPr>
        </p:nvSpPr>
        <p:spPr/>
        <p:txBody>
          <a:bodyPr/>
          <a:lstStyle/>
          <a:p>
            <a:pPr>
              <a:defRPr/>
            </a:pPr>
            <a:r>
              <a:rPr lang="en-US" b="1" dirty="0" smtClean="0"/>
              <a:t>FIGURE 2.19 Typical bond lengths within a peptide unit.</a:t>
            </a:r>
            <a:r>
              <a:rPr lang="en-US" b="1" baseline="0" dirty="0" smtClean="0"/>
              <a:t> </a:t>
            </a:r>
            <a:r>
              <a:rPr lang="en-US" dirty="0" smtClean="0"/>
              <a:t>The peptide unit is shown in the trans configuration.</a:t>
            </a:r>
            <a:endParaRPr lang="en-US" dirty="0" smtClean="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93B1921-1817-E54B-BB31-F108839DDFF1}" type="slidenum">
              <a:rPr lang="en-US"/>
              <a:pPr>
                <a:defRPr/>
              </a:pPr>
              <a:t>38</a:t>
            </a:fld>
            <a:endParaRPr lang="en-US" dirty="0"/>
          </a:p>
        </p:txBody>
      </p:sp>
      <p:sp>
        <p:nvSpPr>
          <p:cNvPr id="2242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4259" name="Rectangle 3"/>
          <p:cNvSpPr>
            <a:spLocks noGrp="1" noChangeArrowheads="1"/>
          </p:cNvSpPr>
          <p:nvPr>
            <p:ph type="body" idx="1"/>
          </p:nvPr>
        </p:nvSpPr>
        <p:spPr/>
        <p:txBody>
          <a:bodyPr/>
          <a:lstStyle/>
          <a:p>
            <a:pPr>
              <a:defRPr/>
            </a:pPr>
            <a:r>
              <a:rPr lang="en-US" b="1" dirty="0" smtClean="0"/>
              <a:t>FIGURE 2.20 Trans and cis peptide bonds. </a:t>
            </a:r>
            <a:r>
              <a:rPr lang="en-US" dirty="0" smtClean="0"/>
              <a:t>The trans form is strongly favored because of steric</a:t>
            </a:r>
            <a:r>
              <a:rPr lang="en-US" baseline="0" dirty="0" smtClean="0"/>
              <a:t> </a:t>
            </a:r>
            <a:r>
              <a:rPr lang="en-US" dirty="0" smtClean="0"/>
              <a:t>clashes, indicated</a:t>
            </a:r>
            <a:r>
              <a:rPr lang="en-US" baseline="0" dirty="0" smtClean="0"/>
              <a:t> by the orange semicircles, </a:t>
            </a:r>
            <a:r>
              <a:rPr lang="en-US" dirty="0" smtClean="0"/>
              <a:t> that arise in the cis form.</a:t>
            </a:r>
            <a:endParaRPr lang="en-US" dirty="0" smtClean="0">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EBAD753-B256-7F45-A03D-0CBF9DE007CC}" type="slidenum">
              <a:rPr lang="en-US"/>
              <a:pPr>
                <a:defRPr/>
              </a:pPr>
              <a:t>39</a:t>
            </a:fld>
            <a:endParaRPr lang="en-US" dirty="0"/>
          </a:p>
        </p:txBody>
      </p:sp>
      <p:sp>
        <p:nvSpPr>
          <p:cNvPr id="2252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5283" name="Rectangle 3"/>
          <p:cNvSpPr>
            <a:spLocks noGrp="1" noChangeArrowheads="1"/>
          </p:cNvSpPr>
          <p:nvPr>
            <p:ph type="body" idx="1"/>
          </p:nvPr>
        </p:nvSpPr>
        <p:spPr/>
        <p:txBody>
          <a:bodyPr/>
          <a:lstStyle/>
          <a:p>
            <a:pPr>
              <a:defRPr/>
            </a:pPr>
            <a:r>
              <a:rPr lang="en-US" b="1" dirty="0" smtClean="0"/>
              <a:t>FIGURE 2.21 Trans and cis X–Pro bonds. </a:t>
            </a:r>
            <a:r>
              <a:rPr lang="en-US" dirty="0" smtClean="0"/>
              <a:t>The energies of these forms are similar to one another</a:t>
            </a:r>
            <a:r>
              <a:rPr lang="en-US" baseline="0" dirty="0" smtClean="0"/>
              <a:t> </a:t>
            </a:r>
            <a:r>
              <a:rPr lang="en-US" dirty="0" smtClean="0"/>
              <a:t>because steric clashes, indicated by the orange semicircles, arise in both forms.</a:t>
            </a:r>
            <a:endParaRPr lang="en-US" dirty="0" smtClean="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4A1CB32-A23C-4442-B2CF-5FA773251B5B}" type="slidenum">
              <a:rPr lang="en-US"/>
              <a:pPr>
                <a:defRPr/>
              </a:pPr>
              <a:t>41</a:t>
            </a:fld>
            <a:endParaRPr lang="en-US" dirty="0"/>
          </a:p>
        </p:txBody>
      </p:sp>
      <p:sp>
        <p:nvSpPr>
          <p:cNvPr id="2263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6307" name="Rectangle 3"/>
          <p:cNvSpPr>
            <a:spLocks noGrp="1" noChangeArrowheads="1"/>
          </p:cNvSpPr>
          <p:nvPr>
            <p:ph type="body" idx="1"/>
          </p:nvPr>
        </p:nvSpPr>
        <p:spPr/>
        <p:txBody>
          <a:bodyPr/>
          <a:lstStyle/>
          <a:p>
            <a:pPr>
              <a:defRPr/>
            </a:pPr>
            <a:r>
              <a:rPr lang="en-US" b="1" dirty="0" smtClean="0"/>
              <a:t>FIGURE 2.22 Rotation about bonds in a polypeptide. </a:t>
            </a:r>
            <a:r>
              <a:rPr lang="en-US" dirty="0" smtClean="0"/>
              <a:t>The structure of each amino acid in a</a:t>
            </a:r>
            <a:r>
              <a:rPr lang="en-US" baseline="0" dirty="0" smtClean="0"/>
              <a:t> </a:t>
            </a:r>
            <a:r>
              <a:rPr lang="en-US" dirty="0" smtClean="0"/>
              <a:t>polypeptide can be adjusted by rotation about two single bonds. (A) Phi (Φ) is the angle of rotation</a:t>
            </a:r>
            <a:r>
              <a:rPr lang="en-US" baseline="0" dirty="0" smtClean="0"/>
              <a:t> </a:t>
            </a:r>
            <a:r>
              <a:rPr lang="en-US" dirty="0" smtClean="0"/>
              <a:t>about the bond between the nitrogen and the α-carbon atoms, whereas psi (ψ) is the angle of</a:t>
            </a:r>
            <a:r>
              <a:rPr lang="en-US" baseline="0" dirty="0" smtClean="0"/>
              <a:t> </a:t>
            </a:r>
            <a:r>
              <a:rPr lang="en-US" dirty="0" smtClean="0"/>
              <a:t>rotation about the bond between the α-carbon and the carbonyl carbon atoms. (B) A view down</a:t>
            </a:r>
            <a:r>
              <a:rPr lang="en-US" baseline="0" dirty="0" smtClean="0"/>
              <a:t> </a:t>
            </a:r>
            <a:r>
              <a:rPr lang="en-US" dirty="0" smtClean="0"/>
              <a:t>the bond between the nitrogen and the α-carbon atoms, showing how </a:t>
            </a:r>
            <a:r>
              <a:rPr lang="en-US" i="1" dirty="0" smtClean="0"/>
              <a:t> </a:t>
            </a:r>
            <a:r>
              <a:rPr lang="en-US" dirty="0" smtClean="0"/>
              <a:t>is measured. (C) A view</a:t>
            </a:r>
            <a:r>
              <a:rPr lang="en-US" baseline="0" dirty="0" smtClean="0"/>
              <a:t> </a:t>
            </a:r>
            <a:r>
              <a:rPr lang="en-US" dirty="0" smtClean="0"/>
              <a:t>down the bond between the α-carbon and the carbonyl carbon atoms, showing how </a:t>
            </a:r>
            <a:r>
              <a:rPr lang="en-US" i="1" dirty="0" smtClean="0"/>
              <a:t> </a:t>
            </a:r>
            <a:r>
              <a:rPr lang="en-US" dirty="0" smtClean="0"/>
              <a:t>ψ is measured.</a:t>
            </a:r>
            <a:endParaRPr lang="en-US" dirty="0" smtClean="0">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BACC543-CBCA-F048-9A25-455855F75933}" type="slidenum">
              <a:rPr lang="en-US"/>
              <a:pPr>
                <a:defRPr/>
              </a:pPr>
              <a:t>42</a:t>
            </a:fld>
            <a:endParaRPr lang="en-US" dirty="0"/>
          </a:p>
        </p:txBody>
      </p:sp>
      <p:sp>
        <p:nvSpPr>
          <p:cNvPr id="2283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835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6BA3804-DF0B-2B47-8265-925915963CFC}" type="slidenum">
              <a:rPr lang="en-US"/>
              <a:pPr>
                <a:defRPr/>
              </a:pPr>
              <a:t>43</a:t>
            </a:fld>
            <a:endParaRPr lang="en-US" dirty="0"/>
          </a:p>
        </p:txBody>
      </p:sp>
      <p:sp>
        <p:nvSpPr>
          <p:cNvPr id="2293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9379" name="Rectangle 3"/>
          <p:cNvSpPr>
            <a:spLocks noGrp="1" noChangeArrowheads="1"/>
          </p:cNvSpPr>
          <p:nvPr>
            <p:ph type="body" idx="1"/>
          </p:nvPr>
        </p:nvSpPr>
        <p:spPr/>
        <p:txBody>
          <a:bodyPr/>
          <a:lstStyle/>
          <a:p>
            <a:pPr>
              <a:defRPr/>
            </a:pPr>
            <a:r>
              <a:rPr lang="en-US" b="1" dirty="0" smtClean="0"/>
              <a:t>FIGURE 2.23 A Ramachandran plot showing the values of </a:t>
            </a:r>
            <a:r>
              <a:rPr lang="en-US" dirty="0" smtClean="0"/>
              <a:t>Φ</a:t>
            </a:r>
            <a:r>
              <a:rPr lang="en-US" b="1" i="1" dirty="0" smtClean="0"/>
              <a:t> </a:t>
            </a:r>
            <a:r>
              <a:rPr lang="en-US" b="1" dirty="0" smtClean="0"/>
              <a:t>and </a:t>
            </a:r>
            <a:r>
              <a:rPr lang="en-US" dirty="0" smtClean="0"/>
              <a:t>ψ</a:t>
            </a:r>
            <a:r>
              <a:rPr lang="en-US" b="1" dirty="0" smtClean="0"/>
              <a:t> . </a:t>
            </a:r>
            <a:r>
              <a:rPr lang="en-US" dirty="0" smtClean="0"/>
              <a:t>Not all </a:t>
            </a:r>
            <a:r>
              <a:rPr lang="en-US" i="1" dirty="0" smtClean="0"/>
              <a:t> </a:t>
            </a:r>
            <a:r>
              <a:rPr lang="en-US" dirty="0" smtClean="0"/>
              <a:t>Φ and ψ</a:t>
            </a:r>
            <a:r>
              <a:rPr lang="en-US" i="1" baseline="0" dirty="0" smtClean="0"/>
              <a:t> </a:t>
            </a:r>
            <a:r>
              <a:rPr lang="en-US" dirty="0" smtClean="0"/>
              <a:t>values are possible without collisions between atoms. The most favorable regions are shown in dark</a:t>
            </a:r>
            <a:r>
              <a:rPr lang="en-US" baseline="0" dirty="0" smtClean="0"/>
              <a:t> </a:t>
            </a:r>
            <a:r>
              <a:rPr lang="en-US" dirty="0" smtClean="0"/>
              <a:t>green; borderline regions are shown in light green. The structure on the right is disfavored because</a:t>
            </a:r>
            <a:r>
              <a:rPr lang="en-US" baseline="0" dirty="0" smtClean="0"/>
              <a:t> </a:t>
            </a:r>
            <a:r>
              <a:rPr lang="en-US" dirty="0" smtClean="0"/>
              <a:t>of steric clashes.</a:t>
            </a:r>
            <a:endParaRPr lang="en-US" dirty="0" smtClean="0">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E611233-44AF-0C43-9F37-9B7B0368AF1D}" type="slidenum">
              <a:rPr lang="en-US"/>
              <a:pPr>
                <a:defRPr/>
              </a:pPr>
              <a:t>44</a:t>
            </a:fld>
            <a:endParaRPr lang="en-US" dirty="0"/>
          </a:p>
        </p:txBody>
      </p:sp>
      <p:sp>
        <p:nvSpPr>
          <p:cNvPr id="2273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733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EB8963E-8AE9-0D47-A5BA-AAAA5A3E55F8}" type="slidenum">
              <a:rPr lang="en-US"/>
              <a:pPr>
                <a:defRPr/>
              </a:pPr>
              <a:t>45</a:t>
            </a:fld>
            <a:endParaRPr lang="en-US" dirty="0"/>
          </a:p>
        </p:txBody>
      </p:sp>
      <p:sp>
        <p:nvSpPr>
          <p:cNvPr id="2273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2733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2B841BA-C8F5-9040-A866-122F633356D7}" type="slidenum">
              <a:rPr lang="en-US"/>
              <a:pPr>
                <a:defRPr/>
              </a:pPr>
              <a:t>46</a:t>
            </a:fld>
            <a:endParaRPr lang="en-US" dirty="0"/>
          </a:p>
        </p:txBody>
      </p:sp>
      <p:sp>
        <p:nvSpPr>
          <p:cNvPr id="2304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30403" name="Rectangle 3"/>
          <p:cNvSpPr>
            <a:spLocks noGrp="1" noChangeArrowheads="1"/>
          </p:cNvSpPr>
          <p:nvPr>
            <p:ph type="body" idx="1"/>
          </p:nvPr>
        </p:nvSpPr>
        <p:spPr/>
        <p:txBody>
          <a:bodyPr/>
          <a:lstStyle/>
          <a:p>
            <a:pPr>
              <a:defRPr/>
            </a:pPr>
            <a:r>
              <a:rPr lang="en-US" b="1" dirty="0" smtClean="0"/>
              <a:t>FIGURE 2.24 Structure of the α</a:t>
            </a:r>
            <a:r>
              <a:rPr lang="en-US" dirty="0" smtClean="0"/>
              <a:t> </a:t>
            </a:r>
            <a:r>
              <a:rPr lang="en-US" b="1" dirty="0" smtClean="0"/>
              <a:t>helix. </a:t>
            </a:r>
            <a:r>
              <a:rPr lang="en-US" dirty="0" smtClean="0"/>
              <a:t>(A) A ribbon depiction shows the α-carbon atoms and</a:t>
            </a:r>
            <a:r>
              <a:rPr lang="en-US" baseline="0" dirty="0" smtClean="0"/>
              <a:t> </a:t>
            </a:r>
            <a:r>
              <a:rPr lang="en-US" dirty="0" smtClean="0"/>
              <a:t>side chains (green). (B) A side view of a ball-and-stick version depicts the hydrogen bonds (dashed</a:t>
            </a:r>
            <a:r>
              <a:rPr lang="en-US" baseline="0" dirty="0" smtClean="0"/>
              <a:t> </a:t>
            </a:r>
            <a:r>
              <a:rPr lang="en-US" dirty="0" smtClean="0"/>
              <a:t>lines) between NH and CO groups. (C) An end view shows the coiled backbone as the inside of</a:t>
            </a:r>
            <a:r>
              <a:rPr lang="en-US" baseline="0" dirty="0" smtClean="0"/>
              <a:t> </a:t>
            </a:r>
            <a:r>
              <a:rPr lang="en-US" dirty="0" smtClean="0"/>
              <a:t>the helix and the side chains (green) projecting outward. (D) A space-filling view of part C shows</a:t>
            </a:r>
            <a:r>
              <a:rPr lang="en-US" baseline="0" dirty="0" smtClean="0"/>
              <a:t> </a:t>
            </a:r>
            <a:r>
              <a:rPr lang="en-US" dirty="0" smtClean="0"/>
              <a:t>the tightly packed interior core of the helix.</a:t>
            </a:r>
            <a:endParaRPr lang="en-US" dirty="0" smtClean="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A96AE84-D0C5-F74A-BC03-6D313647EF01}" type="slidenum">
              <a:rPr lang="en-US"/>
              <a:pPr>
                <a:defRPr/>
              </a:pPr>
              <a:t>47</a:t>
            </a:fld>
            <a:endParaRPr lang="en-US" dirty="0"/>
          </a:p>
        </p:txBody>
      </p:sp>
      <p:sp>
        <p:nvSpPr>
          <p:cNvPr id="2355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35523" name="Rectangle 3"/>
          <p:cNvSpPr>
            <a:spLocks noGrp="1" noChangeArrowheads="1"/>
          </p:cNvSpPr>
          <p:nvPr>
            <p:ph type="body" idx="1"/>
          </p:nvPr>
        </p:nvSpPr>
        <p:spPr/>
        <p:txBody>
          <a:bodyPr/>
          <a:lstStyle/>
          <a:p>
            <a:pPr>
              <a:defRPr/>
            </a:pPr>
            <a:r>
              <a:rPr lang="en-US" b="1" dirty="0" smtClean="0"/>
              <a:t>FIGURE 2.25 Hydrogen-bonding scheme for an α</a:t>
            </a:r>
            <a:r>
              <a:rPr lang="en-US" dirty="0" smtClean="0"/>
              <a:t> </a:t>
            </a:r>
            <a:r>
              <a:rPr lang="en-US" b="1" dirty="0" smtClean="0"/>
              <a:t>helix. </a:t>
            </a:r>
            <a:r>
              <a:rPr lang="en-US" dirty="0" smtClean="0"/>
              <a:t>In the α helix, the CO group of residue</a:t>
            </a:r>
            <a:r>
              <a:rPr lang="en-US" baseline="0" dirty="0" smtClean="0"/>
              <a:t> </a:t>
            </a:r>
            <a:r>
              <a:rPr lang="en-US" i="1" dirty="0" smtClean="0"/>
              <a:t>i </a:t>
            </a:r>
            <a:r>
              <a:rPr lang="en-US" dirty="0" smtClean="0"/>
              <a:t>forms a hydrogen bond with the NH group of residue </a:t>
            </a:r>
            <a:r>
              <a:rPr lang="en-US" i="1" dirty="0" smtClean="0"/>
              <a:t>I </a:t>
            </a:r>
            <a:r>
              <a:rPr lang="en-US" dirty="0" smtClean="0"/>
              <a:t>+ 4.</a:t>
            </a:r>
            <a:endParaRPr lang="en-US" dirty="0" smtClean="0">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C3811C5-B747-854A-B4E5-92A4388CE2EA}" type="slidenum">
              <a:rPr lang="en-US"/>
              <a:pPr>
                <a:defRPr/>
              </a:pPr>
              <a:t>48</a:t>
            </a:fld>
            <a:endParaRPr lang="en-US" dirty="0"/>
          </a:p>
        </p:txBody>
      </p:sp>
      <p:sp>
        <p:nvSpPr>
          <p:cNvPr id="2365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36547" name="Rectangle 3"/>
          <p:cNvSpPr>
            <a:spLocks noGrp="1" noChangeArrowheads="1"/>
          </p:cNvSpPr>
          <p:nvPr>
            <p:ph type="body" idx="1"/>
          </p:nvPr>
        </p:nvSpPr>
        <p:spPr/>
        <p:txBody>
          <a:bodyPr/>
          <a:lstStyle/>
          <a:p>
            <a:pPr>
              <a:defRPr/>
            </a:pPr>
            <a:r>
              <a:rPr lang="en-US" b="1" dirty="0" smtClean="0"/>
              <a:t>FIGURE 2.26 Ramachandran plot for</a:t>
            </a:r>
            <a:r>
              <a:rPr lang="en-US" b="1" baseline="0" dirty="0" smtClean="0"/>
              <a:t> </a:t>
            </a:r>
            <a:r>
              <a:rPr lang="en-US" b="1" dirty="0" smtClean="0"/>
              <a:t>helices. </a:t>
            </a:r>
            <a:r>
              <a:rPr lang="en-US" dirty="0" smtClean="0"/>
              <a:t>Both right- and left-handed helices</a:t>
            </a:r>
            <a:r>
              <a:rPr lang="en-US" baseline="0" dirty="0" smtClean="0"/>
              <a:t> </a:t>
            </a:r>
            <a:r>
              <a:rPr lang="en-US" dirty="0" smtClean="0"/>
              <a:t>lie in regions of allowed conformations in the</a:t>
            </a:r>
            <a:r>
              <a:rPr lang="en-US" baseline="0" dirty="0" smtClean="0"/>
              <a:t> </a:t>
            </a:r>
            <a:r>
              <a:rPr lang="en-US" dirty="0" smtClean="0"/>
              <a:t>Ramachandran plot. However, essentially</a:t>
            </a:r>
            <a:r>
              <a:rPr lang="en-US" baseline="0" dirty="0" smtClean="0"/>
              <a:t> </a:t>
            </a:r>
            <a:r>
              <a:rPr lang="en-US" dirty="0" smtClean="0"/>
              <a:t>all α helices in proteins are right-handed.</a:t>
            </a:r>
            <a:endParaRPr lang="en-US" dirty="0" smtClean="0">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835B558-0ABC-DA45-80BE-5DA940016E1E}" type="slidenum">
              <a:rPr lang="en-US"/>
              <a:pPr>
                <a:defRPr/>
              </a:pPr>
              <a:t>49</a:t>
            </a:fld>
            <a:endParaRPr lang="en-US" dirty="0"/>
          </a:p>
        </p:txBody>
      </p:sp>
      <p:sp>
        <p:nvSpPr>
          <p:cNvPr id="2375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37571" name="Rectangle 3"/>
          <p:cNvSpPr>
            <a:spLocks noGrp="1" noChangeArrowheads="1"/>
          </p:cNvSpPr>
          <p:nvPr>
            <p:ph type="body" idx="1"/>
          </p:nvPr>
        </p:nvSpPr>
        <p:spPr/>
        <p:txBody>
          <a:bodyPr/>
          <a:lstStyle/>
          <a:p>
            <a:pPr>
              <a:defRPr/>
            </a:pPr>
            <a:r>
              <a:rPr lang="en-US" b="1" dirty="0" smtClean="0"/>
              <a:t>FIGURE 2.27 Schematic views of  α</a:t>
            </a:r>
            <a:r>
              <a:rPr lang="en-US" dirty="0" smtClean="0"/>
              <a:t> </a:t>
            </a:r>
            <a:r>
              <a:rPr lang="en-US" b="1" dirty="0" smtClean="0"/>
              <a:t>helices. </a:t>
            </a:r>
            <a:r>
              <a:rPr lang="en-US" dirty="0" smtClean="0"/>
              <a:t>(A) A ribbon depiction.</a:t>
            </a:r>
            <a:r>
              <a:rPr lang="en-US" baseline="0" dirty="0" smtClean="0"/>
              <a:t> </a:t>
            </a:r>
            <a:r>
              <a:rPr lang="en-US" dirty="0" smtClean="0"/>
              <a:t>(B) A cylindrical depiction.</a:t>
            </a:r>
          </a:p>
          <a:p>
            <a:pPr>
              <a:defRPr/>
            </a:pPr>
            <a:endParaRPr lang="en-US"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2.28 A largely α-helical</a:t>
            </a:r>
            <a:r>
              <a:rPr lang="en-US" b="1" baseline="0" dirty="0" smtClean="0"/>
              <a:t> </a:t>
            </a:r>
            <a:r>
              <a:rPr lang="en-US" b="1" dirty="0" smtClean="0"/>
              <a:t>protein. </a:t>
            </a:r>
            <a:r>
              <a:rPr lang="en-US" dirty="0" smtClean="0"/>
              <a:t>Ferritin, an iron-storage protein, is</a:t>
            </a:r>
            <a:r>
              <a:rPr lang="en-US" baseline="0" dirty="0" smtClean="0"/>
              <a:t> </a:t>
            </a:r>
            <a:r>
              <a:rPr lang="en-US" dirty="0" smtClean="0"/>
              <a:t>built from a bundle of α helices. [Drawn from1AEW.pdb.]</a:t>
            </a:r>
            <a:endParaRPr lang="en-US" dirty="0" smtClean="0">
              <a:cs typeface="+mn-cs"/>
            </a:endParaRPr>
          </a:p>
          <a:p>
            <a:endParaRPr lang="en-US" dirty="0"/>
          </a:p>
        </p:txBody>
      </p:sp>
      <p:sp>
        <p:nvSpPr>
          <p:cNvPr id="4" name="Slide Number Placeholder 3"/>
          <p:cNvSpPr>
            <a:spLocks noGrp="1"/>
          </p:cNvSpPr>
          <p:nvPr>
            <p:ph type="sldNum" sz="quarter" idx="10"/>
          </p:nvPr>
        </p:nvSpPr>
        <p:spPr/>
        <p:txBody>
          <a:bodyPr/>
          <a:lstStyle/>
          <a:p>
            <a:fld id="{03367E78-22B7-7F46-87F0-B71A15384A0D}" type="slidenum">
              <a:rPr lang="en-US" smtClean="0"/>
              <a:pPr/>
              <a:t>50</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12153949"/>
      </p:ext>
    </p:extLst>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CF01CED-5E92-FA46-BA57-4E2566A9B321}" type="slidenum">
              <a:rPr lang="en-US"/>
              <a:pPr>
                <a:defRPr/>
              </a:pPr>
              <a:t>51</a:t>
            </a:fld>
            <a:endParaRPr lang="en-US" dirty="0"/>
          </a:p>
        </p:txBody>
      </p:sp>
      <p:sp>
        <p:nvSpPr>
          <p:cNvPr id="2385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3859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8D92E1F-9CE1-5741-9C64-4F13C47D8BE6}" type="slidenum">
              <a:rPr lang="en-US"/>
              <a:pPr>
                <a:defRPr/>
              </a:pPr>
              <a:t>52</a:t>
            </a:fld>
            <a:endParaRPr lang="en-US" dirty="0"/>
          </a:p>
        </p:txBody>
      </p:sp>
      <p:sp>
        <p:nvSpPr>
          <p:cNvPr id="2396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39619" name="Rectangle 3"/>
          <p:cNvSpPr>
            <a:spLocks noGrp="1" noChangeArrowheads="1"/>
          </p:cNvSpPr>
          <p:nvPr>
            <p:ph type="body" idx="1"/>
          </p:nvPr>
        </p:nvSpPr>
        <p:spPr/>
        <p:txBody>
          <a:bodyPr/>
          <a:lstStyle/>
          <a:p>
            <a:pPr>
              <a:defRPr/>
            </a:pPr>
            <a:r>
              <a:rPr lang="en-US" b="1" dirty="0" smtClean="0"/>
              <a:t>FIGURE 2.29 Ramachandran plot for</a:t>
            </a:r>
            <a:r>
              <a:rPr lang="en-US" b="1" baseline="0" dirty="0" smtClean="0"/>
              <a:t> </a:t>
            </a:r>
            <a:r>
              <a:rPr lang="en-US" dirty="0" smtClean="0"/>
              <a:t>β </a:t>
            </a:r>
            <a:r>
              <a:rPr lang="en-US" b="1" dirty="0" smtClean="0"/>
              <a:t>strands. </a:t>
            </a:r>
            <a:r>
              <a:rPr lang="en-US" dirty="0" smtClean="0"/>
              <a:t>The red area shows the sterically</a:t>
            </a:r>
            <a:r>
              <a:rPr lang="en-US" baseline="0" dirty="0" smtClean="0"/>
              <a:t> </a:t>
            </a:r>
            <a:r>
              <a:rPr lang="en-US" dirty="0" smtClean="0"/>
              <a:t>allowed conformations of extended, α-strand-like</a:t>
            </a:r>
            <a:r>
              <a:rPr lang="en-US" baseline="0" dirty="0" smtClean="0"/>
              <a:t> </a:t>
            </a:r>
            <a:r>
              <a:rPr lang="en-US" dirty="0" smtClean="0"/>
              <a:t>structures.</a:t>
            </a:r>
            <a:endParaRPr lang="en-US" dirty="0" smtClean="0">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361AE5A-064C-7D4C-8150-94FB9316D18A}" type="slidenum">
              <a:rPr lang="en-US"/>
              <a:pPr>
                <a:defRPr/>
              </a:pPr>
              <a:t>53</a:t>
            </a:fld>
            <a:endParaRPr lang="en-US" dirty="0"/>
          </a:p>
        </p:txBody>
      </p:sp>
      <p:sp>
        <p:nvSpPr>
          <p:cNvPr id="2406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0643" name="Rectangle 3"/>
          <p:cNvSpPr>
            <a:spLocks noGrp="1" noChangeArrowheads="1"/>
          </p:cNvSpPr>
          <p:nvPr>
            <p:ph type="body" idx="1"/>
          </p:nvPr>
        </p:nvSpPr>
        <p:spPr/>
        <p:txBody>
          <a:bodyPr/>
          <a:lstStyle/>
          <a:p>
            <a:pPr>
              <a:defRPr/>
            </a:pPr>
            <a:r>
              <a:rPr lang="en-US" b="1" dirty="0" smtClean="0"/>
              <a:t>FIGURE 2.30 Structure of a </a:t>
            </a:r>
            <a:r>
              <a:rPr lang="en-US" dirty="0" smtClean="0"/>
              <a:t>β </a:t>
            </a:r>
            <a:r>
              <a:rPr lang="en-US" b="1" dirty="0" smtClean="0"/>
              <a:t>strand. </a:t>
            </a:r>
            <a:r>
              <a:rPr lang="en-US" dirty="0" smtClean="0"/>
              <a:t>The side chains (green) are alternately above and below</a:t>
            </a:r>
            <a:r>
              <a:rPr lang="en-US" baseline="0" dirty="0" smtClean="0"/>
              <a:t> </a:t>
            </a:r>
            <a:r>
              <a:rPr lang="en-US" dirty="0" smtClean="0"/>
              <a:t>the plane of the strand.</a:t>
            </a:r>
            <a:endParaRPr lang="en-US" dirty="0" smtClean="0">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E9BD332-5BA9-E947-A916-50717694BF64}" type="slidenum">
              <a:rPr lang="en-US"/>
              <a:pPr>
                <a:defRPr/>
              </a:pPr>
              <a:t>55</a:t>
            </a:fld>
            <a:endParaRPr lang="en-US" dirty="0"/>
          </a:p>
        </p:txBody>
      </p:sp>
      <p:sp>
        <p:nvSpPr>
          <p:cNvPr id="2416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1667" name="Rectangle 3"/>
          <p:cNvSpPr>
            <a:spLocks noGrp="1" noChangeArrowheads="1"/>
          </p:cNvSpPr>
          <p:nvPr>
            <p:ph type="body" idx="1"/>
          </p:nvPr>
        </p:nvSpPr>
        <p:spPr/>
        <p:txBody>
          <a:bodyPr/>
          <a:lstStyle/>
          <a:p>
            <a:pPr>
              <a:defRPr/>
            </a:pPr>
            <a:r>
              <a:rPr lang="en-US" b="1" dirty="0" smtClean="0"/>
              <a:t>FIGURE 2.31 An antiparallel </a:t>
            </a:r>
            <a:r>
              <a:rPr lang="en-US" dirty="0" smtClean="0"/>
              <a:t>β </a:t>
            </a:r>
            <a:r>
              <a:rPr lang="en-US" b="1" dirty="0" smtClean="0"/>
              <a:t>sheet. </a:t>
            </a:r>
            <a:r>
              <a:rPr lang="en-US" dirty="0" smtClean="0"/>
              <a:t>Adjacent β strands run in opposite directions. Hydrogen</a:t>
            </a:r>
            <a:r>
              <a:rPr lang="en-US" baseline="0" dirty="0" smtClean="0"/>
              <a:t> </a:t>
            </a:r>
            <a:r>
              <a:rPr lang="en-US" dirty="0" smtClean="0"/>
              <a:t>bonds between NH and CO groups connect each amino acid to a single amino acid on an adjacent</a:t>
            </a:r>
            <a:r>
              <a:rPr lang="en-US" baseline="0" dirty="0" smtClean="0"/>
              <a:t> </a:t>
            </a:r>
            <a:r>
              <a:rPr lang="en-US" dirty="0" smtClean="0"/>
              <a:t>strand, stabilizing the structure.</a:t>
            </a:r>
            <a:endParaRPr lang="en-US" dirty="0" smtClean="0">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B003115-CFD5-D84A-816A-5E1670B8C09A}" type="slidenum">
              <a:rPr lang="en-US"/>
              <a:pPr>
                <a:defRPr/>
              </a:pPr>
              <a:t>56</a:t>
            </a:fld>
            <a:endParaRPr lang="en-US" dirty="0"/>
          </a:p>
        </p:txBody>
      </p:sp>
      <p:sp>
        <p:nvSpPr>
          <p:cNvPr id="2426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2691" name="Rectangle 3"/>
          <p:cNvSpPr>
            <a:spLocks noGrp="1" noChangeArrowheads="1"/>
          </p:cNvSpPr>
          <p:nvPr>
            <p:ph type="body" idx="1"/>
          </p:nvPr>
        </p:nvSpPr>
        <p:spPr/>
        <p:txBody>
          <a:bodyPr/>
          <a:lstStyle/>
          <a:p>
            <a:pPr>
              <a:defRPr/>
            </a:pPr>
            <a:r>
              <a:rPr lang="en-US" b="1" dirty="0" smtClean="0"/>
              <a:t>FIGURE 2.32 A parallel </a:t>
            </a:r>
            <a:r>
              <a:rPr lang="en-US" dirty="0" smtClean="0"/>
              <a:t>β </a:t>
            </a:r>
            <a:r>
              <a:rPr lang="en-US" b="1" dirty="0" smtClean="0"/>
              <a:t>sheet. </a:t>
            </a:r>
            <a:r>
              <a:rPr lang="en-US" dirty="0" smtClean="0"/>
              <a:t>Adjacent β strands run in the same direction, as indicated by the arrows. Hydrogen bonds</a:t>
            </a:r>
            <a:r>
              <a:rPr lang="en-US" baseline="0" dirty="0" smtClean="0"/>
              <a:t> </a:t>
            </a:r>
            <a:r>
              <a:rPr lang="en-US" dirty="0" smtClean="0"/>
              <a:t>connect each amino acid on one strand with two different amino acids on the adjacent strand.</a:t>
            </a:r>
            <a:endParaRPr lang="en-US" dirty="0" smtClean="0">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ACA1E89-8E95-C347-BD08-A67D6A04C8F6}" type="slidenum">
              <a:rPr lang="en-US"/>
              <a:pPr>
                <a:defRPr/>
              </a:pPr>
              <a:t>57</a:t>
            </a:fld>
            <a:endParaRPr lang="en-US" dirty="0"/>
          </a:p>
        </p:txBody>
      </p:sp>
      <p:sp>
        <p:nvSpPr>
          <p:cNvPr id="2437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3715" name="Rectangle 3"/>
          <p:cNvSpPr>
            <a:spLocks noGrp="1" noChangeArrowheads="1"/>
          </p:cNvSpPr>
          <p:nvPr>
            <p:ph type="body" idx="1"/>
          </p:nvPr>
        </p:nvSpPr>
        <p:spPr/>
        <p:txBody>
          <a:bodyPr/>
          <a:lstStyle/>
          <a:p>
            <a:pPr eaLnBrk="1" hangingPunct="1">
              <a:defRPr/>
            </a:pPr>
            <a:r>
              <a:rPr lang="en-US" b="1" dirty="0" smtClean="0"/>
              <a:t>FIGURE 2.33 Structure of a mixed </a:t>
            </a:r>
            <a:r>
              <a:rPr lang="en-US" dirty="0" smtClean="0"/>
              <a:t>β </a:t>
            </a:r>
            <a:r>
              <a:rPr lang="en-US" b="1" dirty="0" smtClean="0"/>
              <a:t>sheet. </a:t>
            </a:r>
            <a:r>
              <a:rPr lang="en-US" b="0" dirty="0" smtClean="0"/>
              <a:t>The arrows indicate the direction</a:t>
            </a:r>
            <a:r>
              <a:rPr lang="en-US" b="0" baseline="0" dirty="0" smtClean="0"/>
              <a:t> of each strand.</a:t>
            </a:r>
            <a:endParaRPr lang="en-US" b="0" dirty="0" smtClean="0">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C44C64F-1054-154B-AC97-4385D872DAA4}" type="slidenum">
              <a:rPr lang="en-US"/>
              <a:pPr>
                <a:defRPr/>
              </a:pPr>
              <a:t>58</a:t>
            </a:fld>
            <a:endParaRPr lang="en-US" dirty="0"/>
          </a:p>
        </p:txBody>
      </p:sp>
      <p:sp>
        <p:nvSpPr>
          <p:cNvPr id="2447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4739" name="Rectangle 3"/>
          <p:cNvSpPr>
            <a:spLocks noGrp="1" noChangeArrowheads="1"/>
          </p:cNvSpPr>
          <p:nvPr>
            <p:ph type="body" idx="1"/>
          </p:nvPr>
        </p:nvSpPr>
        <p:spPr/>
        <p:txBody>
          <a:bodyPr/>
          <a:lstStyle/>
          <a:p>
            <a:pPr>
              <a:defRPr/>
            </a:pPr>
            <a:r>
              <a:rPr lang="en-US" b="1" dirty="0" smtClean="0"/>
              <a:t>FIGURE 2.34 A schematic twisted </a:t>
            </a:r>
            <a:r>
              <a:rPr lang="en-US" dirty="0" smtClean="0"/>
              <a:t>β </a:t>
            </a:r>
            <a:r>
              <a:rPr lang="en-US" b="1" dirty="0" smtClean="0"/>
              <a:t>sheet. </a:t>
            </a:r>
            <a:r>
              <a:rPr lang="en-US" dirty="0" smtClean="0"/>
              <a:t>(A) A schematic model. (B) The schematic view</a:t>
            </a:r>
            <a:r>
              <a:rPr lang="en-US" baseline="0" dirty="0" smtClean="0"/>
              <a:t> </a:t>
            </a:r>
            <a:r>
              <a:rPr lang="en-US" dirty="0" smtClean="0"/>
              <a:t>rotated by 90 degrees to illustrate the twist more clearly.</a:t>
            </a:r>
            <a:endParaRPr lang="en-US" dirty="0" smtClean="0">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0B29C18-C645-AF48-973A-4BE43F352C51}" type="slidenum">
              <a:rPr lang="en-US"/>
              <a:pPr>
                <a:defRPr/>
              </a:pPr>
              <a:t>59</a:t>
            </a:fld>
            <a:endParaRPr lang="en-US" dirty="0"/>
          </a:p>
        </p:txBody>
      </p:sp>
      <p:sp>
        <p:nvSpPr>
          <p:cNvPr id="2457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5763" name="Rectangle 3"/>
          <p:cNvSpPr>
            <a:spLocks noGrp="1" noChangeArrowheads="1"/>
          </p:cNvSpPr>
          <p:nvPr>
            <p:ph type="body" idx="1"/>
          </p:nvPr>
        </p:nvSpPr>
        <p:spPr/>
        <p:txBody>
          <a:bodyPr/>
          <a:lstStyle/>
          <a:p>
            <a:pPr>
              <a:defRPr/>
            </a:pPr>
            <a:r>
              <a:rPr lang="en-US" b="1" dirty="0" smtClean="0"/>
              <a:t>Figure 2.35 A protein rich in </a:t>
            </a:r>
            <a:r>
              <a:rPr lang="en-US" dirty="0" smtClean="0"/>
              <a:t>β</a:t>
            </a:r>
            <a:r>
              <a:rPr lang="en-US" baseline="0" dirty="0" smtClean="0"/>
              <a:t> </a:t>
            </a:r>
            <a:r>
              <a:rPr lang="en-US" b="1" dirty="0" smtClean="0"/>
              <a:t>sheets. </a:t>
            </a:r>
            <a:r>
              <a:rPr lang="en-US" dirty="0" smtClean="0"/>
              <a:t>The structure of a fatty acid-binding</a:t>
            </a:r>
            <a:r>
              <a:rPr lang="en-US" baseline="0" dirty="0" smtClean="0"/>
              <a:t> </a:t>
            </a:r>
            <a:r>
              <a:rPr lang="en-US" dirty="0" smtClean="0"/>
              <a:t>protein. [Drawn from 1FTP.pdb.]</a:t>
            </a:r>
            <a:endParaRPr lang="en-US" dirty="0" smtClean="0">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EE326C3-E2DB-5447-A7DF-5E67787C520B}" type="slidenum">
              <a:rPr lang="en-US"/>
              <a:pPr>
                <a:defRPr/>
              </a:pPr>
              <a:t>61</a:t>
            </a:fld>
            <a:endParaRPr lang="en-US" dirty="0"/>
          </a:p>
        </p:txBody>
      </p:sp>
      <p:sp>
        <p:nvSpPr>
          <p:cNvPr id="2467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6787" name="Rectangle 3"/>
          <p:cNvSpPr>
            <a:spLocks noGrp="1" noChangeArrowheads="1"/>
          </p:cNvSpPr>
          <p:nvPr>
            <p:ph type="body" idx="1"/>
          </p:nvPr>
        </p:nvSpPr>
        <p:spPr/>
        <p:txBody>
          <a:bodyPr/>
          <a:lstStyle/>
          <a:p>
            <a:pPr>
              <a:defRPr/>
            </a:pPr>
            <a:r>
              <a:rPr lang="en-US" b="1" dirty="0" smtClean="0"/>
              <a:t>FIGURE 2.36 Structure of a reverse turn.</a:t>
            </a:r>
            <a:r>
              <a:rPr lang="en-US" b="1" baseline="0" dirty="0" smtClean="0"/>
              <a:t> </a:t>
            </a:r>
            <a:r>
              <a:rPr lang="en-US" dirty="0" smtClean="0"/>
              <a:t>The CO group of residue </a:t>
            </a:r>
            <a:r>
              <a:rPr lang="en-US" i="1" dirty="0" smtClean="0"/>
              <a:t>i </a:t>
            </a:r>
            <a:r>
              <a:rPr lang="en-US" dirty="0" smtClean="0"/>
              <a:t>of the</a:t>
            </a:r>
            <a:r>
              <a:rPr lang="en-US" baseline="0" dirty="0" smtClean="0"/>
              <a:t> </a:t>
            </a:r>
            <a:r>
              <a:rPr lang="en-US" dirty="0" smtClean="0"/>
              <a:t>polypeptide chain is hydrogen bonded to</a:t>
            </a:r>
            <a:r>
              <a:rPr lang="en-US" baseline="0" dirty="0" smtClean="0"/>
              <a:t> </a:t>
            </a:r>
            <a:r>
              <a:rPr lang="en-US" dirty="0" smtClean="0"/>
              <a:t>the NH group of residue </a:t>
            </a:r>
            <a:r>
              <a:rPr lang="en-US" i="1" dirty="0" smtClean="0"/>
              <a:t>I </a:t>
            </a:r>
            <a:r>
              <a:rPr lang="en-US" dirty="0" smtClean="0"/>
              <a:t>+ 3 to stabilize</a:t>
            </a:r>
          </a:p>
          <a:p>
            <a:pPr>
              <a:defRPr/>
            </a:pPr>
            <a:r>
              <a:rPr lang="en-US" dirty="0" smtClean="0"/>
              <a:t>the turn.</a:t>
            </a:r>
          </a:p>
          <a:p>
            <a:pPr>
              <a:defRPr/>
            </a:pPr>
            <a:endParaRPr lang="en-US"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2.37 Loops on a protein</a:t>
            </a:r>
            <a:r>
              <a:rPr lang="en-US" b="1" baseline="0" dirty="0" smtClean="0"/>
              <a:t> </a:t>
            </a:r>
            <a:r>
              <a:rPr lang="en-US" b="1" dirty="0" smtClean="0"/>
              <a:t>surface. </a:t>
            </a:r>
            <a:r>
              <a:rPr lang="en-US" dirty="0" smtClean="0"/>
              <a:t>A part of an antibody molecule has</a:t>
            </a:r>
            <a:r>
              <a:rPr lang="en-US" baseline="0" dirty="0" smtClean="0"/>
              <a:t> </a:t>
            </a:r>
            <a:r>
              <a:rPr lang="en-US" dirty="0" smtClean="0"/>
              <a:t>surface loops (shown in red) that mediate</a:t>
            </a:r>
            <a:r>
              <a:rPr lang="en-US" baseline="0" dirty="0" smtClean="0"/>
              <a:t> </a:t>
            </a:r>
            <a:r>
              <a:rPr lang="en-US" dirty="0" smtClean="0"/>
              <a:t>interactions with other molecules. [Drawn</a:t>
            </a:r>
            <a:r>
              <a:rPr lang="en-US" baseline="0" dirty="0" smtClean="0"/>
              <a:t> </a:t>
            </a:r>
            <a:r>
              <a:rPr lang="en-US" dirty="0" smtClean="0"/>
              <a:t>from 7FAB.pdb.]</a:t>
            </a:r>
            <a:endParaRPr lang="en-US" dirty="0" smtClean="0">
              <a:cs typeface="+mn-cs"/>
            </a:endParaRPr>
          </a:p>
          <a:p>
            <a:endParaRPr lang="en-US" dirty="0"/>
          </a:p>
        </p:txBody>
      </p:sp>
      <p:sp>
        <p:nvSpPr>
          <p:cNvPr id="4" name="Slide Number Placeholder 3"/>
          <p:cNvSpPr>
            <a:spLocks noGrp="1"/>
          </p:cNvSpPr>
          <p:nvPr>
            <p:ph type="sldNum" sz="quarter" idx="10"/>
          </p:nvPr>
        </p:nvSpPr>
        <p:spPr/>
        <p:txBody>
          <a:bodyPr/>
          <a:lstStyle/>
          <a:p>
            <a:fld id="{03367E78-22B7-7F46-87F0-B71A15384A0D}" type="slidenum">
              <a:rPr lang="en-US" smtClean="0"/>
              <a:pPr/>
              <a:t>62</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873571369"/>
      </p:ext>
    </p:extLst>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FF57B2D-AE3E-764A-803F-E68E0E3DF53C}" type="slidenum">
              <a:rPr lang="en-US"/>
              <a:pPr>
                <a:defRPr/>
              </a:pPr>
              <a:t>63</a:t>
            </a:fld>
            <a:endParaRPr lang="en-US" dirty="0"/>
          </a:p>
        </p:txBody>
      </p:sp>
      <p:sp>
        <p:nvSpPr>
          <p:cNvPr id="2478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781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D3637CF-33F0-4348-9508-D39D7972275B}" type="slidenum">
              <a:rPr lang="en-US"/>
              <a:pPr>
                <a:defRPr/>
              </a:pPr>
              <a:t>64</a:t>
            </a:fld>
            <a:endParaRPr lang="en-US" dirty="0"/>
          </a:p>
        </p:txBody>
      </p:sp>
      <p:sp>
        <p:nvSpPr>
          <p:cNvPr id="2488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8835" name="Rectangle 3"/>
          <p:cNvSpPr>
            <a:spLocks noGrp="1" noChangeArrowheads="1"/>
          </p:cNvSpPr>
          <p:nvPr>
            <p:ph type="body" idx="1"/>
          </p:nvPr>
        </p:nvSpPr>
        <p:spPr/>
        <p:txBody>
          <a:bodyPr/>
          <a:lstStyle/>
          <a:p>
            <a:pPr>
              <a:defRPr/>
            </a:pPr>
            <a:r>
              <a:rPr lang="en-US" b="1" dirty="0" smtClean="0"/>
              <a:t>FIGURE 2.38 An </a:t>
            </a:r>
            <a:r>
              <a:rPr lang="en-US" dirty="0" smtClean="0"/>
              <a:t>α</a:t>
            </a:r>
            <a:r>
              <a:rPr lang="en-US" b="1" dirty="0" smtClean="0"/>
              <a:t>-helical coiled coil. </a:t>
            </a:r>
            <a:r>
              <a:rPr lang="en-US" dirty="0" smtClean="0"/>
              <a:t>(A) Space-filling model. (B) Ribbon diagram. The two</a:t>
            </a:r>
            <a:r>
              <a:rPr lang="en-US" baseline="0" dirty="0" smtClean="0"/>
              <a:t> </a:t>
            </a:r>
            <a:r>
              <a:rPr lang="en-US" dirty="0" smtClean="0"/>
              <a:t>helices wind around one another to form a superhelix. Such structures are found in many proteins,</a:t>
            </a:r>
            <a:r>
              <a:rPr lang="en-US" baseline="0" dirty="0" smtClean="0"/>
              <a:t> </a:t>
            </a:r>
            <a:r>
              <a:rPr lang="en-US" dirty="0" smtClean="0"/>
              <a:t>including keratin in hair, quills, claws, and horns. [Drawn from 1CIG.pdb.]</a:t>
            </a:r>
            <a:endParaRPr lang="en-US" dirty="0" smtClean="0">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6291BB5-E441-A149-A2AF-2B20226B1932}" type="slidenum">
              <a:rPr lang="en-US"/>
              <a:pPr>
                <a:defRPr/>
              </a:pPr>
              <a:t>65</a:t>
            </a:fld>
            <a:endParaRPr lang="en-US" dirty="0"/>
          </a:p>
        </p:txBody>
      </p:sp>
      <p:sp>
        <p:nvSpPr>
          <p:cNvPr id="2498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49859" name="Rectangle 3"/>
          <p:cNvSpPr>
            <a:spLocks noGrp="1" noChangeArrowheads="1"/>
          </p:cNvSpPr>
          <p:nvPr>
            <p:ph type="body" idx="1"/>
          </p:nvPr>
        </p:nvSpPr>
        <p:spPr/>
        <p:txBody>
          <a:bodyPr/>
          <a:lstStyle/>
          <a:p>
            <a:pPr>
              <a:defRPr/>
            </a:pPr>
            <a:r>
              <a:rPr lang="en-US" b="1" dirty="0" smtClean="0"/>
              <a:t>FIGURE 2.39 Heptad repeats in a</a:t>
            </a:r>
            <a:r>
              <a:rPr lang="en-US" b="1" baseline="0" dirty="0" smtClean="0"/>
              <a:t> </a:t>
            </a:r>
            <a:r>
              <a:rPr lang="en-US" b="1" dirty="0" smtClean="0"/>
              <a:t>coiled-coil protein. </a:t>
            </a:r>
            <a:r>
              <a:rPr lang="en-US" dirty="0" smtClean="0"/>
              <a:t>Every seventh residue in</a:t>
            </a:r>
            <a:r>
              <a:rPr lang="en-US" baseline="0" dirty="0" smtClean="0"/>
              <a:t> </a:t>
            </a:r>
            <a:r>
              <a:rPr lang="en-US" dirty="0" smtClean="0"/>
              <a:t>each helix is leucine. The two helices are held</a:t>
            </a:r>
            <a:r>
              <a:rPr lang="en-US" baseline="0" dirty="0" smtClean="0"/>
              <a:t> </a:t>
            </a:r>
            <a:r>
              <a:rPr lang="en-US" dirty="0" smtClean="0"/>
              <a:t>together by van der Waals interactions</a:t>
            </a:r>
            <a:r>
              <a:rPr lang="en-US" baseline="0" dirty="0" smtClean="0"/>
              <a:t> </a:t>
            </a:r>
            <a:r>
              <a:rPr lang="en-US" dirty="0" smtClean="0"/>
              <a:t>primarily between the leucine residues.</a:t>
            </a:r>
            <a:r>
              <a:rPr lang="en-US" baseline="0" dirty="0" smtClean="0"/>
              <a:t> </a:t>
            </a:r>
            <a:r>
              <a:rPr lang="en-US" dirty="0" smtClean="0"/>
              <a:t>[Drawn from 2ZTA.pdb.]</a:t>
            </a:r>
            <a:endParaRPr lang="en-US" dirty="0" smtClean="0">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6934B2F-B7B3-F740-B11C-A88EC969B40A}" type="slidenum">
              <a:rPr lang="en-US"/>
              <a:pPr>
                <a:defRPr/>
              </a:pPr>
              <a:t>67</a:t>
            </a:fld>
            <a:endParaRPr lang="en-US" dirty="0"/>
          </a:p>
        </p:txBody>
      </p:sp>
      <p:sp>
        <p:nvSpPr>
          <p:cNvPr id="250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50883" name="Rectangle 3"/>
          <p:cNvSpPr>
            <a:spLocks noGrp="1" noChangeArrowheads="1"/>
          </p:cNvSpPr>
          <p:nvPr>
            <p:ph type="body" idx="1"/>
          </p:nvPr>
        </p:nvSpPr>
        <p:spPr/>
        <p:txBody>
          <a:bodyPr/>
          <a:lstStyle/>
          <a:p>
            <a:pPr>
              <a:defRPr/>
            </a:pPr>
            <a:r>
              <a:rPr lang="en-US" b="1" dirty="0" smtClean="0"/>
              <a:t>FIGURE 2.40 Amino acid sequence of a</a:t>
            </a:r>
            <a:r>
              <a:rPr lang="en-US" b="1" baseline="0" dirty="0" smtClean="0"/>
              <a:t> </a:t>
            </a:r>
            <a:r>
              <a:rPr lang="en-US" b="1" dirty="0" smtClean="0"/>
              <a:t>part of a collagen chain. </a:t>
            </a:r>
            <a:r>
              <a:rPr lang="en-US" dirty="0" smtClean="0"/>
              <a:t>Every third residue</a:t>
            </a:r>
            <a:r>
              <a:rPr lang="en-US" baseline="0" dirty="0" smtClean="0"/>
              <a:t> </a:t>
            </a:r>
            <a:r>
              <a:rPr lang="en-US" dirty="0" smtClean="0"/>
              <a:t>is a glycine. Proline and hydroxyproline (Hyp) also</a:t>
            </a:r>
            <a:r>
              <a:rPr lang="en-US" baseline="0" dirty="0" smtClean="0"/>
              <a:t> </a:t>
            </a:r>
            <a:r>
              <a:rPr lang="en-US" dirty="0" smtClean="0"/>
              <a:t>are abundant.</a:t>
            </a:r>
            <a:endParaRPr lang="en-US" dirty="0" smtClean="0">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B1C2955-0EBA-4641-94A8-81A9E8474AE5}" type="slidenum">
              <a:rPr lang="en-US"/>
              <a:pPr>
                <a:defRPr/>
              </a:pPr>
              <a:t>69</a:t>
            </a:fld>
            <a:endParaRPr lang="en-US" dirty="0"/>
          </a:p>
        </p:txBody>
      </p:sp>
      <p:sp>
        <p:nvSpPr>
          <p:cNvPr id="2519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51907" name="Rectangle 3"/>
          <p:cNvSpPr>
            <a:spLocks noGrp="1" noChangeArrowheads="1"/>
          </p:cNvSpPr>
          <p:nvPr>
            <p:ph type="body" idx="1"/>
          </p:nvPr>
        </p:nvSpPr>
        <p:spPr/>
        <p:txBody>
          <a:bodyPr/>
          <a:lstStyle/>
          <a:p>
            <a:pPr eaLnBrk="1" hangingPunct="1">
              <a:defRPr/>
            </a:pPr>
            <a:r>
              <a:rPr lang="en-US" b="1" dirty="0" smtClean="0"/>
              <a:t>FIGURE 2.41 Conformation of a single strand of a collagen triple helix.</a:t>
            </a:r>
            <a:endParaRPr lang="en-US" dirty="0" smtClean="0">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769069E-CEC3-224A-A865-C7B3047EFDE4}" type="slidenum">
              <a:rPr lang="en-US"/>
              <a:pPr>
                <a:defRPr/>
              </a:pPr>
              <a:t>70</a:t>
            </a:fld>
            <a:endParaRPr lang="en-US" dirty="0"/>
          </a:p>
        </p:txBody>
      </p:sp>
      <p:sp>
        <p:nvSpPr>
          <p:cNvPr id="2529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52931" name="Rectangle 3"/>
          <p:cNvSpPr>
            <a:spLocks noGrp="1" noChangeArrowheads="1"/>
          </p:cNvSpPr>
          <p:nvPr>
            <p:ph type="body" idx="1"/>
          </p:nvPr>
        </p:nvSpPr>
        <p:spPr/>
        <p:txBody>
          <a:bodyPr/>
          <a:lstStyle/>
          <a:p>
            <a:pPr>
              <a:defRPr/>
            </a:pPr>
            <a:r>
              <a:rPr lang="en-US" b="1" dirty="0" smtClean="0"/>
              <a:t>FIGURE 2.42 Structure of the protein collagen. </a:t>
            </a:r>
            <a:r>
              <a:rPr lang="en-US" dirty="0" smtClean="0"/>
              <a:t>(A) Space-filling</a:t>
            </a:r>
            <a:r>
              <a:rPr lang="en-US" baseline="0" dirty="0" smtClean="0"/>
              <a:t> </a:t>
            </a:r>
            <a:r>
              <a:rPr lang="en-US" dirty="0" smtClean="0"/>
              <a:t>model of collagen. Each strand is shown in a different</a:t>
            </a:r>
            <a:r>
              <a:rPr lang="en-US" baseline="0" dirty="0" smtClean="0"/>
              <a:t> </a:t>
            </a:r>
            <a:r>
              <a:rPr lang="en-US" dirty="0" smtClean="0"/>
              <a:t>color. (B) Cross section of a model of collagen. Each strand is</a:t>
            </a:r>
            <a:r>
              <a:rPr lang="en-US" baseline="0" dirty="0" smtClean="0"/>
              <a:t> </a:t>
            </a:r>
            <a:r>
              <a:rPr lang="en-US" dirty="0" smtClean="0"/>
              <a:t>hydrogen bonded to the other two strands. The α-carbon atom</a:t>
            </a:r>
            <a:r>
              <a:rPr lang="en-US" baseline="0" dirty="0" smtClean="0"/>
              <a:t> </a:t>
            </a:r>
            <a:r>
              <a:rPr lang="en-US" dirty="0" smtClean="0"/>
              <a:t>of a glycine residue is identified by the letter G. Every third residue must be glycine because there is no space in the center</a:t>
            </a:r>
            <a:r>
              <a:rPr lang="en-US" baseline="0" dirty="0" smtClean="0"/>
              <a:t> </a:t>
            </a:r>
            <a:r>
              <a:rPr lang="en-US" dirty="0" smtClean="0"/>
              <a:t>of the helix. </a:t>
            </a:r>
            <a:r>
              <a:rPr lang="en-US" i="1" dirty="0" smtClean="0"/>
              <a:t>Notice </a:t>
            </a:r>
            <a:r>
              <a:rPr lang="en-US" dirty="0" smtClean="0"/>
              <a:t>that the </a:t>
            </a:r>
            <a:r>
              <a:rPr lang="en-US" dirty="0" err="1" smtClean="0"/>
              <a:t>pyrrolidine</a:t>
            </a:r>
            <a:r>
              <a:rPr lang="en-US" dirty="0" smtClean="0"/>
              <a:t> rings are on the outside.</a:t>
            </a:r>
            <a:endParaRPr lang="en-US" dirty="0" smtClean="0">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4B5B0DC-4FD2-4444-9144-358559EA2937}" type="slidenum">
              <a:rPr lang="en-US"/>
              <a:pPr>
                <a:defRPr/>
              </a:pPr>
              <a:t>72</a:t>
            </a:fld>
            <a:endParaRPr lang="en-US" dirty="0"/>
          </a:p>
        </p:txBody>
      </p:sp>
      <p:sp>
        <p:nvSpPr>
          <p:cNvPr id="2539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5395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C5E8A38-E97B-5649-BAB6-3B8B207BA343}" type="slidenum">
              <a:rPr lang="en-US"/>
              <a:pPr>
                <a:defRPr/>
              </a:pPr>
              <a:t>73</a:t>
            </a:fld>
            <a:endParaRPr lang="en-US" dirty="0"/>
          </a:p>
        </p:txBody>
      </p:sp>
      <p:sp>
        <p:nvSpPr>
          <p:cNvPr id="2549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54979" name="Rectangle 3"/>
          <p:cNvSpPr>
            <a:spLocks noGrp="1" noChangeArrowheads="1"/>
          </p:cNvSpPr>
          <p:nvPr>
            <p:ph type="body" idx="1"/>
          </p:nvPr>
        </p:nvSpPr>
        <p:spPr/>
        <p:txBody>
          <a:bodyPr/>
          <a:lstStyle/>
          <a:p>
            <a:pPr>
              <a:defRPr/>
            </a:pPr>
            <a:r>
              <a:rPr lang="en-US" b="1" dirty="0" smtClean="0"/>
              <a:t>FIGURE 2.43 Three-dimensional structure of myoglobin. </a:t>
            </a:r>
            <a:r>
              <a:rPr lang="en-US" dirty="0" smtClean="0"/>
              <a:t>(A) A ribbon diagram shows</a:t>
            </a:r>
            <a:r>
              <a:rPr lang="en-US" baseline="0" dirty="0" smtClean="0"/>
              <a:t> </a:t>
            </a:r>
            <a:r>
              <a:rPr lang="en-US" dirty="0" smtClean="0"/>
              <a:t>that the protein consists largely of </a:t>
            </a:r>
            <a:r>
              <a:rPr lang="el-GR" dirty="0" smtClean="0"/>
              <a:t>α</a:t>
            </a:r>
            <a:r>
              <a:rPr lang="en-US" dirty="0" smtClean="0"/>
              <a:t> helices. (B) A space-filling model in the same orientation</a:t>
            </a:r>
            <a:r>
              <a:rPr lang="en-US" baseline="0" dirty="0" smtClean="0"/>
              <a:t> </a:t>
            </a:r>
            <a:r>
              <a:rPr lang="en-US" dirty="0" smtClean="0"/>
              <a:t>shows how tightly packed the folded protein is. </a:t>
            </a:r>
            <a:r>
              <a:rPr lang="en-US" i="1" dirty="0" smtClean="0"/>
              <a:t>Notice </a:t>
            </a:r>
            <a:r>
              <a:rPr lang="en-US" dirty="0" smtClean="0"/>
              <a:t>that the heme group is nestled into a</a:t>
            </a:r>
            <a:r>
              <a:rPr lang="en-US" baseline="0" dirty="0" smtClean="0"/>
              <a:t> </a:t>
            </a:r>
            <a:r>
              <a:rPr lang="en-US" dirty="0" smtClean="0"/>
              <a:t>crevice in the compact protein with only an edge exposed. One helix is blue to allow comparison</a:t>
            </a:r>
            <a:r>
              <a:rPr lang="en-US" baseline="0" dirty="0" smtClean="0"/>
              <a:t> </a:t>
            </a:r>
            <a:r>
              <a:rPr lang="en-US" dirty="0" smtClean="0"/>
              <a:t>of the two structural depictions. [Drawn from 1A6N.pdb.]</a:t>
            </a:r>
            <a:endParaRPr lang="en-US" dirty="0" smtClean="0">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5343885-DF1E-BE45-9F45-10C21A1827DC}" type="slidenum">
              <a:rPr lang="en-US"/>
              <a:pPr>
                <a:defRPr/>
              </a:pPr>
              <a:t>74</a:t>
            </a:fld>
            <a:endParaRPr lang="en-US" dirty="0"/>
          </a:p>
        </p:txBody>
      </p:sp>
      <p:sp>
        <p:nvSpPr>
          <p:cNvPr id="25805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58051" name="Rectangle 3"/>
          <p:cNvSpPr>
            <a:spLocks noGrp="1" noChangeArrowheads="1"/>
          </p:cNvSpPr>
          <p:nvPr>
            <p:ph type="body" idx="1"/>
          </p:nvPr>
        </p:nvSpPr>
        <p:spPr/>
        <p:txBody>
          <a:bodyPr/>
          <a:lstStyle/>
          <a:p>
            <a:pPr>
              <a:defRPr/>
            </a:pPr>
            <a:r>
              <a:rPr lang="en-US" b="1" dirty="0" smtClean="0"/>
              <a:t>FIGURE 2.44 Distribution of amino</a:t>
            </a:r>
            <a:r>
              <a:rPr lang="en-US" b="1" baseline="0" dirty="0" smtClean="0"/>
              <a:t> </a:t>
            </a:r>
            <a:r>
              <a:rPr lang="en-US" b="1" dirty="0" smtClean="0"/>
              <a:t>acids in myoglobin. </a:t>
            </a:r>
            <a:r>
              <a:rPr lang="en-US" dirty="0" smtClean="0"/>
              <a:t>(A) A space-filling</a:t>
            </a:r>
            <a:r>
              <a:rPr lang="en-US" baseline="0" dirty="0" smtClean="0"/>
              <a:t> </a:t>
            </a:r>
            <a:r>
              <a:rPr lang="en-US" dirty="0" smtClean="0"/>
              <a:t>model of myoglobin with hydrophobic amino</a:t>
            </a:r>
            <a:r>
              <a:rPr lang="en-US" baseline="0" dirty="0" smtClean="0"/>
              <a:t> </a:t>
            </a:r>
            <a:r>
              <a:rPr lang="en-US" dirty="0" smtClean="0"/>
              <a:t>acids shown in yellow, charged amino acids</a:t>
            </a:r>
            <a:r>
              <a:rPr lang="en-US" baseline="0" dirty="0" smtClean="0"/>
              <a:t> </a:t>
            </a:r>
            <a:r>
              <a:rPr lang="en-US" dirty="0" smtClean="0"/>
              <a:t>shown in blue, and others shown in white.</a:t>
            </a:r>
            <a:r>
              <a:rPr lang="en-US" baseline="0" dirty="0" smtClean="0"/>
              <a:t> </a:t>
            </a:r>
            <a:r>
              <a:rPr lang="en-US" i="1" dirty="0" smtClean="0"/>
              <a:t>Notice </a:t>
            </a:r>
            <a:r>
              <a:rPr lang="en-US" dirty="0" smtClean="0"/>
              <a:t>that the surface of the molecule has</a:t>
            </a:r>
            <a:r>
              <a:rPr lang="en-US" baseline="0" dirty="0" smtClean="0"/>
              <a:t> </a:t>
            </a:r>
            <a:r>
              <a:rPr lang="en-US" dirty="0" smtClean="0"/>
              <a:t>many charged amino acids, as well as some</a:t>
            </a:r>
            <a:r>
              <a:rPr lang="en-US" baseline="0" dirty="0" smtClean="0"/>
              <a:t> </a:t>
            </a:r>
            <a:r>
              <a:rPr lang="en-US" dirty="0" smtClean="0"/>
              <a:t>hydrophobic amino acids. (B) In this cross-sectional</a:t>
            </a:r>
            <a:r>
              <a:rPr lang="en-US" baseline="0" dirty="0" smtClean="0"/>
              <a:t> </a:t>
            </a:r>
            <a:r>
              <a:rPr lang="en-US" dirty="0" smtClean="0"/>
              <a:t>view, </a:t>
            </a:r>
            <a:r>
              <a:rPr lang="en-US" i="1" dirty="0" smtClean="0"/>
              <a:t>notice </a:t>
            </a:r>
            <a:r>
              <a:rPr lang="en-US" dirty="0" smtClean="0"/>
              <a:t>that mostly hydrophobic</a:t>
            </a:r>
            <a:r>
              <a:rPr lang="en-US" baseline="0" dirty="0" smtClean="0"/>
              <a:t> </a:t>
            </a:r>
            <a:r>
              <a:rPr lang="en-US" dirty="0" smtClean="0"/>
              <a:t>amino acids are found on the inside of the</a:t>
            </a:r>
            <a:r>
              <a:rPr lang="en-US" baseline="0" dirty="0" smtClean="0"/>
              <a:t> </a:t>
            </a:r>
            <a:r>
              <a:rPr lang="en-US" dirty="0" smtClean="0"/>
              <a:t>structure, whereas the charged amino acids</a:t>
            </a:r>
            <a:r>
              <a:rPr lang="en-US" baseline="0" dirty="0" smtClean="0"/>
              <a:t> </a:t>
            </a:r>
            <a:r>
              <a:rPr lang="en-US" dirty="0" smtClean="0"/>
              <a:t>are found on the protein surface. [Drawn</a:t>
            </a:r>
            <a:r>
              <a:rPr lang="en-US" baseline="0" dirty="0" smtClean="0"/>
              <a:t> </a:t>
            </a:r>
            <a:r>
              <a:rPr lang="en-US" dirty="0" smtClean="0"/>
              <a:t>from 1MBD.pdb.]</a:t>
            </a:r>
            <a:endParaRPr lang="en-US" dirty="0" smtClean="0">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F9AF033-FA69-474F-BD43-B5685267EBEA}" type="slidenum">
              <a:rPr lang="en-US"/>
              <a:pPr>
                <a:defRPr/>
              </a:pPr>
              <a:t>75</a:t>
            </a:fld>
            <a:endParaRPr lang="en-US" dirty="0"/>
          </a:p>
        </p:txBody>
      </p:sp>
      <p:sp>
        <p:nvSpPr>
          <p:cNvPr id="2611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61123" name="Rectangle 3"/>
          <p:cNvSpPr>
            <a:spLocks noGrp="1" noChangeArrowheads="1"/>
          </p:cNvSpPr>
          <p:nvPr>
            <p:ph type="body" idx="1"/>
          </p:nvPr>
        </p:nvSpPr>
        <p:spPr/>
        <p:txBody>
          <a:bodyPr/>
          <a:lstStyle/>
          <a:p>
            <a:pPr>
              <a:defRPr/>
            </a:pPr>
            <a:r>
              <a:rPr lang="en-US" b="1" dirty="0" smtClean="0"/>
              <a:t>FIGURE 2.45 “Inside out” amino acid distribution in porin. </a:t>
            </a:r>
            <a:r>
              <a:rPr lang="en-US" dirty="0" smtClean="0"/>
              <a:t>The outside of porin (which</a:t>
            </a:r>
            <a:r>
              <a:rPr lang="en-US" baseline="0" dirty="0" smtClean="0"/>
              <a:t> </a:t>
            </a:r>
            <a:r>
              <a:rPr lang="en-US" dirty="0" smtClean="0"/>
              <a:t>contacts hydrophobic groups in membranes) is covered largely with hydrophobic residues,</a:t>
            </a:r>
            <a:r>
              <a:rPr lang="en-US" baseline="0" dirty="0" smtClean="0"/>
              <a:t> </a:t>
            </a:r>
            <a:r>
              <a:rPr lang="en-US" dirty="0" smtClean="0"/>
              <a:t>whereas the center includes a water-filled channel lined with charged and polar amino acids.</a:t>
            </a:r>
            <a:r>
              <a:rPr lang="en-US" baseline="0" dirty="0" smtClean="0"/>
              <a:t> </a:t>
            </a:r>
            <a:r>
              <a:rPr lang="en-US" dirty="0" smtClean="0"/>
              <a:t>[Drawn from 1PRN.pdb.]</a:t>
            </a:r>
            <a:endParaRPr lang="en-US" dirty="0" smtClean="0">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C1D6C17-B72F-9F4D-9C57-304B9E931298}" type="slidenum">
              <a:rPr lang="en-US"/>
              <a:pPr>
                <a:defRPr/>
              </a:pPr>
              <a:t>76</a:t>
            </a:fld>
            <a:endParaRPr lang="en-US" dirty="0"/>
          </a:p>
        </p:txBody>
      </p:sp>
      <p:sp>
        <p:nvSpPr>
          <p:cNvPr id="2539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5395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0E607B5-D0F1-274B-A34E-84E8875AEE96}" type="slidenum">
              <a:rPr lang="en-US"/>
              <a:pPr>
                <a:defRPr/>
              </a:pPr>
              <a:t>77</a:t>
            </a:fld>
            <a:endParaRPr lang="en-US" dirty="0"/>
          </a:p>
        </p:txBody>
      </p:sp>
      <p:sp>
        <p:nvSpPr>
          <p:cNvPr id="2621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62147" name="Rectangle 3"/>
          <p:cNvSpPr>
            <a:spLocks noGrp="1" noChangeArrowheads="1"/>
          </p:cNvSpPr>
          <p:nvPr>
            <p:ph type="body" idx="1"/>
          </p:nvPr>
        </p:nvSpPr>
        <p:spPr/>
        <p:txBody>
          <a:bodyPr/>
          <a:lstStyle/>
          <a:p>
            <a:pPr>
              <a:defRPr/>
            </a:pPr>
            <a:r>
              <a:rPr lang="en-US" b="1" dirty="0" smtClean="0"/>
              <a:t>FIGURE 2.46 The helix-turn-helix</a:t>
            </a:r>
            <a:r>
              <a:rPr lang="en-US" b="1" baseline="0" dirty="0" smtClean="0"/>
              <a:t> </a:t>
            </a:r>
            <a:r>
              <a:rPr lang="en-US" b="1" dirty="0" smtClean="0"/>
              <a:t>motif, a supersecondary structural</a:t>
            </a:r>
            <a:r>
              <a:rPr lang="en-US" b="1" baseline="0" dirty="0" smtClean="0"/>
              <a:t> </a:t>
            </a:r>
            <a:r>
              <a:rPr lang="en-US" b="1" dirty="0" smtClean="0"/>
              <a:t>element. </a:t>
            </a:r>
            <a:r>
              <a:rPr lang="en-US" dirty="0" smtClean="0"/>
              <a:t>Helix-turn-helix motifs are found in</a:t>
            </a:r>
            <a:r>
              <a:rPr lang="en-US" baseline="0" dirty="0" smtClean="0"/>
              <a:t> </a:t>
            </a:r>
            <a:r>
              <a:rPr lang="en-US" dirty="0" smtClean="0"/>
              <a:t>many DNA-binding proteins. [Drawn from</a:t>
            </a:r>
            <a:r>
              <a:rPr lang="en-US" baseline="0" dirty="0" smtClean="0"/>
              <a:t> </a:t>
            </a:r>
            <a:r>
              <a:rPr lang="en-US" dirty="0" smtClean="0"/>
              <a:t>1LMB.pdb.]</a:t>
            </a:r>
            <a:endParaRPr lang="en-US" dirty="0" smtClean="0">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13B5BE3-069E-4149-838C-BC29AA59919C}" type="slidenum">
              <a:rPr lang="en-US"/>
              <a:pPr>
                <a:defRPr/>
              </a:pPr>
              <a:t>78</a:t>
            </a:fld>
            <a:endParaRPr lang="en-US" dirty="0"/>
          </a:p>
        </p:txBody>
      </p:sp>
      <p:sp>
        <p:nvSpPr>
          <p:cNvPr id="2631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63171" name="Rectangle 3"/>
          <p:cNvSpPr>
            <a:spLocks noGrp="1" noChangeArrowheads="1"/>
          </p:cNvSpPr>
          <p:nvPr>
            <p:ph type="body" idx="1"/>
          </p:nvPr>
        </p:nvSpPr>
        <p:spPr/>
        <p:txBody>
          <a:bodyPr/>
          <a:lstStyle/>
          <a:p>
            <a:pPr>
              <a:defRPr/>
            </a:pPr>
            <a:r>
              <a:rPr lang="en-US" b="1" dirty="0" smtClean="0"/>
              <a:t>FIGURE 2.47 Protein domains. </a:t>
            </a:r>
            <a:r>
              <a:rPr lang="en-US" dirty="0" smtClean="0"/>
              <a:t>The cell-surface protein CD4 consists of four</a:t>
            </a:r>
            <a:r>
              <a:rPr lang="en-US" baseline="0" dirty="0" smtClean="0"/>
              <a:t> </a:t>
            </a:r>
            <a:r>
              <a:rPr lang="en-US" dirty="0" smtClean="0"/>
              <a:t>similar domains. [Drawn from 1WIO.pdb.]</a:t>
            </a:r>
            <a:endParaRPr lang="en-US" dirty="0" smtClean="0">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AF4884F-643F-2E43-BC1B-45D8B5D84452}" type="slidenum">
              <a:rPr lang="en-US"/>
              <a:pPr>
                <a:defRPr/>
              </a:pPr>
              <a:t>80</a:t>
            </a:fld>
            <a:endParaRPr lang="en-US" dirty="0"/>
          </a:p>
        </p:txBody>
      </p:sp>
      <p:sp>
        <p:nvSpPr>
          <p:cNvPr id="2641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64195" name="Rectangle 3"/>
          <p:cNvSpPr>
            <a:spLocks noGrp="1" noChangeArrowheads="1"/>
          </p:cNvSpPr>
          <p:nvPr>
            <p:ph type="body" idx="1"/>
          </p:nvPr>
        </p:nvSpPr>
        <p:spPr/>
        <p:txBody>
          <a:bodyPr/>
          <a:lstStyle/>
          <a:p>
            <a:pPr>
              <a:defRPr/>
            </a:pPr>
            <a:r>
              <a:rPr lang="en-US" b="1" dirty="0" smtClean="0"/>
              <a:t>FIGURE 2.48 Quaternary structure. </a:t>
            </a:r>
            <a:r>
              <a:rPr lang="en-US" dirty="0" smtClean="0"/>
              <a:t>The Cro protein of</a:t>
            </a:r>
            <a:r>
              <a:rPr lang="en-US" baseline="0" dirty="0" smtClean="0"/>
              <a:t> </a:t>
            </a:r>
            <a:r>
              <a:rPr lang="en-US" dirty="0" smtClean="0"/>
              <a:t>bacteriophage </a:t>
            </a:r>
            <a:r>
              <a:rPr lang="el-GR" dirty="0" smtClean="0"/>
              <a:t>λ</a:t>
            </a:r>
            <a:r>
              <a:rPr lang="en-US" dirty="0" smtClean="0"/>
              <a:t> is a dimer of identical subunits. [Drawn from</a:t>
            </a:r>
            <a:r>
              <a:rPr lang="en-US" baseline="0" dirty="0" smtClean="0"/>
              <a:t> </a:t>
            </a:r>
            <a:r>
              <a:rPr lang="en-US" dirty="0" smtClean="0"/>
              <a:t>5CRO.pdb.]</a:t>
            </a:r>
            <a:endParaRPr lang="en-US" dirty="0" smtClean="0">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D743227-8623-4549-BE64-77AA2FF571BE}" type="slidenum">
              <a:rPr lang="en-US"/>
              <a:pPr>
                <a:defRPr/>
              </a:pPr>
              <a:t>81</a:t>
            </a:fld>
            <a:endParaRPr lang="en-US" dirty="0"/>
          </a:p>
        </p:txBody>
      </p:sp>
      <p:sp>
        <p:nvSpPr>
          <p:cNvPr id="2652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65219" name="Rectangle 3"/>
          <p:cNvSpPr>
            <a:spLocks noGrp="1" noChangeArrowheads="1"/>
          </p:cNvSpPr>
          <p:nvPr>
            <p:ph type="body" idx="1"/>
          </p:nvPr>
        </p:nvSpPr>
        <p:spPr/>
        <p:txBody>
          <a:bodyPr/>
          <a:lstStyle/>
          <a:p>
            <a:pPr>
              <a:defRPr/>
            </a:pPr>
            <a:r>
              <a:rPr lang="en-US" b="1" dirty="0" smtClean="0"/>
              <a:t>FIGURE 2.49 The </a:t>
            </a:r>
            <a:r>
              <a:rPr lang="en-US" dirty="0" smtClean="0"/>
              <a:t>α</a:t>
            </a:r>
            <a:r>
              <a:rPr lang="en-US" b="1" baseline="-25000" dirty="0" smtClean="0"/>
              <a:t>2</a:t>
            </a:r>
            <a:r>
              <a:rPr lang="en-US" dirty="0" smtClean="0"/>
              <a:t>β</a:t>
            </a:r>
            <a:r>
              <a:rPr lang="en-US" b="1" baseline="-25000" dirty="0" smtClean="0"/>
              <a:t>2</a:t>
            </a:r>
            <a:r>
              <a:rPr lang="en-US" b="1" dirty="0" smtClean="0"/>
              <a:t> tetramer of human hemoglobin. </a:t>
            </a:r>
            <a:r>
              <a:rPr lang="en-US" dirty="0" smtClean="0"/>
              <a:t>The structure of the two identical</a:t>
            </a:r>
            <a:r>
              <a:rPr lang="en-US" baseline="0" dirty="0" smtClean="0"/>
              <a:t> </a:t>
            </a:r>
            <a:r>
              <a:rPr lang="en-US" dirty="0" smtClean="0"/>
              <a:t>α subunits (red) is similar to but not identical with that of the two identical β subunits (yellow). The</a:t>
            </a:r>
            <a:r>
              <a:rPr lang="en-US" baseline="0" dirty="0" smtClean="0"/>
              <a:t> </a:t>
            </a:r>
            <a:r>
              <a:rPr lang="en-US" dirty="0" smtClean="0"/>
              <a:t>molecule contains four heme groups (gray with the iron atom shown in purple). (A) The ribbon</a:t>
            </a:r>
            <a:r>
              <a:rPr lang="en-US" baseline="0" dirty="0" smtClean="0"/>
              <a:t> </a:t>
            </a:r>
            <a:r>
              <a:rPr lang="en-US" dirty="0" smtClean="0"/>
              <a:t>diagram highlights the similarity of the subunits and shows that they are composed mainly of</a:t>
            </a:r>
            <a:r>
              <a:rPr lang="en-US" baseline="0" dirty="0" smtClean="0"/>
              <a:t> </a:t>
            </a:r>
            <a:r>
              <a:rPr lang="en-US" dirty="0" smtClean="0"/>
              <a:t>α helices. (B) The space-filling model illustrates how the heme groups occupy crevices in the protein. [Drawn from 1A3N.pdb.]</a:t>
            </a:r>
            <a:endParaRPr lang="en-US" dirty="0" smtClean="0">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8D46BCC-136D-1940-A832-7D3FF3F46752}" type="slidenum">
              <a:rPr lang="en-US"/>
              <a:pPr>
                <a:defRPr/>
              </a:pPr>
              <a:t>82</a:t>
            </a:fld>
            <a:endParaRPr lang="en-US" dirty="0"/>
          </a:p>
        </p:txBody>
      </p:sp>
      <p:sp>
        <p:nvSpPr>
          <p:cNvPr id="2662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66243" name="Rectangle 3"/>
          <p:cNvSpPr>
            <a:spLocks noGrp="1" noChangeArrowheads="1"/>
          </p:cNvSpPr>
          <p:nvPr>
            <p:ph type="body" idx="1"/>
          </p:nvPr>
        </p:nvSpPr>
        <p:spPr/>
        <p:txBody>
          <a:bodyPr/>
          <a:lstStyle/>
          <a:p>
            <a:pPr>
              <a:defRPr/>
            </a:pPr>
            <a:r>
              <a:rPr lang="en-US" b="1" dirty="0" smtClean="0"/>
              <a:t>FIGURE 2.50 Complex quaternary</a:t>
            </a:r>
            <a:r>
              <a:rPr lang="en-US" b="1" baseline="0" dirty="0" smtClean="0"/>
              <a:t> </a:t>
            </a:r>
            <a:r>
              <a:rPr lang="en-US" b="1" dirty="0" smtClean="0"/>
              <a:t>structure. </a:t>
            </a:r>
            <a:r>
              <a:rPr lang="en-US" dirty="0" smtClean="0"/>
              <a:t>The coat of human rhinovirus, the</a:t>
            </a:r>
            <a:r>
              <a:rPr lang="en-US" baseline="0" dirty="0" smtClean="0"/>
              <a:t> </a:t>
            </a:r>
            <a:r>
              <a:rPr lang="en-US" dirty="0" smtClean="0"/>
              <a:t>cause of the common cold, comprises 60</a:t>
            </a:r>
            <a:r>
              <a:rPr lang="en-US" baseline="0" dirty="0" smtClean="0"/>
              <a:t> </a:t>
            </a:r>
            <a:r>
              <a:rPr lang="en-US" dirty="0" smtClean="0"/>
              <a:t>copies of each of four subunits. The three</a:t>
            </a:r>
            <a:r>
              <a:rPr lang="en-US" baseline="0" dirty="0" smtClean="0"/>
              <a:t> </a:t>
            </a:r>
            <a:r>
              <a:rPr lang="en-US" dirty="0" smtClean="0"/>
              <a:t>most prominent subunits are shown as</a:t>
            </a:r>
            <a:r>
              <a:rPr lang="en-US" baseline="0" dirty="0" smtClean="0"/>
              <a:t> </a:t>
            </a:r>
            <a:r>
              <a:rPr lang="en-US" dirty="0" smtClean="0"/>
              <a:t>different colors.</a:t>
            </a:r>
            <a:endParaRPr lang="en-US" dirty="0" smtClean="0">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7A6F51D-0671-2743-AF4B-A1E323B1CAF9}" type="slidenum">
              <a:rPr lang="en-US"/>
              <a:pPr>
                <a:defRPr/>
              </a:pPr>
              <a:t>84</a:t>
            </a:fld>
            <a:endParaRPr lang="en-US" dirty="0"/>
          </a:p>
        </p:txBody>
      </p:sp>
      <p:sp>
        <p:nvSpPr>
          <p:cNvPr id="2672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67267" name="Rectangle 3"/>
          <p:cNvSpPr>
            <a:spLocks noGrp="1" noChangeArrowheads="1"/>
          </p:cNvSpPr>
          <p:nvPr>
            <p:ph type="body" idx="1"/>
          </p:nvPr>
        </p:nvSpPr>
        <p:spPr/>
        <p:txBody>
          <a:bodyPr/>
          <a:lstStyle/>
          <a:p>
            <a:pPr>
              <a:defRPr/>
            </a:pPr>
            <a:r>
              <a:rPr lang="en-US" b="1" dirty="0" smtClean="0"/>
              <a:t>FIGURE 2.51 Amino acid sequence of</a:t>
            </a:r>
            <a:r>
              <a:rPr lang="en-US" b="1" baseline="0" dirty="0" smtClean="0"/>
              <a:t> </a:t>
            </a:r>
            <a:r>
              <a:rPr lang="en-US" b="1" dirty="0" smtClean="0"/>
              <a:t>bovine ribonuclease. </a:t>
            </a:r>
            <a:r>
              <a:rPr lang="en-US" dirty="0" smtClean="0"/>
              <a:t>The four disulfide</a:t>
            </a:r>
            <a:r>
              <a:rPr lang="en-US" baseline="0" dirty="0" smtClean="0"/>
              <a:t> </a:t>
            </a:r>
            <a:r>
              <a:rPr lang="en-US" dirty="0" smtClean="0"/>
              <a:t>bonds are shown in color. [After C. H. W. Hirs,</a:t>
            </a:r>
            <a:r>
              <a:rPr lang="en-US" baseline="0" dirty="0" smtClean="0"/>
              <a:t> </a:t>
            </a:r>
            <a:r>
              <a:rPr lang="en-US" dirty="0" smtClean="0"/>
              <a:t>S. Moore, and W. H. Stein, </a:t>
            </a:r>
            <a:r>
              <a:rPr lang="en-US" i="1" dirty="0" smtClean="0"/>
              <a:t>J. Biol. Chem.</a:t>
            </a:r>
            <a:r>
              <a:rPr lang="en-US" i="1" baseline="0" dirty="0" smtClean="0"/>
              <a:t> </a:t>
            </a:r>
            <a:r>
              <a:rPr lang="en-US" dirty="0" smtClean="0"/>
              <a:t>235:633–647, 1960.]</a:t>
            </a:r>
            <a:endParaRPr lang="en-US" dirty="0" smtClean="0">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CFBDB9E-D27A-4C4E-ACA5-3ECB0A3A0503}" type="slidenum">
              <a:rPr lang="en-US"/>
              <a:pPr>
                <a:defRPr/>
              </a:pPr>
              <a:t>85</a:t>
            </a:fld>
            <a:endParaRPr lang="en-US" dirty="0"/>
          </a:p>
        </p:txBody>
      </p:sp>
      <p:sp>
        <p:nvSpPr>
          <p:cNvPr id="2693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69315" name="Rectangle 3"/>
          <p:cNvSpPr>
            <a:spLocks noGrp="1" noChangeArrowheads="1"/>
          </p:cNvSpPr>
          <p:nvPr>
            <p:ph type="body" idx="1"/>
          </p:nvPr>
        </p:nvSpPr>
        <p:spPr/>
        <p:txBody>
          <a:bodyPr/>
          <a:lstStyle/>
          <a:p>
            <a:pPr>
              <a:defRPr/>
            </a:pPr>
            <a:r>
              <a:rPr lang="en-US" b="1" dirty="0" smtClean="0"/>
              <a:t>FIGURE 2.52 Role of </a:t>
            </a:r>
            <a:r>
              <a:rPr lang="en-US" dirty="0" smtClean="0"/>
              <a:t>β</a:t>
            </a:r>
            <a:r>
              <a:rPr lang="en-US" b="1" dirty="0" smtClean="0"/>
              <a:t>-mercaptoethanol in reducing disulfide bonds. </a:t>
            </a:r>
            <a:r>
              <a:rPr lang="en-US" dirty="0" smtClean="0"/>
              <a:t>Note that, as the</a:t>
            </a:r>
            <a:r>
              <a:rPr lang="en-US" baseline="0" dirty="0" smtClean="0"/>
              <a:t> </a:t>
            </a:r>
            <a:r>
              <a:rPr lang="en-US" dirty="0" smtClean="0"/>
              <a:t>disulfides are reduced, the β-mercaptoethanol is oxidized and forms dimers.</a:t>
            </a:r>
            <a:endParaRPr lang="en-US" dirty="0" smtClean="0">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A40788-C162-D84A-9C7A-835CAB6A2C9D}" type="slidenum">
              <a:rPr lang="en-US"/>
              <a:pPr>
                <a:defRPr/>
              </a:pPr>
              <a:t>86</a:t>
            </a:fld>
            <a:endParaRPr lang="en-US" dirty="0"/>
          </a:p>
        </p:txBody>
      </p:sp>
      <p:sp>
        <p:nvSpPr>
          <p:cNvPr id="2703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0339" name="Rectangle 3"/>
          <p:cNvSpPr>
            <a:spLocks noGrp="1" noChangeArrowheads="1"/>
          </p:cNvSpPr>
          <p:nvPr>
            <p:ph type="body" idx="1"/>
          </p:nvPr>
        </p:nvSpPr>
        <p:spPr/>
        <p:txBody>
          <a:bodyPr/>
          <a:lstStyle/>
          <a:p>
            <a:pPr>
              <a:defRPr/>
            </a:pPr>
            <a:r>
              <a:rPr lang="en-US" b="1" dirty="0" smtClean="0"/>
              <a:t>FIGURE 2.53 Reduction and denaturation</a:t>
            </a:r>
            <a:r>
              <a:rPr lang="en-US" b="1" baseline="0" dirty="0" smtClean="0"/>
              <a:t> </a:t>
            </a:r>
            <a:r>
              <a:rPr lang="en-US" b="1" dirty="0" smtClean="0"/>
              <a:t>of ribonuclease.</a:t>
            </a:r>
            <a:endParaRPr lang="en-US" dirty="0" smtClean="0">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07588CF-B271-1244-91A4-6AF3E99C36D1}" type="slidenum">
              <a:rPr lang="en-US"/>
              <a:pPr>
                <a:defRPr/>
              </a:pPr>
              <a:t>87</a:t>
            </a:fld>
            <a:endParaRPr lang="en-US" dirty="0"/>
          </a:p>
        </p:txBody>
      </p:sp>
      <p:sp>
        <p:nvSpPr>
          <p:cNvPr id="2713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1363" name="Rectangle 3"/>
          <p:cNvSpPr>
            <a:spLocks noGrp="1" noChangeArrowheads="1"/>
          </p:cNvSpPr>
          <p:nvPr>
            <p:ph type="body" idx="1"/>
          </p:nvPr>
        </p:nvSpPr>
        <p:spPr/>
        <p:txBody>
          <a:bodyPr/>
          <a:lstStyle/>
          <a:p>
            <a:pPr>
              <a:defRPr/>
            </a:pPr>
            <a:r>
              <a:rPr lang="en-US" b="1" dirty="0" smtClean="0"/>
              <a:t>FIGURE 2.54 Reestablishing correct</a:t>
            </a:r>
            <a:r>
              <a:rPr lang="en-US" b="1" baseline="0" dirty="0" smtClean="0"/>
              <a:t> </a:t>
            </a:r>
            <a:r>
              <a:rPr lang="en-US" b="1" dirty="0" smtClean="0"/>
              <a:t>disulfide pairing. </a:t>
            </a:r>
            <a:r>
              <a:rPr lang="en-US" dirty="0" smtClean="0"/>
              <a:t>Native ribonuclease can</a:t>
            </a:r>
            <a:r>
              <a:rPr lang="en-US" baseline="0" dirty="0" smtClean="0"/>
              <a:t> </a:t>
            </a:r>
            <a:r>
              <a:rPr lang="en-US" dirty="0" smtClean="0"/>
              <a:t>be re-formed from scrambled ribonuclease in</a:t>
            </a:r>
            <a:r>
              <a:rPr lang="en-US" baseline="0" dirty="0" smtClean="0"/>
              <a:t> </a:t>
            </a:r>
            <a:r>
              <a:rPr lang="en-US" dirty="0" smtClean="0"/>
              <a:t>the presence of a trace of β-mercaptoethanol.</a:t>
            </a:r>
            <a:endParaRPr lang="en-US" dirty="0" smtClean="0">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62BAB28B-A8D3-064C-A6C1-2E869F4F28C5}" type="slidenum">
              <a:rPr lang="en-US" smtClean="0"/>
              <a:pPr>
                <a:defRPr/>
              </a:pPr>
              <a:t>88</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C5A8742-42A9-DB4E-8716-1DF7A2A9DAEF}" type="slidenum">
              <a:rPr lang="en-US"/>
              <a:pPr>
                <a:defRPr/>
              </a:pPr>
              <a:t>89</a:t>
            </a:fld>
            <a:endParaRPr lang="en-US" dirty="0"/>
          </a:p>
        </p:txBody>
      </p:sp>
      <p:sp>
        <p:nvSpPr>
          <p:cNvPr id="2723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2387"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21A718E-0454-6343-9B58-2DC3DDDC95C6}" type="slidenum">
              <a:rPr lang="en-US"/>
              <a:pPr>
                <a:defRPr/>
              </a:pPr>
              <a:t>90</a:t>
            </a:fld>
            <a:endParaRPr lang="en-US" dirty="0"/>
          </a:p>
        </p:txBody>
      </p:sp>
      <p:sp>
        <p:nvSpPr>
          <p:cNvPr id="2734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3411" name="Rectangle 3"/>
          <p:cNvSpPr>
            <a:spLocks noGrp="1" noChangeArrowheads="1"/>
          </p:cNvSpPr>
          <p:nvPr>
            <p:ph type="body" idx="1"/>
          </p:nvPr>
        </p:nvSpPr>
        <p:spPr/>
        <p:txBody>
          <a:bodyPr/>
          <a:lstStyle/>
          <a:p>
            <a:pPr>
              <a:defRPr/>
            </a:pPr>
            <a:r>
              <a:rPr lang="en-US" b="1" dirty="0" smtClean="0"/>
              <a:t>FIGURE 2.55 Alternative conformations of a peptide</a:t>
            </a:r>
            <a:r>
              <a:rPr lang="en-US" b="1" baseline="0" dirty="0" smtClean="0"/>
              <a:t> </a:t>
            </a:r>
            <a:r>
              <a:rPr lang="en-US" b="1" dirty="0" smtClean="0"/>
              <a:t>sequence</a:t>
            </a:r>
            <a:r>
              <a:rPr lang="en-US" dirty="0" smtClean="0"/>
              <a:t>. Many sequences can adopt alternative conformations in</a:t>
            </a:r>
            <a:r>
              <a:rPr lang="en-US" baseline="0" dirty="0" smtClean="0"/>
              <a:t> </a:t>
            </a:r>
            <a:r>
              <a:rPr lang="en-US" dirty="0" smtClean="0"/>
              <a:t>different proteins. Here the sequence VDLLKN shown in red</a:t>
            </a:r>
            <a:r>
              <a:rPr lang="en-US" baseline="0" dirty="0" smtClean="0"/>
              <a:t> </a:t>
            </a:r>
            <a:r>
              <a:rPr lang="en-US" dirty="0" smtClean="0"/>
              <a:t>assumes an α helix in one</a:t>
            </a:r>
            <a:r>
              <a:rPr lang="en-US" baseline="0" dirty="0" smtClean="0"/>
              <a:t> </a:t>
            </a:r>
            <a:r>
              <a:rPr lang="en-US" dirty="0" smtClean="0"/>
              <a:t>protein context (left) and a β strand in</a:t>
            </a:r>
            <a:r>
              <a:rPr lang="en-US" baseline="0" dirty="0" smtClean="0"/>
              <a:t> </a:t>
            </a:r>
            <a:r>
              <a:rPr lang="en-US" dirty="0" smtClean="0"/>
              <a:t>another (right). [Drawn from (left) 3WRP.pdb and (right) 2HLA.pdb.]</a:t>
            </a:r>
            <a:endParaRPr lang="en-US" dirty="0" smtClean="0">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4BCAC2D-A709-164C-B596-B57D2DFE8D68}" type="slidenum">
              <a:rPr lang="en-US"/>
              <a:pPr>
                <a:defRPr/>
              </a:pPr>
              <a:t>91</a:t>
            </a:fld>
            <a:endParaRPr lang="en-US" dirty="0"/>
          </a:p>
        </p:txBody>
      </p:sp>
      <p:sp>
        <p:nvSpPr>
          <p:cNvPr id="2744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4435" name="Rectangle 3"/>
          <p:cNvSpPr>
            <a:spLocks noGrp="1" noChangeArrowheads="1"/>
          </p:cNvSpPr>
          <p:nvPr>
            <p:ph type="body" idx="1"/>
          </p:nvPr>
        </p:nvSpPr>
        <p:spPr/>
        <p:txBody>
          <a:bodyPr/>
          <a:lstStyle/>
          <a:p>
            <a:pPr>
              <a:defRPr/>
            </a:pPr>
            <a:r>
              <a:rPr lang="en-US" b="1" dirty="0" smtClean="0"/>
              <a:t>FIGURE 2.56 Transition from folded to unfolded state. </a:t>
            </a:r>
            <a:r>
              <a:rPr lang="en-US" dirty="0" smtClean="0"/>
              <a:t>Most proteins show a sharp transition from the folded to the unfolded form on treatment with increasing concentrations of denaturants.</a:t>
            </a:r>
            <a:endParaRPr lang="en-US" dirty="0" smtClean="0">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9DD5A6D-D060-7A4D-99E6-515186BE37F8}" type="slidenum">
              <a:rPr lang="en-US"/>
              <a:pPr>
                <a:defRPr/>
              </a:pPr>
              <a:t>92</a:t>
            </a:fld>
            <a:endParaRPr lang="en-US" dirty="0"/>
          </a:p>
        </p:txBody>
      </p:sp>
      <p:sp>
        <p:nvSpPr>
          <p:cNvPr id="275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5459" name="Rectangle 3"/>
          <p:cNvSpPr>
            <a:spLocks noGrp="1" noChangeArrowheads="1"/>
          </p:cNvSpPr>
          <p:nvPr>
            <p:ph type="body" idx="1"/>
          </p:nvPr>
        </p:nvSpPr>
        <p:spPr/>
        <p:txBody>
          <a:bodyPr/>
          <a:lstStyle/>
          <a:p>
            <a:pPr>
              <a:defRPr/>
            </a:pPr>
            <a:r>
              <a:rPr lang="en-US" b="1" dirty="0" smtClean="0"/>
              <a:t>FIGURE 2.57 Components of a partly denatured protein solution.</a:t>
            </a:r>
            <a:r>
              <a:rPr lang="en-US" b="1" baseline="0" dirty="0" smtClean="0"/>
              <a:t> </a:t>
            </a:r>
            <a:r>
              <a:rPr lang="en-US" dirty="0" smtClean="0"/>
              <a:t>In a half-unfolded protein solution, half the molecules are fully folded</a:t>
            </a:r>
            <a:r>
              <a:rPr lang="en-US" baseline="0" dirty="0" smtClean="0"/>
              <a:t> </a:t>
            </a:r>
            <a:r>
              <a:rPr lang="en-US" dirty="0" smtClean="0"/>
              <a:t>and half are fully unfolded.</a:t>
            </a:r>
            <a:endParaRPr lang="en-US" dirty="0" smtClean="0">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8433FE1-29B7-A444-AF98-374799F2C54D}" type="slidenum">
              <a:rPr lang="en-US"/>
              <a:pPr>
                <a:defRPr/>
              </a:pPr>
              <a:t>94</a:t>
            </a:fld>
            <a:endParaRPr lang="en-US" dirty="0"/>
          </a:p>
        </p:txBody>
      </p:sp>
      <p:sp>
        <p:nvSpPr>
          <p:cNvPr id="2764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6483" name="Rectangle 3"/>
          <p:cNvSpPr>
            <a:spLocks noGrp="1" noChangeArrowheads="1"/>
          </p:cNvSpPr>
          <p:nvPr>
            <p:ph type="body" idx="1"/>
          </p:nvPr>
        </p:nvSpPr>
        <p:spPr/>
        <p:txBody>
          <a:bodyPr/>
          <a:lstStyle/>
          <a:p>
            <a:pPr>
              <a:defRPr/>
            </a:pPr>
            <a:r>
              <a:rPr lang="en-US" b="1" dirty="0" smtClean="0"/>
              <a:t>FIGURE 2.58 Typing-monkey analogy. </a:t>
            </a:r>
            <a:r>
              <a:rPr lang="en-US" dirty="0" smtClean="0"/>
              <a:t>A</a:t>
            </a:r>
            <a:r>
              <a:rPr lang="en-US" baseline="0" dirty="0" smtClean="0"/>
              <a:t> </a:t>
            </a:r>
            <a:r>
              <a:rPr lang="en-US" dirty="0" smtClean="0"/>
              <a:t>monkey randomly poking a typewriter could</a:t>
            </a:r>
            <a:r>
              <a:rPr lang="en-US" baseline="0" dirty="0" smtClean="0"/>
              <a:t> </a:t>
            </a:r>
            <a:r>
              <a:rPr lang="en-US" dirty="0" smtClean="0"/>
              <a:t>write a line from Shakespeare’s </a:t>
            </a:r>
            <a:r>
              <a:rPr lang="en-US" i="1" dirty="0" smtClean="0"/>
              <a:t>Hamlet,</a:t>
            </a:r>
            <a:r>
              <a:rPr lang="en-US" i="1" baseline="0" dirty="0" smtClean="0"/>
              <a:t> </a:t>
            </a:r>
            <a:r>
              <a:rPr lang="en-US" dirty="0" smtClean="0"/>
              <a:t>provided that correct keystrokes were retained.</a:t>
            </a:r>
            <a:r>
              <a:rPr lang="en-US" baseline="0" dirty="0" smtClean="0"/>
              <a:t> </a:t>
            </a:r>
            <a:r>
              <a:rPr lang="en-US" dirty="0" smtClean="0"/>
              <a:t>In the two computer simulations shown, the</a:t>
            </a:r>
            <a:r>
              <a:rPr lang="en-US" baseline="0" dirty="0" smtClean="0"/>
              <a:t> </a:t>
            </a:r>
            <a:r>
              <a:rPr lang="en-US" dirty="0" smtClean="0"/>
              <a:t>cumulative number of keystrokes is given at the</a:t>
            </a:r>
            <a:r>
              <a:rPr lang="en-US" baseline="0" dirty="0" smtClean="0"/>
              <a:t> </a:t>
            </a:r>
            <a:r>
              <a:rPr lang="en-US" dirty="0" smtClean="0"/>
              <a:t>left of each line.</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0C3EC92-EDB3-4E42-ADE0-5EF13F7E61DD}" type="slidenum">
              <a:rPr lang="en-US"/>
              <a:pPr>
                <a:defRPr/>
              </a:pPr>
              <a:t>95</a:t>
            </a:fld>
            <a:endParaRPr lang="en-US" dirty="0"/>
          </a:p>
        </p:txBody>
      </p:sp>
      <p:sp>
        <p:nvSpPr>
          <p:cNvPr id="2775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7507" name="Rectangle 3"/>
          <p:cNvSpPr>
            <a:spLocks noGrp="1" noChangeArrowheads="1"/>
          </p:cNvSpPr>
          <p:nvPr>
            <p:ph type="body" idx="1"/>
          </p:nvPr>
        </p:nvSpPr>
        <p:spPr/>
        <p:txBody>
          <a:bodyPr/>
          <a:lstStyle/>
          <a:p>
            <a:pPr>
              <a:defRPr/>
            </a:pPr>
            <a:r>
              <a:rPr lang="en-US" b="1" dirty="0" smtClean="0"/>
              <a:t>FIGURE 2.59 Proposed folding pathway of chymotrypsin inhibitor. </a:t>
            </a:r>
            <a:r>
              <a:rPr lang="en-US" dirty="0" smtClean="0"/>
              <a:t>Local regions with</a:t>
            </a:r>
            <a:r>
              <a:rPr lang="en-US" baseline="0" dirty="0" smtClean="0"/>
              <a:t> </a:t>
            </a:r>
            <a:r>
              <a:rPr lang="en-US" dirty="0" smtClean="0"/>
              <a:t>sufficient structural preference tend to adopt their favored structures initially (1). These structures</a:t>
            </a:r>
            <a:r>
              <a:rPr lang="en-US" baseline="0" dirty="0" smtClean="0"/>
              <a:t> </a:t>
            </a:r>
            <a:r>
              <a:rPr lang="en-US" dirty="0" smtClean="0"/>
              <a:t>come together to form a nucleus with a native-like, but still mobile, structure (4). This structure then</a:t>
            </a:r>
            <a:r>
              <a:rPr lang="en-US" baseline="0" dirty="0" smtClean="0"/>
              <a:t> </a:t>
            </a:r>
            <a:r>
              <a:rPr lang="en-US" dirty="0" smtClean="0"/>
              <a:t>fully condenses to form the native, more rigid structure (5). [From A. R. Fersht and V. Daggett. </a:t>
            </a:r>
            <a:r>
              <a:rPr lang="en-US" i="1" dirty="0" smtClean="0"/>
              <a:t>Cell</a:t>
            </a:r>
            <a:r>
              <a:rPr lang="en-US" i="1" baseline="0" dirty="0" smtClean="0"/>
              <a:t> </a:t>
            </a:r>
            <a:r>
              <a:rPr lang="en-US" dirty="0" smtClean="0"/>
              <a:t>108:573–582, 2002; with permission from Elsevier.]</a:t>
            </a:r>
            <a:endParaRPr lang="en-US" dirty="0" smtClean="0">
              <a:cs typeface="+mn-c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ABD53BB-F14C-DB43-AB10-A642B46B8335}" type="slidenum">
              <a:rPr lang="en-US"/>
              <a:pPr>
                <a:defRPr/>
              </a:pPr>
              <a:t>97</a:t>
            </a:fld>
            <a:endParaRPr lang="en-US" dirty="0"/>
          </a:p>
        </p:txBody>
      </p:sp>
      <p:sp>
        <p:nvSpPr>
          <p:cNvPr id="2785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8531" name="Rectangle 3"/>
          <p:cNvSpPr>
            <a:spLocks noGrp="1" noChangeArrowheads="1"/>
          </p:cNvSpPr>
          <p:nvPr>
            <p:ph type="body" idx="1"/>
          </p:nvPr>
        </p:nvSpPr>
        <p:spPr/>
        <p:txBody>
          <a:bodyPr/>
          <a:lstStyle/>
          <a:p>
            <a:pPr>
              <a:defRPr/>
            </a:pPr>
            <a:r>
              <a:rPr lang="en-US" b="1" dirty="0" smtClean="0"/>
              <a:t>FIGURE 2.60 Folding funnel. </a:t>
            </a:r>
            <a:r>
              <a:rPr lang="en-US" dirty="0" smtClean="0"/>
              <a:t>The folding funnel depicts the</a:t>
            </a:r>
            <a:r>
              <a:rPr lang="en-US" baseline="0" dirty="0" smtClean="0"/>
              <a:t> </a:t>
            </a:r>
            <a:r>
              <a:rPr lang="en-US" dirty="0" smtClean="0"/>
              <a:t>thermodynamics of protein folding. The top of the funnel</a:t>
            </a:r>
            <a:r>
              <a:rPr lang="en-US" baseline="0" dirty="0" smtClean="0"/>
              <a:t> </a:t>
            </a:r>
            <a:r>
              <a:rPr lang="en-US" dirty="0" smtClean="0"/>
              <a:t>represents all possible denatured conformations—that is,</a:t>
            </a:r>
            <a:r>
              <a:rPr lang="en-US" baseline="0" dirty="0" smtClean="0"/>
              <a:t> </a:t>
            </a:r>
            <a:r>
              <a:rPr lang="en-US" dirty="0" smtClean="0"/>
              <a:t>maximal conformational entropy. Depressions on the sides of</a:t>
            </a:r>
            <a:r>
              <a:rPr lang="en-US" baseline="0" dirty="0" smtClean="0"/>
              <a:t> </a:t>
            </a:r>
            <a:r>
              <a:rPr lang="en-US" dirty="0" smtClean="0"/>
              <a:t>the funnel represent semi-stable intermediates that can facilitate</a:t>
            </a:r>
            <a:r>
              <a:rPr lang="en-US" baseline="0" dirty="0" smtClean="0"/>
              <a:t> </a:t>
            </a:r>
            <a:r>
              <a:rPr lang="en-US" dirty="0" smtClean="0"/>
              <a:t>or hinder the formation of the native structure, depending on</a:t>
            </a:r>
            <a:r>
              <a:rPr lang="en-US" baseline="0" dirty="0" smtClean="0"/>
              <a:t> </a:t>
            </a:r>
            <a:r>
              <a:rPr lang="en-US" dirty="0" smtClean="0"/>
              <a:t>their depth. Secondary structures, such as helices, form and</a:t>
            </a:r>
            <a:r>
              <a:rPr lang="en-US" baseline="0" dirty="0" smtClean="0"/>
              <a:t> </a:t>
            </a:r>
            <a:r>
              <a:rPr lang="en-US" dirty="0" smtClean="0"/>
              <a:t>collapse onto one another to initiate folding. [After D. L. Nelson</a:t>
            </a:r>
            <a:r>
              <a:rPr lang="en-US" baseline="0" dirty="0" smtClean="0"/>
              <a:t> </a:t>
            </a:r>
            <a:r>
              <a:rPr lang="en-US" dirty="0" smtClean="0"/>
              <a:t>and M. M. Cox, </a:t>
            </a:r>
            <a:r>
              <a:rPr lang="en-US" i="1" dirty="0" smtClean="0"/>
              <a:t>Lehninger Principles of Biochemistry, </a:t>
            </a:r>
            <a:r>
              <a:rPr lang="en-US" dirty="0" smtClean="0"/>
              <a:t>5th ed.</a:t>
            </a:r>
            <a:r>
              <a:rPr lang="en-US" baseline="0" dirty="0" smtClean="0"/>
              <a:t> </a:t>
            </a:r>
            <a:r>
              <a:rPr lang="en-US" dirty="0" smtClean="0"/>
              <a:t>( W. H. Freeman and Company, 2008), p. 143.]</a:t>
            </a:r>
            <a:endParaRPr lang="en-US" dirty="0" smtClean="0">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F79CB0C-C26E-0D4D-B2C1-CC137B15BE63}" type="slidenum">
              <a:rPr lang="en-US"/>
              <a:pPr>
                <a:defRPr/>
              </a:pPr>
              <a:t>99</a:t>
            </a:fld>
            <a:endParaRPr lang="en-US" dirty="0"/>
          </a:p>
        </p:txBody>
      </p:sp>
      <p:sp>
        <p:nvSpPr>
          <p:cNvPr id="2795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79555" name="Rectangle 3"/>
          <p:cNvSpPr>
            <a:spLocks noGrp="1" noChangeArrowheads="1"/>
          </p:cNvSpPr>
          <p:nvPr>
            <p:ph type="body" idx="1"/>
          </p:nvPr>
        </p:nvSpPr>
        <p:spPr/>
        <p:txBody>
          <a:bodyPr/>
          <a:lstStyle/>
          <a:p>
            <a:pPr>
              <a:defRPr/>
            </a:pPr>
            <a:r>
              <a:rPr lang="en-US" b="1" dirty="0" smtClean="0"/>
              <a:t>FIGURE 2.61 Lymphotactin exists in two conformations, which are in equilibrium. </a:t>
            </a:r>
            <a:r>
              <a:rPr lang="en-US" dirty="0" smtClean="0"/>
              <a:t>[R. L.</a:t>
            </a:r>
            <a:r>
              <a:rPr lang="en-US" baseline="0" dirty="0" smtClean="0"/>
              <a:t> </a:t>
            </a:r>
            <a:r>
              <a:rPr lang="en-US" dirty="0" smtClean="0"/>
              <a:t>Tuinstra, F. C. Peterson, S. Kutlesa, E. S. Elgin, M. A. Kron, and B. F. Volkman. </a:t>
            </a:r>
            <a:r>
              <a:rPr lang="en-US" i="1" dirty="0" smtClean="0"/>
              <a:t>Proc. Natl. Sci. U.S.A.</a:t>
            </a:r>
            <a:r>
              <a:rPr lang="en-US" i="1" baseline="0" dirty="0" smtClean="0"/>
              <a:t> </a:t>
            </a:r>
            <a:r>
              <a:rPr lang="en-US" baseline="0" dirty="0" smtClean="0"/>
              <a:t>1</a:t>
            </a:r>
            <a:r>
              <a:rPr lang="en-US" dirty="0" smtClean="0"/>
              <a:t>05:5057–5062, 2008, Fig. 2A.]</a:t>
            </a:r>
            <a:endParaRPr lang="en-US" dirty="0" smtClean="0">
              <a:cs typeface="+mn-c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367E78-22B7-7F46-87F0-B71A15384A0D}" type="slidenum">
              <a:rPr lang="en-US" smtClean="0"/>
              <a:pPr/>
              <a:t>100</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77223613"/>
      </p:ext>
    </p:extLst>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4CE2C34-6EFD-BE47-AB4D-52BA0D06480C}" type="slidenum">
              <a:rPr lang="en-US"/>
              <a:pPr>
                <a:defRPr/>
              </a:pPr>
              <a:t>101</a:t>
            </a:fld>
            <a:endParaRPr lang="en-US" dirty="0"/>
          </a:p>
        </p:txBody>
      </p:sp>
      <p:sp>
        <p:nvSpPr>
          <p:cNvPr id="2805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80579" name="Rectangle 3"/>
          <p:cNvSpPr>
            <a:spLocks noGrp="1" noChangeArrowheads="1"/>
          </p:cNvSpPr>
          <p:nvPr>
            <p:ph type="body" idx="1"/>
          </p:nvPr>
        </p:nvSpPr>
        <p:spPr/>
        <p:txBody>
          <a:bodyPr/>
          <a:lstStyle/>
          <a:p>
            <a:pPr>
              <a:defRPr/>
            </a:pPr>
            <a:r>
              <a:rPr lang="en-US" b="1" dirty="0" smtClean="0"/>
              <a:t>FIGURE 2.62 A model of the human prion protein amyloid. </a:t>
            </a:r>
            <a:r>
              <a:rPr lang="en-US" dirty="0" smtClean="0"/>
              <a:t>A detailed model of a human prion amyloid fibril deduced from spin labeling and electron paramagnetic resonance (EPR) spectroscopy studies shows that protein aggregation is due to the formation of large parallel β sheets. The black arrow indicates the long axis of the fibril. [N. J. Cobb, F. D. Sönnichsen,H. Mchaourab, and W. K. Surewicz. </a:t>
            </a:r>
            <a:r>
              <a:rPr lang="en-US" i="1" dirty="0" smtClean="0"/>
              <a:t>Proc. Natl. Acad. Sci. U.S.A. </a:t>
            </a:r>
            <a:r>
              <a:rPr lang="en-US" dirty="0" smtClean="0"/>
              <a:t>104:18946–18951, 2007, Fig. 4E.]</a:t>
            </a:r>
            <a:endParaRPr lang="en-US" dirty="0" smtClean="0">
              <a:cs typeface="+mn-c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8C49916-56F9-534F-839F-B9295BA2688F}" type="slidenum">
              <a:rPr lang="en-US"/>
              <a:pPr>
                <a:defRPr/>
              </a:pPr>
              <a:t>102</a:t>
            </a:fld>
            <a:endParaRPr lang="en-US" dirty="0"/>
          </a:p>
        </p:txBody>
      </p:sp>
      <p:sp>
        <p:nvSpPr>
          <p:cNvPr id="2816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81603" name="Rectangle 3"/>
          <p:cNvSpPr>
            <a:spLocks noGrp="1" noChangeArrowheads="1"/>
          </p:cNvSpPr>
          <p:nvPr>
            <p:ph type="body" idx="1"/>
          </p:nvPr>
        </p:nvSpPr>
        <p:spPr/>
        <p:txBody>
          <a:bodyPr/>
          <a:lstStyle/>
          <a:p>
            <a:pPr>
              <a:defRPr/>
            </a:pPr>
            <a:r>
              <a:rPr lang="en-US" b="1" dirty="0" smtClean="0"/>
              <a:t>FIGURE 2.63 The protein-only model for</a:t>
            </a:r>
            <a:r>
              <a:rPr lang="en-US" b="1" baseline="0" dirty="0" smtClean="0"/>
              <a:t> </a:t>
            </a:r>
            <a:r>
              <a:rPr lang="en-US" b="1" dirty="0" smtClean="0"/>
              <a:t>prion-disease transmission</a:t>
            </a:r>
            <a:r>
              <a:rPr lang="en-US" dirty="0" smtClean="0"/>
              <a:t>. A nucleus</a:t>
            </a:r>
            <a:r>
              <a:rPr lang="en-US" baseline="0" dirty="0" smtClean="0"/>
              <a:t> </a:t>
            </a:r>
            <a:r>
              <a:rPr lang="en-US" dirty="0" smtClean="0"/>
              <a:t>consisting of proteins in an abnormal</a:t>
            </a:r>
            <a:r>
              <a:rPr lang="en-US" baseline="0" dirty="0" smtClean="0"/>
              <a:t> </a:t>
            </a:r>
            <a:r>
              <a:rPr lang="en-US" dirty="0" smtClean="0"/>
              <a:t>conformation grows by the addition of</a:t>
            </a:r>
            <a:r>
              <a:rPr lang="en-US" baseline="0" dirty="0" smtClean="0"/>
              <a:t> </a:t>
            </a:r>
            <a:r>
              <a:rPr lang="en-US" dirty="0" smtClean="0"/>
              <a:t>proteins from the normal pool.</a:t>
            </a:r>
            <a:endParaRPr lang="en-US" dirty="0" smtClean="0">
              <a:cs typeface="+mn-c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885C19D-AD4B-504F-9A94-7083629974C0}" type="slidenum">
              <a:rPr lang="en-US"/>
              <a:pPr>
                <a:defRPr/>
              </a:pPr>
              <a:t>104</a:t>
            </a:fld>
            <a:endParaRPr lang="en-US" dirty="0"/>
          </a:p>
        </p:txBody>
      </p:sp>
      <p:sp>
        <p:nvSpPr>
          <p:cNvPr id="2826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8262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2.64 Finishing touches. </a:t>
            </a:r>
            <a:r>
              <a:rPr lang="en-US" sz="1200" b="0" i="0" u="none" strike="noStrike" kern="1200" baseline="0" dirty="0" smtClean="0">
                <a:solidFill>
                  <a:schemeClr val="tx1"/>
                </a:solidFill>
                <a:latin typeface="+mn-lt"/>
                <a:ea typeface="+mn-ea"/>
                <a:cs typeface="+mn-cs"/>
              </a:rPr>
              <a:t>Some common and important covalent modifications of amino acid side chains are shown.</a:t>
            </a:r>
            <a:endParaRPr lang="en-US" dirty="0" smtClean="0">
              <a:cs typeface="+mn-cs"/>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B5929D0-5290-1547-AC1A-96674D6E3697}" type="slidenum">
              <a:rPr lang="en-US"/>
              <a:pPr>
                <a:defRPr/>
              </a:pPr>
              <a:t>105</a:t>
            </a:fld>
            <a:endParaRPr lang="en-US" dirty="0"/>
          </a:p>
        </p:txBody>
      </p:sp>
      <p:sp>
        <p:nvSpPr>
          <p:cNvPr id="28365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xmlns:p="http://schemas.openxmlformats.org/presentationml/2006/main" xmlns:r="http://schemas.openxmlformats.org/officeDocument/2006/relationships" xmlns:a="http://schemas.openxmlformats.org/drawingml/2006/main" val="1"/>
            </a:ext>
          </a:extLst>
        </p:spPr>
      </p:sp>
      <p:sp>
        <p:nvSpPr>
          <p:cNvPr id="283651"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2.65 Chemical rearrangement in GFP. </a:t>
            </a:r>
            <a:r>
              <a:rPr lang="en-US" sz="1200" b="0" i="0" u="none" strike="noStrike" kern="1200" baseline="0" dirty="0" smtClean="0">
                <a:solidFill>
                  <a:schemeClr val="tx1"/>
                </a:solidFill>
                <a:latin typeface="+mn-lt"/>
                <a:ea typeface="+mn-ea"/>
                <a:cs typeface="+mn-cs"/>
              </a:rPr>
              <a:t>(A) The structure of green fluorescent protein (GFP). The rearrangement and oxidation of the sequence Ser-Tyr-Gly is the source of fluorescence. (B) Mutants of GFP emit light across the visible spectrum. (C) A melanoma cell line engineered to express one of these GFP mutants, red fluorescent protein (RFP), was then injected into a mouse whose blood vessels express GFP. In this fluorescence micrograph, the formation of new blood vessels (green) in the tumor (red) is readily apparent. [(A) Drawn from </a:t>
            </a:r>
            <a:r>
              <a:rPr lang="fr-FR" sz="1200" b="0" i="0" u="none" strike="noStrike" kern="1200" baseline="0" dirty="0" smtClean="0">
                <a:solidFill>
                  <a:schemeClr val="tx1"/>
                </a:solidFill>
                <a:latin typeface="+mn-lt"/>
                <a:ea typeface="+mn-ea"/>
                <a:cs typeface="+mn-cs"/>
              </a:rPr>
              <a:t>1GFL.pdb; (B) R.Y. Tsien. </a:t>
            </a:r>
            <a:r>
              <a:rPr lang="fr-FR" sz="1200" b="0" i="1" u="none" strike="noStrike" kern="1200" baseline="0" dirty="0" smtClean="0">
                <a:solidFill>
                  <a:schemeClr val="tx1"/>
                </a:solidFill>
                <a:latin typeface="+mn-lt"/>
                <a:ea typeface="+mn-ea"/>
                <a:cs typeface="+mn-cs"/>
              </a:rPr>
              <a:t>Integr. Biol. </a:t>
            </a:r>
            <a:r>
              <a:rPr lang="fr-FR" sz="1200" b="0" i="0" u="none" strike="noStrike" kern="1200" baseline="0" dirty="0" smtClean="0">
                <a:solidFill>
                  <a:schemeClr val="tx1"/>
                </a:solidFill>
                <a:latin typeface="+mn-lt"/>
                <a:ea typeface="+mn-ea"/>
                <a:cs typeface="+mn-cs"/>
              </a:rPr>
              <a:t>2:77–93, 2010, Fig. 12; (C) M. Yang, et al. </a:t>
            </a:r>
            <a:r>
              <a:rPr lang="fr-FR" sz="1200" b="0" i="1" u="none" strike="noStrike" kern="1200" baseline="0" dirty="0" smtClean="0">
                <a:solidFill>
                  <a:schemeClr val="tx1"/>
                </a:solidFill>
                <a:latin typeface="+mn-lt"/>
                <a:ea typeface="+mn-ea"/>
                <a:cs typeface="+mn-cs"/>
              </a:rPr>
              <a:t>Proc. Natl. Acad. </a:t>
            </a:r>
            <a:r>
              <a:rPr lang="en-US" sz="1200" b="0" i="1" u="none" strike="noStrike" kern="1200" baseline="0" dirty="0" smtClean="0">
                <a:solidFill>
                  <a:schemeClr val="tx1"/>
                </a:solidFill>
                <a:latin typeface="+mn-lt"/>
                <a:ea typeface="+mn-ea"/>
                <a:cs typeface="+mn-cs"/>
              </a:rPr>
              <a:t>Sci. U.S.A. </a:t>
            </a:r>
            <a:r>
              <a:rPr lang="en-US" sz="1200" b="0" i="0" u="none" strike="noStrike" kern="1200" baseline="0" dirty="0" smtClean="0">
                <a:solidFill>
                  <a:schemeClr val="tx1"/>
                </a:solidFill>
                <a:latin typeface="+mn-lt"/>
                <a:ea typeface="+mn-ea"/>
                <a:cs typeface="+mn-cs"/>
              </a:rPr>
              <a:t>100:14259–14262, 2003, Fig. 2B]</a:t>
            </a:r>
            <a:endParaRPr lang="en-US" dirty="0" smtClean="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417333378"/>
      </p:ext>
    </p:extLst>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60687454"/>
      </p:ext>
    </p:extLst>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530646504"/>
      </p:ext>
    </p:extLst>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852543893"/>
      </p:ext>
    </p:extLst>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281372767"/>
      </p:ext>
    </p:extLst>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180659155"/>
      </p:ext>
    </p:extLst>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246202983"/>
      </p:ext>
    </p:extLst>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99206632"/>
      </p:ext>
    </p:extLst>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418188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606260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1180F1-43DD-2E41-B43E-9DABD658EAF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2175347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1180F1-43DD-2E41-B43E-9DABD658EAF7}" type="datetimeFigureOut">
              <a:rPr lang="en-US" smtClean="0"/>
              <a:pPr/>
              <a:t>7/7/15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9A4159-DA5B-1F42-A422-9F5598CAB760}"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854850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16.jpeg"/><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8.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jpe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jpeg"/><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3.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5.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6.jpe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1.png"/><Relationship Id="rId5" Type="http://schemas.openxmlformats.org/officeDocument/2006/relationships/image" Target="../media/image28.jpeg"/><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21.png"/><Relationship Id="rId5" Type="http://schemas.openxmlformats.org/officeDocument/2006/relationships/image" Target="../media/image30.jpeg"/><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2.jpe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21.png"/><Relationship Id="rId5" Type="http://schemas.openxmlformats.org/officeDocument/2006/relationships/image" Target="../media/image33.jpeg"/><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4.jpeg"/></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35.png"/><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6.jpe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21.png"/><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7.jpe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4" Type="http://schemas.openxmlformats.org/officeDocument/2006/relationships/image" Target="../media/image39.png"/><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2.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5.jpeg"/></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39.png"/><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7.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8.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3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9.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0.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1.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2.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3.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3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5.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6.jpeg"/></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4" Type="http://schemas.openxmlformats.org/officeDocument/2006/relationships/image" Target="../media/image39.png"/><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8.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9.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3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60.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3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1.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62.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3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6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64.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65.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6.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7.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8.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70.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71.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72.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5.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76.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77.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78.jpeg"/></Relationships>
</file>

<file path=ppt/slides/_rels/slide88.xml.rels><?xml version="1.0" encoding="UTF-8" standalone="yes"?>
<Relationships xmlns="http://schemas.openxmlformats.org/package/2006/relationships"><Relationship Id="rId3" Type="http://schemas.openxmlformats.org/officeDocument/2006/relationships/image" Target="../media/image79.png"/><Relationship Id="rId4" Type="http://schemas.openxmlformats.org/officeDocument/2006/relationships/image" Target="../media/image73.png"/><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80.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81.jpeg"/></Relationships>
</file>

<file path=ppt/slides/_rels/slide91.xml.rels><?xml version="1.0" encoding="UTF-8" standalone="yes"?>
<Relationships xmlns="http://schemas.openxmlformats.org/package/2006/relationships"><Relationship Id="rId3" Type="http://schemas.openxmlformats.org/officeDocument/2006/relationships/image" Target="../media/image82.png"/><Relationship Id="rId4" Type="http://schemas.openxmlformats.org/officeDocument/2006/relationships/image" Target="../media/image73.png"/><Relationship Id="rId5" Type="http://schemas.openxmlformats.org/officeDocument/2006/relationships/image" Target="../media/image83.jpeg"/><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84.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7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86.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87.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7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88.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7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90.jpeg"/></Relationships>
</file>

<file path=ppt/slides/_rels/slide100.xml.rels><?xml version="1.0" encoding="UTF-8" standalone="yes"?>
<Relationships xmlns="http://schemas.openxmlformats.org/package/2006/relationships"><Relationship Id="rId3" Type="http://schemas.openxmlformats.org/officeDocument/2006/relationships/image" Target="../media/image91.png"/><Relationship Id="rId4" Type="http://schemas.openxmlformats.org/officeDocument/2006/relationships/image" Target="../media/image73.png"/><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92.jpe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93.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7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95.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96.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2_00.jpg"/>
          <p:cNvPicPr>
            <a:picLocks noChangeAspect="1"/>
          </p:cNvPicPr>
          <p:nvPr/>
        </p:nvPicPr>
        <p:blipFill>
          <a:blip r:embed="rId3"/>
          <a:stretch>
            <a:fillRect/>
          </a:stretch>
        </p:blipFill>
        <p:spPr>
          <a:xfrm>
            <a:off x="304800" y="868680"/>
            <a:ext cx="8534400" cy="512064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888255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692400" y="596900"/>
            <a:ext cx="3746500" cy="56515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8913258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extBox 1"/>
          <p:cNvSpPr txBox="1"/>
          <p:nvPr/>
        </p:nvSpPr>
        <p:spPr>
          <a:xfrm>
            <a:off x="838200" y="990600"/>
            <a:ext cx="7848600" cy="2862263"/>
          </a:xfrm>
          <a:prstGeom prst="rect">
            <a:avLst/>
          </a:prstGeom>
          <a:noFill/>
        </p:spPr>
        <p:txBody>
          <a:bodyPr>
            <a:spAutoFit/>
          </a:bodyPr>
          <a:lstStyle/>
          <a:p>
            <a:pPr>
              <a:defRPr/>
            </a:pPr>
            <a:r>
              <a:rPr lang="en-US" sz="1800" dirty="0"/>
              <a:t>Key properties of proteins include:</a:t>
            </a:r>
          </a:p>
          <a:p>
            <a:pPr>
              <a:defRPr/>
            </a:pPr>
            <a:endParaRPr lang="en-US" sz="1800" dirty="0"/>
          </a:p>
          <a:p>
            <a:pPr marL="457200" indent="-457200">
              <a:buFontTx/>
              <a:buAutoNum type="arabicPeriod"/>
              <a:defRPr/>
            </a:pPr>
            <a:r>
              <a:rPr lang="en-US" sz="1800" dirty="0"/>
              <a:t>Proteins are linear polymers composed of amino acids.</a:t>
            </a:r>
          </a:p>
          <a:p>
            <a:pPr marL="457200" indent="-457200">
              <a:buFontTx/>
              <a:buAutoNum type="arabicPeriod"/>
              <a:defRPr/>
            </a:pPr>
            <a:endParaRPr lang="en-US" sz="1800" dirty="0"/>
          </a:p>
          <a:p>
            <a:pPr marL="457200" indent="-457200">
              <a:buFontTx/>
              <a:buAutoNum type="arabicPeriod"/>
              <a:defRPr/>
            </a:pPr>
            <a:r>
              <a:rPr lang="en-US" sz="1800" dirty="0"/>
              <a:t>Proteins have a wide variety of functional groups.</a:t>
            </a:r>
          </a:p>
          <a:p>
            <a:pPr marL="457200" indent="-457200">
              <a:buFontTx/>
              <a:buAutoNum type="arabicPeriod"/>
              <a:defRPr/>
            </a:pPr>
            <a:endParaRPr lang="en-US" sz="1800" dirty="0"/>
          </a:p>
          <a:p>
            <a:pPr marL="457200" indent="-457200">
              <a:buFontTx/>
              <a:buAutoNum type="arabicPeriod"/>
              <a:defRPr/>
            </a:pPr>
            <a:r>
              <a:rPr lang="en-US" sz="1800" dirty="0"/>
              <a:t>Proteins can interact with one another and other macromolecules to form complexes.</a:t>
            </a:r>
          </a:p>
          <a:p>
            <a:pPr marL="457200" indent="-457200">
              <a:buFontTx/>
              <a:buAutoNum type="arabicPeriod"/>
              <a:defRPr/>
            </a:pPr>
            <a:endParaRPr lang="en-US" sz="1800" dirty="0"/>
          </a:p>
          <a:p>
            <a:pPr marL="457200" indent="-457200">
              <a:buFontTx/>
              <a:buAutoNum type="arabicPeriod"/>
              <a:defRPr/>
            </a:pPr>
            <a:r>
              <a:rPr lang="en-US" sz="1800" dirty="0"/>
              <a:t>Some proteins are rigid while others are flexible.</a:t>
            </a:r>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700389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01.jpg"/>
          <p:cNvPicPr>
            <a:picLocks noChangeAspect="1"/>
          </p:cNvPicPr>
          <p:nvPr/>
        </p:nvPicPr>
        <p:blipFill>
          <a:blip r:embed="rId3"/>
          <a:stretch>
            <a:fillRect/>
          </a:stretch>
        </p:blipFill>
        <p:spPr>
          <a:xfrm>
            <a:off x="1530095" y="283464"/>
            <a:ext cx="6083808"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435542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02.jpg"/>
          <p:cNvPicPr>
            <a:picLocks noChangeAspect="1"/>
          </p:cNvPicPr>
          <p:nvPr/>
        </p:nvPicPr>
        <p:blipFill>
          <a:blip r:embed="rId3"/>
          <a:stretch>
            <a:fillRect/>
          </a:stretch>
        </p:blipFill>
        <p:spPr>
          <a:xfrm>
            <a:off x="2673095" y="283464"/>
            <a:ext cx="3797808"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241846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03.jpg"/>
          <p:cNvPicPr>
            <a:picLocks noChangeAspect="1"/>
          </p:cNvPicPr>
          <p:nvPr/>
        </p:nvPicPr>
        <p:blipFill>
          <a:blip r:embed="rId3"/>
          <a:stretch>
            <a:fillRect/>
          </a:stretch>
        </p:blipFill>
        <p:spPr>
          <a:xfrm>
            <a:off x="304800" y="600455"/>
            <a:ext cx="8534400" cy="565708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120246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TextBox 2"/>
          <p:cNvSpPr txBox="1">
            <a:spLocks noChangeArrowheads="1"/>
          </p:cNvSpPr>
          <p:nvPr/>
        </p:nvSpPr>
        <p:spPr bwMode="auto">
          <a:xfrm>
            <a:off x="1066800" y="1295400"/>
            <a:ext cx="6511925" cy="9239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When four different groups are bonded to the </a:t>
            </a:r>
            <a:r>
              <a:rPr lang="en-US" sz="1800" dirty="0">
                <a:latin typeface="Symbol" charset="0"/>
                <a:cs typeface="Symbol" charset="0"/>
              </a:rPr>
              <a:t>a</a:t>
            </a:r>
            <a:r>
              <a:rPr lang="en-US" sz="1800" dirty="0"/>
              <a:t>-carbon, the amino acids are chiral, which means that they exist as two </a:t>
            </a:r>
            <a:r>
              <a:rPr lang="en-US" sz="1800" dirty="0" smtClean="0"/>
              <a:t>mirror-image </a:t>
            </a:r>
            <a:r>
              <a:rPr lang="en-US" sz="1800" dirty="0"/>
              <a:t>forms </a:t>
            </a:r>
            <a:r>
              <a:rPr lang="en-US" sz="1800" dirty="0" smtClean="0"/>
              <a:t>called </a:t>
            </a:r>
            <a:r>
              <a:rPr lang="en-US" sz="1800" dirty="0"/>
              <a:t>the L isomer and the D isomer.</a:t>
            </a:r>
          </a:p>
        </p:txBody>
      </p:sp>
      <p:sp>
        <p:nvSpPr>
          <p:cNvPr id="26627" name="TextBox 3"/>
          <p:cNvSpPr txBox="1">
            <a:spLocks noChangeArrowheads="1"/>
          </p:cNvSpPr>
          <p:nvPr/>
        </p:nvSpPr>
        <p:spPr bwMode="auto">
          <a:xfrm>
            <a:off x="1066800" y="2832406"/>
            <a:ext cx="2895600"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Only the L isomers are found in proteins.</a:t>
            </a:r>
          </a:p>
        </p:txBody>
      </p:sp>
      <p:pic>
        <p:nvPicPr>
          <p:cNvPr id="2" name="Picture 1"/>
          <p:cNvPicPr>
            <a:picLocks noChangeAspect="1"/>
          </p:cNvPicPr>
          <p:nvPr/>
        </p:nvPicPr>
        <p:blipFill>
          <a:blip r:embed="rId2"/>
          <a:stretch>
            <a:fillRect/>
          </a:stretch>
        </p:blipFill>
        <p:spPr>
          <a:xfrm>
            <a:off x="849605" y="356580"/>
            <a:ext cx="7073900" cy="609600"/>
          </a:xfrm>
          <a:prstGeom prst="rect">
            <a:avLst/>
          </a:prstGeom>
        </p:spPr>
      </p:pic>
      <p:pic>
        <p:nvPicPr>
          <p:cNvPr id="3" name="Picture 2"/>
          <p:cNvPicPr>
            <a:picLocks noChangeAspect="1"/>
          </p:cNvPicPr>
          <p:nvPr/>
        </p:nvPicPr>
        <p:blipFill>
          <a:blip r:embed="rId3"/>
          <a:stretch>
            <a:fillRect/>
          </a:stretch>
        </p:blipFill>
        <p:spPr>
          <a:xfrm>
            <a:off x="4553593" y="3402545"/>
            <a:ext cx="4180643" cy="31543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401405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04.jpg"/>
          <p:cNvPicPr>
            <a:picLocks noChangeAspect="1"/>
          </p:cNvPicPr>
          <p:nvPr/>
        </p:nvPicPr>
        <p:blipFill>
          <a:blip r:embed="rId3"/>
          <a:stretch>
            <a:fillRect/>
          </a:stretch>
        </p:blipFill>
        <p:spPr>
          <a:xfrm>
            <a:off x="304800" y="1179576"/>
            <a:ext cx="8534400" cy="44988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1465795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05.jpg"/>
          <p:cNvPicPr>
            <a:picLocks noChangeAspect="1"/>
          </p:cNvPicPr>
          <p:nvPr/>
        </p:nvPicPr>
        <p:blipFill>
          <a:blip r:embed="rId3"/>
          <a:stretch>
            <a:fillRect/>
          </a:stretch>
        </p:blipFill>
        <p:spPr>
          <a:xfrm>
            <a:off x="1767839" y="283464"/>
            <a:ext cx="5608320"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4319889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TextBox 2"/>
          <p:cNvSpPr txBox="1">
            <a:spLocks noChangeArrowheads="1"/>
          </p:cNvSpPr>
          <p:nvPr/>
        </p:nvSpPr>
        <p:spPr bwMode="auto">
          <a:xfrm>
            <a:off x="990600" y="2133600"/>
            <a:ext cx="6626225" cy="7381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Free amino acids in solution at neutral pH exist as dipolar ions.</a:t>
            </a:r>
          </a:p>
          <a:p>
            <a:r>
              <a:rPr lang="en-US" sz="1800" dirty="0"/>
              <a:t>The amino group (NH</a:t>
            </a:r>
            <a:r>
              <a:rPr lang="en-US" sz="1800" baseline="-25000" dirty="0"/>
              <a:t>3</a:t>
            </a:r>
            <a:r>
              <a:rPr lang="en-US" sz="1800" baseline="30000" dirty="0"/>
              <a:t>+</a:t>
            </a:r>
            <a:r>
              <a:rPr lang="en-US" sz="1800" dirty="0"/>
              <a:t>) and the carboxyl group (COO</a:t>
            </a:r>
            <a:r>
              <a:rPr lang="en-US" sz="1800" baseline="30000" dirty="0"/>
              <a:t>-</a:t>
            </a:r>
            <a:r>
              <a:rPr lang="en-US" sz="1800" dirty="0"/>
              <a:t>) are charged</a:t>
            </a:r>
            <a:r>
              <a:rPr lang="en-US" dirty="0"/>
              <a:t>.</a:t>
            </a:r>
          </a:p>
        </p:txBody>
      </p:sp>
      <p:pic>
        <p:nvPicPr>
          <p:cNvPr id="2" name="Picture 1"/>
          <p:cNvPicPr>
            <a:picLocks noChangeAspect="1"/>
          </p:cNvPicPr>
          <p:nvPr/>
        </p:nvPicPr>
        <p:blipFill>
          <a:blip r:embed="rId2"/>
          <a:stretch>
            <a:fillRect/>
          </a:stretch>
        </p:blipFill>
        <p:spPr>
          <a:xfrm>
            <a:off x="849605" y="437981"/>
            <a:ext cx="7073900" cy="609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3409565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06.jpg"/>
          <p:cNvPicPr>
            <a:picLocks noChangeAspect="1"/>
          </p:cNvPicPr>
          <p:nvPr/>
        </p:nvPicPr>
        <p:blipFill>
          <a:blip r:embed="rId3"/>
          <a:stretch>
            <a:fillRect/>
          </a:stretch>
        </p:blipFill>
        <p:spPr>
          <a:xfrm>
            <a:off x="304800" y="371855"/>
            <a:ext cx="8534400" cy="611428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0122939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7" name="TextBox 1"/>
          <p:cNvSpPr txBox="1">
            <a:spLocks noChangeArrowheads="1"/>
          </p:cNvSpPr>
          <p:nvPr/>
        </p:nvSpPr>
        <p:spPr bwMode="auto">
          <a:xfrm>
            <a:off x="685800" y="1295400"/>
            <a:ext cx="7543800" cy="1754327"/>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twenty amino acids found in proteins contain unique side-chains that vary in size, shape, charge, hydrogen-bonding capacity, hydrophobic character, and chemical reactivity</a:t>
            </a:r>
            <a:r>
              <a:rPr lang="en-US" sz="1800" dirty="0" smtClean="0"/>
              <a:t>.</a:t>
            </a:r>
          </a:p>
          <a:p>
            <a:endParaRPr lang="en-US" sz="1800" dirty="0"/>
          </a:p>
          <a:p>
            <a:r>
              <a:rPr lang="en-US" sz="1800" dirty="0" smtClean="0"/>
              <a:t>We will identify four classes of amino acids: hydrophobic, polar, positively charged, and negatively charged.</a:t>
            </a:r>
            <a:endParaRPr lang="en-US" sz="1800" dirty="0"/>
          </a:p>
        </p:txBody>
      </p:sp>
      <p:sp>
        <p:nvSpPr>
          <p:cNvPr id="34819" name="TextBox 3"/>
          <p:cNvSpPr txBox="1">
            <a:spLocks noChangeArrowheads="1"/>
          </p:cNvSpPr>
          <p:nvPr/>
        </p:nvSpPr>
        <p:spPr bwMode="auto">
          <a:xfrm>
            <a:off x="1219200" y="3352800"/>
            <a:ext cx="6494463"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Amino acids have three-letter abbreviations and one-letter symbols. </a:t>
            </a:r>
          </a:p>
        </p:txBody>
      </p:sp>
      <p:pic>
        <p:nvPicPr>
          <p:cNvPr id="2" name="Picture 1"/>
          <p:cNvPicPr>
            <a:picLocks noChangeAspect="1"/>
          </p:cNvPicPr>
          <p:nvPr/>
        </p:nvPicPr>
        <p:blipFill>
          <a:blip r:embed="rId2"/>
          <a:stretch>
            <a:fillRect/>
          </a:stretch>
        </p:blipFill>
        <p:spPr>
          <a:xfrm>
            <a:off x="1028700" y="372860"/>
            <a:ext cx="7073900" cy="609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894042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TextBox 1"/>
          <p:cNvSpPr txBox="1">
            <a:spLocks noChangeArrowheads="1"/>
          </p:cNvSpPr>
          <p:nvPr/>
        </p:nvSpPr>
        <p:spPr bwMode="auto">
          <a:xfrm>
            <a:off x="1100376" y="1429790"/>
            <a:ext cx="6279408" cy="20313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Hydrophobic amino acids with nonpolar side </a:t>
            </a:r>
            <a:r>
              <a:rPr lang="en-US" sz="1800" dirty="0" smtClean="0"/>
              <a:t>chains.</a:t>
            </a:r>
          </a:p>
          <a:p>
            <a:endParaRPr lang="en-US" sz="1800" dirty="0"/>
          </a:p>
          <a:p>
            <a:endParaRPr lang="en-US" sz="1800" dirty="0" smtClean="0"/>
          </a:p>
          <a:p>
            <a:endParaRPr lang="en-US" sz="1800" dirty="0"/>
          </a:p>
          <a:p>
            <a:endParaRPr lang="en-US" sz="1800" dirty="0" smtClean="0"/>
          </a:p>
          <a:p>
            <a:endParaRPr lang="en-US" sz="1800" dirty="0"/>
          </a:p>
          <a:p>
            <a:r>
              <a:rPr lang="en-US" sz="1800" dirty="0" smtClean="0"/>
              <a:t>Tryptophan, a hydrophobic amino acid,  contains an indole group.</a:t>
            </a:r>
            <a:endParaRPr lang="en-US" sz="1800" dirty="0"/>
          </a:p>
        </p:txBody>
      </p:sp>
      <p:pic>
        <p:nvPicPr>
          <p:cNvPr id="2" name="Picture 1"/>
          <p:cNvPicPr>
            <a:picLocks noChangeAspect="1"/>
          </p:cNvPicPr>
          <p:nvPr/>
        </p:nvPicPr>
        <p:blipFill>
          <a:blip r:embed="rId2"/>
          <a:stretch>
            <a:fillRect/>
          </a:stretch>
        </p:blipFill>
        <p:spPr>
          <a:xfrm>
            <a:off x="914731" y="340300"/>
            <a:ext cx="7073900" cy="609600"/>
          </a:xfrm>
          <a:prstGeom prst="rect">
            <a:avLst/>
          </a:prstGeom>
        </p:spPr>
      </p:pic>
      <p:pic>
        <p:nvPicPr>
          <p:cNvPr id="4" name="Picture 3" descr="unnumbered_02_p32.jpg"/>
          <p:cNvPicPr>
            <a:picLocks noChangeAspect="1"/>
          </p:cNvPicPr>
          <p:nvPr/>
        </p:nvPicPr>
        <p:blipFill>
          <a:blip r:embed="rId3"/>
          <a:stretch>
            <a:fillRect/>
          </a:stretch>
        </p:blipFill>
        <p:spPr>
          <a:xfrm>
            <a:off x="5330935" y="3478157"/>
            <a:ext cx="2355386" cy="23465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6532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 2.7.jpg"/>
          <p:cNvPicPr>
            <a:picLocks noChangeAspect="1"/>
          </p:cNvPicPr>
          <p:nvPr/>
        </p:nvPicPr>
        <p:blipFill>
          <a:blip r:embed="rId3"/>
          <a:stretch>
            <a:fillRect/>
          </a:stretch>
        </p:blipFill>
        <p:spPr>
          <a:xfrm>
            <a:off x="2330196" y="225552"/>
            <a:ext cx="4483608" cy="640689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111406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TextBox 2"/>
          <p:cNvSpPr txBox="1">
            <a:spLocks noChangeArrowheads="1"/>
          </p:cNvSpPr>
          <p:nvPr/>
        </p:nvSpPr>
        <p:spPr bwMode="auto">
          <a:xfrm>
            <a:off x="533400" y="1905000"/>
            <a:ext cx="7785100"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Polar amino acids with neutral side chains but the charge is not evenly distributed.</a:t>
            </a:r>
          </a:p>
        </p:txBody>
      </p:sp>
      <p:pic>
        <p:nvPicPr>
          <p:cNvPr id="2" name="Picture 1"/>
          <p:cNvPicPr>
            <a:picLocks noChangeAspect="1"/>
          </p:cNvPicPr>
          <p:nvPr/>
        </p:nvPicPr>
        <p:blipFill>
          <a:blip r:embed="rId2"/>
          <a:stretch>
            <a:fillRect/>
          </a:stretch>
        </p:blipFill>
        <p:spPr>
          <a:xfrm>
            <a:off x="670511" y="307740"/>
            <a:ext cx="7073900" cy="609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2842722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 2.8.jpg"/>
          <p:cNvPicPr>
            <a:picLocks noChangeAspect="1"/>
          </p:cNvPicPr>
          <p:nvPr/>
        </p:nvPicPr>
        <p:blipFill>
          <a:blip r:embed="rId3"/>
          <a:stretch>
            <a:fillRect/>
          </a:stretch>
        </p:blipFill>
        <p:spPr>
          <a:xfrm>
            <a:off x="304800" y="553212"/>
            <a:ext cx="8534400" cy="575157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981792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TextBox 2"/>
          <p:cNvSpPr txBox="1">
            <a:spLocks noChangeArrowheads="1"/>
          </p:cNvSpPr>
          <p:nvPr/>
        </p:nvSpPr>
        <p:spPr bwMode="auto">
          <a:xfrm>
            <a:off x="228600" y="1981200"/>
            <a:ext cx="8915400"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Positively charged amino acids with R groups that have a positive charge at physiological pH.</a:t>
            </a:r>
          </a:p>
        </p:txBody>
      </p:sp>
      <p:pic>
        <p:nvPicPr>
          <p:cNvPr id="2" name="Picture 1"/>
          <p:cNvPicPr>
            <a:picLocks noChangeAspect="1"/>
          </p:cNvPicPr>
          <p:nvPr/>
        </p:nvPicPr>
        <p:blipFill>
          <a:blip r:embed="rId2"/>
          <a:stretch>
            <a:fillRect/>
          </a:stretch>
        </p:blipFill>
        <p:spPr>
          <a:xfrm>
            <a:off x="1028700" y="421700"/>
            <a:ext cx="7073900" cy="609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9273463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09.jpg"/>
          <p:cNvPicPr>
            <a:picLocks noChangeAspect="1"/>
          </p:cNvPicPr>
          <p:nvPr/>
        </p:nvPicPr>
        <p:blipFill>
          <a:blip r:embed="rId3"/>
          <a:stretch>
            <a:fillRect/>
          </a:stretch>
        </p:blipFill>
        <p:spPr>
          <a:xfrm>
            <a:off x="2368295" y="283464"/>
            <a:ext cx="4407408"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719451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TextBox 2"/>
          <p:cNvSpPr txBox="1">
            <a:spLocks noChangeArrowheads="1"/>
          </p:cNvSpPr>
          <p:nvPr/>
        </p:nvSpPr>
        <p:spPr bwMode="auto">
          <a:xfrm>
            <a:off x="0" y="1066800"/>
            <a:ext cx="9144000"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Positively charged amino acids with R groups that have a </a:t>
            </a:r>
            <a:r>
              <a:rPr lang="en-US" sz="1800" dirty="0" smtClean="0"/>
              <a:t>positive charge  </a:t>
            </a:r>
            <a:r>
              <a:rPr lang="en-US" sz="1800" dirty="0"/>
              <a:t>at physiological pH.</a:t>
            </a:r>
          </a:p>
        </p:txBody>
      </p:sp>
      <p:sp>
        <p:nvSpPr>
          <p:cNvPr id="45060" name="TextBox 4"/>
          <p:cNvSpPr txBox="1">
            <a:spLocks noChangeArrowheads="1"/>
          </p:cNvSpPr>
          <p:nvPr/>
        </p:nvSpPr>
        <p:spPr bwMode="auto">
          <a:xfrm>
            <a:off x="322263" y="2895600"/>
            <a:ext cx="8821737"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Arginine contains a guanidinium group while histidine contains an imidazole group.</a:t>
            </a:r>
          </a:p>
        </p:txBody>
      </p:sp>
      <p:pic>
        <p:nvPicPr>
          <p:cNvPr id="2" name="Picture 1"/>
          <p:cNvPicPr>
            <a:picLocks noChangeAspect="1"/>
          </p:cNvPicPr>
          <p:nvPr/>
        </p:nvPicPr>
        <p:blipFill>
          <a:blip r:embed="rId2"/>
          <a:stretch>
            <a:fillRect/>
          </a:stretch>
        </p:blipFill>
        <p:spPr>
          <a:xfrm>
            <a:off x="898450" y="258899"/>
            <a:ext cx="7073900" cy="609600"/>
          </a:xfrm>
          <a:prstGeom prst="rect">
            <a:avLst/>
          </a:prstGeom>
        </p:spPr>
      </p:pic>
      <p:pic>
        <p:nvPicPr>
          <p:cNvPr id="6" name="Picture 5" descr="unnumbered_02_p33.jpg"/>
          <p:cNvPicPr>
            <a:picLocks noChangeAspect="1"/>
          </p:cNvPicPr>
          <p:nvPr/>
        </p:nvPicPr>
        <p:blipFill>
          <a:blip r:embed="rId3"/>
          <a:stretch>
            <a:fillRect/>
          </a:stretch>
        </p:blipFill>
        <p:spPr>
          <a:xfrm>
            <a:off x="1599942" y="3771633"/>
            <a:ext cx="4948276" cy="2304483"/>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8194381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TextBox 3"/>
          <p:cNvSpPr txBox="1">
            <a:spLocks noChangeArrowheads="1"/>
          </p:cNvSpPr>
          <p:nvPr/>
        </p:nvSpPr>
        <p:spPr bwMode="auto">
          <a:xfrm>
            <a:off x="0" y="1066800"/>
            <a:ext cx="9144000"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Positively charged amino acids with R groups that have a </a:t>
            </a:r>
            <a:r>
              <a:rPr lang="en-US" sz="1800" dirty="0" smtClean="0"/>
              <a:t>positive charge  </a:t>
            </a:r>
            <a:r>
              <a:rPr lang="en-US" sz="1800" dirty="0"/>
              <a:t>at physiological pH.</a:t>
            </a:r>
          </a:p>
        </p:txBody>
      </p:sp>
      <p:sp>
        <p:nvSpPr>
          <p:cNvPr id="46083" name="TextBox 1"/>
          <p:cNvSpPr txBox="1">
            <a:spLocks noChangeArrowheads="1"/>
          </p:cNvSpPr>
          <p:nvPr/>
        </p:nvSpPr>
        <p:spPr bwMode="auto">
          <a:xfrm>
            <a:off x="690563" y="2286000"/>
            <a:ext cx="6624637"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Histidine can accept or donate protons at physiological pH.</a:t>
            </a:r>
          </a:p>
        </p:txBody>
      </p:sp>
      <p:pic>
        <p:nvPicPr>
          <p:cNvPr id="2" name="Picture 1"/>
          <p:cNvPicPr>
            <a:picLocks noChangeAspect="1"/>
          </p:cNvPicPr>
          <p:nvPr/>
        </p:nvPicPr>
        <p:blipFill>
          <a:blip r:embed="rId3"/>
          <a:stretch>
            <a:fillRect/>
          </a:stretch>
        </p:blipFill>
        <p:spPr>
          <a:xfrm>
            <a:off x="833324" y="70773"/>
            <a:ext cx="7073900" cy="609600"/>
          </a:xfrm>
          <a:prstGeom prst="rect">
            <a:avLst/>
          </a:prstGeom>
        </p:spPr>
      </p:pic>
      <p:pic>
        <p:nvPicPr>
          <p:cNvPr id="7" name="Picture 6" descr="figure_02_10.jpg"/>
          <p:cNvPicPr>
            <a:picLocks noChangeAspect="1"/>
          </p:cNvPicPr>
          <p:nvPr/>
        </p:nvPicPr>
        <p:blipFill>
          <a:blip r:embed="rId4"/>
          <a:stretch>
            <a:fillRect/>
          </a:stretch>
        </p:blipFill>
        <p:spPr>
          <a:xfrm>
            <a:off x="1830862" y="3009305"/>
            <a:ext cx="5014251" cy="3481323"/>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053732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TextBox 3"/>
          <p:cNvSpPr txBox="1">
            <a:spLocks noChangeArrowheads="1"/>
          </p:cNvSpPr>
          <p:nvPr/>
        </p:nvSpPr>
        <p:spPr bwMode="auto">
          <a:xfrm>
            <a:off x="152400" y="1066800"/>
            <a:ext cx="8991600"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Negatively charged amino acids with R groups that have a negative charge at physiological pH.</a:t>
            </a:r>
          </a:p>
        </p:txBody>
      </p:sp>
      <p:pic>
        <p:nvPicPr>
          <p:cNvPr id="2" name="Picture 1"/>
          <p:cNvPicPr>
            <a:picLocks noChangeAspect="1"/>
          </p:cNvPicPr>
          <p:nvPr/>
        </p:nvPicPr>
        <p:blipFill>
          <a:blip r:embed="rId3"/>
          <a:stretch>
            <a:fillRect/>
          </a:stretch>
        </p:blipFill>
        <p:spPr>
          <a:xfrm>
            <a:off x="1028700" y="291460"/>
            <a:ext cx="7073900" cy="609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118389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11.jpg"/>
          <p:cNvPicPr>
            <a:picLocks noChangeAspect="1"/>
          </p:cNvPicPr>
          <p:nvPr/>
        </p:nvPicPr>
        <p:blipFill>
          <a:blip r:embed="rId3"/>
          <a:stretch>
            <a:fillRect/>
          </a:stretch>
        </p:blipFill>
        <p:spPr>
          <a:xfrm>
            <a:off x="2944367" y="283464"/>
            <a:ext cx="3255264"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15979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TextBox 2"/>
          <p:cNvSpPr txBox="1">
            <a:spLocks noChangeArrowheads="1"/>
          </p:cNvSpPr>
          <p:nvPr/>
        </p:nvSpPr>
        <p:spPr bwMode="auto">
          <a:xfrm>
            <a:off x="1143000" y="990600"/>
            <a:ext cx="6024563"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Seven of the 20 amino acids have readily ionizable side chains.  </a:t>
            </a:r>
          </a:p>
        </p:txBody>
      </p:sp>
      <p:pic>
        <p:nvPicPr>
          <p:cNvPr id="2" name="Picture 1"/>
          <p:cNvPicPr>
            <a:picLocks noChangeAspect="1"/>
          </p:cNvPicPr>
          <p:nvPr/>
        </p:nvPicPr>
        <p:blipFill>
          <a:blip r:embed="rId2"/>
          <a:stretch>
            <a:fillRect/>
          </a:stretch>
        </p:blipFill>
        <p:spPr>
          <a:xfrm>
            <a:off x="865887" y="226338"/>
            <a:ext cx="7073900" cy="609600"/>
          </a:xfrm>
          <a:prstGeom prst="rect">
            <a:avLst/>
          </a:prstGeom>
        </p:spPr>
      </p:pic>
      <p:pic>
        <p:nvPicPr>
          <p:cNvPr id="5" name="Picture 4" descr="Table 2.1.jpg"/>
          <p:cNvPicPr>
            <a:picLocks noChangeAspect="1"/>
          </p:cNvPicPr>
          <p:nvPr/>
        </p:nvPicPr>
        <p:blipFill>
          <a:blip r:embed="rId3"/>
          <a:stretch>
            <a:fillRect/>
          </a:stretch>
        </p:blipFill>
        <p:spPr>
          <a:xfrm>
            <a:off x="2409686" y="1582767"/>
            <a:ext cx="4155025" cy="491771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864918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Table 2.2.jpg"/>
          <p:cNvPicPr>
            <a:picLocks noChangeAspect="1"/>
          </p:cNvPicPr>
          <p:nvPr/>
        </p:nvPicPr>
        <p:blipFill>
          <a:blip r:embed="rId3"/>
          <a:stretch>
            <a:fillRect/>
          </a:stretch>
        </p:blipFill>
        <p:spPr>
          <a:xfrm>
            <a:off x="304800" y="1217676"/>
            <a:ext cx="8534400" cy="44226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8499853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extBox 1"/>
          <p:cNvSpPr txBox="1"/>
          <p:nvPr/>
        </p:nvSpPr>
        <p:spPr>
          <a:xfrm>
            <a:off x="1027113" y="1549400"/>
            <a:ext cx="7583487" cy="2308225"/>
          </a:xfrm>
          <a:prstGeom prst="rect">
            <a:avLst/>
          </a:prstGeom>
          <a:noFill/>
        </p:spPr>
        <p:txBody>
          <a:bodyPr>
            <a:spAutoFit/>
          </a:bodyPr>
          <a:lstStyle/>
          <a:p>
            <a:pPr>
              <a:defRPr/>
            </a:pPr>
            <a:r>
              <a:rPr lang="en-US" sz="1800" dirty="0"/>
              <a:t>The </a:t>
            </a:r>
            <a:r>
              <a:rPr lang="en-US" sz="1800" dirty="0" smtClean="0"/>
              <a:t>reason </a:t>
            </a:r>
            <a:r>
              <a:rPr lang="en-US" sz="1800" dirty="0"/>
              <a:t>that these particular 20 amino acids became the protein alphabet is not known. Possible </a:t>
            </a:r>
            <a:r>
              <a:rPr lang="en-US" sz="1800" dirty="0" smtClean="0"/>
              <a:t>reasons </a:t>
            </a:r>
            <a:r>
              <a:rPr lang="en-US" sz="1800" dirty="0"/>
              <a:t>include:</a:t>
            </a:r>
          </a:p>
          <a:p>
            <a:pPr>
              <a:defRPr/>
            </a:pPr>
            <a:endParaRPr lang="en-US" sz="1800" dirty="0"/>
          </a:p>
          <a:p>
            <a:pPr marL="457200" indent="-457200">
              <a:buFontTx/>
              <a:buAutoNum type="arabicPeriod"/>
              <a:defRPr/>
            </a:pPr>
            <a:r>
              <a:rPr lang="en-US" sz="1800" dirty="0"/>
              <a:t>These amino acids provide chemical versatility.</a:t>
            </a:r>
          </a:p>
          <a:p>
            <a:pPr marL="457200" indent="-457200">
              <a:buFontTx/>
              <a:buAutoNum type="arabicPeriod"/>
              <a:defRPr/>
            </a:pPr>
            <a:endParaRPr lang="en-US" sz="1800" dirty="0"/>
          </a:p>
          <a:p>
            <a:pPr marL="457200" indent="-457200">
              <a:buFontTx/>
              <a:buAutoNum type="arabicPeriod"/>
              <a:defRPr/>
            </a:pPr>
            <a:r>
              <a:rPr lang="en-US" sz="1800" dirty="0"/>
              <a:t>They may have been available for prebiotic reactions.</a:t>
            </a:r>
          </a:p>
          <a:p>
            <a:pPr marL="457200" indent="-457200">
              <a:buFontTx/>
              <a:buAutoNum type="arabicPeriod"/>
              <a:defRPr/>
            </a:pPr>
            <a:endParaRPr lang="en-US" sz="1800" dirty="0"/>
          </a:p>
          <a:p>
            <a:pPr marL="457200" indent="-457200">
              <a:buFontTx/>
              <a:buAutoNum type="arabicPeriod"/>
              <a:defRPr/>
            </a:pPr>
            <a:r>
              <a:rPr lang="en-US" sz="1800" dirty="0"/>
              <a:t>Larger amino acids may be too reactive.</a:t>
            </a:r>
          </a:p>
        </p:txBody>
      </p:sp>
      <p:pic>
        <p:nvPicPr>
          <p:cNvPr id="3" name="Picture 2"/>
          <p:cNvPicPr>
            <a:picLocks noChangeAspect="1"/>
          </p:cNvPicPr>
          <p:nvPr/>
        </p:nvPicPr>
        <p:blipFill>
          <a:blip r:embed="rId3"/>
          <a:stretch>
            <a:fillRect/>
          </a:stretch>
        </p:blipFill>
        <p:spPr>
          <a:xfrm>
            <a:off x="670511" y="372859"/>
            <a:ext cx="7073900" cy="609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9942288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12.jpg"/>
          <p:cNvPicPr>
            <a:picLocks noChangeAspect="1"/>
          </p:cNvPicPr>
          <p:nvPr/>
        </p:nvPicPr>
        <p:blipFill>
          <a:blip r:embed="rId3"/>
          <a:stretch>
            <a:fillRect/>
          </a:stretch>
        </p:blipFill>
        <p:spPr>
          <a:xfrm>
            <a:off x="841247" y="283464"/>
            <a:ext cx="7461504"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3486663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33404" y="651045"/>
            <a:ext cx="6883400" cy="825500"/>
          </a:xfrm>
          <a:prstGeom prst="rect">
            <a:avLst/>
          </a:prstGeom>
        </p:spPr>
      </p:pic>
      <p:pic>
        <p:nvPicPr>
          <p:cNvPr id="5" name="Picture 4" descr="figure_02_13.jpg"/>
          <p:cNvPicPr>
            <a:picLocks noChangeAspect="1"/>
          </p:cNvPicPr>
          <p:nvPr/>
        </p:nvPicPr>
        <p:blipFill>
          <a:blip r:embed="rId4"/>
          <a:stretch>
            <a:fillRect/>
          </a:stretch>
        </p:blipFill>
        <p:spPr>
          <a:xfrm>
            <a:off x="304800" y="2197608"/>
            <a:ext cx="8534400" cy="246278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2088258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42" name="TextBox 2"/>
          <p:cNvSpPr txBox="1">
            <a:spLocks noChangeArrowheads="1"/>
          </p:cNvSpPr>
          <p:nvPr/>
        </p:nvSpPr>
        <p:spPr bwMode="auto">
          <a:xfrm>
            <a:off x="1371600" y="1981200"/>
            <a:ext cx="6902450"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 polypeptide bond has directionality, sometimes called polarity. The amino terminal end is taken as the beginning of the polypeptide chain.</a:t>
            </a:r>
          </a:p>
        </p:txBody>
      </p:sp>
      <p:pic>
        <p:nvPicPr>
          <p:cNvPr id="2" name="Picture 1"/>
          <p:cNvPicPr>
            <a:picLocks noChangeAspect="1"/>
          </p:cNvPicPr>
          <p:nvPr/>
        </p:nvPicPr>
        <p:blipFill>
          <a:blip r:embed="rId2"/>
          <a:stretch>
            <a:fillRect/>
          </a:stretch>
        </p:blipFill>
        <p:spPr>
          <a:xfrm>
            <a:off x="1371600" y="651045"/>
            <a:ext cx="6883400" cy="8255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5502389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14.jpg"/>
          <p:cNvPicPr>
            <a:picLocks noChangeAspect="1"/>
          </p:cNvPicPr>
          <p:nvPr/>
        </p:nvPicPr>
        <p:blipFill>
          <a:blip r:embed="rId3"/>
          <a:stretch>
            <a:fillRect/>
          </a:stretch>
        </p:blipFill>
        <p:spPr>
          <a:xfrm>
            <a:off x="533400" y="192023"/>
            <a:ext cx="8077200"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1144664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245455" y="2553123"/>
            <a:ext cx="3898545" cy="1787795"/>
          </a:xfrm>
          <a:prstGeom prst="rect">
            <a:avLst/>
          </a:prstGeom>
        </p:spPr>
      </p:pic>
      <p:sp>
        <p:nvSpPr>
          <p:cNvPr id="64514" name="TextBox 3"/>
          <p:cNvSpPr txBox="1">
            <a:spLocks noChangeArrowheads="1"/>
          </p:cNvSpPr>
          <p:nvPr/>
        </p:nvSpPr>
        <p:spPr bwMode="auto">
          <a:xfrm>
            <a:off x="457200" y="1905000"/>
            <a:ext cx="4876800" cy="42465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polypeptide </a:t>
            </a:r>
            <a:r>
              <a:rPr lang="en-US" sz="1800" dirty="0" smtClean="0"/>
              <a:t>consists </a:t>
            </a:r>
            <a:r>
              <a:rPr lang="en-US" sz="1800" dirty="0"/>
              <a:t>of a repeating part called the main chain or backbone and a variable part consisting of the distinctive amino acid side chains.</a:t>
            </a:r>
          </a:p>
          <a:p>
            <a:endParaRPr lang="en-US" sz="1800" dirty="0"/>
          </a:p>
          <a:p>
            <a:r>
              <a:rPr lang="en-US" sz="1800" dirty="0"/>
              <a:t>The backbone has hydrogen bonding potential because of the carbonyl groups and hydrogen atoms that are bonded to the nitrogen of the amine group.</a:t>
            </a:r>
          </a:p>
          <a:p>
            <a:endParaRPr lang="en-US" sz="1800" dirty="0"/>
          </a:p>
          <a:p>
            <a:r>
              <a:rPr lang="en-US" sz="1800" dirty="0"/>
              <a:t>Most proteins consist of 50 to 2000 amino acids.</a:t>
            </a:r>
          </a:p>
          <a:p>
            <a:endParaRPr lang="en-US" sz="1800" dirty="0"/>
          </a:p>
          <a:p>
            <a:r>
              <a:rPr lang="en-US" sz="1800" dirty="0"/>
              <a:t>The mean molecular weight for an amino acid is 110 g mol</a:t>
            </a:r>
            <a:r>
              <a:rPr lang="en-US" sz="1800" baseline="30000" dirty="0"/>
              <a:t>-1</a:t>
            </a:r>
            <a:r>
              <a:rPr lang="en-US" sz="1800" dirty="0"/>
              <a:t>. Protein mass can also be referred to as </a:t>
            </a:r>
            <a:r>
              <a:rPr lang="en-US" sz="1800" dirty="0" smtClean="0"/>
              <a:t>Daltons.</a:t>
            </a:r>
            <a:endParaRPr lang="en-US" sz="1800" dirty="0"/>
          </a:p>
        </p:txBody>
      </p:sp>
      <p:pic>
        <p:nvPicPr>
          <p:cNvPr id="2" name="Picture 1"/>
          <p:cNvPicPr>
            <a:picLocks noChangeAspect="1"/>
          </p:cNvPicPr>
          <p:nvPr/>
        </p:nvPicPr>
        <p:blipFill>
          <a:blip r:embed="rId3"/>
          <a:stretch>
            <a:fillRect/>
          </a:stretch>
        </p:blipFill>
        <p:spPr>
          <a:xfrm>
            <a:off x="932369" y="486090"/>
            <a:ext cx="6883400" cy="8255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664142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15.jpg"/>
          <p:cNvPicPr>
            <a:picLocks noChangeAspect="1"/>
          </p:cNvPicPr>
          <p:nvPr/>
        </p:nvPicPr>
        <p:blipFill>
          <a:blip r:embed="rId3"/>
          <a:stretch>
            <a:fillRect/>
          </a:stretch>
        </p:blipFill>
        <p:spPr>
          <a:xfrm>
            <a:off x="304800" y="2212847"/>
            <a:ext cx="8534400" cy="243230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0517904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5" name="TextBox 1"/>
          <p:cNvSpPr txBox="1">
            <a:spLocks noChangeArrowheads="1"/>
          </p:cNvSpPr>
          <p:nvPr/>
        </p:nvSpPr>
        <p:spPr bwMode="auto">
          <a:xfrm>
            <a:off x="1106488" y="2230438"/>
            <a:ext cx="7504112" cy="1477962"/>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 some proteins, the polypeptide chain can be cross-linked by disulfide bonds.</a:t>
            </a:r>
          </a:p>
          <a:p>
            <a:endParaRPr lang="en-US" sz="1800" dirty="0"/>
          </a:p>
          <a:p>
            <a:r>
              <a:rPr lang="en-US" sz="1800" dirty="0"/>
              <a:t>Disulfide bonds form by the oxidation of two cysteines.</a:t>
            </a:r>
          </a:p>
          <a:p>
            <a:endParaRPr lang="en-US" sz="1800" dirty="0"/>
          </a:p>
          <a:p>
            <a:r>
              <a:rPr lang="en-US" sz="1800" dirty="0"/>
              <a:t>The cross-linked cysteines are called cystine.</a:t>
            </a:r>
          </a:p>
        </p:txBody>
      </p:sp>
      <p:pic>
        <p:nvPicPr>
          <p:cNvPr id="2" name="Picture 1"/>
          <p:cNvPicPr>
            <a:picLocks noChangeAspect="1"/>
          </p:cNvPicPr>
          <p:nvPr/>
        </p:nvPicPr>
        <p:blipFill>
          <a:blip r:embed="rId2"/>
          <a:stretch>
            <a:fillRect/>
          </a:stretch>
        </p:blipFill>
        <p:spPr>
          <a:xfrm>
            <a:off x="1106488" y="816000"/>
            <a:ext cx="6883400" cy="8255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408803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16.jpg"/>
          <p:cNvPicPr>
            <a:picLocks noChangeAspect="1"/>
          </p:cNvPicPr>
          <p:nvPr/>
        </p:nvPicPr>
        <p:blipFill>
          <a:blip r:embed="rId3"/>
          <a:stretch>
            <a:fillRect/>
          </a:stretch>
        </p:blipFill>
        <p:spPr>
          <a:xfrm>
            <a:off x="652271" y="192023"/>
            <a:ext cx="7839456"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913747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0658" name="Picture 2"/>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707069" y="1752600"/>
            <a:ext cx="5270500" cy="558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800415" y="304639"/>
            <a:ext cx="6883400" cy="825500"/>
          </a:xfrm>
          <a:prstGeom prst="rect">
            <a:avLst/>
          </a:prstGeom>
        </p:spPr>
      </p:pic>
      <p:pic>
        <p:nvPicPr>
          <p:cNvPr id="6" name="Picture 5" descr="figure_02_17.jpg"/>
          <p:cNvPicPr>
            <a:picLocks noChangeAspect="1"/>
          </p:cNvPicPr>
          <p:nvPr/>
        </p:nvPicPr>
        <p:blipFill>
          <a:blip r:embed="rId5"/>
          <a:stretch>
            <a:fillRect/>
          </a:stretch>
        </p:blipFill>
        <p:spPr>
          <a:xfrm>
            <a:off x="304800" y="2893285"/>
            <a:ext cx="8534400" cy="229209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3865170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2706"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828800" y="1828800"/>
            <a:ext cx="5245100" cy="558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72707" name="TextBox 4"/>
          <p:cNvSpPr txBox="1">
            <a:spLocks noChangeArrowheads="1"/>
          </p:cNvSpPr>
          <p:nvPr/>
        </p:nvSpPr>
        <p:spPr bwMode="auto">
          <a:xfrm>
            <a:off x="762000" y="2590800"/>
            <a:ext cx="7934325"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peptide bond is essentially planar. Six atoms (C</a:t>
            </a:r>
            <a:r>
              <a:rPr lang="en-US" sz="1800" baseline="-25000" dirty="0"/>
              <a:t>α</a:t>
            </a:r>
            <a:r>
              <a:rPr lang="en-US" sz="1800" dirty="0"/>
              <a:t>, C, O, N, H, and C</a:t>
            </a:r>
            <a:r>
              <a:rPr lang="en-US" sz="1800" baseline="-25000" dirty="0"/>
              <a:t>α</a:t>
            </a:r>
            <a:r>
              <a:rPr lang="en-US" sz="1800" dirty="0"/>
              <a:t>) lie in a plane. </a:t>
            </a:r>
          </a:p>
          <a:p>
            <a:endParaRPr lang="en-US" sz="1800" dirty="0"/>
          </a:p>
          <a:p>
            <a:r>
              <a:rPr lang="en-US" sz="1800" dirty="0"/>
              <a:t>The peptide bond has partial double bond character because of resonance, and thus rotation about the bond is prohibited.</a:t>
            </a:r>
          </a:p>
        </p:txBody>
      </p:sp>
      <p:sp>
        <p:nvSpPr>
          <p:cNvPr id="72709" name="TextBox 5"/>
          <p:cNvSpPr txBox="1">
            <a:spLocks noChangeArrowheads="1"/>
          </p:cNvSpPr>
          <p:nvPr/>
        </p:nvSpPr>
        <p:spPr bwMode="auto">
          <a:xfrm>
            <a:off x="2971800" y="6172200"/>
            <a:ext cx="3084513"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peptide bond is uncharged.</a:t>
            </a:r>
          </a:p>
        </p:txBody>
      </p:sp>
      <p:pic>
        <p:nvPicPr>
          <p:cNvPr id="2" name="Picture 1"/>
          <p:cNvPicPr>
            <a:picLocks noChangeAspect="1"/>
          </p:cNvPicPr>
          <p:nvPr/>
        </p:nvPicPr>
        <p:blipFill>
          <a:blip r:embed="rId4"/>
          <a:stretch>
            <a:fillRect/>
          </a:stretch>
        </p:blipFill>
        <p:spPr>
          <a:xfrm>
            <a:off x="762000" y="354126"/>
            <a:ext cx="6883400" cy="825500"/>
          </a:xfrm>
          <a:prstGeom prst="rect">
            <a:avLst/>
          </a:prstGeom>
        </p:spPr>
      </p:pic>
      <p:pic>
        <p:nvPicPr>
          <p:cNvPr id="9" name="Picture 8" descr="unnumbered_02_p38.jpg"/>
          <p:cNvPicPr>
            <a:picLocks noChangeAspect="1"/>
          </p:cNvPicPr>
          <p:nvPr/>
        </p:nvPicPr>
        <p:blipFill>
          <a:blip r:embed="rId5"/>
          <a:stretch>
            <a:fillRect/>
          </a:stretch>
        </p:blipFill>
        <p:spPr>
          <a:xfrm>
            <a:off x="2175179" y="4254511"/>
            <a:ext cx="4554475" cy="1776245"/>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6152418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18.jpg"/>
          <p:cNvPicPr>
            <a:picLocks noChangeAspect="1"/>
          </p:cNvPicPr>
          <p:nvPr/>
        </p:nvPicPr>
        <p:blipFill>
          <a:blip r:embed="rId3"/>
          <a:stretch>
            <a:fillRect/>
          </a:stretch>
        </p:blipFill>
        <p:spPr>
          <a:xfrm>
            <a:off x="304800" y="932688"/>
            <a:ext cx="8534400" cy="499262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430178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19.jpg"/>
          <p:cNvPicPr>
            <a:picLocks noChangeAspect="1"/>
          </p:cNvPicPr>
          <p:nvPr/>
        </p:nvPicPr>
        <p:blipFill>
          <a:blip r:embed="rId3"/>
          <a:stretch>
            <a:fillRect/>
          </a:stretch>
        </p:blipFill>
        <p:spPr>
          <a:xfrm>
            <a:off x="304800" y="600455"/>
            <a:ext cx="8534400" cy="565708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5096973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8851" name="Picture 3"/>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828800" y="1828800"/>
            <a:ext cx="5245100" cy="558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1014840" y="486090"/>
            <a:ext cx="6883400" cy="825500"/>
          </a:xfrm>
          <a:prstGeom prst="rect">
            <a:avLst/>
          </a:prstGeom>
        </p:spPr>
      </p:pic>
      <p:pic>
        <p:nvPicPr>
          <p:cNvPr id="6" name="Picture 5" descr="figure_02_20.jpg"/>
          <p:cNvPicPr>
            <a:picLocks noChangeAspect="1"/>
          </p:cNvPicPr>
          <p:nvPr/>
        </p:nvPicPr>
        <p:blipFill>
          <a:blip r:embed="rId5"/>
          <a:stretch>
            <a:fillRect/>
          </a:stretch>
        </p:blipFill>
        <p:spPr>
          <a:xfrm>
            <a:off x="304800" y="3143961"/>
            <a:ext cx="8534400" cy="357225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377807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21.jpg"/>
          <p:cNvPicPr>
            <a:picLocks noChangeAspect="1"/>
          </p:cNvPicPr>
          <p:nvPr/>
        </p:nvPicPr>
        <p:blipFill>
          <a:blip r:embed="rId3"/>
          <a:stretch>
            <a:fillRect/>
          </a:stretch>
        </p:blipFill>
        <p:spPr>
          <a:xfrm>
            <a:off x="304800" y="1246632"/>
            <a:ext cx="8534400" cy="436473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6279557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2946"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828800" y="1828800"/>
            <a:ext cx="5245100" cy="558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82947" name="TextBox 3"/>
          <p:cNvSpPr txBox="1">
            <a:spLocks noChangeArrowheads="1"/>
          </p:cNvSpPr>
          <p:nvPr/>
        </p:nvSpPr>
        <p:spPr bwMode="auto">
          <a:xfrm>
            <a:off x="457200" y="2895600"/>
            <a:ext cx="7721442" cy="147732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Rotation is permitted </a:t>
            </a:r>
            <a:r>
              <a:rPr lang="en-US" sz="1800" dirty="0" smtClean="0"/>
              <a:t>about </a:t>
            </a:r>
            <a:r>
              <a:rPr lang="en-US" sz="1800" dirty="0"/>
              <a:t>the N-C</a:t>
            </a:r>
            <a:r>
              <a:rPr lang="en-US" sz="1800" baseline="-25000" dirty="0"/>
              <a:t>α</a:t>
            </a:r>
            <a:r>
              <a:rPr lang="en-US" sz="1800" dirty="0"/>
              <a:t> bond (the phi (Φ )bond) and </a:t>
            </a:r>
            <a:r>
              <a:rPr lang="en-US" sz="1800" dirty="0" smtClean="0"/>
              <a:t>about the C</a:t>
            </a:r>
            <a:r>
              <a:rPr lang="en-US" sz="1800" baseline="-25000" dirty="0" smtClean="0"/>
              <a:t>α</a:t>
            </a:r>
            <a:r>
              <a:rPr lang="en-US" sz="1800" dirty="0" smtClean="0"/>
              <a:t>-carbonyl </a:t>
            </a:r>
            <a:r>
              <a:rPr lang="en-US" sz="1800" dirty="0"/>
              <a:t>bond (the psi ( ψ) bond.)</a:t>
            </a:r>
          </a:p>
          <a:p>
            <a:endParaRPr lang="en-US" sz="1800" dirty="0"/>
          </a:p>
          <a:p>
            <a:r>
              <a:rPr lang="en-US" sz="1800" dirty="0"/>
              <a:t>The rotation about the  Φ and ψ bonds, called the torsion angle, determines the path of the polypeptide chain. Not all torsion angles are permitted.</a:t>
            </a:r>
          </a:p>
        </p:txBody>
      </p:sp>
      <p:pic>
        <p:nvPicPr>
          <p:cNvPr id="2" name="Picture 1"/>
          <p:cNvPicPr>
            <a:picLocks noChangeAspect="1"/>
          </p:cNvPicPr>
          <p:nvPr/>
        </p:nvPicPr>
        <p:blipFill>
          <a:blip r:embed="rId3"/>
          <a:stretch>
            <a:fillRect/>
          </a:stretch>
        </p:blipFill>
        <p:spPr>
          <a:xfrm>
            <a:off x="1295242" y="271649"/>
            <a:ext cx="6883400" cy="825500"/>
          </a:xfrm>
          <a:prstGeom prst="rect">
            <a:avLst/>
          </a:prstGeom>
        </p:spPr>
      </p:pic>
      <p:pic>
        <p:nvPicPr>
          <p:cNvPr id="3" name="Picture 2"/>
          <p:cNvPicPr>
            <a:picLocks noChangeAspect="1"/>
          </p:cNvPicPr>
          <p:nvPr/>
        </p:nvPicPr>
        <p:blipFill>
          <a:blip r:embed="rId4"/>
          <a:stretch>
            <a:fillRect/>
          </a:stretch>
        </p:blipFill>
        <p:spPr>
          <a:xfrm>
            <a:off x="4565650" y="4927600"/>
            <a:ext cx="4432300" cy="15748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8582658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 name="Picture 4" descr="figure_02_22.jpg"/>
          <p:cNvPicPr>
            <a:picLocks noChangeAspect="1"/>
          </p:cNvPicPr>
          <p:nvPr/>
        </p:nvPicPr>
        <p:blipFill>
          <a:blip r:embed="rId3"/>
          <a:stretch>
            <a:fillRect/>
          </a:stretch>
        </p:blipFill>
        <p:spPr>
          <a:xfrm>
            <a:off x="1243584" y="192023"/>
            <a:ext cx="6656832"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0779443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6018" name="Picture 3"/>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828800" y="1828800"/>
            <a:ext cx="5245100" cy="558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86019" name="TextBox 1"/>
          <p:cNvSpPr txBox="1">
            <a:spLocks noChangeArrowheads="1"/>
          </p:cNvSpPr>
          <p:nvPr/>
        </p:nvSpPr>
        <p:spPr bwMode="auto">
          <a:xfrm>
            <a:off x="914400" y="2932113"/>
            <a:ext cx="7543800" cy="646112"/>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Ramachandran </a:t>
            </a:r>
            <a:r>
              <a:rPr lang="en-US" sz="1800" dirty="0" smtClean="0"/>
              <a:t>plot </a:t>
            </a:r>
            <a:r>
              <a:rPr lang="en-US" sz="1800" dirty="0"/>
              <a:t>illustrates the φ and ψ angles that are favorable because there is no steric hindrance.</a:t>
            </a:r>
          </a:p>
        </p:txBody>
      </p:sp>
      <p:pic>
        <p:nvPicPr>
          <p:cNvPr id="2" name="Picture 1"/>
          <p:cNvPicPr>
            <a:picLocks noChangeAspect="1"/>
          </p:cNvPicPr>
          <p:nvPr/>
        </p:nvPicPr>
        <p:blipFill>
          <a:blip r:embed="rId4"/>
          <a:stretch>
            <a:fillRect/>
          </a:stretch>
        </p:blipFill>
        <p:spPr>
          <a:xfrm>
            <a:off x="914400" y="486090"/>
            <a:ext cx="6883400" cy="8255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38414261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23.jpg"/>
          <p:cNvPicPr>
            <a:picLocks noChangeAspect="1"/>
          </p:cNvPicPr>
          <p:nvPr/>
        </p:nvPicPr>
        <p:blipFill>
          <a:blip r:embed="rId3"/>
          <a:stretch>
            <a:fillRect/>
          </a:stretch>
        </p:blipFill>
        <p:spPr>
          <a:xfrm>
            <a:off x="304800" y="1085088"/>
            <a:ext cx="8534400" cy="468782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9929003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0114" name="TextBox 2"/>
          <p:cNvSpPr txBox="1">
            <a:spLocks noChangeArrowheads="1"/>
          </p:cNvSpPr>
          <p:nvPr/>
        </p:nvSpPr>
        <p:spPr bwMode="auto">
          <a:xfrm>
            <a:off x="1495425" y="2492375"/>
            <a:ext cx="6942138" cy="17541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Secondary structure is the three-dimensional structure formed by hydrogen bonds between peptide NH and CO groups of amino acids that are near one another in the primary structure.</a:t>
            </a:r>
          </a:p>
          <a:p>
            <a:endParaRPr lang="en-US" sz="1800" dirty="0"/>
          </a:p>
          <a:p>
            <a:r>
              <a:rPr lang="en-US" sz="1800" dirty="0"/>
              <a:t>The α-helix, β-sheets and turns are prominent examples of secondary structure.</a:t>
            </a:r>
          </a:p>
        </p:txBody>
      </p:sp>
      <p:pic>
        <p:nvPicPr>
          <p:cNvPr id="90115" name="Picture 3"/>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447800" y="1828800"/>
            <a:ext cx="6286500" cy="5715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914400" y="196617"/>
            <a:ext cx="6819900" cy="121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5467917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92162" name="Picture 3"/>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447800" y="1828800"/>
            <a:ext cx="6286500" cy="5715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92164" name="TextBox 5"/>
          <p:cNvSpPr txBox="1">
            <a:spLocks noChangeArrowheads="1"/>
          </p:cNvSpPr>
          <p:nvPr/>
        </p:nvSpPr>
        <p:spPr bwMode="auto">
          <a:xfrm>
            <a:off x="381000" y="2362200"/>
            <a:ext cx="8458200"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α-helix is a tightly-coiled rod-like structure, with the R groups bristling out from the axis of the helix.</a:t>
            </a:r>
          </a:p>
        </p:txBody>
      </p:sp>
      <p:sp>
        <p:nvSpPr>
          <p:cNvPr id="92165" name="TextBox 6"/>
          <p:cNvSpPr txBox="1">
            <a:spLocks noChangeArrowheads="1"/>
          </p:cNvSpPr>
          <p:nvPr/>
        </p:nvSpPr>
        <p:spPr bwMode="auto">
          <a:xfrm>
            <a:off x="457200" y="3124200"/>
            <a:ext cx="8153400"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All of the backbone CO and NH groups form hydrogen bonds except those at the end of the helix.</a:t>
            </a:r>
          </a:p>
        </p:txBody>
      </p:sp>
      <p:sp>
        <p:nvSpPr>
          <p:cNvPr id="92166" name="TextBox 7"/>
          <p:cNvSpPr txBox="1">
            <a:spLocks noChangeArrowheads="1"/>
          </p:cNvSpPr>
          <p:nvPr/>
        </p:nvSpPr>
        <p:spPr bwMode="auto">
          <a:xfrm>
            <a:off x="457200" y="3886200"/>
            <a:ext cx="7162800"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Essentially all α-helices found in proteins are right-handed.</a:t>
            </a:r>
          </a:p>
        </p:txBody>
      </p:sp>
      <p:pic>
        <p:nvPicPr>
          <p:cNvPr id="2" name="Picture 1"/>
          <p:cNvPicPr>
            <a:picLocks noChangeAspect="1"/>
          </p:cNvPicPr>
          <p:nvPr/>
        </p:nvPicPr>
        <p:blipFill>
          <a:blip r:embed="rId4"/>
          <a:stretch>
            <a:fillRect/>
          </a:stretch>
        </p:blipFill>
        <p:spPr>
          <a:xfrm>
            <a:off x="800100" y="0"/>
            <a:ext cx="6819900" cy="1219200"/>
          </a:xfrm>
          <a:prstGeom prst="rect">
            <a:avLst/>
          </a:prstGeom>
        </p:spPr>
      </p:pic>
      <p:pic>
        <p:nvPicPr>
          <p:cNvPr id="3" name="Picture 2"/>
          <p:cNvPicPr>
            <a:picLocks noChangeAspect="1"/>
          </p:cNvPicPr>
          <p:nvPr/>
        </p:nvPicPr>
        <p:blipFill>
          <a:blip r:embed="rId5"/>
          <a:stretch>
            <a:fillRect/>
          </a:stretch>
        </p:blipFill>
        <p:spPr>
          <a:xfrm>
            <a:off x="4991100" y="4891264"/>
            <a:ext cx="3848100" cy="17145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8199061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24.jpg"/>
          <p:cNvPicPr>
            <a:picLocks noChangeAspect="1"/>
          </p:cNvPicPr>
          <p:nvPr/>
        </p:nvPicPr>
        <p:blipFill>
          <a:blip r:embed="rId3"/>
          <a:stretch>
            <a:fillRect/>
          </a:stretch>
        </p:blipFill>
        <p:spPr>
          <a:xfrm>
            <a:off x="304800" y="259079"/>
            <a:ext cx="8534400" cy="633984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0882502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25.jpg"/>
          <p:cNvPicPr>
            <a:picLocks noChangeAspect="1"/>
          </p:cNvPicPr>
          <p:nvPr/>
        </p:nvPicPr>
        <p:blipFill>
          <a:blip r:embed="rId3"/>
          <a:stretch>
            <a:fillRect/>
          </a:stretch>
        </p:blipFill>
        <p:spPr>
          <a:xfrm>
            <a:off x="304800" y="1886711"/>
            <a:ext cx="8534400" cy="308457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8287422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26.jpg"/>
          <p:cNvPicPr>
            <a:picLocks noChangeAspect="1"/>
          </p:cNvPicPr>
          <p:nvPr/>
        </p:nvPicPr>
        <p:blipFill>
          <a:blip r:embed="rId3"/>
          <a:stretch>
            <a:fillRect/>
          </a:stretch>
        </p:blipFill>
        <p:spPr>
          <a:xfrm>
            <a:off x="1450848" y="192023"/>
            <a:ext cx="6242304"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92089724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2_27.jpg"/>
          <p:cNvPicPr>
            <a:picLocks noChangeAspect="1"/>
          </p:cNvPicPr>
          <p:nvPr/>
        </p:nvPicPr>
        <p:blipFill>
          <a:blip r:embed="rId3"/>
          <a:stretch>
            <a:fillRect/>
          </a:stretch>
        </p:blipFill>
        <p:spPr>
          <a:xfrm>
            <a:off x="2136648" y="192023"/>
            <a:ext cx="4870704"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4299093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igure_02_28.jpg"/>
          <p:cNvPicPr>
            <a:picLocks noChangeAspect="1"/>
          </p:cNvPicPr>
          <p:nvPr/>
        </p:nvPicPr>
        <p:blipFill>
          <a:blip r:embed="rId3"/>
          <a:stretch>
            <a:fillRect/>
          </a:stretch>
        </p:blipFill>
        <p:spPr>
          <a:xfrm>
            <a:off x="304800" y="1173479"/>
            <a:ext cx="8534400" cy="451104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88355171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02402"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752600" y="1752600"/>
            <a:ext cx="5588000" cy="622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02403" name="TextBox 4"/>
          <p:cNvSpPr txBox="1">
            <a:spLocks noChangeArrowheads="1"/>
          </p:cNvSpPr>
          <p:nvPr/>
        </p:nvSpPr>
        <p:spPr bwMode="auto">
          <a:xfrm>
            <a:off x="685800" y="2819400"/>
            <a:ext cx="7543800"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β-strand is another common form of secondary structure.</a:t>
            </a:r>
          </a:p>
          <a:p>
            <a:endParaRPr lang="en-US" sz="1800" dirty="0"/>
          </a:p>
          <a:p>
            <a:r>
              <a:rPr lang="en-US" sz="1800" dirty="0"/>
              <a:t>Beta sheets are formed by adjacent β-strands.</a:t>
            </a:r>
          </a:p>
          <a:p>
            <a:endParaRPr lang="en-US" sz="1800" dirty="0"/>
          </a:p>
          <a:p>
            <a:r>
              <a:rPr lang="en-US" sz="1800" dirty="0"/>
              <a:t>In contrast to an α-helix, the polypeptide in a β-strand is fully extended.</a:t>
            </a:r>
          </a:p>
        </p:txBody>
      </p:sp>
      <p:pic>
        <p:nvPicPr>
          <p:cNvPr id="2" name="Picture 1"/>
          <p:cNvPicPr>
            <a:picLocks noChangeAspect="1"/>
          </p:cNvPicPr>
          <p:nvPr/>
        </p:nvPicPr>
        <p:blipFill>
          <a:blip r:embed="rId4"/>
          <a:stretch>
            <a:fillRect/>
          </a:stretch>
        </p:blipFill>
        <p:spPr>
          <a:xfrm>
            <a:off x="1007252" y="196617"/>
            <a:ext cx="6819900" cy="121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4577326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29.jpg"/>
          <p:cNvPicPr>
            <a:picLocks noChangeAspect="1"/>
          </p:cNvPicPr>
          <p:nvPr/>
        </p:nvPicPr>
        <p:blipFill>
          <a:blip r:embed="rId3"/>
          <a:stretch>
            <a:fillRect/>
          </a:stretch>
        </p:blipFill>
        <p:spPr>
          <a:xfrm>
            <a:off x="1466088" y="192023"/>
            <a:ext cx="6211824"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56511669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30.jpg"/>
          <p:cNvPicPr>
            <a:picLocks noChangeAspect="1"/>
          </p:cNvPicPr>
          <p:nvPr/>
        </p:nvPicPr>
        <p:blipFill>
          <a:blip r:embed="rId3"/>
          <a:stretch>
            <a:fillRect/>
          </a:stretch>
        </p:blipFill>
        <p:spPr>
          <a:xfrm>
            <a:off x="304800" y="1761744"/>
            <a:ext cx="8534400" cy="333451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32769771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8545" name="TextBox 1"/>
          <p:cNvSpPr txBox="1">
            <a:spLocks noChangeArrowheads="1"/>
          </p:cNvSpPr>
          <p:nvPr/>
        </p:nvSpPr>
        <p:spPr bwMode="auto">
          <a:xfrm>
            <a:off x="1587500" y="3192463"/>
            <a:ext cx="6261100" cy="1477962"/>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Hydrogen bonds link the </a:t>
            </a:r>
            <a:r>
              <a:rPr lang="en-US" sz="1800" dirty="0" smtClean="0"/>
              <a:t>strands </a:t>
            </a:r>
            <a:r>
              <a:rPr lang="en-US" sz="1800" dirty="0"/>
              <a:t>in a β-sheet.</a:t>
            </a:r>
          </a:p>
          <a:p>
            <a:endParaRPr lang="en-US" sz="1800" dirty="0"/>
          </a:p>
          <a:p>
            <a:r>
              <a:rPr lang="en-US" sz="1800" dirty="0"/>
              <a:t>The strands of a β-sheet may be parallel, antiparallel, or mixed.</a:t>
            </a:r>
          </a:p>
          <a:p>
            <a:endParaRPr lang="en-US" sz="1800" dirty="0"/>
          </a:p>
          <a:p>
            <a:r>
              <a:rPr lang="en-US" sz="1800" dirty="0"/>
              <a:t>β-sheets may be flat or adopt a twisted conformation.</a:t>
            </a:r>
          </a:p>
        </p:txBody>
      </p:sp>
      <p:pic>
        <p:nvPicPr>
          <p:cNvPr id="108547" name="Picture 3"/>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752600" y="1752600"/>
            <a:ext cx="5588000" cy="622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pic>
        <p:nvPicPr>
          <p:cNvPr id="2" name="Picture 1"/>
          <p:cNvPicPr>
            <a:picLocks noChangeAspect="1"/>
          </p:cNvPicPr>
          <p:nvPr/>
        </p:nvPicPr>
        <p:blipFill>
          <a:blip r:embed="rId3"/>
          <a:stretch>
            <a:fillRect/>
          </a:stretch>
        </p:blipFill>
        <p:spPr>
          <a:xfrm>
            <a:off x="1028700" y="0"/>
            <a:ext cx="6819900" cy="121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99565429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31.jpg"/>
          <p:cNvPicPr>
            <a:picLocks noChangeAspect="1"/>
          </p:cNvPicPr>
          <p:nvPr/>
        </p:nvPicPr>
        <p:blipFill>
          <a:blip r:embed="rId3"/>
          <a:stretch>
            <a:fillRect/>
          </a:stretch>
        </p:blipFill>
        <p:spPr>
          <a:xfrm>
            <a:off x="304800" y="929639"/>
            <a:ext cx="8534400" cy="499872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4926001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32.jpg"/>
          <p:cNvPicPr>
            <a:picLocks noChangeAspect="1"/>
          </p:cNvPicPr>
          <p:nvPr/>
        </p:nvPicPr>
        <p:blipFill>
          <a:blip r:embed="rId3"/>
          <a:stretch>
            <a:fillRect/>
          </a:stretch>
        </p:blipFill>
        <p:spPr>
          <a:xfrm>
            <a:off x="304800" y="935735"/>
            <a:ext cx="8534400" cy="498652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96120638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33.jpg"/>
          <p:cNvPicPr>
            <a:picLocks noChangeAspect="1"/>
          </p:cNvPicPr>
          <p:nvPr/>
        </p:nvPicPr>
        <p:blipFill>
          <a:blip r:embed="rId3"/>
          <a:stretch>
            <a:fillRect/>
          </a:stretch>
        </p:blipFill>
        <p:spPr>
          <a:xfrm>
            <a:off x="304800" y="256032"/>
            <a:ext cx="8534400" cy="634593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02291994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34.jpg"/>
          <p:cNvPicPr>
            <a:picLocks noChangeAspect="1"/>
          </p:cNvPicPr>
          <p:nvPr/>
        </p:nvPicPr>
        <p:blipFill>
          <a:blip r:embed="rId3"/>
          <a:stretch>
            <a:fillRect/>
          </a:stretch>
        </p:blipFill>
        <p:spPr>
          <a:xfrm>
            <a:off x="304800" y="1350264"/>
            <a:ext cx="8534400" cy="41574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82158931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35.jpg"/>
          <p:cNvPicPr>
            <a:picLocks noChangeAspect="1"/>
          </p:cNvPicPr>
          <p:nvPr/>
        </p:nvPicPr>
        <p:blipFill>
          <a:blip r:embed="rId3"/>
          <a:stretch>
            <a:fillRect/>
          </a:stretch>
        </p:blipFill>
        <p:spPr>
          <a:xfrm>
            <a:off x="2471927" y="192023"/>
            <a:ext cx="4200144"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12680366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19809" name="Picture 1"/>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524000" y="1905000"/>
            <a:ext cx="5829300" cy="635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19811" name="TextBox 3"/>
          <p:cNvSpPr txBox="1">
            <a:spLocks noChangeArrowheads="1"/>
          </p:cNvSpPr>
          <p:nvPr/>
        </p:nvSpPr>
        <p:spPr bwMode="auto">
          <a:xfrm>
            <a:off x="914400" y="3200400"/>
            <a:ext cx="7423150" cy="646331"/>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Polypeptide chains can change directions with β turns (hairpin turns) or  </a:t>
            </a:r>
            <a:r>
              <a:rPr lang="en-US" sz="1800" dirty="0" smtClean="0"/>
              <a:t>omega (Ω) </a:t>
            </a:r>
            <a:r>
              <a:rPr lang="en-US" sz="1800" dirty="0"/>
              <a:t>loops.</a:t>
            </a:r>
          </a:p>
        </p:txBody>
      </p:sp>
      <p:pic>
        <p:nvPicPr>
          <p:cNvPr id="2" name="Picture 1"/>
          <p:cNvPicPr>
            <a:picLocks noChangeAspect="1"/>
          </p:cNvPicPr>
          <p:nvPr/>
        </p:nvPicPr>
        <p:blipFill>
          <a:blip r:embed="rId3"/>
          <a:stretch>
            <a:fillRect/>
          </a:stretch>
        </p:blipFill>
        <p:spPr>
          <a:xfrm>
            <a:off x="914400" y="312086"/>
            <a:ext cx="6819900" cy="121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00099667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2_36.jpg"/>
          <p:cNvPicPr>
            <a:picLocks noChangeAspect="1"/>
          </p:cNvPicPr>
          <p:nvPr/>
        </p:nvPicPr>
        <p:blipFill>
          <a:blip r:embed="rId3"/>
          <a:stretch>
            <a:fillRect/>
          </a:stretch>
        </p:blipFill>
        <p:spPr>
          <a:xfrm>
            <a:off x="975359" y="192023"/>
            <a:ext cx="7193280"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1087624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igure_02_37.jpg"/>
          <p:cNvPicPr>
            <a:picLocks noChangeAspect="1"/>
          </p:cNvPicPr>
          <p:nvPr/>
        </p:nvPicPr>
        <p:blipFill>
          <a:blip r:embed="rId3"/>
          <a:stretch>
            <a:fillRect/>
          </a:stretch>
        </p:blipFill>
        <p:spPr>
          <a:xfrm>
            <a:off x="2407920" y="192023"/>
            <a:ext cx="4328160"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4511187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22882"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371600" y="1981200"/>
            <a:ext cx="6311900" cy="381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22883" name="TextBox 4"/>
          <p:cNvSpPr txBox="1">
            <a:spLocks noChangeArrowheads="1"/>
          </p:cNvSpPr>
          <p:nvPr/>
        </p:nvSpPr>
        <p:spPr bwMode="auto">
          <a:xfrm>
            <a:off x="376238" y="2682875"/>
            <a:ext cx="8367712" cy="212407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α-Keratin, a structural protein found in wool and hair, is composed of two right-handed  α-helices intertwined to form a left-handed super helix called a coiled-coil. The helices interact with ionic bonds or van der </a:t>
            </a:r>
            <a:r>
              <a:rPr lang="en-US" sz="1800" dirty="0" smtClean="0"/>
              <a:t>Waals </a:t>
            </a:r>
            <a:r>
              <a:rPr lang="en-US" sz="1800" dirty="0"/>
              <a:t>interactions.</a:t>
            </a:r>
          </a:p>
          <a:p>
            <a:endParaRPr lang="en-US" dirty="0"/>
          </a:p>
          <a:p>
            <a:r>
              <a:rPr lang="en-US" sz="1800" dirty="0"/>
              <a:t>α-Keratin is a member of a superfamily of structural proteins called coiled-coil proteins.</a:t>
            </a:r>
          </a:p>
          <a:p>
            <a:endParaRPr lang="en-US" sz="1800" dirty="0"/>
          </a:p>
          <a:p>
            <a:r>
              <a:rPr lang="en-US" sz="1800" dirty="0"/>
              <a:t>Other members of the family include some cytoskeleton proteins and muscle proteins.</a:t>
            </a:r>
          </a:p>
        </p:txBody>
      </p:sp>
      <p:pic>
        <p:nvPicPr>
          <p:cNvPr id="2" name="Picture 1"/>
          <p:cNvPicPr>
            <a:picLocks noChangeAspect="1"/>
          </p:cNvPicPr>
          <p:nvPr/>
        </p:nvPicPr>
        <p:blipFill>
          <a:blip r:embed="rId4"/>
          <a:stretch>
            <a:fillRect/>
          </a:stretch>
        </p:blipFill>
        <p:spPr>
          <a:xfrm>
            <a:off x="1155700" y="262599"/>
            <a:ext cx="6819900" cy="121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5644799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38.jpg"/>
          <p:cNvPicPr>
            <a:picLocks noChangeAspect="1"/>
          </p:cNvPicPr>
          <p:nvPr/>
        </p:nvPicPr>
        <p:blipFill>
          <a:blip r:embed="rId3"/>
          <a:stretch>
            <a:fillRect/>
          </a:stretch>
        </p:blipFill>
        <p:spPr>
          <a:xfrm>
            <a:off x="304800" y="1722120"/>
            <a:ext cx="8534400" cy="341376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91312139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39.jpg"/>
          <p:cNvPicPr>
            <a:picLocks noChangeAspect="1"/>
          </p:cNvPicPr>
          <p:nvPr/>
        </p:nvPicPr>
        <p:blipFill>
          <a:blip r:embed="rId3"/>
          <a:stretch>
            <a:fillRect/>
          </a:stretch>
        </p:blipFill>
        <p:spPr>
          <a:xfrm>
            <a:off x="2316479" y="192023"/>
            <a:ext cx="4511040"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64419480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29026"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371600" y="1981200"/>
            <a:ext cx="6311900" cy="381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29027" name="TextBox 3"/>
          <p:cNvSpPr txBox="1">
            <a:spLocks noChangeArrowheads="1"/>
          </p:cNvSpPr>
          <p:nvPr/>
        </p:nvSpPr>
        <p:spPr bwMode="auto">
          <a:xfrm>
            <a:off x="1143000" y="2743200"/>
            <a:ext cx="7543800" cy="2400657"/>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Collagen is a structural protein that is a component of skin, bone, tendons, cartilage and teeth.</a:t>
            </a:r>
          </a:p>
          <a:p>
            <a:endParaRPr lang="en-US" sz="1800" dirty="0"/>
          </a:p>
          <a:p>
            <a:r>
              <a:rPr lang="en-US" sz="1800" dirty="0"/>
              <a:t>Collagen </a:t>
            </a:r>
            <a:r>
              <a:rPr lang="en-US" sz="1800" dirty="0" smtClean="0"/>
              <a:t>consists </a:t>
            </a:r>
            <a:r>
              <a:rPr lang="en-US" sz="1800" dirty="0"/>
              <a:t>of three intertwined helical polypeptide chains that form a superhelical cable. The helical polypeptide chains of collagen are not α-helices.</a:t>
            </a:r>
          </a:p>
          <a:p>
            <a:endParaRPr lang="en-US" dirty="0"/>
          </a:p>
          <a:p>
            <a:r>
              <a:rPr lang="en-US" sz="1800" dirty="0"/>
              <a:t>Glycine appears at every third residue and the </a:t>
            </a:r>
            <a:r>
              <a:rPr lang="en-US" sz="1800" dirty="0" smtClean="0"/>
              <a:t>sequences </a:t>
            </a:r>
            <a:r>
              <a:rPr lang="en-US" sz="1800" dirty="0"/>
              <a:t>G</a:t>
            </a:r>
            <a:r>
              <a:rPr lang="en-US" sz="1800" dirty="0" smtClean="0"/>
              <a:t>ly-Pro-</a:t>
            </a:r>
            <a:r>
              <a:rPr lang="en-US" sz="1800" dirty="0" err="1"/>
              <a:t>H</a:t>
            </a:r>
            <a:r>
              <a:rPr lang="en-US" sz="1800" dirty="0" err="1" smtClean="0"/>
              <a:t>yp</a:t>
            </a:r>
            <a:r>
              <a:rPr lang="en-US" sz="1800" dirty="0" smtClean="0"/>
              <a:t> and Gly-Pro-Pro are common</a:t>
            </a:r>
            <a:r>
              <a:rPr lang="en-US" sz="1800" dirty="0"/>
              <a:t>.</a:t>
            </a:r>
          </a:p>
        </p:txBody>
      </p:sp>
      <p:pic>
        <p:nvPicPr>
          <p:cNvPr id="2" name="Picture 1"/>
          <p:cNvPicPr>
            <a:picLocks noChangeAspect="1"/>
          </p:cNvPicPr>
          <p:nvPr/>
        </p:nvPicPr>
        <p:blipFill>
          <a:blip r:embed="rId3"/>
          <a:stretch>
            <a:fillRect/>
          </a:stretch>
        </p:blipFill>
        <p:spPr>
          <a:xfrm>
            <a:off x="1143000" y="427554"/>
            <a:ext cx="6819900" cy="121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86881140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0.jpg"/>
          <p:cNvPicPr>
            <a:picLocks noChangeAspect="1"/>
          </p:cNvPicPr>
          <p:nvPr/>
        </p:nvPicPr>
        <p:blipFill>
          <a:blip r:embed="rId3"/>
          <a:stretch>
            <a:fillRect/>
          </a:stretch>
        </p:blipFill>
        <p:spPr>
          <a:xfrm>
            <a:off x="304800" y="527304"/>
            <a:ext cx="8534400" cy="580339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0687518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32098"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371600" y="1981200"/>
            <a:ext cx="6311900" cy="381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32099" name="TextBox 4"/>
          <p:cNvSpPr txBox="1">
            <a:spLocks noChangeArrowheads="1"/>
          </p:cNvSpPr>
          <p:nvPr/>
        </p:nvSpPr>
        <p:spPr bwMode="auto">
          <a:xfrm>
            <a:off x="685800" y="3124200"/>
            <a:ext cx="8058150" cy="17541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helices in collagen are not stabilized by hydrogen bonds. Rather, they are stabilized by steric repulsion of the pyrrolidine rings of </a:t>
            </a:r>
            <a:r>
              <a:rPr lang="en-US" sz="1800" dirty="0" smtClean="0"/>
              <a:t>proline and hydroxyproline. </a:t>
            </a:r>
            <a:r>
              <a:rPr lang="en-US" sz="1800" dirty="0"/>
              <a:t>The three intertwined chains interact with one another with hydrogen bonds.</a:t>
            </a:r>
          </a:p>
          <a:p>
            <a:endParaRPr lang="en-US" sz="1800" dirty="0"/>
          </a:p>
          <a:p>
            <a:r>
              <a:rPr lang="en-US" sz="1800" dirty="0"/>
              <a:t>The interior of the superhelical cable is crowded, and only glycine can fit in the interior.</a:t>
            </a:r>
          </a:p>
        </p:txBody>
      </p:sp>
      <p:pic>
        <p:nvPicPr>
          <p:cNvPr id="2" name="Picture 1"/>
          <p:cNvPicPr>
            <a:picLocks noChangeAspect="1"/>
          </p:cNvPicPr>
          <p:nvPr/>
        </p:nvPicPr>
        <p:blipFill>
          <a:blip r:embed="rId3"/>
          <a:stretch>
            <a:fillRect/>
          </a:stretch>
        </p:blipFill>
        <p:spPr>
          <a:xfrm>
            <a:off x="863600" y="213112"/>
            <a:ext cx="6819900" cy="121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1292156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1.jpg"/>
          <p:cNvPicPr>
            <a:picLocks noChangeAspect="1"/>
          </p:cNvPicPr>
          <p:nvPr/>
        </p:nvPicPr>
        <p:blipFill>
          <a:blip r:embed="rId3"/>
          <a:stretch>
            <a:fillRect/>
          </a:stretch>
        </p:blipFill>
        <p:spPr>
          <a:xfrm>
            <a:off x="304800" y="1399032"/>
            <a:ext cx="8534400" cy="405993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37121345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2_42.jpg"/>
          <p:cNvPicPr>
            <a:picLocks noChangeAspect="1"/>
          </p:cNvPicPr>
          <p:nvPr/>
        </p:nvPicPr>
        <p:blipFill>
          <a:blip r:embed="rId3"/>
          <a:stretch>
            <a:fillRect/>
          </a:stretch>
        </p:blipFill>
        <p:spPr>
          <a:xfrm>
            <a:off x="1938527" y="192023"/>
            <a:ext cx="5266944"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8895553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37219" name="Picture 7"/>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371600" y="1981200"/>
            <a:ext cx="6311900" cy="381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37220" name="TextBox 3"/>
          <p:cNvSpPr txBox="1">
            <a:spLocks noChangeArrowheads="1"/>
          </p:cNvSpPr>
          <p:nvPr/>
        </p:nvSpPr>
        <p:spPr bwMode="auto">
          <a:xfrm>
            <a:off x="1371600" y="2699544"/>
            <a:ext cx="6477000" cy="1754327"/>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smtClean="0"/>
              <a:t>Defects in collagen structure result in pathological conditions.</a:t>
            </a:r>
            <a:endParaRPr lang="en-US" sz="1800" dirty="0"/>
          </a:p>
          <a:p>
            <a:endParaRPr lang="en-US" sz="1800" dirty="0" smtClean="0"/>
          </a:p>
          <a:p>
            <a:r>
              <a:rPr lang="en-US" sz="1800" dirty="0"/>
              <a:t>Osteogenesis imperfecta, or brittle bone disease, occurs if a mutation results in the  substitution of another amino acid in place of glycine.</a:t>
            </a:r>
          </a:p>
          <a:p>
            <a:endParaRPr lang="en-US" sz="1800" dirty="0"/>
          </a:p>
        </p:txBody>
      </p:sp>
      <p:pic>
        <p:nvPicPr>
          <p:cNvPr id="2" name="Picture 1"/>
          <p:cNvPicPr>
            <a:picLocks noChangeAspect="1"/>
          </p:cNvPicPr>
          <p:nvPr/>
        </p:nvPicPr>
        <p:blipFill>
          <a:blip r:embed="rId3"/>
          <a:stretch>
            <a:fillRect/>
          </a:stretch>
        </p:blipFill>
        <p:spPr>
          <a:xfrm>
            <a:off x="1371600" y="229608"/>
            <a:ext cx="6819900" cy="121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80540409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8242" name="TextBox 3"/>
          <p:cNvSpPr txBox="1">
            <a:spLocks noChangeArrowheads="1"/>
          </p:cNvSpPr>
          <p:nvPr/>
        </p:nvSpPr>
        <p:spPr bwMode="auto">
          <a:xfrm>
            <a:off x="762000" y="1447800"/>
            <a:ext cx="8050213" cy="369332"/>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800" dirty="0"/>
          </a:p>
        </p:txBody>
      </p:sp>
      <p:sp>
        <p:nvSpPr>
          <p:cNvPr id="138243" name="TextBox 5"/>
          <p:cNvSpPr txBox="1">
            <a:spLocks noChangeArrowheads="1"/>
          </p:cNvSpPr>
          <p:nvPr/>
        </p:nvSpPr>
        <p:spPr bwMode="auto">
          <a:xfrm>
            <a:off x="838200" y="1654496"/>
            <a:ext cx="7543800" cy="4247317"/>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Tertiary structure refers to the spatial arrangement of amino acids that are far apart in the primary structure and to the pattern of disulfide bond formation</a:t>
            </a:r>
            <a:r>
              <a:rPr lang="en-US" sz="1800" dirty="0" smtClean="0"/>
              <a:t>.</a:t>
            </a:r>
          </a:p>
          <a:p>
            <a:endParaRPr lang="en-US" sz="1800" dirty="0" smtClean="0"/>
          </a:p>
          <a:p>
            <a:r>
              <a:rPr lang="en-US" sz="1800" dirty="0" smtClean="0"/>
              <a:t>Globular </a:t>
            </a:r>
            <a:r>
              <a:rPr lang="en-US" sz="1800" dirty="0"/>
              <a:t>proteins, such as myoglobin, form complicated three-dimensional structures.</a:t>
            </a:r>
          </a:p>
          <a:p>
            <a:endParaRPr lang="en-US" sz="1800" dirty="0"/>
          </a:p>
          <a:p>
            <a:r>
              <a:rPr lang="en-US" sz="1800" dirty="0"/>
              <a:t>Globular proteins are very compact. There is little or no empty space in the interior of globular proteins.</a:t>
            </a:r>
          </a:p>
          <a:p>
            <a:endParaRPr lang="en-US" sz="1800" dirty="0"/>
          </a:p>
          <a:p>
            <a:r>
              <a:rPr lang="en-US" sz="1800" dirty="0"/>
              <a:t>The interior of globular proteins consists mainly of hydrophobic amino acids.</a:t>
            </a:r>
          </a:p>
          <a:p>
            <a:endParaRPr lang="en-US" sz="1800" dirty="0"/>
          </a:p>
          <a:p>
            <a:r>
              <a:rPr lang="en-US" sz="1800" dirty="0"/>
              <a:t>The exterior of globular proteins consists of charged and polar amino acids.</a:t>
            </a:r>
          </a:p>
          <a:p>
            <a:endParaRPr lang="en-US" sz="1800" dirty="0"/>
          </a:p>
          <a:p>
            <a:r>
              <a:rPr lang="en-US" sz="1800" dirty="0"/>
              <a:t>Membrane proteins have the reverse distribution of hydrophilic </a:t>
            </a:r>
            <a:r>
              <a:rPr lang="en-US" sz="1800" dirty="0" smtClean="0"/>
              <a:t>and </a:t>
            </a:r>
            <a:r>
              <a:rPr lang="en-US" sz="1800" dirty="0"/>
              <a:t>hydrophobic amino acids.</a:t>
            </a:r>
          </a:p>
        </p:txBody>
      </p:sp>
      <p:pic>
        <p:nvPicPr>
          <p:cNvPr id="2" name="Picture 1"/>
          <p:cNvPicPr>
            <a:picLocks noChangeAspect="1"/>
          </p:cNvPicPr>
          <p:nvPr/>
        </p:nvPicPr>
        <p:blipFill>
          <a:blip r:embed="rId3"/>
          <a:stretch>
            <a:fillRect/>
          </a:stretch>
        </p:blipFill>
        <p:spPr>
          <a:xfrm>
            <a:off x="1041400" y="261431"/>
            <a:ext cx="7061200" cy="977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25150175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3.jpg"/>
          <p:cNvPicPr>
            <a:picLocks noChangeAspect="1"/>
          </p:cNvPicPr>
          <p:nvPr/>
        </p:nvPicPr>
        <p:blipFill>
          <a:blip r:embed="rId3"/>
          <a:stretch>
            <a:fillRect/>
          </a:stretch>
        </p:blipFill>
        <p:spPr>
          <a:xfrm>
            <a:off x="304800" y="704088"/>
            <a:ext cx="8534400" cy="544982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36435384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4.jpg"/>
          <p:cNvPicPr>
            <a:picLocks noChangeAspect="1"/>
          </p:cNvPicPr>
          <p:nvPr/>
        </p:nvPicPr>
        <p:blipFill>
          <a:blip r:embed="rId3"/>
          <a:stretch>
            <a:fillRect/>
          </a:stretch>
        </p:blipFill>
        <p:spPr>
          <a:xfrm>
            <a:off x="304800" y="905255"/>
            <a:ext cx="8534400" cy="504748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8136028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5.jpg"/>
          <p:cNvPicPr>
            <a:picLocks noChangeAspect="1"/>
          </p:cNvPicPr>
          <p:nvPr/>
        </p:nvPicPr>
        <p:blipFill>
          <a:blip r:embed="rId3"/>
          <a:stretch>
            <a:fillRect/>
          </a:stretch>
        </p:blipFill>
        <p:spPr>
          <a:xfrm>
            <a:off x="1301496" y="192023"/>
            <a:ext cx="6541008"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14269318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46434" name="TextBox 4"/>
          <p:cNvSpPr txBox="1">
            <a:spLocks noChangeArrowheads="1"/>
          </p:cNvSpPr>
          <p:nvPr/>
        </p:nvSpPr>
        <p:spPr bwMode="auto">
          <a:xfrm>
            <a:off x="1066800" y="2362200"/>
            <a:ext cx="7391400"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Motifs, or </a:t>
            </a:r>
            <a:r>
              <a:rPr lang="en-US" sz="1800" dirty="0" err="1"/>
              <a:t>supersecondary</a:t>
            </a:r>
            <a:r>
              <a:rPr lang="en-US" sz="1800" dirty="0"/>
              <a:t> </a:t>
            </a:r>
            <a:r>
              <a:rPr lang="en-US" sz="1800" dirty="0" smtClean="0"/>
              <a:t>structures, </a:t>
            </a:r>
            <a:r>
              <a:rPr lang="en-US" sz="1800" dirty="0"/>
              <a:t>are </a:t>
            </a:r>
            <a:r>
              <a:rPr lang="en-US" sz="1800" dirty="0" smtClean="0"/>
              <a:t>combinations </a:t>
            </a:r>
            <a:r>
              <a:rPr lang="en-US" sz="1800" dirty="0"/>
              <a:t>of secondary structure that are found in many proteins.</a:t>
            </a:r>
          </a:p>
          <a:p>
            <a:endParaRPr lang="en-US" sz="1800" dirty="0"/>
          </a:p>
          <a:p>
            <a:r>
              <a:rPr lang="en-US" sz="1800" dirty="0"/>
              <a:t>Some proteins have two or more similar or identical compact structures called domains.</a:t>
            </a:r>
          </a:p>
        </p:txBody>
      </p:sp>
      <p:pic>
        <p:nvPicPr>
          <p:cNvPr id="2" name="Picture 1"/>
          <p:cNvPicPr>
            <a:picLocks noChangeAspect="1"/>
          </p:cNvPicPr>
          <p:nvPr/>
        </p:nvPicPr>
        <p:blipFill>
          <a:blip r:embed="rId3"/>
          <a:stretch>
            <a:fillRect/>
          </a:stretch>
        </p:blipFill>
        <p:spPr>
          <a:xfrm>
            <a:off x="909446" y="525359"/>
            <a:ext cx="7061200" cy="977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27537761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6.jpg"/>
          <p:cNvPicPr>
            <a:picLocks noChangeAspect="1"/>
          </p:cNvPicPr>
          <p:nvPr/>
        </p:nvPicPr>
        <p:blipFill>
          <a:blip r:embed="rId3"/>
          <a:stretch>
            <a:fillRect/>
          </a:stretch>
        </p:blipFill>
        <p:spPr>
          <a:xfrm>
            <a:off x="1078991" y="192023"/>
            <a:ext cx="6986016"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60710989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7.jpg"/>
          <p:cNvPicPr>
            <a:picLocks noChangeAspect="1"/>
          </p:cNvPicPr>
          <p:nvPr/>
        </p:nvPicPr>
        <p:blipFill>
          <a:blip r:embed="rId3"/>
          <a:stretch>
            <a:fillRect/>
          </a:stretch>
        </p:blipFill>
        <p:spPr>
          <a:xfrm>
            <a:off x="304800" y="1679448"/>
            <a:ext cx="8534400" cy="349910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07579844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2578" name="TextBox 2"/>
          <p:cNvSpPr txBox="1">
            <a:spLocks noChangeArrowheads="1"/>
          </p:cNvSpPr>
          <p:nvPr/>
        </p:nvSpPr>
        <p:spPr bwMode="auto">
          <a:xfrm>
            <a:off x="609600" y="2286000"/>
            <a:ext cx="7945438"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Many proteins are composed of multiple polypeptide chains called subunits. Such proteins are said to display quaternary structure.</a:t>
            </a:r>
          </a:p>
          <a:p>
            <a:endParaRPr lang="en-US" sz="1800" dirty="0"/>
          </a:p>
          <a:p>
            <a:r>
              <a:rPr lang="en-US" sz="1800" dirty="0"/>
              <a:t>Quaternary structure can be as simple as two identical polypeptide chains or as complex as dozens of different polypeptide chains.</a:t>
            </a:r>
          </a:p>
        </p:txBody>
      </p:sp>
      <p:pic>
        <p:nvPicPr>
          <p:cNvPr id="2" name="Picture 1"/>
          <p:cNvPicPr>
            <a:picLocks noChangeAspect="1"/>
          </p:cNvPicPr>
          <p:nvPr/>
        </p:nvPicPr>
        <p:blipFill>
          <a:blip r:embed="rId2"/>
          <a:stretch>
            <a:fillRect/>
          </a:stretch>
        </p:blipFill>
        <p:spPr>
          <a:xfrm>
            <a:off x="1029015" y="422590"/>
            <a:ext cx="6413500" cy="9525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3200915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8.jpg"/>
          <p:cNvPicPr>
            <a:picLocks noChangeAspect="1"/>
          </p:cNvPicPr>
          <p:nvPr/>
        </p:nvPicPr>
        <p:blipFill>
          <a:blip r:embed="rId3"/>
          <a:stretch>
            <a:fillRect/>
          </a:stretch>
        </p:blipFill>
        <p:spPr>
          <a:xfrm>
            <a:off x="304800" y="1048511"/>
            <a:ext cx="8534400" cy="476097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1715011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49.jpg"/>
          <p:cNvPicPr>
            <a:picLocks noChangeAspect="1"/>
          </p:cNvPicPr>
          <p:nvPr/>
        </p:nvPicPr>
        <p:blipFill>
          <a:blip r:embed="rId3"/>
          <a:stretch>
            <a:fillRect/>
          </a:stretch>
        </p:blipFill>
        <p:spPr>
          <a:xfrm>
            <a:off x="304800" y="1240535"/>
            <a:ext cx="8534400" cy="437692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53302064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0.jpg"/>
          <p:cNvPicPr>
            <a:picLocks noChangeAspect="1"/>
          </p:cNvPicPr>
          <p:nvPr/>
        </p:nvPicPr>
        <p:blipFill>
          <a:blip r:embed="rId3"/>
          <a:stretch>
            <a:fillRect/>
          </a:stretch>
        </p:blipFill>
        <p:spPr>
          <a:xfrm>
            <a:off x="1679448" y="283464"/>
            <a:ext cx="5785104"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38212237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9746" name="TextBox 2"/>
          <p:cNvSpPr txBox="1">
            <a:spLocks noChangeArrowheads="1"/>
          </p:cNvSpPr>
          <p:nvPr/>
        </p:nvSpPr>
        <p:spPr bwMode="auto">
          <a:xfrm>
            <a:off x="381000" y="1295400"/>
            <a:ext cx="8208963"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Christian Anfinsen placed the enzyme ribonuclease, which degrades RNA, in a solution containing urea or guanidinium chloride and β-mercaptoethanol. Urea or guanidinium chloride destroyed all </a:t>
            </a:r>
            <a:r>
              <a:rPr lang="en-US" sz="1800" dirty="0" err="1" smtClean="0"/>
              <a:t>noncovalent</a:t>
            </a:r>
            <a:r>
              <a:rPr lang="en-US" sz="1800" dirty="0" smtClean="0"/>
              <a:t> </a:t>
            </a:r>
            <a:r>
              <a:rPr lang="en-US" sz="1800" dirty="0"/>
              <a:t>bonds, while the β-mercaptoethanol destroyed the disulfide bonds. The enzyme displayed no enzymatic activity and existed only as a random coil. The ribonuclease was denatured.</a:t>
            </a:r>
          </a:p>
        </p:txBody>
      </p:sp>
      <p:sp>
        <p:nvSpPr>
          <p:cNvPr id="159747" name="TextBox 3"/>
          <p:cNvSpPr txBox="1">
            <a:spLocks noChangeArrowheads="1"/>
          </p:cNvSpPr>
          <p:nvPr/>
        </p:nvSpPr>
        <p:spPr bwMode="auto">
          <a:xfrm>
            <a:off x="304800" y="2971800"/>
            <a:ext cx="4267200"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When the urea and β-mercaptoethanol were slowly removed, the enzyme regained its structure and its activity. Ribonuclease was renatured and attained </a:t>
            </a:r>
            <a:r>
              <a:rPr lang="en-US" sz="1800" dirty="0" smtClean="0"/>
              <a:t>its </a:t>
            </a:r>
            <a:r>
              <a:rPr lang="en-US" sz="1800" dirty="0"/>
              <a:t>normal or native state.</a:t>
            </a:r>
          </a:p>
        </p:txBody>
      </p:sp>
      <p:sp>
        <p:nvSpPr>
          <p:cNvPr id="159748" name="TextBox 4"/>
          <p:cNvSpPr txBox="1">
            <a:spLocks noChangeArrowheads="1"/>
          </p:cNvSpPr>
          <p:nvPr/>
        </p:nvSpPr>
        <p:spPr bwMode="auto">
          <a:xfrm>
            <a:off x="228600" y="4724400"/>
            <a:ext cx="4191000"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These results demonstrated that the information required for a polypeptide chain to fold into a functional protein with a defined three-dimensional is inherent in the primary structure.</a:t>
            </a:r>
          </a:p>
        </p:txBody>
      </p:sp>
      <p:pic>
        <p:nvPicPr>
          <p:cNvPr id="2" name="Picture 1"/>
          <p:cNvPicPr>
            <a:picLocks noChangeAspect="1"/>
          </p:cNvPicPr>
          <p:nvPr/>
        </p:nvPicPr>
        <p:blipFill>
          <a:blip r:embed="rId2"/>
          <a:stretch>
            <a:fillRect/>
          </a:stretch>
        </p:blipFill>
        <p:spPr>
          <a:xfrm>
            <a:off x="786398" y="275444"/>
            <a:ext cx="7010400" cy="863600"/>
          </a:xfrm>
          <a:prstGeom prst="rect">
            <a:avLst/>
          </a:prstGeom>
        </p:spPr>
      </p:pic>
      <p:pic>
        <p:nvPicPr>
          <p:cNvPr id="8" name="Picture 7" descr="unnumbered_02_p49.jpg"/>
          <p:cNvPicPr>
            <a:picLocks noChangeAspect="1"/>
          </p:cNvPicPr>
          <p:nvPr/>
        </p:nvPicPr>
        <p:blipFill>
          <a:blip r:embed="rId3"/>
          <a:stretch>
            <a:fillRect/>
          </a:stretch>
        </p:blipFill>
        <p:spPr>
          <a:xfrm>
            <a:off x="4823109" y="3224717"/>
            <a:ext cx="4116776" cy="299936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04510837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1.jpg"/>
          <p:cNvPicPr>
            <a:picLocks noChangeAspect="1"/>
          </p:cNvPicPr>
          <p:nvPr/>
        </p:nvPicPr>
        <p:blipFill>
          <a:blip r:embed="rId3"/>
          <a:stretch>
            <a:fillRect/>
          </a:stretch>
        </p:blipFill>
        <p:spPr>
          <a:xfrm>
            <a:off x="1261871" y="192023"/>
            <a:ext cx="6620256"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08227720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2.jpg"/>
          <p:cNvPicPr>
            <a:picLocks noChangeAspect="1"/>
          </p:cNvPicPr>
          <p:nvPr/>
        </p:nvPicPr>
        <p:blipFill>
          <a:blip r:embed="rId3"/>
          <a:stretch>
            <a:fillRect/>
          </a:stretch>
        </p:blipFill>
        <p:spPr>
          <a:xfrm>
            <a:off x="304800" y="1557527"/>
            <a:ext cx="8534400" cy="374294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03851207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3.jpg"/>
          <p:cNvPicPr>
            <a:picLocks noChangeAspect="1"/>
          </p:cNvPicPr>
          <p:nvPr/>
        </p:nvPicPr>
        <p:blipFill>
          <a:blip r:embed="rId3"/>
          <a:stretch>
            <a:fillRect/>
          </a:stretch>
        </p:blipFill>
        <p:spPr>
          <a:xfrm>
            <a:off x="304800" y="1694688"/>
            <a:ext cx="8534400" cy="346862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01865558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4.jpg"/>
          <p:cNvPicPr>
            <a:picLocks noChangeAspect="1"/>
          </p:cNvPicPr>
          <p:nvPr/>
        </p:nvPicPr>
        <p:blipFill>
          <a:blip r:embed="rId3"/>
          <a:stretch>
            <a:fillRect/>
          </a:stretch>
        </p:blipFill>
        <p:spPr>
          <a:xfrm>
            <a:off x="2737104" y="192023"/>
            <a:ext cx="3669792"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79622513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68962" name="Picture 2"/>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676400" y="1295400"/>
            <a:ext cx="5168900" cy="622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68963" name="TextBox 3"/>
          <p:cNvSpPr txBox="1">
            <a:spLocks noChangeArrowheads="1"/>
          </p:cNvSpPr>
          <p:nvPr/>
        </p:nvSpPr>
        <p:spPr bwMode="auto">
          <a:xfrm>
            <a:off x="685800" y="2667000"/>
            <a:ext cx="8153400"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Conformational preferences of amino acids are not strong, suggesting that the majority of amino acids will be found in helices, strands or turns.</a:t>
            </a:r>
          </a:p>
        </p:txBody>
      </p:sp>
      <p:pic>
        <p:nvPicPr>
          <p:cNvPr id="2" name="Picture 1"/>
          <p:cNvPicPr>
            <a:picLocks noChangeAspect="1"/>
          </p:cNvPicPr>
          <p:nvPr/>
        </p:nvPicPr>
        <p:blipFill>
          <a:blip r:embed="rId4"/>
          <a:stretch>
            <a:fillRect/>
          </a:stretch>
        </p:blipFill>
        <p:spPr>
          <a:xfrm>
            <a:off x="1066800" y="192967"/>
            <a:ext cx="7010400" cy="863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26644343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Table 2.3.jpg"/>
          <p:cNvPicPr>
            <a:picLocks noChangeAspect="1"/>
          </p:cNvPicPr>
          <p:nvPr/>
        </p:nvPicPr>
        <p:blipFill>
          <a:blip r:embed="rId3"/>
          <a:stretch>
            <a:fillRect/>
          </a:stretch>
        </p:blipFill>
        <p:spPr>
          <a:xfrm>
            <a:off x="1385316" y="225552"/>
            <a:ext cx="6373368" cy="640689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6708653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5.jpg"/>
          <p:cNvPicPr>
            <a:picLocks noChangeAspect="1"/>
          </p:cNvPicPr>
          <p:nvPr/>
        </p:nvPicPr>
        <p:blipFill>
          <a:blip r:embed="rId3"/>
          <a:stretch>
            <a:fillRect/>
          </a:stretch>
        </p:blipFill>
        <p:spPr>
          <a:xfrm>
            <a:off x="701040" y="192023"/>
            <a:ext cx="7741920"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1585718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75107" name="Picture 2"/>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2133600" y="1250950"/>
            <a:ext cx="4610100" cy="3937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1066800" y="242453"/>
            <a:ext cx="7010400" cy="863600"/>
          </a:xfrm>
          <a:prstGeom prst="rect">
            <a:avLst/>
          </a:prstGeom>
        </p:spPr>
      </p:pic>
      <p:pic>
        <p:nvPicPr>
          <p:cNvPr id="6" name="Picture 5" descr="figure_02_56.jpg"/>
          <p:cNvPicPr>
            <a:picLocks noChangeAspect="1"/>
          </p:cNvPicPr>
          <p:nvPr/>
        </p:nvPicPr>
        <p:blipFill>
          <a:blip r:embed="rId5"/>
          <a:stretch>
            <a:fillRect/>
          </a:stretch>
        </p:blipFill>
        <p:spPr>
          <a:xfrm>
            <a:off x="1705045" y="2061239"/>
            <a:ext cx="5519437" cy="4796761"/>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0003420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7.jpg"/>
          <p:cNvPicPr>
            <a:picLocks noChangeAspect="1"/>
          </p:cNvPicPr>
          <p:nvPr/>
        </p:nvPicPr>
        <p:blipFill>
          <a:blip r:embed="rId3"/>
          <a:stretch>
            <a:fillRect/>
          </a:stretch>
        </p:blipFill>
        <p:spPr>
          <a:xfrm>
            <a:off x="478535" y="192023"/>
            <a:ext cx="8186928"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05917471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79202" name="Picture 3"/>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219200" y="1447800"/>
            <a:ext cx="6807200" cy="622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79203" name="TextBox 4"/>
          <p:cNvSpPr txBox="1">
            <a:spLocks noChangeArrowheads="1"/>
          </p:cNvSpPr>
          <p:nvPr/>
        </p:nvSpPr>
        <p:spPr bwMode="auto">
          <a:xfrm>
            <a:off x="533400" y="2438400"/>
            <a:ext cx="8001000" cy="9239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 monkey randomly poking at a </a:t>
            </a:r>
            <a:r>
              <a:rPr lang="en-US" sz="1800" dirty="0" smtClean="0"/>
              <a:t>keyboard </a:t>
            </a:r>
            <a:r>
              <a:rPr lang="en-US" sz="1800" dirty="0"/>
              <a:t>could type a sentence from Shakespeare in a few thousand keystrokes if the correct letters are retained, a process called cumulative selection.</a:t>
            </a:r>
          </a:p>
        </p:txBody>
      </p:sp>
      <p:sp>
        <p:nvSpPr>
          <p:cNvPr id="179204" name="TextBox 5"/>
          <p:cNvSpPr txBox="1">
            <a:spLocks noChangeArrowheads="1"/>
          </p:cNvSpPr>
          <p:nvPr/>
        </p:nvSpPr>
        <p:spPr bwMode="auto">
          <a:xfrm>
            <a:off x="533400" y="3962400"/>
            <a:ext cx="7772400" cy="9239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Protein folding also occurs by cumulative selection. Partly correct folding intermediates are retained because they are slightly more stable than unfolded regions. </a:t>
            </a:r>
          </a:p>
        </p:txBody>
      </p:sp>
      <p:pic>
        <p:nvPicPr>
          <p:cNvPr id="2" name="Picture 1"/>
          <p:cNvPicPr>
            <a:picLocks noChangeAspect="1"/>
          </p:cNvPicPr>
          <p:nvPr/>
        </p:nvPicPr>
        <p:blipFill>
          <a:blip r:embed="rId3"/>
          <a:stretch>
            <a:fillRect/>
          </a:stretch>
        </p:blipFill>
        <p:spPr>
          <a:xfrm>
            <a:off x="1016000" y="225958"/>
            <a:ext cx="7010400" cy="863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66680138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8.jpg"/>
          <p:cNvPicPr>
            <a:picLocks noChangeAspect="1"/>
          </p:cNvPicPr>
          <p:nvPr/>
        </p:nvPicPr>
        <p:blipFill>
          <a:blip r:embed="rId3"/>
          <a:stretch>
            <a:fillRect/>
          </a:stretch>
        </p:blipFill>
        <p:spPr>
          <a:xfrm>
            <a:off x="3105911" y="192023"/>
            <a:ext cx="2932176"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92908799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59.jpg"/>
          <p:cNvPicPr>
            <a:picLocks noChangeAspect="1"/>
          </p:cNvPicPr>
          <p:nvPr/>
        </p:nvPicPr>
        <p:blipFill>
          <a:blip r:embed="rId3"/>
          <a:stretch>
            <a:fillRect/>
          </a:stretch>
        </p:blipFill>
        <p:spPr>
          <a:xfrm>
            <a:off x="304800" y="1886711"/>
            <a:ext cx="8534400" cy="308457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58034617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84322" name="Picture 3"/>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219200" y="1447800"/>
            <a:ext cx="6807200" cy="622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84323" name="TextBox 6"/>
          <p:cNvSpPr txBox="1">
            <a:spLocks noChangeArrowheads="1"/>
          </p:cNvSpPr>
          <p:nvPr/>
        </p:nvSpPr>
        <p:spPr bwMode="auto">
          <a:xfrm>
            <a:off x="1219200" y="2667000"/>
            <a:ext cx="6946900" cy="9239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Protein folding is often represented as a folding funnel. The protein has maximum entropy and minimal structure at the top of the funnel. The folded protein exists at the bottom of the funnel.</a:t>
            </a:r>
          </a:p>
        </p:txBody>
      </p:sp>
      <p:pic>
        <p:nvPicPr>
          <p:cNvPr id="2" name="Picture 1"/>
          <p:cNvPicPr>
            <a:picLocks noChangeAspect="1"/>
          </p:cNvPicPr>
          <p:nvPr/>
        </p:nvPicPr>
        <p:blipFill>
          <a:blip r:embed="rId3"/>
          <a:stretch>
            <a:fillRect/>
          </a:stretch>
        </p:blipFill>
        <p:spPr>
          <a:xfrm>
            <a:off x="1016000" y="390913"/>
            <a:ext cx="7010400" cy="863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05927324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60.jpg"/>
          <p:cNvPicPr>
            <a:picLocks noChangeAspect="1"/>
          </p:cNvPicPr>
          <p:nvPr/>
        </p:nvPicPr>
        <p:blipFill>
          <a:blip r:embed="rId3"/>
          <a:stretch>
            <a:fillRect/>
          </a:stretch>
        </p:blipFill>
        <p:spPr>
          <a:xfrm>
            <a:off x="2051304" y="192023"/>
            <a:ext cx="5041392"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19778578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7393" name="TextBox 4"/>
          <p:cNvSpPr txBox="1">
            <a:spLocks noChangeArrowheads="1"/>
          </p:cNvSpPr>
          <p:nvPr/>
        </p:nvSpPr>
        <p:spPr bwMode="auto">
          <a:xfrm>
            <a:off x="609600" y="2590800"/>
            <a:ext cx="7924800"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Intrinsically unstructured proteins (IUP) do not have a defined structure under physiological conditions until they interact with other molecules.</a:t>
            </a:r>
          </a:p>
          <a:p>
            <a:endParaRPr lang="en-US" sz="1800" dirty="0"/>
          </a:p>
          <a:p>
            <a:r>
              <a:rPr lang="en-US" sz="1800" dirty="0"/>
              <a:t>Metamorphic proteins exist in an ensemble of structures of approximately equal energies that are in equilibrium.</a:t>
            </a:r>
          </a:p>
        </p:txBody>
      </p:sp>
      <p:pic>
        <p:nvPicPr>
          <p:cNvPr id="187394"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524000" y="1600200"/>
            <a:ext cx="5981700" cy="5207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pic>
        <p:nvPicPr>
          <p:cNvPr id="2" name="Picture 1"/>
          <p:cNvPicPr>
            <a:picLocks noChangeAspect="1"/>
          </p:cNvPicPr>
          <p:nvPr/>
        </p:nvPicPr>
        <p:blipFill>
          <a:blip r:embed="rId3"/>
          <a:stretch>
            <a:fillRect/>
          </a:stretch>
        </p:blipFill>
        <p:spPr>
          <a:xfrm>
            <a:off x="1066800" y="291940"/>
            <a:ext cx="7010400" cy="863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1607478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61.jpg"/>
          <p:cNvPicPr>
            <a:picLocks noChangeAspect="1"/>
          </p:cNvPicPr>
          <p:nvPr/>
        </p:nvPicPr>
        <p:blipFill>
          <a:blip r:embed="rId3"/>
          <a:stretch>
            <a:fillRect/>
          </a:stretch>
        </p:blipFill>
        <p:spPr>
          <a:xfrm>
            <a:off x="304800" y="1271016"/>
            <a:ext cx="8534400" cy="431596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82188808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90466" name="Picture 2"/>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600200" y="1371600"/>
            <a:ext cx="6070600" cy="622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90468" name="TextBox 4"/>
          <p:cNvSpPr txBox="1">
            <a:spLocks noChangeArrowheads="1"/>
          </p:cNvSpPr>
          <p:nvPr/>
        </p:nvSpPr>
        <p:spPr bwMode="auto">
          <a:xfrm>
            <a:off x="533400" y="2362200"/>
            <a:ext cx="7620000" cy="258603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Amyloidoses are diseases that result from the formation of protein aggregates, called amyloid fibrils or plaques. </a:t>
            </a:r>
          </a:p>
          <a:p>
            <a:endParaRPr lang="en-US" sz="1800" dirty="0"/>
          </a:p>
          <a:p>
            <a:r>
              <a:rPr lang="en-US" sz="1800" dirty="0"/>
              <a:t>Alzheimer disease is an example of an </a:t>
            </a:r>
            <a:r>
              <a:rPr lang="en-US" sz="1800" dirty="0" smtClean="0"/>
              <a:t>amyloidosis</a:t>
            </a:r>
            <a:r>
              <a:rPr lang="en-US" sz="1800" dirty="0"/>
              <a:t>.</a:t>
            </a:r>
          </a:p>
          <a:p>
            <a:endParaRPr lang="en-US" sz="1800" dirty="0"/>
          </a:p>
          <a:p>
            <a:r>
              <a:rPr lang="en-US" sz="1800" dirty="0"/>
              <a:t>Normal protein conformations can exist in forms rich in β sheet, which </a:t>
            </a:r>
            <a:r>
              <a:rPr lang="en-US" sz="1800" dirty="0" smtClean="0"/>
              <a:t>are prone </a:t>
            </a:r>
            <a:r>
              <a:rPr lang="en-US" sz="1800" dirty="0"/>
              <a:t>to aggregate.</a:t>
            </a:r>
          </a:p>
          <a:p>
            <a:endParaRPr lang="en-US" sz="1800" dirty="0"/>
          </a:p>
          <a:p>
            <a:r>
              <a:rPr lang="en-US" sz="1800" dirty="0"/>
              <a:t>An abnormally folded aggregate serves as a nucleus to recruit more proteins.</a:t>
            </a:r>
          </a:p>
        </p:txBody>
      </p:sp>
      <p:pic>
        <p:nvPicPr>
          <p:cNvPr id="2" name="Picture 1"/>
          <p:cNvPicPr>
            <a:picLocks noChangeAspect="1"/>
          </p:cNvPicPr>
          <p:nvPr/>
        </p:nvPicPr>
        <p:blipFill>
          <a:blip r:embed="rId4"/>
          <a:stretch>
            <a:fillRect/>
          </a:stretch>
        </p:blipFill>
        <p:spPr>
          <a:xfrm>
            <a:off x="1066800" y="192967"/>
            <a:ext cx="7010400" cy="863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2791391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62.jpg"/>
          <p:cNvPicPr>
            <a:picLocks noChangeAspect="1"/>
          </p:cNvPicPr>
          <p:nvPr/>
        </p:nvPicPr>
        <p:blipFill>
          <a:blip r:embed="rId3"/>
          <a:stretch>
            <a:fillRect/>
          </a:stretch>
        </p:blipFill>
        <p:spPr>
          <a:xfrm>
            <a:off x="304800" y="1048511"/>
            <a:ext cx="8534400" cy="476097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14231159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2_63.jpg"/>
          <p:cNvPicPr>
            <a:picLocks noChangeAspect="1"/>
          </p:cNvPicPr>
          <p:nvPr/>
        </p:nvPicPr>
        <p:blipFill>
          <a:blip r:embed="rId3"/>
          <a:stretch>
            <a:fillRect/>
          </a:stretch>
        </p:blipFill>
        <p:spPr>
          <a:xfrm>
            <a:off x="304800" y="1143000"/>
            <a:ext cx="8534400" cy="45720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1049699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95586"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676400" y="1371600"/>
            <a:ext cx="5753100" cy="304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95587" name="TextBox 4"/>
          <p:cNvSpPr txBox="1">
            <a:spLocks noChangeArrowheads="1"/>
          </p:cNvSpPr>
          <p:nvPr/>
        </p:nvSpPr>
        <p:spPr bwMode="auto">
          <a:xfrm>
            <a:off x="457200" y="2133600"/>
            <a:ext cx="8229600" cy="3139321"/>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Lack of appropriate protein modification can result in pathological conditions.</a:t>
            </a:r>
          </a:p>
          <a:p>
            <a:endParaRPr lang="en-US" sz="1800" dirty="0"/>
          </a:p>
          <a:p>
            <a:r>
              <a:rPr lang="en-US" sz="1800" dirty="0"/>
              <a:t>Lack of vitamin </a:t>
            </a:r>
            <a:r>
              <a:rPr lang="en-US" sz="1800" dirty="0" smtClean="0"/>
              <a:t>C prevents </a:t>
            </a:r>
            <a:r>
              <a:rPr lang="en-US" sz="1800" dirty="0"/>
              <a:t>hydroxylation of proline in collagen, which results in scurvy.</a:t>
            </a:r>
          </a:p>
          <a:p>
            <a:endParaRPr lang="en-US" sz="1800" dirty="0"/>
          </a:p>
          <a:p>
            <a:r>
              <a:rPr lang="en-US" sz="1800" dirty="0"/>
              <a:t>If vitamin </a:t>
            </a:r>
            <a:r>
              <a:rPr lang="en-US" sz="1800" dirty="0" smtClean="0"/>
              <a:t>K </a:t>
            </a:r>
            <a:r>
              <a:rPr lang="en-US" sz="1800" dirty="0"/>
              <a:t>is missing, clotting proteins are not carboxylated and hemorrhaging </a:t>
            </a:r>
            <a:r>
              <a:rPr lang="en-US" sz="1800" dirty="0" smtClean="0"/>
              <a:t>results.</a:t>
            </a:r>
          </a:p>
          <a:p>
            <a:endParaRPr lang="en-US" sz="1800" dirty="0"/>
          </a:p>
          <a:p>
            <a:r>
              <a:rPr lang="en-US" sz="1800" dirty="0" smtClean="0"/>
              <a:t>Green fluorescent protein (GFP), from the jellyfish </a:t>
            </a:r>
            <a:r>
              <a:rPr lang="en-US" sz="1800" i="1" dirty="0" smtClean="0"/>
              <a:t>Aequorea victoria</a:t>
            </a:r>
            <a:r>
              <a:rPr lang="en-US" sz="1800" dirty="0" smtClean="0"/>
              <a:t>, can be attached to cellular proteins. GFP fluoresces green when exposed to blue light, allowing the determination of the cellular location of the attached protein.</a:t>
            </a:r>
            <a:endParaRPr lang="en-US" sz="1800" dirty="0"/>
          </a:p>
        </p:txBody>
      </p:sp>
      <p:pic>
        <p:nvPicPr>
          <p:cNvPr id="2" name="Picture 1"/>
          <p:cNvPicPr>
            <a:picLocks noChangeAspect="1"/>
          </p:cNvPicPr>
          <p:nvPr/>
        </p:nvPicPr>
        <p:blipFill>
          <a:blip r:embed="rId3"/>
          <a:stretch>
            <a:fillRect/>
          </a:stretch>
        </p:blipFill>
        <p:spPr>
          <a:xfrm>
            <a:off x="1281225" y="225958"/>
            <a:ext cx="7010400" cy="8636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66422784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81250" name="Picture 2" descr="figure_02_64"/>
          <p:cNvPicPr>
            <a:picLocks noChangeAspect="1" noChangeArrowheads="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304800" y="1752600"/>
            <a:ext cx="8531225" cy="3357563"/>
          </a:xfrm>
          <a:prstGeom prst="rect">
            <a:avLst/>
          </a:prstGeom>
          <a:noFill/>
          <a:ln>
            <a:noFill/>
          </a:ln>
          <a:effectLst/>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chemeClr val="accent1"/>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chemeClr val="tx1"/>
                </a:solidFill>
                <a:miter lim="800000"/>
                <a:headEnd/>
                <a:tailEnd/>
              </a14:hiddenLine>
            </a:ext>
            <a:ext uri="{AF507438-7753-43E0-B8FC-AC1667EBCBE1}">
              <a14:hiddenEffects xmlns:a14="http://schemas.microsoft.com/office/drawing/2010/main" xmlns:p="http://schemas.openxmlformats.org/presentationml/2006/main" xmlns:r="http://schemas.openxmlformats.org/officeDocument/2006/relationships" xmlns:a="http://schemas.openxmlformats.org/drawingml/2006/main" xmlns="">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6981948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2_65.jpg"/>
          <p:cNvPicPr>
            <a:picLocks noChangeAspect="1"/>
          </p:cNvPicPr>
          <p:nvPr/>
        </p:nvPicPr>
        <p:blipFill>
          <a:blip r:embed="rId3"/>
          <a:stretch>
            <a:fillRect/>
          </a:stretch>
        </p:blipFill>
        <p:spPr>
          <a:xfrm>
            <a:off x="304800" y="752855"/>
            <a:ext cx="8534400" cy="535228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4496785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2201</TotalTime>
  <Words>5039</Words>
  <Application>Microsoft Macintosh PowerPoint</Application>
  <PresentationFormat>On-screen Show (4:3)</PresentationFormat>
  <Paragraphs>282</Paragraphs>
  <Slides>105</Slides>
  <Notes>80</Notes>
  <HiddenSlides>0</HiddenSlides>
  <MMClips>0</MMClips>
  <ScaleCrop>false</ScaleCrop>
  <HeadingPairs>
    <vt:vector size="4" baseType="variant">
      <vt:variant>
        <vt:lpstr>Design Template</vt:lpstr>
      </vt:variant>
      <vt:variant>
        <vt:i4>1</vt:i4>
      </vt:variant>
      <vt:variant>
        <vt:lpstr>Slide Titles</vt:lpstr>
      </vt:variant>
      <vt:variant>
        <vt:i4>105</vt:i4>
      </vt:variant>
    </vt:vector>
  </HeadingPairs>
  <TitlesOfParts>
    <vt:vector size="10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vector>
  </TitlesOfParts>
  <Company>Carleton College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Tymoczko</dc:creator>
  <cp:lastModifiedBy>J</cp:lastModifiedBy>
  <cp:revision>88</cp:revision>
  <dcterms:created xsi:type="dcterms:W3CDTF">2015-07-07T19:12:16Z</dcterms:created>
  <dcterms:modified xsi:type="dcterms:W3CDTF">2015-07-07T19:13:00Z</dcterms:modified>
</cp:coreProperties>
</file>