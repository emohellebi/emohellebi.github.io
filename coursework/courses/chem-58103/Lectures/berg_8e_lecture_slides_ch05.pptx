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8" r:id="rId2"/>
    <p:sldId id="259" r:id="rId3"/>
    <p:sldId id="260" r:id="rId4"/>
    <p:sldId id="261" r:id="rId5"/>
    <p:sldId id="262" r:id="rId6"/>
    <p:sldId id="263" r:id="rId7"/>
    <p:sldId id="264" r:id="rId8"/>
    <p:sldId id="265" r:id="rId9"/>
    <p:sldId id="266"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326"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3" r:id="rId45"/>
    <p:sldId id="327" r:id="rId46"/>
    <p:sldId id="328" r:id="rId47"/>
    <p:sldId id="305" r:id="rId48"/>
    <p:sldId id="306" r:id="rId49"/>
    <p:sldId id="329" r:id="rId50"/>
    <p:sldId id="330" r:id="rId51"/>
    <p:sldId id="307" r:id="rId52"/>
    <p:sldId id="331" r:id="rId53"/>
    <p:sldId id="308" r:id="rId54"/>
    <p:sldId id="309" r:id="rId55"/>
    <p:sldId id="332" r:id="rId56"/>
    <p:sldId id="310" r:id="rId57"/>
    <p:sldId id="312" r:id="rId58"/>
    <p:sldId id="313" r:id="rId59"/>
    <p:sldId id="314" r:id="rId60"/>
    <p:sldId id="316" r:id="rId61"/>
    <p:sldId id="317" r:id="rId62"/>
    <p:sldId id="318" r:id="rId63"/>
    <p:sldId id="334" r:id="rId64"/>
    <p:sldId id="333" r:id="rId65"/>
    <p:sldId id="319" r:id="rId66"/>
    <p:sldId id="320" r:id="rId67"/>
    <p:sldId id="321" r:id="rId68"/>
    <p:sldId id="322" r:id="rId69"/>
    <p:sldId id="323" r:id="rId70"/>
    <p:sldId id="324" r:id="rId71"/>
    <p:sldId id="325"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0" autoAdjust="0"/>
    <p:restoredTop sz="94660"/>
  </p:normalViewPr>
  <p:slideViewPr>
    <p:cSldViewPr snapToGrid="0" snapToObjects="1">
      <p:cViewPr>
        <p:scale>
          <a:sx n="70" d="100"/>
          <a:sy n="70" d="100"/>
        </p:scale>
        <p:origin x="-192" y="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F895F1-770E-4B48-A1FD-2EA39635B277}" type="datetimeFigureOut">
              <a:rPr lang="en-US" smtClean="0"/>
              <a:t>6/10/2015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E43B9A-B393-724F-8027-87B3DD2AFA30}" type="slidenum">
              <a:rPr lang="en-US" smtClean="0"/>
              <a:t>‹#›</a:t>
            </a:fld>
            <a:endParaRPr lang="en-US" dirty="0"/>
          </a:p>
        </p:txBody>
      </p:sp>
    </p:spTree>
    <p:extLst>
      <p:ext uri="{BB962C8B-B14F-4D97-AF65-F5344CB8AC3E}">
        <p14:creationId xmlns:p14="http://schemas.microsoft.com/office/powerpoint/2010/main" val="54739309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1B6F407-923A-B34A-BCDF-31B280109EE2}" type="slidenum">
              <a:rPr lang="en-US"/>
              <a:pPr>
                <a:defRPr/>
              </a:pPr>
              <a:t>1</a:t>
            </a:fld>
            <a:endParaRPr lang="en-US" dirty="0"/>
          </a:p>
        </p:txBody>
      </p:sp>
      <p:sp>
        <p:nvSpPr>
          <p:cNvPr id="173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3059" name="Rectangle 3"/>
          <p:cNvSpPr>
            <a:spLocks noGrp="1" noChangeArrowheads="1"/>
          </p:cNvSpPr>
          <p:nvPr>
            <p:ph type="body" idx="1"/>
          </p:nvPr>
        </p:nvSpPr>
        <p:spPr/>
        <p:txBody>
          <a:bodyPr/>
          <a:lstStyle/>
          <a:p>
            <a:pPr>
              <a:defRPr/>
            </a:pPr>
            <a:r>
              <a:rPr lang="en-US" dirty="0" smtClean="0"/>
              <a:t>Processes such as the development from a caterpillar</a:t>
            </a:r>
            <a:r>
              <a:rPr lang="en-US" baseline="0" dirty="0" smtClean="0"/>
              <a:t> </a:t>
            </a:r>
            <a:r>
              <a:rPr lang="en-US" dirty="0" smtClean="0"/>
              <a:t>into a butterfly entail dramatic changes in patterns of</a:t>
            </a:r>
            <a:r>
              <a:rPr lang="en-US" baseline="0" dirty="0" smtClean="0"/>
              <a:t> </a:t>
            </a:r>
            <a:r>
              <a:rPr lang="en-US" dirty="0" smtClean="0"/>
              <a:t>gene expression. The expression levels of thousands of</a:t>
            </a:r>
            <a:r>
              <a:rPr lang="en-US" baseline="0" dirty="0" smtClean="0"/>
              <a:t> </a:t>
            </a:r>
            <a:r>
              <a:rPr lang="en-US" dirty="0" smtClean="0"/>
              <a:t>genes can be monitored through the use of DNA arrays.</a:t>
            </a:r>
            <a:r>
              <a:rPr lang="en-US" baseline="0" dirty="0" smtClean="0"/>
              <a:t> </a:t>
            </a:r>
            <a:r>
              <a:rPr lang="en-US" dirty="0" smtClean="0"/>
              <a:t>At the right, a DNA microarray reveals the expression</a:t>
            </a:r>
            <a:r>
              <a:rPr lang="en-US" baseline="0" dirty="0" smtClean="0"/>
              <a:t> </a:t>
            </a:r>
            <a:r>
              <a:rPr lang="en-US" dirty="0" smtClean="0"/>
              <a:t>levels of more than 12,000 human genes; the brightness</a:t>
            </a:r>
            <a:r>
              <a:rPr lang="en-US" baseline="0" dirty="0" smtClean="0"/>
              <a:t> </a:t>
            </a:r>
            <a:r>
              <a:rPr lang="en-US" baseline="0" dirty="0" smtClean="0"/>
              <a:t>and color </a:t>
            </a:r>
            <a:r>
              <a:rPr lang="en-US" dirty="0" smtClean="0"/>
              <a:t>of </a:t>
            </a:r>
            <a:r>
              <a:rPr lang="en-US" dirty="0" smtClean="0"/>
              <a:t>each spot indicates </a:t>
            </a:r>
            <a:r>
              <a:rPr lang="en-US" dirty="0" smtClean="0"/>
              <a:t>a change in the </a:t>
            </a:r>
            <a:r>
              <a:rPr lang="en-US" dirty="0" smtClean="0"/>
              <a:t>expression level of the</a:t>
            </a:r>
            <a:r>
              <a:rPr lang="en-US" baseline="0" dirty="0" smtClean="0"/>
              <a:t> </a:t>
            </a:r>
            <a:r>
              <a:rPr lang="en-US" dirty="0" smtClean="0"/>
              <a:t>corresponding gene. [(Left) Cathy Keifer/</a:t>
            </a:r>
            <a:r>
              <a:rPr lang="en-US" dirty="0" err="1" smtClean="0"/>
              <a:t>istockphoto</a:t>
            </a:r>
            <a:r>
              <a:rPr lang="en-US" dirty="0" smtClean="0"/>
              <a:t>.</a:t>
            </a:r>
            <a:r>
              <a:rPr lang="en-US" baseline="0" dirty="0" smtClean="0"/>
              <a:t> </a:t>
            </a:r>
            <a:r>
              <a:rPr lang="en-US" dirty="0" smtClean="0"/>
              <a:t>com. (Right) Agilent Technologies.]</a:t>
            </a:r>
            <a:endParaRPr lang="en-US" dirty="0" smtClean="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4B9B85A-EEF0-B945-B8C0-FC6AD751E726}" type="slidenum">
              <a:rPr lang="en-US"/>
              <a:pPr>
                <a:defRPr/>
              </a:pPr>
              <a:t>5</a:t>
            </a:fld>
            <a:endParaRPr lang="en-US" dirty="0"/>
          </a:p>
        </p:txBody>
      </p:sp>
      <p:sp>
        <p:nvSpPr>
          <p:cNvPr id="1751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5107" name="Rectangle 3"/>
          <p:cNvSpPr>
            <a:spLocks noGrp="1" noChangeArrowheads="1"/>
          </p:cNvSpPr>
          <p:nvPr>
            <p:ph type="body" idx="1"/>
          </p:nvPr>
        </p:nvSpPr>
        <p:spPr/>
        <p:txBody>
          <a:bodyPr/>
          <a:lstStyle/>
          <a:p>
            <a:pPr>
              <a:defRPr/>
            </a:pPr>
            <a:r>
              <a:rPr lang="en-US" b="1" dirty="0" smtClean="0"/>
              <a:t>Figure 5.1 Specificities of some</a:t>
            </a:r>
            <a:r>
              <a:rPr lang="en-US" b="1" baseline="0" dirty="0" smtClean="0"/>
              <a:t> </a:t>
            </a:r>
            <a:r>
              <a:rPr lang="en-US" b="1" dirty="0" smtClean="0"/>
              <a:t>restriction endonucleases. </a:t>
            </a:r>
            <a:r>
              <a:rPr lang="en-US" dirty="0" smtClean="0"/>
              <a:t>The sequences</a:t>
            </a:r>
            <a:r>
              <a:rPr lang="en-US" baseline="0" dirty="0" smtClean="0"/>
              <a:t> </a:t>
            </a:r>
            <a:r>
              <a:rPr lang="en-US" dirty="0" smtClean="0"/>
              <a:t>that are recognized by these enzymes contain</a:t>
            </a:r>
            <a:r>
              <a:rPr lang="en-US" baseline="0" dirty="0" smtClean="0"/>
              <a:t> </a:t>
            </a:r>
            <a:r>
              <a:rPr lang="en-US" dirty="0" smtClean="0"/>
              <a:t>a twofold axis of symmetry. The two strands in</a:t>
            </a:r>
            <a:r>
              <a:rPr lang="en-US" baseline="0" dirty="0" smtClean="0"/>
              <a:t> </a:t>
            </a:r>
            <a:r>
              <a:rPr lang="en-US" dirty="0" smtClean="0"/>
              <a:t>these regions are related by a 180-degree</a:t>
            </a:r>
            <a:r>
              <a:rPr lang="en-US" baseline="0" dirty="0" smtClean="0"/>
              <a:t> </a:t>
            </a:r>
            <a:r>
              <a:rPr lang="en-US" dirty="0" smtClean="0"/>
              <a:t>rotation about the axis marked by the green</a:t>
            </a:r>
            <a:r>
              <a:rPr lang="en-US" baseline="0" dirty="0" smtClean="0"/>
              <a:t> </a:t>
            </a:r>
            <a:r>
              <a:rPr lang="en-US" dirty="0" smtClean="0"/>
              <a:t>symbol. The cleavage sites are denoted by red</a:t>
            </a:r>
            <a:r>
              <a:rPr lang="en-US" baseline="0" dirty="0" smtClean="0"/>
              <a:t> </a:t>
            </a:r>
            <a:r>
              <a:rPr lang="en-US" dirty="0" smtClean="0"/>
              <a:t>arrows. The abbreviated name of each</a:t>
            </a:r>
            <a:r>
              <a:rPr lang="en-US" baseline="0" dirty="0" smtClean="0"/>
              <a:t> </a:t>
            </a:r>
            <a:r>
              <a:rPr lang="en-US" dirty="0" smtClean="0"/>
              <a:t>restriction enzyme is given at the right of the</a:t>
            </a:r>
            <a:r>
              <a:rPr lang="en-US" baseline="0" dirty="0" smtClean="0"/>
              <a:t> </a:t>
            </a:r>
            <a:r>
              <a:rPr lang="en-US" dirty="0" smtClean="0"/>
              <a:t>sequence that it recognizes. Note that the cuts</a:t>
            </a:r>
            <a:r>
              <a:rPr lang="en-US" baseline="0" dirty="0" smtClean="0"/>
              <a:t> </a:t>
            </a:r>
            <a:r>
              <a:rPr lang="en-US" dirty="0" smtClean="0"/>
              <a:t>may be staggered or even.</a:t>
            </a:r>
            <a:endParaRPr lang="en-US" dirty="0" smtClean="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4C72E83-D79A-BD41-9C7C-34E45E585E16}" type="slidenum">
              <a:rPr lang="en-US"/>
              <a:pPr>
                <a:defRPr/>
              </a:pPr>
              <a:t>7</a:t>
            </a:fld>
            <a:endParaRPr lang="en-US" dirty="0"/>
          </a:p>
        </p:txBody>
      </p:sp>
      <p:sp>
        <p:nvSpPr>
          <p:cNvPr id="176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613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5.2 Gel-electrophoresis pattern of a restriction digest</a:t>
            </a:r>
            <a:r>
              <a:rPr lang="en-US" sz="1200" b="0" i="0" u="none" strike="noStrike" kern="1200" baseline="0" dirty="0" smtClean="0">
                <a:solidFill>
                  <a:schemeClr val="tx1"/>
                </a:solidFill>
                <a:latin typeface="+mn-lt"/>
                <a:ea typeface="+mn-ea"/>
                <a:cs typeface="+mn-cs"/>
              </a:rPr>
              <a:t>. This gel shows the fragments produced by cleaving DNA from two viral strains (odd- vs. even-numbered lanes) with each of four restriction enzymes. These fragments were made fluorescent by staining the gel with ethidium bromide. [</a:t>
            </a:r>
            <a:r>
              <a:rPr lang="en-US" sz="1200" b="0" i="0" u="none" strike="noStrike" kern="1200" baseline="0" dirty="0" smtClean="0">
                <a:solidFill>
                  <a:schemeClr val="tx1"/>
                </a:solidFill>
                <a:latin typeface="+mn-lt"/>
                <a:ea typeface="+mn-ea"/>
                <a:cs typeface="+mn-cs"/>
              </a:rPr>
              <a:t>Data from </a:t>
            </a:r>
            <a:r>
              <a:rPr lang="en-US" sz="1200" b="0" i="0" u="none" strike="noStrike" kern="1200" baseline="0" dirty="0" smtClean="0">
                <a:solidFill>
                  <a:schemeClr val="tx1"/>
                </a:solidFill>
                <a:latin typeface="+mn-lt"/>
                <a:ea typeface="+mn-ea"/>
                <a:cs typeface="+mn-cs"/>
              </a:rPr>
              <a:t>Carr et al., Emerging Infectious Diseases, </a:t>
            </a:r>
            <a:r>
              <a:rPr lang="pl-PL" sz="1200" b="0" i="0" u="none" strike="noStrike" kern="1200" baseline="0" dirty="0" smtClean="0">
                <a:solidFill>
                  <a:schemeClr val="tx1"/>
                </a:solidFill>
                <a:latin typeface="+mn-lt"/>
                <a:ea typeface="+mn-ea"/>
                <a:cs typeface="+mn-cs"/>
              </a:rPr>
              <a:t>www.cdc.gov/eid, 17(8), August 2011.]</a:t>
            </a:r>
            <a:endParaRPr lang="en-US" dirty="0" smtClean="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7E451D6-F452-DD46-A756-61556DB7EDED}" type="slidenum">
              <a:rPr lang="en-US"/>
              <a:pPr>
                <a:defRPr/>
              </a:pPr>
              <a:t>8</a:t>
            </a:fld>
            <a:endParaRPr lang="en-US" dirty="0"/>
          </a:p>
        </p:txBody>
      </p:sp>
      <p:sp>
        <p:nvSpPr>
          <p:cNvPr id="1771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7155" name="Rectangle 3"/>
          <p:cNvSpPr>
            <a:spLocks noGrp="1" noChangeArrowheads="1"/>
          </p:cNvSpPr>
          <p:nvPr>
            <p:ph type="body" idx="1"/>
          </p:nvPr>
        </p:nvSpPr>
        <p:spPr/>
        <p:txBody>
          <a:bodyPr/>
          <a:lstStyle/>
          <a:p>
            <a:pPr>
              <a:defRPr/>
            </a:pPr>
            <a:r>
              <a:rPr lang="en-US" b="1" dirty="0" smtClean="0"/>
              <a:t>FIGURE 5.3 Southern blotting. </a:t>
            </a:r>
            <a:r>
              <a:rPr lang="en-US" dirty="0" smtClean="0"/>
              <a:t>A DNA fragment containing a specific sequence can be identified</a:t>
            </a:r>
            <a:r>
              <a:rPr lang="en-US" baseline="0" dirty="0" smtClean="0"/>
              <a:t> </a:t>
            </a:r>
            <a:r>
              <a:rPr lang="en-US" dirty="0" smtClean="0"/>
              <a:t>by separating a mixture of fragments by electrophoresis, transferring them to nitrocellulose, and</a:t>
            </a:r>
            <a:r>
              <a:rPr lang="en-US" baseline="0" dirty="0" smtClean="0"/>
              <a:t> </a:t>
            </a:r>
            <a:r>
              <a:rPr lang="en-US" dirty="0" smtClean="0"/>
              <a:t>hybridizing with a </a:t>
            </a:r>
            <a:r>
              <a:rPr lang="en-US" baseline="30000" dirty="0" smtClean="0"/>
              <a:t>32</a:t>
            </a:r>
            <a:r>
              <a:rPr lang="en-US" dirty="0" smtClean="0"/>
              <a:t>P-labeled probe complementary to the sequence. The fragment containing the</a:t>
            </a:r>
            <a:r>
              <a:rPr lang="en-US" baseline="0" dirty="0" smtClean="0"/>
              <a:t> </a:t>
            </a:r>
            <a:r>
              <a:rPr lang="en-US" dirty="0" smtClean="0"/>
              <a:t>sequence is then visualized by autoradiography.</a:t>
            </a:r>
            <a:endParaRPr lang="en-US" dirty="0" smtClean="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5087799-A474-784B-8901-663672E12CE1}" type="slidenum">
              <a:rPr lang="en-US"/>
              <a:pPr>
                <a:defRPr/>
              </a:pPr>
              <a:t>10</a:t>
            </a:fld>
            <a:endParaRPr lang="en-US" dirty="0"/>
          </a:p>
        </p:txBody>
      </p:sp>
      <p:sp>
        <p:nvSpPr>
          <p:cNvPr id="180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022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5.4 Fluorescence detection of oligonucleotide fragments produced by the dideoxy method. </a:t>
            </a:r>
            <a:r>
              <a:rPr lang="en-US" sz="1200" b="0" i="0" u="none" strike="noStrike" kern="1200" baseline="0" dirty="0" smtClean="0">
                <a:solidFill>
                  <a:schemeClr val="tx1"/>
                </a:solidFill>
                <a:latin typeface="+mn-lt"/>
                <a:ea typeface="+mn-ea"/>
                <a:cs typeface="+mn-cs"/>
              </a:rPr>
              <a:t>A sequencing reaction is performed with four chain terminating dideoxy nucleotides, each labeled with a tag that fluoresces at a different wavelength. The color of each fragment indicates the identity of the last base in the chain. The fragments are separated by size using capillary electrophoresis and the fluorescence at each of the four wavelengths indicates the sequence of the complement of the original DNA template.</a:t>
            </a:r>
            <a:endParaRPr lang="en-US" dirty="0" smtClean="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34CE876-89C7-7445-B93B-C429B7CF761A}" type="slidenum">
              <a:rPr lang="en-US"/>
              <a:pPr>
                <a:defRPr/>
              </a:pPr>
              <a:t>11</a:t>
            </a:fld>
            <a:endParaRPr lang="en-US" dirty="0"/>
          </a:p>
        </p:txBody>
      </p:sp>
      <p:sp>
        <p:nvSpPr>
          <p:cNvPr id="1792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920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65455B9-E537-0F49-A5FB-7146ED028A2F}" type="slidenum">
              <a:rPr lang="en-US"/>
              <a:pPr>
                <a:defRPr/>
              </a:pPr>
              <a:t>12</a:t>
            </a:fld>
            <a:endParaRPr lang="en-US" dirty="0"/>
          </a:p>
        </p:txBody>
      </p:sp>
      <p:sp>
        <p:nvSpPr>
          <p:cNvPr id="182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2275" name="Rectangle 3"/>
          <p:cNvSpPr>
            <a:spLocks noGrp="1" noChangeArrowheads="1"/>
          </p:cNvSpPr>
          <p:nvPr>
            <p:ph type="body" idx="1"/>
          </p:nvPr>
        </p:nvSpPr>
        <p:spPr/>
        <p:txBody>
          <a:bodyPr/>
          <a:lstStyle/>
          <a:p>
            <a:pPr>
              <a:defRPr/>
            </a:pPr>
            <a:r>
              <a:rPr lang="en-US" b="1" dirty="0" smtClean="0"/>
              <a:t>FIGURE 5.5 Solid-phase synthesis of a DNA chain by the phosphite triester method. </a:t>
            </a:r>
            <a:r>
              <a:rPr lang="en-US" dirty="0" smtClean="0"/>
              <a:t>The</a:t>
            </a:r>
            <a:r>
              <a:rPr lang="en-US" baseline="0" dirty="0" smtClean="0"/>
              <a:t> </a:t>
            </a:r>
            <a:r>
              <a:rPr lang="en-US" dirty="0" smtClean="0"/>
              <a:t>activated monomer added to the growing chain is a deoxyribonucleoside 3</a:t>
            </a:r>
            <a:r>
              <a:rPr lang="en-US" sz="1200" kern="1200" dirty="0" smtClean="0">
                <a:solidFill>
                  <a:schemeClr val="tx1"/>
                </a:solidFill>
                <a:effectLst/>
                <a:latin typeface="+mn-lt"/>
                <a:ea typeface="+mn-ea"/>
                <a:cs typeface="+mn-cs"/>
                <a:sym typeface="Symbol"/>
              </a:rPr>
              <a:t></a:t>
            </a:r>
            <a:r>
              <a:rPr lang="en-US" dirty="0" smtClean="0"/>
              <a:t>-phosphoramidite</a:t>
            </a:r>
            <a:r>
              <a:rPr lang="en-US" baseline="0" dirty="0" smtClean="0"/>
              <a:t> </a:t>
            </a:r>
            <a:r>
              <a:rPr lang="en-US" dirty="0" smtClean="0"/>
              <a:t>containing a dimethoxytrityl (DMT) protecting group on its 5</a:t>
            </a:r>
            <a:r>
              <a:rPr lang="en-US" sz="1200" kern="1200" dirty="0" smtClean="0">
                <a:solidFill>
                  <a:schemeClr val="tx1"/>
                </a:solidFill>
                <a:effectLst/>
                <a:latin typeface="+mn-lt"/>
                <a:ea typeface="+mn-ea"/>
                <a:cs typeface="+mn-cs"/>
                <a:sym typeface="Symbol"/>
              </a:rPr>
              <a:t></a:t>
            </a:r>
            <a:r>
              <a:rPr lang="en-US" dirty="0" smtClean="0"/>
              <a:t>-oxygen atom, a β-cyanoethyl (βCE)</a:t>
            </a:r>
            <a:r>
              <a:rPr lang="en-US" baseline="0" dirty="0" smtClean="0"/>
              <a:t> </a:t>
            </a:r>
            <a:r>
              <a:rPr lang="en-US" dirty="0" smtClean="0"/>
              <a:t>protecting group on its 3</a:t>
            </a:r>
            <a:r>
              <a:rPr lang="en-US" sz="1200" kern="1200" dirty="0" smtClean="0">
                <a:solidFill>
                  <a:schemeClr val="tx1"/>
                </a:solidFill>
                <a:effectLst/>
                <a:latin typeface="+mn-lt"/>
                <a:ea typeface="+mn-ea"/>
                <a:cs typeface="+mn-cs"/>
                <a:sym typeface="Symbol"/>
              </a:rPr>
              <a:t></a:t>
            </a:r>
            <a:r>
              <a:rPr lang="en-US" dirty="0" smtClean="0"/>
              <a:t>-phosphoryl oxygen atom, and a protecting group on the base.</a:t>
            </a:r>
          </a:p>
          <a:p>
            <a:pPr eaLnBrk="1" hangingPunct="1">
              <a:defRPr/>
            </a:pPr>
            <a:endParaRPr lang="en-US" dirty="0" smtClean="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F86839D-C14F-3D42-8CF4-E91C1AAD73B7}" type="slidenum">
              <a:rPr lang="en-US"/>
              <a:pPr>
                <a:defRPr/>
              </a:pPr>
              <a:t>14</a:t>
            </a:fld>
            <a:endParaRPr lang="en-US" dirty="0"/>
          </a:p>
        </p:txBody>
      </p:sp>
      <p:sp>
        <p:nvSpPr>
          <p:cNvPr id="1832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3299" name="Rectangle 3"/>
          <p:cNvSpPr>
            <a:spLocks noGrp="1" noChangeArrowheads="1"/>
          </p:cNvSpPr>
          <p:nvPr>
            <p:ph type="body" idx="1"/>
          </p:nvPr>
        </p:nvSpPr>
        <p:spPr/>
        <p:txBody>
          <a:bodyPr/>
          <a:lstStyle/>
          <a:p>
            <a:pPr>
              <a:defRPr/>
            </a:pPr>
            <a:r>
              <a:rPr lang="en-US" b="1" dirty="0" smtClean="0"/>
              <a:t>FIGURE 5.6 The first cycle in the</a:t>
            </a:r>
            <a:r>
              <a:rPr lang="en-US" b="1" baseline="0" dirty="0" smtClean="0"/>
              <a:t> </a:t>
            </a:r>
            <a:r>
              <a:rPr lang="en-US" b="1" dirty="0" smtClean="0"/>
              <a:t>polymerase chain reaction (PCR). </a:t>
            </a:r>
            <a:r>
              <a:rPr lang="en-US" dirty="0" smtClean="0"/>
              <a:t>A cycle</a:t>
            </a:r>
            <a:r>
              <a:rPr lang="en-US" baseline="0" dirty="0" smtClean="0"/>
              <a:t> </a:t>
            </a:r>
            <a:r>
              <a:rPr lang="en-US" dirty="0" smtClean="0"/>
              <a:t>consists of three steps: strand separation, the</a:t>
            </a:r>
            <a:r>
              <a:rPr lang="en-US" baseline="0" dirty="0" smtClean="0"/>
              <a:t> </a:t>
            </a:r>
            <a:r>
              <a:rPr lang="en-US" dirty="0" smtClean="0"/>
              <a:t>hybridization of primers, and the extension of</a:t>
            </a:r>
            <a:r>
              <a:rPr lang="en-US" baseline="0" dirty="0" smtClean="0"/>
              <a:t> </a:t>
            </a:r>
            <a:r>
              <a:rPr lang="en-US" dirty="0" smtClean="0"/>
              <a:t>primers by DNA synthesis.</a:t>
            </a:r>
            <a:endParaRPr lang="en-US" dirty="0" smtClean="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E00EE61-1F6C-334F-9E08-4C95EB255F6D}" type="slidenum">
              <a:rPr lang="en-US"/>
              <a:pPr>
                <a:defRPr/>
              </a:pPr>
              <a:t>15</a:t>
            </a:fld>
            <a:endParaRPr lang="en-US" dirty="0"/>
          </a:p>
        </p:txBody>
      </p:sp>
      <p:sp>
        <p:nvSpPr>
          <p:cNvPr id="1873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87395" name="Rectangle 3"/>
          <p:cNvSpPr>
            <a:spLocks noGrp="1" noChangeArrowheads="1"/>
          </p:cNvSpPr>
          <p:nvPr>
            <p:ph type="body" idx="1"/>
          </p:nvPr>
        </p:nvSpPr>
        <p:spPr/>
        <p:txBody>
          <a:bodyPr/>
          <a:lstStyle/>
          <a:p>
            <a:pPr>
              <a:defRPr/>
            </a:pPr>
            <a:r>
              <a:rPr lang="en-US" b="1" dirty="0" smtClean="0"/>
              <a:t>FIGURE 5.7 Multiple cycles of the polymerase chain reaction. </a:t>
            </a:r>
            <a:r>
              <a:rPr lang="en-US" dirty="0" smtClean="0"/>
              <a:t>The two short</a:t>
            </a:r>
            <a:r>
              <a:rPr lang="en-US" baseline="0" dirty="0" smtClean="0"/>
              <a:t> </a:t>
            </a:r>
            <a:r>
              <a:rPr lang="en-US" dirty="0" smtClean="0"/>
              <a:t>strands produced at the end of the third cycle (along with longer stands not shown)</a:t>
            </a:r>
            <a:r>
              <a:rPr lang="en-US" baseline="0" dirty="0" smtClean="0"/>
              <a:t> </a:t>
            </a:r>
            <a:r>
              <a:rPr lang="en-US" dirty="0" smtClean="0"/>
              <a:t>represent the target sequence. Subsequent cycles will amplify the target sequence</a:t>
            </a:r>
            <a:r>
              <a:rPr lang="en-US" baseline="0" dirty="0" smtClean="0"/>
              <a:t> </a:t>
            </a:r>
            <a:r>
              <a:rPr lang="en-US" dirty="0" smtClean="0"/>
              <a:t>exponentially and the parent sequence arithmetically.</a:t>
            </a:r>
            <a:endParaRPr lang="en-US" dirty="0" smtClean="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641ED01-EB77-054E-80AC-52562BD99C03}" type="slidenum">
              <a:rPr lang="en-US"/>
              <a:pPr>
                <a:defRPr/>
              </a:pPr>
              <a:t>17</a:t>
            </a:fld>
            <a:endParaRPr lang="en-US" dirty="0"/>
          </a:p>
        </p:txBody>
      </p:sp>
      <p:sp>
        <p:nvSpPr>
          <p:cNvPr id="1914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1491"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5.8 DNA and forensics</a:t>
            </a:r>
            <a:r>
              <a:rPr lang="en-US" sz="1200" b="0" i="0" u="none" strike="noStrike" kern="1200" baseline="0" dirty="0" smtClean="0">
                <a:solidFill>
                  <a:schemeClr val="tx1"/>
                </a:solidFill>
                <a:latin typeface="+mn-lt"/>
                <a:ea typeface="+mn-ea"/>
                <a:cs typeface="+mn-cs"/>
              </a:rPr>
              <a:t>. DNA isolated from sperm obtained during the examination of a rape victim was amplified by PCR, then compared with DNA from the victim and three potential suspects—the victim’s husband and two additional individuals—using gel electrophoresis and autoradiography. Sperm DNA matched the pattern of Suspect 1, but not that of Suspect 2 or the victim’s husband. Sizing marker and K562 lanes refer to control </a:t>
            </a:r>
            <a:r>
              <a:rPr lang="en-US" sz="1200" b="0" i="0" u="none" strike="noStrike" kern="1200" baseline="0" dirty="0" smtClean="0">
                <a:solidFill>
                  <a:schemeClr val="tx1"/>
                </a:solidFill>
                <a:latin typeface="+mn-lt"/>
                <a:ea typeface="+mn-ea"/>
                <a:cs typeface="+mn-cs"/>
              </a:rPr>
              <a:t>DNA samples</a:t>
            </a:r>
            <a:r>
              <a:rPr lang="en-US" sz="1200" b="0" i="0" u="none" strike="noStrike" kern="1200" baseline="0" dirty="0" smtClean="0">
                <a:solidFill>
                  <a:schemeClr val="tx1"/>
                </a:solidFill>
                <a:latin typeface="+mn-lt"/>
                <a:ea typeface="+mn-ea"/>
                <a:cs typeface="+mn-cs"/>
              </a:rPr>
              <a:t>. [Martin Shields/Science Source.]</a:t>
            </a:r>
            <a:endParaRPr lang="en-US" dirty="0" smtClean="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2A09F3B-DE25-DB48-9DD8-D27ADAC03C95}" type="slidenum">
              <a:rPr lang="en-US"/>
              <a:pPr>
                <a:defRPr/>
              </a:pPr>
              <a:t>20</a:t>
            </a:fld>
            <a:endParaRPr lang="en-US" dirty="0"/>
          </a:p>
        </p:txBody>
      </p:sp>
      <p:sp>
        <p:nvSpPr>
          <p:cNvPr id="192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2515" name="Rectangle 3"/>
          <p:cNvSpPr>
            <a:spLocks noGrp="1" noChangeArrowheads="1"/>
          </p:cNvSpPr>
          <p:nvPr>
            <p:ph type="body" idx="1"/>
          </p:nvPr>
        </p:nvSpPr>
        <p:spPr/>
        <p:txBody>
          <a:bodyPr/>
          <a:lstStyle/>
          <a:p>
            <a:pPr>
              <a:defRPr/>
            </a:pPr>
            <a:r>
              <a:rPr lang="en-US" b="1" dirty="0" smtClean="0"/>
              <a:t>FIGURE 5.9 Joining of DNA molecules by the cohesive-end</a:t>
            </a:r>
            <a:r>
              <a:rPr lang="en-US" b="1" baseline="0" dirty="0" smtClean="0"/>
              <a:t> </a:t>
            </a:r>
            <a:r>
              <a:rPr lang="en-US" b="1" dirty="0" smtClean="0"/>
              <a:t>method. </a:t>
            </a:r>
            <a:r>
              <a:rPr lang="en-US" dirty="0" smtClean="0"/>
              <a:t>Two DNA molecules, cleaved with a common restriction</a:t>
            </a:r>
            <a:r>
              <a:rPr lang="en-US" baseline="0" dirty="0" smtClean="0"/>
              <a:t> </a:t>
            </a:r>
            <a:r>
              <a:rPr lang="en-US" dirty="0" smtClean="0"/>
              <a:t>enzyme such as </a:t>
            </a:r>
            <a:r>
              <a:rPr lang="en-US" i="0" dirty="0" smtClean="0"/>
              <a:t>EcoRI</a:t>
            </a:r>
            <a:r>
              <a:rPr lang="en-US" dirty="0" smtClean="0"/>
              <a:t>, can be ligated to form recombinant molecules.</a:t>
            </a:r>
            <a:endParaRPr lang="en-US" dirty="0" smtClean="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DA89C90-A9A1-1742-B6CF-DB3D9B2209FD}" type="slidenum">
              <a:rPr lang="en-US"/>
              <a:pPr>
                <a:defRPr/>
              </a:pPr>
              <a:t>22</a:t>
            </a:fld>
            <a:endParaRPr lang="en-US" dirty="0"/>
          </a:p>
        </p:txBody>
      </p:sp>
      <p:sp>
        <p:nvSpPr>
          <p:cNvPr id="1935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3539" name="Rectangle 3"/>
          <p:cNvSpPr>
            <a:spLocks noGrp="1" noChangeArrowheads="1"/>
          </p:cNvSpPr>
          <p:nvPr>
            <p:ph type="body" idx="1"/>
          </p:nvPr>
        </p:nvSpPr>
        <p:spPr/>
        <p:txBody>
          <a:bodyPr/>
          <a:lstStyle/>
          <a:p>
            <a:pPr>
              <a:defRPr/>
            </a:pPr>
            <a:r>
              <a:rPr lang="en-US" b="1" dirty="0" smtClean="0"/>
              <a:t>FIGURE 5.10 Formation of cohesive ends.</a:t>
            </a:r>
            <a:r>
              <a:rPr lang="en-US" b="1" baseline="0" dirty="0" smtClean="0"/>
              <a:t> </a:t>
            </a:r>
            <a:r>
              <a:rPr lang="en-US" dirty="0" smtClean="0"/>
              <a:t>Cohesive ends can be formed by the addition</a:t>
            </a:r>
            <a:r>
              <a:rPr lang="en-US" baseline="0" dirty="0" smtClean="0"/>
              <a:t> </a:t>
            </a:r>
            <a:r>
              <a:rPr lang="en-US" dirty="0" smtClean="0"/>
              <a:t>and cleavage of a chemically synthesized</a:t>
            </a:r>
            <a:r>
              <a:rPr lang="en-US" baseline="0" dirty="0" smtClean="0"/>
              <a:t> </a:t>
            </a:r>
            <a:r>
              <a:rPr lang="en-US" dirty="0" smtClean="0"/>
              <a:t>linker.</a:t>
            </a:r>
            <a:endParaRPr lang="en-US" dirty="0" smtClean="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9742BA3-A274-AA4E-9EF0-8B449A8C9925}" type="slidenum">
              <a:rPr lang="en-US"/>
              <a:pPr>
                <a:defRPr/>
              </a:pPr>
              <a:t>24</a:t>
            </a:fld>
            <a:endParaRPr lang="en-US" dirty="0"/>
          </a:p>
        </p:txBody>
      </p:sp>
      <p:sp>
        <p:nvSpPr>
          <p:cNvPr id="1945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456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5.11 A polylinker in the plasmid pUC18. </a:t>
            </a:r>
            <a:r>
              <a:rPr lang="en-US" sz="1200" b="0" i="0" u="none" strike="noStrike" kern="1200" baseline="0" dirty="0" smtClean="0">
                <a:solidFill>
                  <a:schemeClr val="tx1"/>
                </a:solidFill>
                <a:latin typeface="+mn-lt"/>
                <a:ea typeface="+mn-ea"/>
                <a:cs typeface="+mn-cs"/>
              </a:rPr>
              <a:t>The plasmid pUC18 includes a polylinker within an essential fragment of the β-galactosidase gene (often called the lacZ gene). Insertion of a DNA fragment into one of the many restriction sites within this polylinker can be detected by the absence of β-galactosidase activity.</a:t>
            </a:r>
            <a:endParaRPr lang="en-US" dirty="0" smtClean="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5.12 Insertional inactivation</a:t>
            </a:r>
            <a:r>
              <a:rPr lang="en-US" sz="1200" b="0" i="0" u="none" strike="noStrike" kern="1200" baseline="0" dirty="0" smtClean="0">
                <a:solidFill>
                  <a:schemeClr val="tx1"/>
                </a:solidFill>
                <a:latin typeface="+mn-lt"/>
                <a:ea typeface="+mn-ea"/>
                <a:cs typeface="+mn-cs"/>
              </a:rPr>
              <a:t>. Successful insertion of DNA fragments into the polylinker region of pUC18 will result in the disruption of the β–galactosidase gene. Bacterial colonies that harbor such plasmids will no longer convert X-gal into a colored product, and will appear white on the plate.</a:t>
            </a:r>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25</a:t>
            </a:fld>
            <a:endParaRPr lang="en-US" dirty="0"/>
          </a:p>
        </p:txBody>
      </p:sp>
    </p:spTree>
    <p:extLst>
      <p:ext uri="{BB962C8B-B14F-4D97-AF65-F5344CB8AC3E}">
        <p14:creationId xmlns:p14="http://schemas.microsoft.com/office/powerpoint/2010/main" val="835465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A998024-7BC5-C349-91AA-9B93090E8C1D}" type="slidenum">
              <a:rPr lang="en-US"/>
              <a:pPr>
                <a:defRPr/>
              </a:pPr>
              <a:t>27</a:t>
            </a:fld>
            <a:endParaRPr lang="en-US" dirty="0"/>
          </a:p>
        </p:txBody>
      </p:sp>
      <p:sp>
        <p:nvSpPr>
          <p:cNvPr id="196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6611" name="Rectangle 3"/>
          <p:cNvSpPr>
            <a:spLocks noGrp="1" noChangeArrowheads="1"/>
          </p:cNvSpPr>
          <p:nvPr>
            <p:ph type="body" idx="1"/>
          </p:nvPr>
        </p:nvSpPr>
        <p:spPr/>
        <p:txBody>
          <a:bodyPr/>
          <a:lstStyle/>
          <a:p>
            <a:pPr>
              <a:defRPr/>
            </a:pPr>
            <a:r>
              <a:rPr lang="en-US" b="1" dirty="0" smtClean="0"/>
              <a:t>FIGURE 5.13 Alternative infection modes for </a:t>
            </a:r>
            <a:r>
              <a:rPr lang="en-US" dirty="0" smtClean="0"/>
              <a:t>λ </a:t>
            </a:r>
            <a:r>
              <a:rPr lang="en-US" b="1" dirty="0" smtClean="0"/>
              <a:t>phage. </a:t>
            </a:r>
            <a:r>
              <a:rPr lang="en-US" dirty="0" smtClean="0"/>
              <a:t>Lambda phage can multiply within a</a:t>
            </a:r>
            <a:r>
              <a:rPr lang="en-US" baseline="0" dirty="0" smtClean="0"/>
              <a:t> </a:t>
            </a:r>
            <a:r>
              <a:rPr lang="en-US" dirty="0" smtClean="0"/>
              <a:t>host and lyse it (lytic pathway) or its DNA can become integrated into the host genome (lysogenic</a:t>
            </a:r>
            <a:r>
              <a:rPr lang="en-US" baseline="0" dirty="0" smtClean="0"/>
              <a:t> </a:t>
            </a:r>
            <a:r>
              <a:rPr lang="en-US" dirty="0" smtClean="0"/>
              <a:t>pathway), where it is dormant until activated.</a:t>
            </a:r>
            <a:endParaRPr lang="en-US" dirty="0" smtClean="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56F8BAA-1E6E-8340-B674-F8B96F9F2D04}" type="slidenum">
              <a:rPr lang="en-US"/>
              <a:pPr>
                <a:defRPr/>
              </a:pPr>
              <a:t>28</a:t>
            </a:fld>
            <a:endParaRPr lang="en-US" dirty="0"/>
          </a:p>
        </p:txBody>
      </p:sp>
      <p:sp>
        <p:nvSpPr>
          <p:cNvPr id="200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070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5.14 Mutant l phage as a cloning vector</a:t>
            </a:r>
            <a:r>
              <a:rPr lang="en-US" sz="1200" b="0" i="0" u="none" strike="noStrike" kern="1200" baseline="0" dirty="0" smtClean="0">
                <a:solidFill>
                  <a:schemeClr val="tx1"/>
                </a:solidFill>
                <a:latin typeface="+mn-lt"/>
                <a:ea typeface="+mn-ea"/>
                <a:cs typeface="+mn-cs"/>
              </a:rPr>
              <a:t>. The packaging process selects DNA molecules that contain an insert (colored red). DNA molecules that have resealed without an insert are too small to be efficiently packaged.</a:t>
            </a:r>
            <a:endParaRPr lang="en-US" dirty="0" smtClean="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B0CF412-BD6D-0048-A4D9-A559FB882052}" type="slidenum">
              <a:rPr lang="en-US"/>
              <a:pPr>
                <a:defRPr/>
              </a:pPr>
              <a:t>30</a:t>
            </a:fld>
            <a:endParaRPr lang="en-US" dirty="0"/>
          </a:p>
        </p:txBody>
      </p:sp>
      <p:sp>
        <p:nvSpPr>
          <p:cNvPr id="2017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1731" name="Rectangle 3"/>
          <p:cNvSpPr>
            <a:spLocks noGrp="1" noChangeArrowheads="1"/>
          </p:cNvSpPr>
          <p:nvPr>
            <p:ph type="body" idx="1"/>
          </p:nvPr>
        </p:nvSpPr>
        <p:spPr/>
        <p:txBody>
          <a:bodyPr/>
          <a:lstStyle/>
          <a:p>
            <a:pPr>
              <a:defRPr/>
            </a:pPr>
            <a:r>
              <a:rPr lang="en-US" b="1" dirty="0" smtClean="0"/>
              <a:t>Figure 5.15 Diagram of a yeast artificial</a:t>
            </a:r>
            <a:r>
              <a:rPr lang="en-US" b="1" baseline="0" dirty="0" smtClean="0"/>
              <a:t> </a:t>
            </a:r>
            <a:r>
              <a:rPr lang="en-US" b="1" dirty="0" smtClean="0"/>
              <a:t>chromosome (YAC). </a:t>
            </a:r>
            <a:r>
              <a:rPr lang="en-US" dirty="0" smtClean="0"/>
              <a:t>These vectors include</a:t>
            </a:r>
            <a:r>
              <a:rPr lang="en-US" baseline="0" dirty="0" smtClean="0"/>
              <a:t> </a:t>
            </a:r>
            <a:r>
              <a:rPr lang="en-US" dirty="0" smtClean="0"/>
              <a:t>features necessary for replication and stability</a:t>
            </a:r>
            <a:r>
              <a:rPr lang="en-US" baseline="0" dirty="0" smtClean="0"/>
              <a:t> </a:t>
            </a:r>
            <a:r>
              <a:rPr lang="en-US" dirty="0" smtClean="0"/>
              <a:t>in yeast cells.</a:t>
            </a:r>
            <a:endParaRPr lang="en-US" dirty="0" smtClean="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56AD356-B088-2A49-AE69-04CEADDA3784}" type="slidenum">
              <a:rPr lang="en-US"/>
              <a:pPr>
                <a:defRPr/>
              </a:pPr>
              <a:t>32</a:t>
            </a:fld>
            <a:endParaRPr lang="en-US" dirty="0"/>
          </a:p>
        </p:txBody>
      </p:sp>
      <p:sp>
        <p:nvSpPr>
          <p:cNvPr id="202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2755" name="Rectangle 3"/>
          <p:cNvSpPr>
            <a:spLocks noGrp="1" noChangeArrowheads="1"/>
          </p:cNvSpPr>
          <p:nvPr>
            <p:ph type="body" idx="1"/>
          </p:nvPr>
        </p:nvSpPr>
        <p:spPr/>
        <p:txBody>
          <a:bodyPr/>
          <a:lstStyle/>
          <a:p>
            <a:pPr>
              <a:defRPr/>
            </a:pPr>
            <a:r>
              <a:rPr lang="en-US" b="1" dirty="0" smtClean="0"/>
              <a:t>FIGURE 5.16 Probes generated from a</a:t>
            </a:r>
            <a:r>
              <a:rPr lang="en-US" b="1" baseline="0" dirty="0" smtClean="0"/>
              <a:t> </a:t>
            </a:r>
            <a:r>
              <a:rPr lang="en-US" b="1" dirty="0" smtClean="0"/>
              <a:t>protein sequence. </a:t>
            </a:r>
            <a:r>
              <a:rPr lang="en-US" dirty="0" smtClean="0"/>
              <a:t>A probe can be</a:t>
            </a:r>
            <a:r>
              <a:rPr lang="en-US" baseline="0" dirty="0" smtClean="0"/>
              <a:t> </a:t>
            </a:r>
            <a:r>
              <a:rPr lang="en-US" dirty="0" smtClean="0"/>
              <a:t>generated by synthesizing all possible</a:t>
            </a:r>
            <a:r>
              <a:rPr lang="en-US" baseline="0" dirty="0" smtClean="0"/>
              <a:t> </a:t>
            </a:r>
            <a:r>
              <a:rPr lang="en-US" dirty="0" smtClean="0"/>
              <a:t>oligonucleotides encoding a particular</a:t>
            </a:r>
            <a:r>
              <a:rPr lang="en-US" baseline="0" dirty="0" smtClean="0"/>
              <a:t> </a:t>
            </a:r>
            <a:r>
              <a:rPr lang="en-US" dirty="0" smtClean="0"/>
              <a:t>sequence of amino acids. Because of the</a:t>
            </a:r>
            <a:r>
              <a:rPr lang="en-US" baseline="0" dirty="0" smtClean="0"/>
              <a:t> </a:t>
            </a:r>
            <a:r>
              <a:rPr lang="en-US" dirty="0" smtClean="0"/>
              <a:t>degeneracy of the genetic code, 256 distinct</a:t>
            </a:r>
            <a:r>
              <a:rPr lang="en-US" baseline="0" dirty="0" smtClean="0"/>
              <a:t> </a:t>
            </a:r>
            <a:r>
              <a:rPr lang="en-US" dirty="0" smtClean="0"/>
              <a:t>oligonucleotides must be synthesized to</a:t>
            </a:r>
            <a:r>
              <a:rPr lang="en-US" baseline="0" dirty="0" smtClean="0"/>
              <a:t> </a:t>
            </a:r>
            <a:r>
              <a:rPr lang="en-US" dirty="0" smtClean="0"/>
              <a:t>ensure that the probe matching the sequence</a:t>
            </a:r>
            <a:r>
              <a:rPr lang="en-US" baseline="0" dirty="0" smtClean="0"/>
              <a:t> </a:t>
            </a:r>
            <a:r>
              <a:rPr lang="en-US" dirty="0" smtClean="0"/>
              <a:t>of seven amino acids in this example is</a:t>
            </a:r>
            <a:r>
              <a:rPr lang="en-US" baseline="0" dirty="0" smtClean="0"/>
              <a:t> </a:t>
            </a:r>
            <a:r>
              <a:rPr lang="en-US" dirty="0" smtClean="0"/>
              <a:t>present.</a:t>
            </a:r>
            <a:endParaRPr lang="en-US" dirty="0" smtClean="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B40F567-2B45-4945-BF4A-2CB610A90B43}" type="slidenum">
              <a:rPr lang="en-US"/>
              <a:pPr>
                <a:defRPr/>
              </a:pPr>
              <a:t>34</a:t>
            </a:fld>
            <a:endParaRPr lang="en-US" dirty="0"/>
          </a:p>
        </p:txBody>
      </p:sp>
      <p:sp>
        <p:nvSpPr>
          <p:cNvPr id="2037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3779" name="Rectangle 3"/>
          <p:cNvSpPr>
            <a:spLocks noGrp="1" noChangeArrowheads="1"/>
          </p:cNvSpPr>
          <p:nvPr>
            <p:ph type="body" idx="1"/>
          </p:nvPr>
        </p:nvSpPr>
        <p:spPr/>
        <p:txBody>
          <a:bodyPr/>
          <a:lstStyle/>
          <a:p>
            <a:pPr>
              <a:defRPr/>
            </a:pPr>
            <a:r>
              <a:rPr lang="en-US" b="1" dirty="0" smtClean="0"/>
              <a:t>FIGURE 5.17 Creation of a genomic library. </a:t>
            </a:r>
            <a:r>
              <a:rPr lang="en-US" dirty="0" smtClean="0"/>
              <a:t>A</a:t>
            </a:r>
            <a:r>
              <a:rPr lang="en-US" baseline="0" dirty="0" smtClean="0"/>
              <a:t> </a:t>
            </a:r>
            <a:r>
              <a:rPr lang="en-US" dirty="0" smtClean="0"/>
              <a:t>genomic library can be created from a digest of a</a:t>
            </a:r>
            <a:r>
              <a:rPr lang="en-US" baseline="0" dirty="0" smtClean="0"/>
              <a:t> </a:t>
            </a:r>
            <a:r>
              <a:rPr lang="en-US" dirty="0" smtClean="0"/>
              <a:t>whole complex genome. On fragmentation of the</a:t>
            </a:r>
            <a:r>
              <a:rPr lang="en-US" baseline="0" dirty="0" smtClean="0"/>
              <a:t> </a:t>
            </a:r>
            <a:r>
              <a:rPr lang="en-US" dirty="0" smtClean="0"/>
              <a:t>genomic DNA into overlapping segments, the</a:t>
            </a:r>
            <a:r>
              <a:rPr lang="en-US" baseline="0" dirty="0" smtClean="0"/>
              <a:t> </a:t>
            </a:r>
            <a:r>
              <a:rPr lang="en-US" dirty="0" smtClean="0"/>
              <a:t>DNA is inserted into the λ phage vector (shown</a:t>
            </a:r>
            <a:r>
              <a:rPr lang="en-US" baseline="0" dirty="0" smtClean="0"/>
              <a:t> </a:t>
            </a:r>
            <a:r>
              <a:rPr lang="en-US" dirty="0" smtClean="0"/>
              <a:t>in yellow). Packaging into virions and amplification</a:t>
            </a:r>
          </a:p>
          <a:p>
            <a:pPr>
              <a:defRPr/>
            </a:pPr>
            <a:r>
              <a:rPr lang="en-US" dirty="0" smtClean="0"/>
              <a:t>by infection in </a:t>
            </a:r>
            <a:r>
              <a:rPr lang="en-US" i="1" dirty="0" smtClean="0"/>
              <a:t>E. coli </a:t>
            </a:r>
            <a:r>
              <a:rPr lang="en-US" dirty="0" smtClean="0"/>
              <a:t>yields a genomic library.</a:t>
            </a:r>
            <a:endParaRPr lang="en-US" dirty="0" smtClean="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DF2F0B5-A87E-774E-84C2-1CD25EDCE050}" type="slidenum">
              <a:rPr lang="en-US"/>
              <a:pPr>
                <a:defRPr/>
              </a:pPr>
              <a:t>35</a:t>
            </a:fld>
            <a:endParaRPr lang="en-US" dirty="0"/>
          </a:p>
        </p:txBody>
      </p:sp>
      <p:sp>
        <p:nvSpPr>
          <p:cNvPr id="2048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4803" name="Rectangle 3"/>
          <p:cNvSpPr>
            <a:spLocks noGrp="1" noChangeArrowheads="1"/>
          </p:cNvSpPr>
          <p:nvPr>
            <p:ph type="body" idx="1"/>
          </p:nvPr>
        </p:nvSpPr>
        <p:spPr/>
        <p:txBody>
          <a:bodyPr/>
          <a:lstStyle/>
          <a:p>
            <a:pPr>
              <a:defRPr/>
            </a:pPr>
            <a:r>
              <a:rPr lang="en-US" b="1" dirty="0" smtClean="0"/>
              <a:t>FIGURE 5.18 Screening a genomic library</a:t>
            </a:r>
            <a:r>
              <a:rPr lang="en-US" b="1" baseline="0" dirty="0" smtClean="0"/>
              <a:t> </a:t>
            </a:r>
            <a:r>
              <a:rPr lang="en-US" b="1" dirty="0" smtClean="0"/>
              <a:t>for a specific gene. </a:t>
            </a:r>
            <a:r>
              <a:rPr lang="en-US" dirty="0" smtClean="0"/>
              <a:t>Here, a plate is tested</a:t>
            </a:r>
            <a:r>
              <a:rPr lang="en-US" baseline="0" dirty="0" smtClean="0"/>
              <a:t> </a:t>
            </a:r>
            <a:r>
              <a:rPr lang="en-US" dirty="0" smtClean="0"/>
              <a:t>for plaques containing gene </a:t>
            </a:r>
            <a:r>
              <a:rPr lang="en-US" i="1" dirty="0" smtClean="0"/>
              <a:t>a </a:t>
            </a:r>
            <a:r>
              <a:rPr lang="en-US" dirty="0" smtClean="0"/>
              <a:t>of Figure 5.17.</a:t>
            </a:r>
            <a:endParaRPr lang="en-US" dirty="0" smtClean="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F97D9FE-C6E2-7043-8A45-6CAB48CC49EF}" type="slidenum">
              <a:rPr lang="en-US"/>
              <a:pPr>
                <a:defRPr/>
              </a:pPr>
              <a:t>37</a:t>
            </a:fld>
            <a:endParaRPr lang="en-US" dirty="0"/>
          </a:p>
        </p:txBody>
      </p:sp>
      <p:sp>
        <p:nvSpPr>
          <p:cNvPr id="2058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582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5.19 Formation of a cDNA duplex</a:t>
            </a:r>
            <a:r>
              <a:rPr lang="en-US" sz="1200" b="0" i="0" u="none" strike="noStrike" kern="1200" baseline="0" dirty="0" smtClean="0">
                <a:solidFill>
                  <a:schemeClr val="tx1"/>
                </a:solidFill>
                <a:latin typeface="+mn-lt"/>
                <a:ea typeface="+mn-ea"/>
                <a:cs typeface="+mn-cs"/>
              </a:rPr>
              <a:t>. A complementary DNA (cDNA) duplex is created from mRNA by (1) use of reverse transcriptase to synthesize a cDNA strand, (2)digestion of the original RNA strand, (3) addition of several G bases to the DNA by terminal transferase, and (4) synthesis of a complementary DNA strand using the newly synthesized cDNA strand as a template.</a:t>
            </a:r>
            <a:endParaRPr lang="en-US" dirty="0" smtClean="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CE8BE6E-55B6-7646-8D0A-4187F5B32366}" type="slidenum">
              <a:rPr lang="en-US"/>
              <a:pPr>
                <a:defRPr/>
              </a:pPr>
              <a:t>39</a:t>
            </a:fld>
            <a:endParaRPr lang="en-US" dirty="0"/>
          </a:p>
        </p:txBody>
      </p:sp>
      <p:sp>
        <p:nvSpPr>
          <p:cNvPr id="206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6851" name="Rectangle 3"/>
          <p:cNvSpPr>
            <a:spLocks noGrp="1" noChangeArrowheads="1"/>
          </p:cNvSpPr>
          <p:nvPr>
            <p:ph type="body" idx="1"/>
          </p:nvPr>
        </p:nvSpPr>
        <p:spPr/>
        <p:txBody>
          <a:bodyPr/>
          <a:lstStyle/>
          <a:p>
            <a:pPr>
              <a:defRPr/>
            </a:pPr>
            <a:r>
              <a:rPr lang="en-US" b="1" dirty="0" smtClean="0"/>
              <a:t>FIGURE 5.20 Screening of cDNA</a:t>
            </a:r>
            <a:r>
              <a:rPr lang="en-US" b="1" baseline="0" dirty="0" smtClean="0"/>
              <a:t> </a:t>
            </a:r>
            <a:r>
              <a:rPr lang="en-US" b="1" dirty="0" smtClean="0"/>
              <a:t>clones. </a:t>
            </a:r>
            <a:r>
              <a:rPr lang="en-US" dirty="0" smtClean="0"/>
              <a:t>A method of screening for cDNA</a:t>
            </a:r>
            <a:r>
              <a:rPr lang="en-US" baseline="0" dirty="0" smtClean="0"/>
              <a:t> </a:t>
            </a:r>
            <a:r>
              <a:rPr lang="en-US" dirty="0" smtClean="0"/>
              <a:t>clones is to identify expressed products</a:t>
            </a:r>
            <a:r>
              <a:rPr lang="en-US" baseline="0" dirty="0" smtClean="0"/>
              <a:t> </a:t>
            </a:r>
            <a:r>
              <a:rPr lang="en-US" dirty="0" smtClean="0"/>
              <a:t>by staining with specific antibody.</a:t>
            </a:r>
            <a:endParaRPr lang="en-US" dirty="0" smtClean="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82E5FE8-057F-7E48-92F4-10271F24AB24}" type="slidenum">
              <a:rPr lang="en-US"/>
              <a:pPr>
                <a:defRPr/>
              </a:pPr>
              <a:t>40</a:t>
            </a:fld>
            <a:endParaRPr lang="en-US" dirty="0"/>
          </a:p>
        </p:txBody>
      </p:sp>
      <p:sp>
        <p:nvSpPr>
          <p:cNvPr id="209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9923" name="Rectangle 3"/>
          <p:cNvSpPr>
            <a:spLocks noGrp="1" noChangeArrowheads="1"/>
          </p:cNvSpPr>
          <p:nvPr>
            <p:ph type="body" idx="1"/>
          </p:nvPr>
        </p:nvSpPr>
        <p:spPr/>
        <p:txBody>
          <a:bodyPr/>
          <a:lstStyle/>
          <a:p>
            <a:pPr>
              <a:defRPr/>
            </a:pPr>
            <a:r>
              <a:rPr lang="en-US" b="1" dirty="0" smtClean="0"/>
              <a:t>FIGURE 5.21 Synthesis of proinsulin by bacteria. </a:t>
            </a:r>
            <a:r>
              <a:rPr lang="en-US" dirty="0" smtClean="0"/>
              <a:t>Proinsulin, a precursor of insulin, can be</a:t>
            </a:r>
            <a:r>
              <a:rPr lang="en-US" baseline="0" dirty="0" smtClean="0"/>
              <a:t> </a:t>
            </a:r>
            <a:r>
              <a:rPr lang="en-US" dirty="0" smtClean="0"/>
              <a:t>synthesized by transformed (genetically altered) clones of </a:t>
            </a:r>
            <a:r>
              <a:rPr lang="en-US" i="1" dirty="0" smtClean="0"/>
              <a:t>E. coli. </a:t>
            </a:r>
            <a:r>
              <a:rPr lang="en-US" dirty="0" smtClean="0"/>
              <a:t>The clones contain the</a:t>
            </a:r>
            <a:r>
              <a:rPr lang="en-US" baseline="0" dirty="0" smtClean="0"/>
              <a:t> </a:t>
            </a:r>
            <a:r>
              <a:rPr lang="en-US" dirty="0" smtClean="0"/>
              <a:t>mammalian proinsulin gene.</a:t>
            </a:r>
            <a:endParaRPr lang="en-US" dirty="0" smtClean="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DCCB52B-4FB8-3A4C-BF72-309215196219}" type="slidenum">
              <a:rPr lang="en-US"/>
              <a:pPr>
                <a:defRPr/>
              </a:pPr>
              <a:t>43</a:t>
            </a:fld>
            <a:endParaRPr lang="en-US" dirty="0"/>
          </a:p>
        </p:txBody>
      </p:sp>
      <p:sp>
        <p:nvSpPr>
          <p:cNvPr id="2129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2995" name="Rectangle 3"/>
          <p:cNvSpPr>
            <a:spLocks noGrp="1" noChangeArrowheads="1"/>
          </p:cNvSpPr>
          <p:nvPr>
            <p:ph type="body" idx="1"/>
          </p:nvPr>
        </p:nvSpPr>
        <p:spPr/>
        <p:txBody>
          <a:bodyPr/>
          <a:lstStyle/>
          <a:p>
            <a:pPr>
              <a:defRPr/>
            </a:pPr>
            <a:r>
              <a:rPr lang="en-US" b="1" dirty="0" smtClean="0"/>
              <a:t>FIGURE 5.22 Oligonucleotide-directed mutagenesis. </a:t>
            </a:r>
            <a:r>
              <a:rPr lang="en-US" dirty="0" smtClean="0"/>
              <a:t>A primer containing a mismatched</a:t>
            </a:r>
          </a:p>
          <a:p>
            <a:pPr>
              <a:defRPr/>
            </a:pPr>
            <a:r>
              <a:rPr lang="en-US" dirty="0" smtClean="0"/>
              <a:t>nucleotide is used to produce a desired change in the DNA sequence.</a:t>
            </a:r>
            <a:endParaRPr lang="en-US" dirty="0" smtClean="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2C5BCEA-C049-8241-9952-B88D519ABDF5}" type="slidenum">
              <a:rPr lang="en-US"/>
              <a:pPr>
                <a:defRPr/>
              </a:pPr>
              <a:t>44</a:t>
            </a:fld>
            <a:endParaRPr lang="en-US" dirty="0"/>
          </a:p>
        </p:txBody>
      </p:sp>
      <p:sp>
        <p:nvSpPr>
          <p:cNvPr id="2140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4019" name="Rectangle 3"/>
          <p:cNvSpPr>
            <a:spLocks noGrp="1" noChangeArrowheads="1"/>
          </p:cNvSpPr>
          <p:nvPr>
            <p:ph type="body" idx="1"/>
          </p:nvPr>
        </p:nvSpPr>
        <p:spPr/>
        <p:txBody>
          <a:bodyPr/>
          <a:lstStyle/>
          <a:p>
            <a:pPr>
              <a:defRPr/>
            </a:pPr>
            <a:r>
              <a:rPr lang="en-US" b="1" dirty="0" smtClean="0"/>
              <a:t>FIGURE 5.23 Cassette mutagenesis. </a:t>
            </a:r>
            <a:r>
              <a:rPr lang="en-US" dirty="0" smtClean="0"/>
              <a:t>DNA is</a:t>
            </a:r>
            <a:r>
              <a:rPr lang="en-US" baseline="0" dirty="0" smtClean="0"/>
              <a:t> </a:t>
            </a:r>
            <a:r>
              <a:rPr lang="en-US" dirty="0" smtClean="0"/>
              <a:t>cleaved at a pair of unique restriction sites by</a:t>
            </a:r>
            <a:r>
              <a:rPr lang="en-US" baseline="0" dirty="0" smtClean="0"/>
              <a:t> </a:t>
            </a:r>
            <a:r>
              <a:rPr lang="en-US" dirty="0" smtClean="0"/>
              <a:t>two different restriction endonucleases. A</a:t>
            </a:r>
            <a:r>
              <a:rPr lang="en-US" baseline="0" dirty="0" smtClean="0"/>
              <a:t> </a:t>
            </a:r>
            <a:r>
              <a:rPr lang="en-US" dirty="0" smtClean="0"/>
              <a:t>synthetic oligonucleotide with ends that are</a:t>
            </a:r>
            <a:r>
              <a:rPr lang="en-US" baseline="0" dirty="0" smtClean="0"/>
              <a:t> </a:t>
            </a:r>
            <a:r>
              <a:rPr lang="en-US" dirty="0" smtClean="0"/>
              <a:t>complementary to these sites (the cassette) is</a:t>
            </a:r>
            <a:r>
              <a:rPr lang="en-US" baseline="0" dirty="0" smtClean="0"/>
              <a:t> </a:t>
            </a:r>
            <a:r>
              <a:rPr lang="en-US" dirty="0" smtClean="0"/>
              <a:t>then ligated to the cleaved DNA. The method</a:t>
            </a:r>
            <a:r>
              <a:rPr lang="en-US" baseline="0" dirty="0" smtClean="0"/>
              <a:t> </a:t>
            </a:r>
            <a:r>
              <a:rPr lang="en-US" dirty="0" smtClean="0"/>
              <a:t>is highly versatile because the inserted DNA</a:t>
            </a:r>
            <a:r>
              <a:rPr lang="en-US" baseline="0" dirty="0" smtClean="0"/>
              <a:t> </a:t>
            </a:r>
            <a:r>
              <a:rPr lang="en-US" dirty="0" smtClean="0"/>
              <a:t>can have any desired sequence.</a:t>
            </a:r>
            <a:endParaRPr lang="en-US" dirty="0" smtClean="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5.24 Deletion mutagenesis by inverse PCR. </a:t>
            </a:r>
            <a:r>
              <a:rPr lang="en-US" sz="1200" b="0" i="0" u="none" strike="noStrike" kern="1200" baseline="0" dirty="0" smtClean="0">
                <a:solidFill>
                  <a:schemeClr val="tx1"/>
                </a:solidFill>
                <a:latin typeface="+mn-lt"/>
                <a:ea typeface="+mn-ea"/>
                <a:cs typeface="+mn-cs"/>
              </a:rPr>
              <a:t>A deletion can be introduced into a plasmid with primers that flank this region but are oriented away from the segment to be removed. PCR amplification yields a linear product that contains the entire plasmid minus the unwanted sequence. If the primers contained a 5' phosphate group, this product can be recircularized using DNA ligase, generating a plasmid with the desired mutation.</a:t>
            </a:r>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45</a:t>
            </a:fld>
            <a:endParaRPr lang="en-US" dirty="0"/>
          </a:p>
        </p:txBody>
      </p:sp>
    </p:spTree>
    <p:extLst>
      <p:ext uri="{BB962C8B-B14F-4D97-AF65-F5344CB8AC3E}">
        <p14:creationId xmlns:p14="http://schemas.microsoft.com/office/powerpoint/2010/main" val="860525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a:t>
            </a:r>
            <a:r>
              <a:rPr lang="en-US" b="1" baseline="0" dirty="0" smtClean="0"/>
              <a:t> </a:t>
            </a:r>
            <a:r>
              <a:rPr lang="en-US" b="1" dirty="0" smtClean="0"/>
              <a:t>5.25 A complete genome. </a:t>
            </a:r>
            <a:r>
              <a:rPr lang="en-US" dirty="0" smtClean="0"/>
              <a:t>The</a:t>
            </a:r>
            <a:r>
              <a:rPr lang="en-US" baseline="0" dirty="0" smtClean="0"/>
              <a:t> </a:t>
            </a:r>
            <a:r>
              <a:rPr lang="en-US" dirty="0" smtClean="0"/>
              <a:t>diagram depicts the genome of </a:t>
            </a:r>
            <a:r>
              <a:rPr lang="en-US" i="1" dirty="0" err="1" smtClean="0"/>
              <a:t>Haemophilus</a:t>
            </a:r>
            <a:r>
              <a:rPr lang="en-US" i="1" baseline="0" dirty="0" smtClean="0"/>
              <a:t> </a:t>
            </a:r>
            <a:r>
              <a:rPr lang="en-US" i="1" dirty="0" err="1" smtClean="0"/>
              <a:t>influenzae</a:t>
            </a:r>
            <a:r>
              <a:rPr lang="en-US" i="1" dirty="0" smtClean="0"/>
              <a:t>, </a:t>
            </a:r>
            <a:r>
              <a:rPr lang="en-US" dirty="0" smtClean="0"/>
              <a:t>the first complete genome of </a:t>
            </a:r>
            <a:r>
              <a:rPr lang="en-US" dirty="0" smtClean="0"/>
              <a:t>a</a:t>
            </a:r>
            <a:r>
              <a:rPr lang="en-US" baseline="0" dirty="0" smtClean="0"/>
              <a:t> </a:t>
            </a:r>
            <a:r>
              <a:rPr lang="en-US" dirty="0" smtClean="0"/>
              <a:t>free-living </a:t>
            </a:r>
            <a:r>
              <a:rPr lang="en-US" dirty="0" smtClean="0"/>
              <a:t>organism to be sequenced. The</a:t>
            </a:r>
            <a:r>
              <a:rPr lang="en-US" baseline="0" dirty="0" smtClean="0"/>
              <a:t> </a:t>
            </a:r>
            <a:r>
              <a:rPr lang="en-US" dirty="0" smtClean="0"/>
              <a:t>genome encodes more than 1700 proteins</a:t>
            </a:r>
            <a:r>
              <a:rPr lang="en-US" baseline="0" dirty="0" smtClean="0"/>
              <a:t> </a:t>
            </a:r>
            <a:r>
              <a:rPr lang="en-US" dirty="0" smtClean="0"/>
              <a:t>and 70 RNA molecules. The likely function of</a:t>
            </a:r>
            <a:r>
              <a:rPr lang="en-US" baseline="0" dirty="0" smtClean="0"/>
              <a:t> </a:t>
            </a:r>
            <a:r>
              <a:rPr lang="en-US" dirty="0" smtClean="0"/>
              <a:t>approximately one-half of the proteins was</a:t>
            </a:r>
            <a:r>
              <a:rPr lang="en-US" baseline="0" dirty="0" smtClean="0"/>
              <a:t> </a:t>
            </a:r>
            <a:r>
              <a:rPr lang="en-US" dirty="0" smtClean="0"/>
              <a:t>determined by comparisons with sequences</a:t>
            </a:r>
            <a:r>
              <a:rPr lang="en-US" baseline="0" dirty="0" smtClean="0"/>
              <a:t> </a:t>
            </a:r>
            <a:r>
              <a:rPr lang="en-US" dirty="0" smtClean="0"/>
              <a:t>of proteins already characterized in other</a:t>
            </a:r>
            <a:r>
              <a:rPr lang="en-US" baseline="0" dirty="0" smtClean="0"/>
              <a:t> </a:t>
            </a:r>
            <a:r>
              <a:rPr lang="en-US" dirty="0" smtClean="0"/>
              <a:t>species. [Data</a:t>
            </a:r>
            <a:r>
              <a:rPr lang="en-US" baseline="0" dirty="0" smtClean="0"/>
              <a:t> f</a:t>
            </a:r>
            <a:r>
              <a:rPr lang="en-US" dirty="0" smtClean="0"/>
              <a:t>rom R. D. Fleischmann et al</a:t>
            </a:r>
            <a:r>
              <a:rPr lang="en-US" dirty="0" smtClean="0"/>
              <a:t>., </a:t>
            </a:r>
            <a:r>
              <a:rPr lang="en-US" i="1" dirty="0" smtClean="0"/>
              <a:t>Science </a:t>
            </a:r>
            <a:r>
              <a:rPr lang="en-US" dirty="0" smtClean="0"/>
              <a:t>269:496–512, 1995; scan courtesy</a:t>
            </a:r>
            <a:r>
              <a:rPr lang="en-US" baseline="0" dirty="0" smtClean="0"/>
              <a:t> </a:t>
            </a:r>
            <a:r>
              <a:rPr lang="en-US" dirty="0" smtClean="0"/>
              <a:t>of The Institute for Genomic Research.]</a:t>
            </a:r>
          </a:p>
          <a:p>
            <a:pPr>
              <a:defRPr/>
            </a:pPr>
            <a:endParaRPr lang="en-US" dirty="0"/>
          </a:p>
        </p:txBody>
      </p:sp>
      <p:sp>
        <p:nvSpPr>
          <p:cNvPr id="4" name="Slide Number Placeholder 3"/>
          <p:cNvSpPr>
            <a:spLocks noGrp="1"/>
          </p:cNvSpPr>
          <p:nvPr>
            <p:ph type="sldNum" sz="quarter" idx="5"/>
          </p:nvPr>
        </p:nvSpPr>
        <p:spPr/>
        <p:txBody>
          <a:bodyPr/>
          <a:lstStyle/>
          <a:p>
            <a:pPr>
              <a:defRPr/>
            </a:pPr>
            <a:fld id="{AE2D264E-BF2D-B748-B963-07B12923E9DE}" type="slidenum">
              <a:rPr lang="en-US" smtClean="0"/>
              <a:pPr>
                <a:defRPr/>
              </a:pPr>
              <a:t>47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F0331E1-CA16-2A4D-BCDE-C804057FB334}" type="slidenum">
              <a:rPr lang="en-US"/>
              <a:pPr>
                <a:defRPr/>
              </a:pPr>
              <a:t>48</a:t>
            </a:fld>
            <a:endParaRPr lang="en-US" dirty="0"/>
          </a:p>
        </p:txBody>
      </p:sp>
      <p:sp>
        <p:nvSpPr>
          <p:cNvPr id="2160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6067" name="Rectangle 3"/>
          <p:cNvSpPr>
            <a:spLocks noGrp="1" noChangeArrowheads="1"/>
          </p:cNvSpPr>
          <p:nvPr>
            <p:ph type="body" idx="1"/>
          </p:nvPr>
        </p:nvSpPr>
        <p:spPr/>
        <p:txBody>
          <a:bodyPr/>
          <a:lstStyle/>
          <a:p>
            <a:pPr>
              <a:defRPr/>
            </a:pPr>
            <a:r>
              <a:rPr lang="en-US" b="1" dirty="0" smtClean="0"/>
              <a:t>FIGURE 5.26 The human genome. </a:t>
            </a:r>
            <a:r>
              <a:rPr lang="en-US" dirty="0" smtClean="0"/>
              <a:t>The human genome is arrayed on 46</a:t>
            </a:r>
            <a:r>
              <a:rPr lang="en-US" baseline="0" dirty="0" smtClean="0"/>
              <a:t> </a:t>
            </a:r>
            <a:r>
              <a:rPr lang="en-US" dirty="0" smtClean="0"/>
              <a:t>chromosomes—22 pairs of autosomes and the X and Y sex chromosomes. </a:t>
            </a:r>
            <a:r>
              <a:rPr lang="en-US" dirty="0" smtClean="0"/>
              <a:t>The</a:t>
            </a:r>
            <a:r>
              <a:rPr lang="en-US" baseline="0" dirty="0" smtClean="0"/>
              <a:t> </a:t>
            </a:r>
            <a:r>
              <a:rPr lang="en-US" dirty="0" smtClean="0"/>
              <a:t>locations </a:t>
            </a:r>
            <a:r>
              <a:rPr lang="en-US" dirty="0" smtClean="0"/>
              <a:t>of several genes associated with important pathways in biochemistry are</a:t>
            </a:r>
            <a:r>
              <a:rPr lang="en-US" baseline="0" dirty="0" smtClean="0"/>
              <a:t> </a:t>
            </a:r>
            <a:r>
              <a:rPr lang="en-US" dirty="0" smtClean="0"/>
              <a:t>highlighted.</a:t>
            </a:r>
            <a:endParaRPr lang="en-US" dirty="0" smtClean="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kern="1200" baseline="0" dirty="0" smtClean="0">
                <a:solidFill>
                  <a:schemeClr val="tx1"/>
                </a:solidFill>
                <a:latin typeface="+mn-lt"/>
                <a:ea typeface="+mn-ea"/>
                <a:cs typeface="+mn-cs"/>
              </a:rPr>
              <a:t>FIGURE 5.27 Detection methods in next-generation sequencing. </a:t>
            </a:r>
            <a:r>
              <a:rPr lang="en-US" sz="1200" b="0" i="0" u="none" strike="noStrike" kern="1200" baseline="0" dirty="0" smtClean="0">
                <a:solidFill>
                  <a:schemeClr val="tx1"/>
                </a:solidFill>
                <a:latin typeface="+mn-lt"/>
                <a:ea typeface="+mn-ea"/>
                <a:cs typeface="+mn-cs"/>
              </a:rPr>
              <a:t>Measurement of base incorporation in next-generation sequencing methods relies on the detection of the various products of the DNA polymerase reaction. Reversible terminator sequencing measures the nucleotide incorporation in a manner similar to Sanger sequencing, while pyrosequencing and ion semiconductor sequencing detect the release of pyrophosphate and protons, respectively.</a:t>
            </a:r>
            <a:endParaRPr lang="en-US" dirty="0" smtClean="0"/>
          </a:p>
          <a:p>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50</a:t>
            </a:fld>
            <a:endParaRPr lang="en-US" dirty="0"/>
          </a:p>
        </p:txBody>
      </p:sp>
    </p:spTree>
    <p:extLst>
      <p:ext uri="{BB962C8B-B14F-4D97-AF65-F5344CB8AC3E}">
        <p14:creationId xmlns:p14="http://schemas.microsoft.com/office/powerpoint/2010/main" val="3416226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E134F51-B1B3-2745-B75A-A448EAF65B25}" type="slidenum">
              <a:rPr lang="en-US"/>
              <a:pPr>
                <a:defRPr/>
              </a:pPr>
              <a:t>51</a:t>
            </a:fld>
            <a:endParaRPr lang="en-US" dirty="0"/>
          </a:p>
        </p:txBody>
      </p:sp>
      <p:sp>
        <p:nvSpPr>
          <p:cNvPr id="2150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5043"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5.28 Genome comparison</a:t>
            </a:r>
            <a:r>
              <a:rPr lang="en-US" sz="1200" b="0" i="0" u="none" strike="noStrike" kern="1200" baseline="0" dirty="0" smtClean="0">
                <a:solidFill>
                  <a:schemeClr val="tx1"/>
                </a:solidFill>
                <a:latin typeface="+mn-lt"/>
                <a:ea typeface="+mn-ea"/>
                <a:cs typeface="+mn-cs"/>
              </a:rPr>
              <a:t>. A schematic comparison of the human genome and the mouse genome shows reassortment of large chromosomal fragments. The small numbers to the right of the mouse chromosomes indicate the human chromosome to which each region is most closely related.</a:t>
            </a:r>
            <a:endParaRPr lang="en-US" dirty="0" smtClean="0"/>
          </a:p>
          <a:p>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52</a:t>
            </a:fld>
            <a:endParaRPr lang="en-US" dirty="0"/>
          </a:p>
        </p:txBody>
      </p:sp>
    </p:spTree>
    <p:extLst>
      <p:ext uri="{BB962C8B-B14F-4D97-AF65-F5344CB8AC3E}">
        <p14:creationId xmlns:p14="http://schemas.microsoft.com/office/powerpoint/2010/main" val="1653869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8DC1377-175A-D04A-BB69-A57F90CE77B0}" type="slidenum">
              <a:rPr lang="en-US"/>
              <a:pPr>
                <a:defRPr/>
              </a:pPr>
              <a:t>53</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847EAE9-B7BA-224D-9F1F-458E0E248EAF}" type="slidenum">
              <a:rPr lang="en-US"/>
              <a:pPr>
                <a:defRPr/>
              </a:pPr>
              <a:t>54</a:t>
            </a:fld>
            <a:endParaRPr lang="en-US" dirty="0"/>
          </a:p>
        </p:txBody>
      </p:sp>
      <p:sp>
        <p:nvSpPr>
          <p:cNvPr id="2191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9139" name="Rectangle 3"/>
          <p:cNvSpPr>
            <a:spLocks noGrp="1" noChangeArrowheads="1"/>
          </p:cNvSpPr>
          <p:nvPr>
            <p:ph type="body" idx="1"/>
          </p:nvPr>
        </p:nvSpPr>
        <p:spPr/>
        <p:txBody>
          <a:bodyPr/>
          <a:lstStyle/>
          <a:p>
            <a:pPr>
              <a:defRPr/>
            </a:pPr>
            <a:r>
              <a:rPr lang="en-US" b="1" dirty="0" smtClean="0"/>
              <a:t>FIGURE 5.29 Quantitative PCR. </a:t>
            </a:r>
            <a:r>
              <a:rPr lang="en-US" dirty="0" smtClean="0"/>
              <a:t>(A) In qPCR,</a:t>
            </a:r>
            <a:r>
              <a:rPr lang="en-US" baseline="0" dirty="0" smtClean="0"/>
              <a:t> </a:t>
            </a:r>
            <a:r>
              <a:rPr lang="en-US" dirty="0" smtClean="0"/>
              <a:t>fluorescence is monitored in the course of</a:t>
            </a:r>
            <a:r>
              <a:rPr lang="en-US" baseline="0" dirty="0" smtClean="0"/>
              <a:t> </a:t>
            </a:r>
            <a:r>
              <a:rPr lang="en-US" dirty="0" smtClean="0"/>
              <a:t>PCR amplification to determine C</a:t>
            </a:r>
            <a:r>
              <a:rPr lang="en-US" baseline="-25000" dirty="0" smtClean="0"/>
              <a:t>T</a:t>
            </a:r>
            <a:r>
              <a:rPr lang="en-US" dirty="0" smtClean="0"/>
              <a:t>, the cycle</a:t>
            </a:r>
            <a:r>
              <a:rPr lang="en-US" baseline="0" dirty="0" smtClean="0"/>
              <a:t> </a:t>
            </a:r>
            <a:r>
              <a:rPr lang="en-US" dirty="0" smtClean="0"/>
              <a:t>at which this signal exceeds a defined</a:t>
            </a:r>
            <a:r>
              <a:rPr lang="en-US" baseline="0" dirty="0" smtClean="0"/>
              <a:t> </a:t>
            </a:r>
            <a:r>
              <a:rPr lang="en-US" dirty="0" smtClean="0"/>
              <a:t>threshold. Each color represents a different</a:t>
            </a:r>
            <a:r>
              <a:rPr lang="en-US" baseline="0" dirty="0" smtClean="0"/>
              <a:t> </a:t>
            </a:r>
            <a:r>
              <a:rPr lang="en-US" dirty="0" smtClean="0"/>
              <a:t>starting quantity of DNA. (B) C</a:t>
            </a:r>
            <a:r>
              <a:rPr lang="en-US" baseline="-25000" dirty="0" smtClean="0"/>
              <a:t>T</a:t>
            </a:r>
            <a:r>
              <a:rPr lang="en-US" dirty="0" smtClean="0"/>
              <a:t> values are</a:t>
            </a:r>
            <a:r>
              <a:rPr lang="en-US" baseline="0" dirty="0" smtClean="0"/>
              <a:t> </a:t>
            </a:r>
            <a:r>
              <a:rPr lang="en-US" dirty="0" smtClean="0"/>
              <a:t>inversely proportional to the number of copies</a:t>
            </a:r>
            <a:r>
              <a:rPr lang="en-US" baseline="0" dirty="0" smtClean="0"/>
              <a:t> </a:t>
            </a:r>
            <a:r>
              <a:rPr lang="en-US" dirty="0" smtClean="0"/>
              <a:t>of the original cDNA template. [Data</a:t>
            </a:r>
            <a:r>
              <a:rPr lang="en-US" baseline="0" dirty="0" smtClean="0"/>
              <a:t> from</a:t>
            </a:r>
            <a:r>
              <a:rPr lang="en-US" dirty="0" smtClean="0"/>
              <a:t> N. J.</a:t>
            </a:r>
            <a:r>
              <a:rPr lang="en-US" baseline="0" dirty="0" smtClean="0"/>
              <a:t> </a:t>
            </a:r>
            <a:r>
              <a:rPr lang="da-DK" dirty="0" smtClean="0"/>
              <a:t>Walker, </a:t>
            </a:r>
            <a:r>
              <a:rPr lang="da-DK" i="1" dirty="0" smtClean="0"/>
              <a:t>Science </a:t>
            </a:r>
            <a:r>
              <a:rPr lang="da-DK" dirty="0" smtClean="0"/>
              <a:t>296:557–559, 2002.]</a:t>
            </a:r>
            <a:endParaRPr lang="en-US" dirty="0" smtClean="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5.30 Using DNA microarrays to measure gene expression changes in a tumor. </a:t>
            </a:r>
            <a:r>
              <a:rPr lang="en-US" sz="1200" b="0" i="0" u="none" strike="noStrike" kern="1200" baseline="0" dirty="0" smtClean="0">
                <a:solidFill>
                  <a:schemeClr val="tx1"/>
                </a:solidFill>
                <a:latin typeface="+mn-lt"/>
                <a:ea typeface="+mn-ea"/>
                <a:cs typeface="+mn-cs"/>
              </a:rPr>
              <a:t>mRNA is isolated from two samples, tumor cells and a control sample. From these transcripts, cDNA is prepared in the presence of a fluorescent nucleotide, with a red label for the tumor sample and a green</a:t>
            </a:r>
          </a:p>
          <a:p>
            <a:r>
              <a:rPr lang="en-US" sz="1200" b="0" i="0" u="none" strike="noStrike" kern="1200" baseline="0" dirty="0" smtClean="0">
                <a:solidFill>
                  <a:schemeClr val="tx1"/>
                </a:solidFill>
                <a:latin typeface="+mn-lt"/>
                <a:ea typeface="+mn-ea"/>
                <a:cs typeface="+mn-cs"/>
              </a:rPr>
              <a:t>label for the control sample. The cDNA strands are separated, hybridized to the microarray, and the unbound DNA is washed away. Spots that are red indicate genes which are expressed more highly in the tumor, while the green spots indicate reduced expression relative to control. Spots that are black or yellow indicate comparable expression at either low or high levels, respectively. [Information from D. L. Nelson and M. M. Cox, Lehninger Principles of Biochemistry 6th ed. (W. H. Freeman and Company, 2013)]</a:t>
            </a:r>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55</a:t>
            </a:fld>
            <a:endParaRPr lang="en-US" dirty="0"/>
          </a:p>
        </p:txBody>
      </p:sp>
    </p:spTree>
    <p:extLst>
      <p:ext uri="{BB962C8B-B14F-4D97-AF65-F5344CB8AC3E}">
        <p14:creationId xmlns:p14="http://schemas.microsoft.com/office/powerpoint/2010/main" val="26913148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34E8D6-7C82-014A-B5A1-36F51F812A0C}" type="slidenum">
              <a:rPr lang="en-US"/>
              <a:pPr>
                <a:defRPr/>
              </a:pPr>
              <a:t>56</a:t>
            </a:fld>
            <a:endParaRPr lang="en-US" dirty="0"/>
          </a:p>
        </p:txBody>
      </p:sp>
      <p:sp>
        <p:nvSpPr>
          <p:cNvPr id="2201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016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5.31 Gene-expression analysis with the use of microarrays. </a:t>
            </a:r>
            <a:r>
              <a:rPr lang="en-US" sz="1200" b="0" i="0" u="none" strike="noStrike" kern="1200" baseline="0" dirty="0" smtClean="0">
                <a:solidFill>
                  <a:schemeClr val="tx1"/>
                </a:solidFill>
                <a:latin typeface="+mn-lt"/>
                <a:ea typeface="+mn-ea"/>
                <a:cs typeface="+mn-cs"/>
              </a:rPr>
              <a:t>The expression levels of thousands of genes can be simultaneously analyzed with DNA microarrays. Here, an analysis of 1733 genes in 84 breast tumor samples reveals that the tumors can be divided into distinct classes based on their gene-expression patterns. In this “heat map” representation, each row represents a different gene and each column represents a different breast tumor sample (i.e., a separate microarray experiment). Red corresponds to gene induction and green corresponds to gene repression. [Data from C. M. </a:t>
            </a:r>
            <a:r>
              <a:rPr lang="en-US" sz="1200" b="0" i="0" u="none" strike="noStrike" kern="1200" baseline="0" dirty="0" err="1" smtClean="0">
                <a:solidFill>
                  <a:schemeClr val="tx1"/>
                </a:solidFill>
                <a:latin typeface="+mn-lt"/>
                <a:ea typeface="+mn-ea"/>
                <a:cs typeface="+mn-cs"/>
              </a:rPr>
              <a:t>Perou</a:t>
            </a:r>
            <a:r>
              <a:rPr lang="en-US" sz="1200" b="0" i="0" u="none" strike="noStrike" kern="1200" baseline="0" dirty="0" smtClean="0">
                <a:solidFill>
                  <a:schemeClr val="tx1"/>
                </a:solidFill>
                <a:latin typeface="+mn-lt"/>
                <a:ea typeface="+mn-ea"/>
                <a:cs typeface="+mn-cs"/>
              </a:rPr>
              <a:t> et al., </a:t>
            </a:r>
            <a:r>
              <a:rPr lang="en-US" sz="1200" b="0" i="1" u="none" strike="noStrike" kern="1200" baseline="0" dirty="0" smtClean="0">
                <a:solidFill>
                  <a:schemeClr val="tx1"/>
                </a:solidFill>
                <a:latin typeface="+mn-lt"/>
                <a:ea typeface="+mn-ea"/>
                <a:cs typeface="+mn-cs"/>
              </a:rPr>
              <a:t>Nature</a:t>
            </a:r>
            <a:r>
              <a:rPr lang="en-US" sz="1200" b="0" i="0" u="none" strike="noStrike" kern="1200" baseline="0" dirty="0" smtClean="0">
                <a:solidFill>
                  <a:schemeClr val="tx1"/>
                </a:solidFill>
                <a:latin typeface="+mn-lt"/>
                <a:ea typeface="+mn-ea"/>
                <a:cs typeface="+mn-cs"/>
              </a:rPr>
              <a:t> 406:747–752, 2000.]</a:t>
            </a:r>
            <a:endParaRPr lang="en-US" dirty="0" smtClean="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505A5F3-5270-584B-A011-723B11932D4E}" type="slidenum">
              <a:rPr lang="en-US"/>
              <a:pPr>
                <a:defRPr/>
              </a:pPr>
              <a:t>57</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F682E90-AD0F-5C4E-9C61-6A38B4476CA9}" type="slidenum">
              <a:rPr lang="en-US"/>
              <a:pPr>
                <a:defRPr/>
              </a:pPr>
              <a:t>58</a:t>
            </a:fld>
            <a:endParaRPr lang="en-US" dirty="0"/>
          </a:p>
        </p:txBody>
      </p:sp>
      <p:sp>
        <p:nvSpPr>
          <p:cNvPr id="222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2211" name="Rectangle 3"/>
          <p:cNvSpPr>
            <a:spLocks noGrp="1" noChangeArrowheads="1"/>
          </p:cNvSpPr>
          <p:nvPr>
            <p:ph type="body" idx="1"/>
          </p:nvPr>
        </p:nvSpPr>
        <p:spPr/>
        <p:txBody>
          <a:bodyPr/>
          <a:lstStyle/>
          <a:p>
            <a:pPr>
              <a:defRPr/>
            </a:pPr>
            <a:r>
              <a:rPr lang="en-US" b="1" dirty="0" smtClean="0"/>
              <a:t>FIGURE 5.32 Microinjection of DNA. </a:t>
            </a:r>
            <a:r>
              <a:rPr lang="en-US" dirty="0" smtClean="0"/>
              <a:t>Cloned plasmid DNA is</a:t>
            </a:r>
            <a:r>
              <a:rPr lang="en-US" baseline="0" dirty="0" smtClean="0"/>
              <a:t> </a:t>
            </a:r>
            <a:r>
              <a:rPr lang="en-US" dirty="0" smtClean="0"/>
              <a:t>being microinjected into the male pronucleus of a fertilized</a:t>
            </a:r>
            <a:r>
              <a:rPr lang="en-US" baseline="0" dirty="0" smtClean="0"/>
              <a:t> </a:t>
            </a:r>
            <a:r>
              <a:rPr lang="en-US" dirty="0" smtClean="0"/>
              <a:t>mouse egg.</a:t>
            </a:r>
            <a:endParaRPr lang="en-US" dirty="0" smtClean="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0708344-B3FF-0443-8D6B-1BABDC0583E2}" type="slidenum">
              <a:rPr lang="en-US"/>
              <a:pPr>
                <a:defRPr/>
              </a:pPr>
              <a:t>59</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6D2BC83-F332-594C-8EF1-D69BBEF64786}" type="slidenum">
              <a:rPr lang="en-US"/>
              <a:pPr>
                <a:defRPr/>
              </a:pPr>
              <a:t>60</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EAF97AE-6670-454D-AA58-343947901C99}" type="slidenum">
              <a:rPr lang="en-US"/>
              <a:pPr>
                <a:defRPr/>
              </a:pPr>
              <a:t>61</a:t>
            </a:fld>
            <a:endParaRPr lang="en-US" dirty="0"/>
          </a:p>
        </p:txBody>
      </p:sp>
      <p:sp>
        <p:nvSpPr>
          <p:cNvPr id="2242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425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5.33 Gene disruption by homologous recombination</a:t>
            </a:r>
            <a:r>
              <a:rPr lang="en-US" sz="1200" b="0" i="0" u="none" strike="noStrike" kern="1200" baseline="0" dirty="0" smtClean="0">
                <a:solidFill>
                  <a:schemeClr val="tx1"/>
                </a:solidFill>
                <a:latin typeface="+mn-lt"/>
                <a:ea typeface="+mn-ea"/>
                <a:cs typeface="+mn-cs"/>
              </a:rPr>
              <a:t>. (A) A mutated version of the gene to be disrupted is constructed, maintaining some regions of homology with the normal gene (red). When the foreign mutated gene is introduced into an embryonic stem cell, (B) recombination takes place at regions of homology and (C) the normal (targeted) gene is replaced, or “knocked out,” by the foreign gene. The cell is inserted into embryos, and mice lacking the gene (knockout mice) are produced.</a:t>
            </a:r>
            <a:endParaRPr lang="en-US" dirty="0" smtClean="0">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D4229BA-94B2-FA49-9B17-964D3FE789CC}" type="slidenum">
              <a:rPr lang="en-US"/>
              <a:pPr>
                <a:defRPr/>
              </a:pPr>
              <a:t>62</a:t>
            </a:fld>
            <a:endParaRPr lang="en-US" dirty="0"/>
          </a:p>
        </p:txBody>
      </p:sp>
      <p:sp>
        <p:nvSpPr>
          <p:cNvPr id="2252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5283"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5.34 Consequences of gene disruption. </a:t>
            </a:r>
            <a:r>
              <a:rPr lang="en-US" sz="1200" b="0" i="0" u="none" strike="noStrike" kern="1200" baseline="0" dirty="0" smtClean="0">
                <a:solidFill>
                  <a:schemeClr val="tx1"/>
                </a:solidFill>
                <a:latin typeface="+mn-lt"/>
                <a:ea typeface="+mn-ea"/>
                <a:cs typeface="+mn-cs"/>
              </a:rPr>
              <a:t>Sections of muscle from normal (A) and myogenin-knockout (B) mice, as viewed under the light microscope. The unlabeled arrows in both panels identify comparable sections of the pelvic bone, indicating that similar anatomical regions are depicted. Muscles do not develop properly in mice having both myogenin genes disrupted. A poorly formed muscle fiber in the knockout strain is indicated by the M arrow. (C) The development of mature skeletal muscle from progenitor cells is a highly regulated process involving a number of intermediate cell types and multiple transcription factors. Through the gene-disruption studies in (A) and (B), myogenin was identified as an essential component of this pathway. [(A) and (B) From P. Hasty, et al., </a:t>
            </a:r>
            <a:r>
              <a:rPr lang="en-US" sz="1200" b="0" i="1" u="none" strike="noStrike" kern="1200" baseline="0" dirty="0" smtClean="0">
                <a:solidFill>
                  <a:schemeClr val="tx1"/>
                </a:solidFill>
                <a:latin typeface="+mn-lt"/>
                <a:ea typeface="+mn-ea"/>
                <a:cs typeface="+mn-cs"/>
              </a:rPr>
              <a:t>Nature</a:t>
            </a:r>
            <a:r>
              <a:rPr lang="en-US" sz="1200" b="0" i="0" u="none" strike="noStrike" kern="1200" baseline="0" dirty="0" smtClean="0">
                <a:solidFill>
                  <a:schemeClr val="tx1"/>
                </a:solidFill>
                <a:latin typeface="+mn-lt"/>
                <a:ea typeface="+mn-ea"/>
                <a:cs typeface="+mn-cs"/>
              </a:rPr>
              <a:t> 364:501–506, 1993; (C) Information from S. Hettmer and A. J. Wagers, </a:t>
            </a:r>
            <a:r>
              <a:rPr lang="en-US" sz="1200" b="0" i="1" u="none" strike="noStrike" kern="1200" baseline="0" dirty="0" smtClean="0">
                <a:solidFill>
                  <a:schemeClr val="tx1"/>
                </a:solidFill>
                <a:latin typeface="+mn-lt"/>
                <a:ea typeface="+mn-ea"/>
                <a:cs typeface="+mn-cs"/>
              </a:rPr>
              <a:t>Nat. Med</a:t>
            </a:r>
            <a:r>
              <a:rPr lang="en-US" sz="1200" b="0" i="0" u="none" strike="noStrike" kern="1200" baseline="0" dirty="0" smtClean="0">
                <a:solidFill>
                  <a:schemeClr val="tx1"/>
                </a:solidFill>
                <a:latin typeface="+mn-lt"/>
                <a:ea typeface="+mn-ea"/>
                <a:cs typeface="+mn-cs"/>
              </a:rPr>
              <a:t>. 16:171–173, 2010, Fig. 1]</a:t>
            </a:r>
            <a:endParaRPr lang="en-US" dirty="0" smtClean="0">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5.35 TALE repeats recognize individual bases in DNA. </a:t>
            </a:r>
            <a:r>
              <a:rPr lang="en-US" sz="1200" b="0" i="0" u="none" strike="noStrike" kern="1200" baseline="0" dirty="0" smtClean="0">
                <a:solidFill>
                  <a:schemeClr val="tx1"/>
                </a:solidFill>
                <a:latin typeface="+mn-lt"/>
                <a:ea typeface="+mn-ea"/>
                <a:cs typeface="+mn-cs"/>
              </a:rPr>
              <a:t>Each TALE repeat contains 34 amino acids, two of which specify its nucleotide binding partner. In this figure, the identity of these residues is indicated by the color of the repeat. TALE proteins can be designed to uniquely recognize extended oligonucleotide sequences. In this example, a 22 base-pair sequence is bound by a single TALE protein, the bacterial effector PthXo1. [Drawn from 3UGM.pdb]</a:t>
            </a:r>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63</a:t>
            </a:fld>
            <a:endParaRPr lang="en-US" dirty="0"/>
          </a:p>
        </p:txBody>
      </p:sp>
    </p:spTree>
    <p:extLst>
      <p:ext uri="{BB962C8B-B14F-4D97-AF65-F5344CB8AC3E}">
        <p14:creationId xmlns:p14="http://schemas.microsoft.com/office/powerpoint/2010/main" val="17949501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5.36 Genome editing by site-specific nucleases. </a:t>
            </a:r>
            <a:r>
              <a:rPr lang="en-US" sz="1200" b="0" i="0" u="none" strike="noStrike" kern="1200" baseline="0" dirty="0" smtClean="0">
                <a:solidFill>
                  <a:schemeClr val="tx1"/>
                </a:solidFill>
                <a:latin typeface="+mn-lt"/>
                <a:ea typeface="+mn-ea"/>
                <a:cs typeface="+mn-cs"/>
              </a:rPr>
              <a:t>A pair of ZFNs or TALENs cleave opposite strands of a targeted gene (blue) within the genome. The DNA repair machinery of the cell will use a homologous donor template DNA fragment to fix the double-strand break, incorporating the desired modifications (green) into the targeted gene.</a:t>
            </a:r>
            <a:endParaRPr lang="en-US" dirty="0"/>
          </a:p>
        </p:txBody>
      </p:sp>
      <p:sp>
        <p:nvSpPr>
          <p:cNvPr id="4" name="Slide Number Placeholder 3"/>
          <p:cNvSpPr>
            <a:spLocks noGrp="1"/>
          </p:cNvSpPr>
          <p:nvPr>
            <p:ph type="sldNum" sz="quarter" idx="10"/>
          </p:nvPr>
        </p:nvSpPr>
        <p:spPr/>
        <p:txBody>
          <a:bodyPr/>
          <a:lstStyle/>
          <a:p>
            <a:fld id="{1EE43B9A-B393-724F-8027-87B3DD2AFA30}" type="slidenum">
              <a:rPr lang="en-US" smtClean="0"/>
              <a:t>64</a:t>
            </a:fld>
            <a:endParaRPr lang="en-US" dirty="0"/>
          </a:p>
        </p:txBody>
      </p:sp>
    </p:spTree>
    <p:extLst>
      <p:ext uri="{BB962C8B-B14F-4D97-AF65-F5344CB8AC3E}">
        <p14:creationId xmlns:p14="http://schemas.microsoft.com/office/powerpoint/2010/main" val="35306492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BD43EB3-FB32-0042-8714-1CFDBC850EA5}" type="slidenum">
              <a:rPr lang="en-US"/>
              <a:pPr>
                <a:defRPr/>
              </a:pPr>
              <a:t>65</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AE629CF-9AFE-BA4C-A564-64E30E016772}" type="slidenum">
              <a:rPr lang="en-US"/>
              <a:pPr>
                <a:defRPr/>
              </a:pPr>
              <a:t>66</a:t>
            </a:fld>
            <a:endParaRPr lang="en-US" dirty="0"/>
          </a:p>
        </p:txBody>
      </p:sp>
      <p:sp>
        <p:nvSpPr>
          <p:cNvPr id="2263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6307" name="Rectangle 3"/>
          <p:cNvSpPr>
            <a:spLocks noGrp="1" noChangeArrowheads="1"/>
          </p:cNvSpPr>
          <p:nvPr>
            <p:ph type="body" idx="1"/>
          </p:nvPr>
        </p:nvSpPr>
        <p:spPr/>
        <p:txBody>
          <a:bodyPr/>
          <a:lstStyle/>
          <a:p>
            <a:pPr>
              <a:defRPr/>
            </a:pPr>
            <a:r>
              <a:rPr lang="en-US" b="1" dirty="0" smtClean="0"/>
              <a:t>FIGURE 5.37 RNA interference</a:t>
            </a:r>
            <a:r>
              <a:rPr lang="en-US" b="1" baseline="0" dirty="0" smtClean="0"/>
              <a:t> </a:t>
            </a:r>
            <a:r>
              <a:rPr lang="en-US" b="1" dirty="0" smtClean="0"/>
              <a:t>mechanism. </a:t>
            </a:r>
            <a:r>
              <a:rPr lang="en-US" dirty="0" smtClean="0"/>
              <a:t>A double-stranded RNA</a:t>
            </a:r>
            <a:r>
              <a:rPr lang="en-US" baseline="0" dirty="0" smtClean="0"/>
              <a:t> </a:t>
            </a:r>
            <a:r>
              <a:rPr lang="en-US" dirty="0" smtClean="0"/>
              <a:t>molecule is cleaved into 21-bp fragments by</a:t>
            </a:r>
            <a:r>
              <a:rPr lang="en-US" baseline="0" dirty="0" smtClean="0"/>
              <a:t> </a:t>
            </a:r>
            <a:r>
              <a:rPr lang="en-US" dirty="0" smtClean="0"/>
              <a:t>the enzyme Dicer to produce siRNAs. These</a:t>
            </a:r>
            <a:r>
              <a:rPr lang="en-US" baseline="0" dirty="0" smtClean="0"/>
              <a:t> </a:t>
            </a:r>
            <a:r>
              <a:rPr lang="en-US" dirty="0" smtClean="0"/>
              <a:t>siRNAs are incorporated into the RNA-induced</a:t>
            </a:r>
            <a:r>
              <a:rPr lang="en-US" baseline="0" dirty="0" smtClean="0"/>
              <a:t> </a:t>
            </a:r>
            <a:r>
              <a:rPr lang="en-US" dirty="0" smtClean="0"/>
              <a:t>silencing complex (RISC), where the </a:t>
            </a:r>
            <a:r>
              <a:rPr lang="en-US" dirty="0" smtClean="0"/>
              <a:t>single-stranded</a:t>
            </a:r>
            <a:r>
              <a:rPr lang="en-US" baseline="0" dirty="0" smtClean="0"/>
              <a:t> </a:t>
            </a:r>
            <a:r>
              <a:rPr lang="en-US" dirty="0" smtClean="0"/>
              <a:t>RNAs guide the cleavage of mRNAs</a:t>
            </a:r>
            <a:r>
              <a:rPr lang="en-US" baseline="0" dirty="0" smtClean="0"/>
              <a:t> </a:t>
            </a:r>
            <a:r>
              <a:rPr lang="en-US" dirty="0" smtClean="0"/>
              <a:t>that contain complementary sequences.</a:t>
            </a:r>
            <a:endParaRPr lang="en-US" dirty="0" smtClean="0">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8FE4F6A-9329-B44B-ACDC-001889695851}" type="slidenum">
              <a:rPr lang="en-US"/>
              <a:pPr>
                <a:defRPr/>
              </a:pPr>
              <a:t>67</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8115" name="Rectangle 3"/>
          <p:cNvSpPr>
            <a:spLocks noGrp="1" noChangeArrowheads="1"/>
          </p:cNvSpPr>
          <p:nvPr>
            <p:ph type="body" idx="1"/>
          </p:nvPr>
        </p:nvSpPr>
        <p:spPr/>
        <p:txBody>
          <a:bodyPr/>
          <a:lstStyle/>
          <a:p>
            <a:pPr>
              <a:defRPr/>
            </a:pPr>
            <a:r>
              <a:rPr lang="en-US" b="1" dirty="0" smtClean="0"/>
              <a:t>FIGURE 5.38 Tumors in plants. </a:t>
            </a:r>
            <a:r>
              <a:rPr lang="en-US" dirty="0" smtClean="0"/>
              <a:t>Crown gall,</a:t>
            </a:r>
            <a:r>
              <a:rPr lang="en-US" baseline="0" dirty="0" smtClean="0"/>
              <a:t> </a:t>
            </a:r>
            <a:r>
              <a:rPr lang="en-US" dirty="0" smtClean="0"/>
              <a:t>a plant tumor, is caused by a bacterium</a:t>
            </a:r>
            <a:r>
              <a:rPr lang="en-US" baseline="0" dirty="0" smtClean="0"/>
              <a:t> </a:t>
            </a:r>
            <a:r>
              <a:rPr lang="en-US" dirty="0" smtClean="0"/>
              <a:t>(</a:t>
            </a:r>
            <a:r>
              <a:rPr lang="en-US" i="1" dirty="0" smtClean="0"/>
              <a:t>Agrobacterium tumefaciens</a:t>
            </a:r>
            <a:r>
              <a:rPr lang="en-US" dirty="0" smtClean="0"/>
              <a:t>) that carries a</a:t>
            </a:r>
            <a:r>
              <a:rPr lang="en-US" baseline="0" dirty="0" smtClean="0"/>
              <a:t> </a:t>
            </a:r>
            <a:r>
              <a:rPr lang="en-US" dirty="0" smtClean="0"/>
              <a:t>tumor-inducing plasmid (Ti plasmid). [From</a:t>
            </a:r>
            <a:r>
              <a:rPr lang="en-US" baseline="0" dirty="0" smtClean="0"/>
              <a:t> </a:t>
            </a:r>
            <a:r>
              <a:rPr lang="da-DK" dirty="0" smtClean="0"/>
              <a:t>M. Escobar et al., </a:t>
            </a:r>
            <a:r>
              <a:rPr lang="da-DK" i="1" dirty="0" smtClean="0"/>
              <a:t>PNAS </a:t>
            </a:r>
            <a:r>
              <a:rPr lang="da-DK" dirty="0" smtClean="0"/>
              <a:t>98:13437–13442,</a:t>
            </a:r>
            <a:r>
              <a:rPr lang="da-DK" baseline="0" dirty="0" smtClean="0"/>
              <a:t> </a:t>
            </a:r>
            <a:r>
              <a:rPr lang="da-DK" dirty="0" smtClean="0"/>
              <a:t>2001. Copyright 2001 National Academy of</a:t>
            </a:r>
            <a:r>
              <a:rPr lang="da-DK" baseline="0" dirty="0" smtClean="0"/>
              <a:t> </a:t>
            </a:r>
            <a:r>
              <a:rPr lang="da-DK" dirty="0" smtClean="0"/>
              <a:t>Sciences, U. S. A.]</a:t>
            </a:r>
            <a:endParaRPr lang="en-US" dirty="0" smtClean="0"/>
          </a:p>
          <a:p>
            <a:pPr eaLnBrk="1" hangingPunct="1">
              <a:defRPr/>
            </a:pPr>
            <a:endParaRPr lang="en-US" dirty="0" smtClean="0">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3FF75CB-F95D-9E42-B85B-A60D4360C2D6}" type="slidenum">
              <a:rPr lang="en-US"/>
              <a:pPr>
                <a:defRPr/>
              </a:pPr>
              <a:t>68</a:t>
            </a:fld>
            <a:endParaRPr lang="en-US" dirty="0"/>
          </a:p>
        </p:txBody>
      </p:sp>
      <p:sp>
        <p:nvSpPr>
          <p:cNvPr id="229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29379"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F34BF15-11DF-CF45-8D0C-176A3F51CFF5}" type="slidenum">
              <a:rPr lang="en-US"/>
              <a:pPr>
                <a:defRPr/>
              </a:pPr>
              <a:t>69</a:t>
            </a:fld>
            <a:endParaRPr lang="en-US" dirty="0"/>
          </a:p>
        </p:txBody>
      </p:sp>
      <p:sp>
        <p:nvSpPr>
          <p:cNvPr id="2304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0403" name="Rectangle 3"/>
          <p:cNvSpPr>
            <a:spLocks noGrp="1" noChangeArrowheads="1"/>
          </p:cNvSpPr>
          <p:nvPr>
            <p:ph type="body" idx="1"/>
          </p:nvPr>
        </p:nvSpPr>
        <p:spPr/>
        <p:txBody>
          <a:bodyPr/>
          <a:lstStyle/>
          <a:p>
            <a:pPr>
              <a:defRPr/>
            </a:pPr>
            <a:r>
              <a:rPr lang="en-US" b="1" dirty="0" smtClean="0"/>
              <a:t>FIGURE 5.39 Ti plasmids. </a:t>
            </a:r>
            <a:r>
              <a:rPr lang="en-US" dirty="0" smtClean="0"/>
              <a:t>Agrobacteria</a:t>
            </a:r>
            <a:r>
              <a:rPr lang="en-US" baseline="0" dirty="0" smtClean="0"/>
              <a:t> </a:t>
            </a:r>
            <a:r>
              <a:rPr lang="en-US" dirty="0" smtClean="0"/>
              <a:t>containing Ti plasmids can deliver foreign</a:t>
            </a:r>
            <a:r>
              <a:rPr lang="en-US" baseline="0" dirty="0" smtClean="0"/>
              <a:t> </a:t>
            </a:r>
            <a:r>
              <a:rPr lang="en-US" dirty="0" smtClean="0"/>
              <a:t>genes into some plant cells. [Information</a:t>
            </a:r>
            <a:r>
              <a:rPr lang="en-US" baseline="0" dirty="0" smtClean="0"/>
              <a:t> from</a:t>
            </a:r>
            <a:r>
              <a:rPr lang="en-US" dirty="0" smtClean="0"/>
              <a:t> M. Chilton.</a:t>
            </a:r>
            <a:r>
              <a:rPr lang="en-US" baseline="0" dirty="0" smtClean="0"/>
              <a:t> </a:t>
            </a:r>
            <a:r>
              <a:rPr lang="en-US" dirty="0" smtClean="0"/>
              <a:t>A vector for introducing new genes into plants.</a:t>
            </a:r>
            <a:r>
              <a:rPr lang="en-US" baseline="0" dirty="0" smtClean="0"/>
              <a:t> </a:t>
            </a:r>
            <a:r>
              <a:rPr lang="en-US" dirty="0" smtClean="0"/>
              <a:t>Copyright © 1983 by Scientific American, Inc.</a:t>
            </a:r>
            <a:r>
              <a:rPr lang="en-US" baseline="0" dirty="0" smtClean="0"/>
              <a:t> </a:t>
            </a:r>
            <a:r>
              <a:rPr lang="en-US" dirty="0" smtClean="0"/>
              <a:t>All rights reserved.]</a:t>
            </a:r>
            <a:endParaRPr lang="en-US" dirty="0" smtClean="0">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4304BDE-6DA1-BA45-AF40-187F9BCF663C}" type="slidenum">
              <a:rPr lang="en-US"/>
              <a:pPr>
                <a:defRPr/>
              </a:pPr>
              <a:t>70</a:t>
            </a:fld>
            <a:endParaRPr lang="en-US" dirty="0"/>
          </a:p>
        </p:txBody>
      </p:sp>
      <p:sp>
        <p:nvSpPr>
          <p:cNvPr id="231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1427" name="Rectangle 3"/>
          <p:cNvSpPr>
            <a:spLocks noGrp="1" noChangeArrowheads="1"/>
          </p:cNvSpPr>
          <p:nvPr>
            <p:ph type="body" idx="1"/>
          </p:nvPr>
        </p:nvSpPr>
        <p:spPr/>
        <p:txBody>
          <a:bodyPr/>
          <a:lstStyle/>
          <a:p>
            <a:pPr>
              <a:defRPr/>
            </a:pPr>
            <a:r>
              <a:rPr lang="en-US" b="1" dirty="0" smtClean="0"/>
              <a:t>FIGURE 5.40 Electroporation. </a:t>
            </a:r>
            <a:r>
              <a:rPr lang="en-US" dirty="0" smtClean="0"/>
              <a:t>Foreign DNA</a:t>
            </a:r>
            <a:r>
              <a:rPr lang="en-US" baseline="0" dirty="0" smtClean="0"/>
              <a:t> </a:t>
            </a:r>
            <a:r>
              <a:rPr lang="en-US" dirty="0" smtClean="0"/>
              <a:t>can be introduced into plant cells by</a:t>
            </a:r>
            <a:r>
              <a:rPr lang="en-US" baseline="0" dirty="0" smtClean="0"/>
              <a:t> </a:t>
            </a:r>
            <a:r>
              <a:rPr lang="en-US" dirty="0" smtClean="0"/>
              <a:t>electroporation, the application of intense</a:t>
            </a:r>
            <a:r>
              <a:rPr lang="en-US" baseline="0" dirty="0" smtClean="0"/>
              <a:t> </a:t>
            </a:r>
            <a:r>
              <a:rPr lang="en-US" dirty="0" smtClean="0"/>
              <a:t>electric fields to make their </a:t>
            </a:r>
            <a:r>
              <a:rPr lang="en-US" dirty="0" smtClean="0"/>
              <a:t>plasma</a:t>
            </a:r>
            <a:r>
              <a:rPr lang="en-US" baseline="0" dirty="0" smtClean="0"/>
              <a:t> </a:t>
            </a:r>
            <a:r>
              <a:rPr lang="en-US" dirty="0" smtClean="0"/>
              <a:t>membranes </a:t>
            </a:r>
            <a:r>
              <a:rPr lang="en-US" dirty="0" smtClean="0"/>
              <a:t>transiently permeable.</a:t>
            </a:r>
            <a:endParaRPr lang="en-US" dirty="0" smtClean="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1442659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967632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4115029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3156718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67014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2141454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660411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255696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101603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294186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76364C-BC4B-4743-B916-632736AEFBF7}" type="datetimeFigureOut">
              <a:rPr lang="en-US" smtClean="0"/>
              <a:t>6/10/2015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E3B7B3-F349-2343-B8A8-7F84389725CD}" type="slidenum">
              <a:rPr lang="en-US" smtClean="0"/>
              <a:t>‹#›</a:t>
            </a:fld>
            <a:endParaRPr lang="en-US" dirty="0"/>
          </a:p>
        </p:txBody>
      </p:sp>
    </p:spTree>
    <p:extLst>
      <p:ext uri="{BB962C8B-B14F-4D97-AF65-F5344CB8AC3E}">
        <p14:creationId xmlns:p14="http://schemas.microsoft.com/office/powerpoint/2010/main" val="3262479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76364C-BC4B-4743-B916-632736AEFBF7}" type="datetimeFigureOut">
              <a:rPr lang="en-US" smtClean="0"/>
              <a:t>6/10/2015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E3B7B3-F349-2343-B8A8-7F84389725CD}" type="slidenum">
              <a:rPr lang="en-US" smtClean="0"/>
              <a:t>‹#›</a:t>
            </a:fld>
            <a:endParaRPr lang="en-US" dirty="0"/>
          </a:p>
        </p:txBody>
      </p:sp>
    </p:spTree>
    <p:extLst>
      <p:ext uri="{BB962C8B-B14F-4D97-AF65-F5344CB8AC3E}">
        <p14:creationId xmlns:p14="http://schemas.microsoft.com/office/powerpoint/2010/main" val="3595949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50.jpe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jpe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7.jpeg"/><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5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6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6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75.jpeg"/><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6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5_00_01.jpg"/>
          <p:cNvPicPr>
            <a:picLocks noChangeAspect="1"/>
          </p:cNvPicPr>
          <p:nvPr/>
        </p:nvPicPr>
        <p:blipFill>
          <a:blip r:embed="rId3"/>
          <a:stretch>
            <a:fillRect/>
          </a:stretch>
        </p:blipFill>
        <p:spPr>
          <a:xfrm>
            <a:off x="218547" y="1894733"/>
            <a:ext cx="4335340" cy="3289758"/>
          </a:xfrm>
          <a:prstGeom prst="rect">
            <a:avLst/>
          </a:prstGeom>
        </p:spPr>
      </p:pic>
      <p:pic>
        <p:nvPicPr>
          <p:cNvPr id="5" name="Picture 4" descr="figure_05_00_02.jpg"/>
          <p:cNvPicPr>
            <a:picLocks noChangeAspect="1"/>
          </p:cNvPicPr>
          <p:nvPr/>
        </p:nvPicPr>
        <p:blipFill>
          <a:blip r:embed="rId4"/>
          <a:stretch>
            <a:fillRect/>
          </a:stretch>
        </p:blipFill>
        <p:spPr>
          <a:xfrm>
            <a:off x="4931468" y="1691761"/>
            <a:ext cx="3683917" cy="3326161"/>
          </a:xfrm>
          <a:prstGeom prst="rect">
            <a:avLst/>
          </a:prstGeom>
        </p:spPr>
      </p:pic>
    </p:spTree>
    <p:extLst>
      <p:ext uri="{BB962C8B-B14F-4D97-AF65-F5344CB8AC3E}">
        <p14:creationId xmlns:p14="http://schemas.microsoft.com/office/powerpoint/2010/main" val="11819111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28900" y="1498600"/>
            <a:ext cx="3873500" cy="3860800"/>
          </a:xfrm>
          <a:prstGeom prst="rect">
            <a:avLst/>
          </a:prstGeom>
        </p:spPr>
      </p:pic>
    </p:spTree>
    <p:extLst>
      <p:ext uri="{BB962C8B-B14F-4D97-AF65-F5344CB8AC3E}">
        <p14:creationId xmlns:p14="http://schemas.microsoft.com/office/powerpoint/2010/main" val="26329827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9613" y="1698625"/>
            <a:ext cx="6415087" cy="3140075"/>
          </a:xfrm>
          <a:prstGeom prst="rect">
            <a:avLst/>
          </a:prstGeom>
          <a:noFill/>
        </p:spPr>
        <p:txBody>
          <a:bodyPr wrap="none">
            <a:spAutoFit/>
          </a:bodyPr>
          <a:lstStyle/>
          <a:p>
            <a:pPr>
              <a:defRPr/>
            </a:pPr>
            <a:r>
              <a:rPr lang="en-US" sz="1800" dirty="0"/>
              <a:t>Advances in biotechnology are possible because of key techniques:</a:t>
            </a:r>
          </a:p>
          <a:p>
            <a:pPr>
              <a:defRPr/>
            </a:pPr>
            <a:endParaRPr lang="en-US" sz="1800" dirty="0"/>
          </a:p>
          <a:p>
            <a:pPr marL="457200" indent="-457200">
              <a:buFontTx/>
              <a:buAutoNum type="arabicPeriod"/>
              <a:defRPr/>
            </a:pPr>
            <a:r>
              <a:rPr lang="en-US" sz="1800" dirty="0">
                <a:latin typeface="Times"/>
                <a:cs typeface="Times"/>
              </a:rPr>
              <a:t>Restriction</a:t>
            </a:r>
            <a:r>
              <a:rPr lang="en-US" sz="1800" dirty="0"/>
              <a:t> enzyme analysis.</a:t>
            </a:r>
          </a:p>
          <a:p>
            <a:pPr marL="457200" indent="-457200">
              <a:buFontTx/>
              <a:buAutoNum type="arabicPeriod"/>
              <a:defRPr/>
            </a:pPr>
            <a:endParaRPr lang="en-US" sz="1800" dirty="0"/>
          </a:p>
          <a:p>
            <a:pPr marL="457200" indent="-457200">
              <a:buFontTx/>
              <a:buAutoNum type="arabicPeriod"/>
              <a:defRPr/>
            </a:pPr>
            <a:r>
              <a:rPr lang="en-US" sz="1800" dirty="0"/>
              <a:t>Blotting techniques.</a:t>
            </a:r>
          </a:p>
          <a:p>
            <a:pPr marL="457200" indent="-457200">
              <a:buFontTx/>
              <a:buAutoNum type="arabicPeriod"/>
              <a:defRPr/>
            </a:pPr>
            <a:endParaRPr lang="en-US" sz="1800" dirty="0"/>
          </a:p>
          <a:p>
            <a:pPr marL="457200" indent="-457200">
              <a:buFontTx/>
              <a:buAutoNum type="arabicPeriod"/>
              <a:defRPr/>
            </a:pPr>
            <a:r>
              <a:rPr lang="en-US" sz="1800" dirty="0"/>
              <a:t>DNA sequencing.</a:t>
            </a:r>
          </a:p>
          <a:p>
            <a:pPr marL="457200" indent="-457200">
              <a:buFontTx/>
              <a:buAutoNum type="arabicPeriod"/>
              <a:defRPr/>
            </a:pPr>
            <a:endParaRPr lang="en-US" sz="1800" dirty="0"/>
          </a:p>
          <a:p>
            <a:pPr marL="457200" indent="-457200">
              <a:buFontTx/>
              <a:buAutoNum type="arabicPeriod"/>
              <a:defRPr/>
            </a:pPr>
            <a:r>
              <a:rPr lang="en-US" sz="1800" dirty="0"/>
              <a:t>Solid-phase synthesis of nucleic acids.</a:t>
            </a:r>
          </a:p>
          <a:p>
            <a:pPr marL="457200" indent="-457200">
              <a:buFontTx/>
              <a:buAutoNum type="arabicPeriod"/>
              <a:defRPr/>
            </a:pPr>
            <a:endParaRPr lang="en-US" sz="1800" dirty="0"/>
          </a:p>
          <a:p>
            <a:pPr marL="457200" indent="-457200">
              <a:buFontTx/>
              <a:buAutoNum type="arabicPeriod"/>
              <a:defRPr/>
            </a:pPr>
            <a:r>
              <a:rPr lang="en-US" sz="1800" dirty="0"/>
              <a:t>The polymerase chain reaction.</a:t>
            </a:r>
          </a:p>
        </p:txBody>
      </p:sp>
      <p:pic>
        <p:nvPicPr>
          <p:cNvPr id="2" name="Picture 1"/>
          <p:cNvPicPr>
            <a:picLocks noChangeAspect="1"/>
          </p:cNvPicPr>
          <p:nvPr/>
        </p:nvPicPr>
        <p:blipFill>
          <a:blip r:embed="rId2"/>
          <a:stretch>
            <a:fillRect/>
          </a:stretch>
        </p:blipFill>
        <p:spPr>
          <a:xfrm>
            <a:off x="1108044" y="491565"/>
            <a:ext cx="6553200" cy="711200"/>
          </a:xfrm>
          <a:prstGeom prst="rect">
            <a:avLst/>
          </a:prstGeom>
        </p:spPr>
      </p:pic>
    </p:spTree>
    <p:extLst>
      <p:ext uri="{BB962C8B-B14F-4D97-AF65-F5344CB8AC3E}">
        <p14:creationId xmlns:p14="http://schemas.microsoft.com/office/powerpoint/2010/main" val="25442718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19200"/>
            <a:ext cx="543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TextBox 3"/>
          <p:cNvSpPr txBox="1">
            <a:spLocks noChangeArrowheads="1"/>
          </p:cNvSpPr>
          <p:nvPr/>
        </p:nvSpPr>
        <p:spPr bwMode="auto">
          <a:xfrm>
            <a:off x="304800" y="1981200"/>
            <a:ext cx="85105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Restriction enzymes are bacterial enzymes that cleave DNA in a highly specific manner. The enzymes recognize cleavage sites of four to eight nucleotides in length that are palindromic and then cleave each strand of the DNA</a:t>
            </a:r>
            <a:r>
              <a:rPr lang="en-US" dirty="0"/>
              <a:t>.</a:t>
            </a:r>
          </a:p>
        </p:txBody>
      </p:sp>
      <p:pic>
        <p:nvPicPr>
          <p:cNvPr id="2" name="Picture 1"/>
          <p:cNvPicPr>
            <a:picLocks noChangeAspect="1"/>
          </p:cNvPicPr>
          <p:nvPr/>
        </p:nvPicPr>
        <p:blipFill>
          <a:blip r:embed="rId3"/>
          <a:stretch>
            <a:fillRect/>
          </a:stretch>
        </p:blipFill>
        <p:spPr>
          <a:xfrm>
            <a:off x="1087227" y="158424"/>
            <a:ext cx="6553200" cy="711200"/>
          </a:xfrm>
          <a:prstGeom prst="rect">
            <a:avLst/>
          </a:prstGeom>
        </p:spPr>
      </p:pic>
      <p:pic>
        <p:nvPicPr>
          <p:cNvPr id="4" name="Picture 3"/>
          <p:cNvPicPr>
            <a:picLocks noChangeAspect="1"/>
          </p:cNvPicPr>
          <p:nvPr/>
        </p:nvPicPr>
        <p:blipFill>
          <a:blip r:embed="rId4"/>
          <a:stretch>
            <a:fillRect/>
          </a:stretch>
        </p:blipFill>
        <p:spPr>
          <a:xfrm>
            <a:off x="4548188" y="3623573"/>
            <a:ext cx="4267200" cy="2692400"/>
          </a:xfrm>
          <a:prstGeom prst="rect">
            <a:avLst/>
          </a:prstGeom>
        </p:spPr>
      </p:pic>
      <p:pic>
        <p:nvPicPr>
          <p:cNvPr id="10" name="Picture 9" descr="unnumbered_05_p137.jpg"/>
          <p:cNvPicPr>
            <a:picLocks noChangeAspect="1"/>
          </p:cNvPicPr>
          <p:nvPr/>
        </p:nvPicPr>
        <p:blipFill>
          <a:blip r:embed="rId5"/>
          <a:stretch>
            <a:fillRect/>
          </a:stretch>
        </p:blipFill>
        <p:spPr>
          <a:xfrm>
            <a:off x="304800" y="3623573"/>
            <a:ext cx="3946725" cy="2396226"/>
          </a:xfrm>
          <a:prstGeom prst="rect">
            <a:avLst/>
          </a:prstGeom>
        </p:spPr>
      </p:pic>
    </p:spTree>
    <p:extLst>
      <p:ext uri="{BB962C8B-B14F-4D97-AF65-F5344CB8AC3E}">
        <p14:creationId xmlns:p14="http://schemas.microsoft.com/office/powerpoint/2010/main" val="40441428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1.jpg"/>
          <p:cNvPicPr>
            <a:picLocks noChangeAspect="1"/>
          </p:cNvPicPr>
          <p:nvPr/>
        </p:nvPicPr>
        <p:blipFill>
          <a:blip r:embed="rId3"/>
          <a:stretch>
            <a:fillRect/>
          </a:stretch>
        </p:blipFill>
        <p:spPr>
          <a:xfrm>
            <a:off x="3179064" y="192023"/>
            <a:ext cx="2785872" cy="6473952"/>
          </a:xfrm>
          <a:prstGeom prst="rect">
            <a:avLst/>
          </a:prstGeom>
        </p:spPr>
      </p:pic>
    </p:spTree>
    <p:extLst>
      <p:ext uri="{BB962C8B-B14F-4D97-AF65-F5344CB8AC3E}">
        <p14:creationId xmlns:p14="http://schemas.microsoft.com/office/powerpoint/2010/main" val="876675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71600"/>
            <a:ext cx="61341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Box 3"/>
          <p:cNvSpPr txBox="1">
            <a:spLocks noChangeArrowheads="1"/>
          </p:cNvSpPr>
          <p:nvPr/>
        </p:nvSpPr>
        <p:spPr bwMode="auto">
          <a:xfrm>
            <a:off x="457200" y="2057400"/>
            <a:ext cx="8193088"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DNA fragments generated by restriction enzyme digestion can be separated by gel electrophoresis in agarose or polyacrylamide gels.</a:t>
            </a:r>
          </a:p>
          <a:p>
            <a:endParaRPr lang="en-US" sz="1800" dirty="0"/>
          </a:p>
          <a:p>
            <a:r>
              <a:rPr lang="en-US" sz="1800" dirty="0"/>
              <a:t>The fragments can be visualized by staining with ethidium bromide.</a:t>
            </a:r>
          </a:p>
          <a:p>
            <a:endParaRPr lang="en-US" sz="1800" dirty="0"/>
          </a:p>
          <a:p>
            <a:r>
              <a:rPr lang="en-US" sz="1800" dirty="0"/>
              <a:t>A restriction fragment containing a specific sequence can be identified following electrophoresis. The separated fragments are transferred to a sheet of nitrocellulose paper, a process called Southern blotting, and then exposed to a radioactively labeled probe complementary to the  sequence of interest.</a:t>
            </a:r>
          </a:p>
          <a:p>
            <a:endParaRPr lang="en-US" sz="1800" dirty="0"/>
          </a:p>
          <a:p>
            <a:r>
              <a:rPr lang="en-US" sz="1800" dirty="0"/>
              <a:t>Autoradiography identifies the fragment binding to the probe.</a:t>
            </a:r>
          </a:p>
        </p:txBody>
      </p:sp>
      <p:pic>
        <p:nvPicPr>
          <p:cNvPr id="2" name="Picture 1"/>
          <p:cNvPicPr>
            <a:picLocks noChangeAspect="1"/>
          </p:cNvPicPr>
          <p:nvPr/>
        </p:nvPicPr>
        <p:blipFill>
          <a:blip r:embed="rId3"/>
          <a:stretch>
            <a:fillRect/>
          </a:stretch>
        </p:blipFill>
        <p:spPr>
          <a:xfrm>
            <a:off x="1295400" y="491565"/>
            <a:ext cx="6553200" cy="711200"/>
          </a:xfrm>
          <a:prstGeom prst="rect">
            <a:avLst/>
          </a:prstGeom>
        </p:spPr>
      </p:pic>
    </p:spTree>
    <p:extLst>
      <p:ext uri="{BB962C8B-B14F-4D97-AF65-F5344CB8AC3E}">
        <p14:creationId xmlns:p14="http://schemas.microsoft.com/office/powerpoint/2010/main" val="28487765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2.jpg"/>
          <p:cNvPicPr>
            <a:picLocks noChangeAspect="1"/>
          </p:cNvPicPr>
          <p:nvPr/>
        </p:nvPicPr>
        <p:blipFill>
          <a:blip r:embed="rId3"/>
          <a:stretch>
            <a:fillRect/>
          </a:stretch>
        </p:blipFill>
        <p:spPr>
          <a:xfrm>
            <a:off x="2325623" y="283464"/>
            <a:ext cx="4492752" cy="6291072"/>
          </a:xfrm>
          <a:prstGeom prst="rect">
            <a:avLst/>
          </a:prstGeom>
        </p:spPr>
      </p:pic>
    </p:spTree>
    <p:extLst>
      <p:ext uri="{BB962C8B-B14F-4D97-AF65-F5344CB8AC3E}">
        <p14:creationId xmlns:p14="http://schemas.microsoft.com/office/powerpoint/2010/main" val="41289688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3.jpg"/>
          <p:cNvPicPr>
            <a:picLocks noChangeAspect="1"/>
          </p:cNvPicPr>
          <p:nvPr/>
        </p:nvPicPr>
        <p:blipFill>
          <a:blip r:embed="rId3"/>
          <a:stretch>
            <a:fillRect/>
          </a:stretch>
        </p:blipFill>
        <p:spPr>
          <a:xfrm>
            <a:off x="304800" y="819911"/>
            <a:ext cx="8534400" cy="5218176"/>
          </a:xfrm>
          <a:prstGeom prst="rect">
            <a:avLst/>
          </a:prstGeom>
        </p:spPr>
      </p:pic>
    </p:spTree>
    <p:extLst>
      <p:ext uri="{BB962C8B-B14F-4D97-AF65-F5344CB8AC3E}">
        <p14:creationId xmlns:p14="http://schemas.microsoft.com/office/powerpoint/2010/main" val="35263446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
          <p:cNvSpPr txBox="1">
            <a:spLocks noChangeArrowheads="1"/>
          </p:cNvSpPr>
          <p:nvPr/>
        </p:nvSpPr>
        <p:spPr bwMode="auto">
          <a:xfrm>
            <a:off x="304800" y="1447800"/>
            <a:ext cx="8509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DNA can be sequenced by performing four polymerization reactions using as a template, the DNA to be sequenced. Each of the four reactions has a small amount of the 2</a:t>
            </a:r>
            <a:r>
              <a:rPr lang="en-US" sz="1800" dirty="0">
                <a:sym typeface="Symbol" charset="0"/>
              </a:rPr>
              <a:t></a:t>
            </a:r>
            <a:r>
              <a:rPr lang="en-US" sz="1800" dirty="0"/>
              <a:t> , 3</a:t>
            </a:r>
            <a:r>
              <a:rPr lang="en-US" sz="1800" dirty="0">
                <a:sym typeface="Symbol" charset="0"/>
              </a:rPr>
              <a:t></a:t>
            </a:r>
            <a:r>
              <a:rPr lang="en-US" sz="1800" dirty="0"/>
              <a:t> -dideoxy analog of one of the deoxynucleoside triphosphates. Polymerization sometimes halts with incorporation of the analog.</a:t>
            </a:r>
          </a:p>
          <a:p>
            <a:endParaRPr lang="en-US" sz="1800" dirty="0"/>
          </a:p>
          <a:p>
            <a:r>
              <a:rPr lang="en-US" sz="1800" dirty="0"/>
              <a:t>The fragments synthesized by the four reactions are then separated by polyacrylamide gel electrophoresis.</a:t>
            </a:r>
          </a:p>
        </p:txBody>
      </p:sp>
      <p:sp>
        <p:nvSpPr>
          <p:cNvPr id="28675" name="TextBox 3"/>
          <p:cNvSpPr txBox="1">
            <a:spLocks noChangeArrowheads="1"/>
          </p:cNvSpPr>
          <p:nvPr/>
        </p:nvSpPr>
        <p:spPr bwMode="auto">
          <a:xfrm>
            <a:off x="304800" y="3581400"/>
            <a:ext cx="508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Strands of different lengths will result. The fragment lengths of the four reactions will correspond to the position in the template of the base complementary to the dideoxy analog.</a:t>
            </a:r>
          </a:p>
          <a:p>
            <a:endParaRPr lang="en-US" sz="1800" dirty="0"/>
          </a:p>
          <a:p>
            <a:r>
              <a:rPr lang="en-US" sz="1800" dirty="0"/>
              <a:t>Fluorescent detection of fragment length is possible if each dideoxy analog has a distinct fluorescent label.</a:t>
            </a:r>
          </a:p>
        </p:txBody>
      </p:sp>
      <p:pic>
        <p:nvPicPr>
          <p:cNvPr id="28677"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38200"/>
            <a:ext cx="61087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1295400" y="0"/>
            <a:ext cx="6553200" cy="711200"/>
          </a:xfrm>
          <a:prstGeom prst="rect">
            <a:avLst/>
          </a:prstGeom>
        </p:spPr>
      </p:pic>
      <p:pic>
        <p:nvPicPr>
          <p:cNvPr id="8" name="Picture 7" descr="unnumbered_05_p139.jpg"/>
          <p:cNvPicPr>
            <a:picLocks noChangeAspect="1"/>
          </p:cNvPicPr>
          <p:nvPr/>
        </p:nvPicPr>
        <p:blipFill>
          <a:blip r:embed="rId4"/>
          <a:stretch>
            <a:fillRect/>
          </a:stretch>
        </p:blipFill>
        <p:spPr>
          <a:xfrm>
            <a:off x="5476029" y="3581400"/>
            <a:ext cx="3598269" cy="2051013"/>
          </a:xfrm>
          <a:prstGeom prst="rect">
            <a:avLst/>
          </a:prstGeom>
        </p:spPr>
      </p:pic>
    </p:spTree>
    <p:extLst>
      <p:ext uri="{BB962C8B-B14F-4D97-AF65-F5344CB8AC3E}">
        <p14:creationId xmlns:p14="http://schemas.microsoft.com/office/powerpoint/2010/main" val="27222569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5.4.jpg"/>
          <p:cNvPicPr>
            <a:picLocks noChangeAspect="1"/>
          </p:cNvPicPr>
          <p:nvPr/>
        </p:nvPicPr>
        <p:blipFill>
          <a:blip r:embed="rId3"/>
          <a:stretch>
            <a:fillRect/>
          </a:stretch>
        </p:blipFill>
        <p:spPr>
          <a:xfrm>
            <a:off x="3265932" y="225552"/>
            <a:ext cx="2612136" cy="6406896"/>
          </a:xfrm>
          <a:prstGeom prst="rect">
            <a:avLst/>
          </a:prstGeom>
        </p:spPr>
      </p:pic>
    </p:spTree>
    <p:extLst>
      <p:ext uri="{BB962C8B-B14F-4D97-AF65-F5344CB8AC3E}">
        <p14:creationId xmlns:p14="http://schemas.microsoft.com/office/powerpoint/2010/main" val="1266384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914400"/>
            <a:ext cx="56642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Box 4"/>
          <p:cNvSpPr txBox="1">
            <a:spLocks noChangeArrowheads="1"/>
          </p:cNvSpPr>
          <p:nvPr/>
        </p:nvSpPr>
        <p:spPr bwMode="auto">
          <a:xfrm>
            <a:off x="0" y="2286000"/>
            <a:ext cx="464225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Deoxyribonucleoside 3</a:t>
            </a:r>
            <a:r>
              <a:rPr lang="en-US" sz="1800" dirty="0" smtClean="0">
                <a:sym typeface="Symbol" charset="0"/>
              </a:rPr>
              <a:t></a:t>
            </a:r>
            <a:r>
              <a:rPr lang="en-US" sz="1800" dirty="0" smtClean="0"/>
              <a:t>-</a:t>
            </a:r>
            <a:r>
              <a:rPr lang="en-US" sz="1800" dirty="0"/>
              <a:t>phosphoramidites, in which all but one reactive groups are temporarily blocked by DMT or βCE, are activated monomers that can be sequentially linked to a strand attached to an insoluble support.</a:t>
            </a:r>
          </a:p>
          <a:p>
            <a:endParaRPr lang="en-US" sz="1800" dirty="0"/>
          </a:p>
          <a:p>
            <a:r>
              <a:rPr lang="en-US" sz="1800" dirty="0"/>
              <a:t>The newly synthesized DNA can be tagged with </a:t>
            </a:r>
            <a:r>
              <a:rPr lang="en-US" sz="1800" baseline="30000" dirty="0"/>
              <a:t>32</a:t>
            </a:r>
            <a:r>
              <a:rPr lang="en-US" sz="1800" dirty="0"/>
              <a:t>P or a fluorescent marker and used as a probe.</a:t>
            </a:r>
          </a:p>
        </p:txBody>
      </p:sp>
      <p:pic>
        <p:nvPicPr>
          <p:cNvPr id="2" name="Picture 1"/>
          <p:cNvPicPr>
            <a:picLocks noChangeAspect="1"/>
          </p:cNvPicPr>
          <p:nvPr/>
        </p:nvPicPr>
        <p:blipFill>
          <a:blip r:embed="rId4"/>
          <a:stretch>
            <a:fillRect/>
          </a:stretch>
        </p:blipFill>
        <p:spPr>
          <a:xfrm>
            <a:off x="1108044" y="203200"/>
            <a:ext cx="6553200" cy="711200"/>
          </a:xfrm>
          <a:prstGeom prst="rect">
            <a:avLst/>
          </a:prstGeom>
        </p:spPr>
      </p:pic>
      <p:pic>
        <p:nvPicPr>
          <p:cNvPr id="7" name="Picture 6" descr="unnumbered_05_p140.jpg"/>
          <p:cNvPicPr>
            <a:picLocks noChangeAspect="1"/>
          </p:cNvPicPr>
          <p:nvPr/>
        </p:nvPicPr>
        <p:blipFill>
          <a:blip r:embed="rId5"/>
          <a:stretch>
            <a:fillRect/>
          </a:stretch>
        </p:blipFill>
        <p:spPr>
          <a:xfrm>
            <a:off x="4927600" y="2025776"/>
            <a:ext cx="4047060" cy="3932276"/>
          </a:xfrm>
          <a:prstGeom prst="rect">
            <a:avLst/>
          </a:prstGeom>
        </p:spPr>
      </p:pic>
    </p:spTree>
    <p:extLst>
      <p:ext uri="{BB962C8B-B14F-4D97-AF65-F5344CB8AC3E}">
        <p14:creationId xmlns:p14="http://schemas.microsoft.com/office/powerpoint/2010/main" val="13282612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5.jpg"/>
          <p:cNvPicPr>
            <a:picLocks noChangeAspect="1"/>
          </p:cNvPicPr>
          <p:nvPr/>
        </p:nvPicPr>
        <p:blipFill>
          <a:blip r:embed="rId3"/>
          <a:stretch>
            <a:fillRect/>
          </a:stretch>
        </p:blipFill>
        <p:spPr>
          <a:xfrm>
            <a:off x="304800" y="1069848"/>
            <a:ext cx="8534400" cy="4718304"/>
          </a:xfrm>
          <a:prstGeom prst="rect">
            <a:avLst/>
          </a:prstGeom>
        </p:spPr>
      </p:pic>
    </p:spTree>
    <p:extLst>
      <p:ext uri="{BB962C8B-B14F-4D97-AF65-F5344CB8AC3E}">
        <p14:creationId xmlns:p14="http://schemas.microsoft.com/office/powerpoint/2010/main" val="37190847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90600"/>
            <a:ext cx="57150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Box 4"/>
          <p:cNvSpPr txBox="1">
            <a:spLocks noChangeArrowheads="1"/>
          </p:cNvSpPr>
          <p:nvPr/>
        </p:nvSpPr>
        <p:spPr bwMode="auto">
          <a:xfrm>
            <a:off x="381000" y="1600200"/>
            <a:ext cx="82677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polymerase chain reaction (PCR) allows the amplification of any DNA sequence provided some sequence information about the DNA on either side of the DNA to be amplified (the target DNA) is known.</a:t>
            </a:r>
          </a:p>
        </p:txBody>
      </p:sp>
      <p:sp>
        <p:nvSpPr>
          <p:cNvPr id="6" name="Rectangle 5"/>
          <p:cNvSpPr/>
          <p:nvPr/>
        </p:nvSpPr>
        <p:spPr>
          <a:xfrm>
            <a:off x="228600" y="2743200"/>
            <a:ext cx="8686800" cy="3694113"/>
          </a:xfrm>
          <a:prstGeom prst="rect">
            <a:avLst/>
          </a:prstGeom>
        </p:spPr>
        <p:txBody>
          <a:bodyPr>
            <a:spAutoFit/>
          </a:bodyPr>
          <a:lstStyle/>
          <a:p>
            <a:pPr>
              <a:defRPr/>
            </a:pPr>
            <a:r>
              <a:rPr lang="en-US" sz="1800" dirty="0"/>
              <a:t>A PCR reaction consists of the target DNA, the flanking regions, which will serve as </a:t>
            </a:r>
            <a:r>
              <a:rPr lang="en-US" sz="1800" dirty="0" smtClean="0"/>
              <a:t>primers, </a:t>
            </a:r>
            <a:r>
              <a:rPr lang="en-US" sz="1800" dirty="0"/>
              <a:t>and a heat stable DNA polymerase. PCR consists of three steps that are repeated until the desired degree of amplification </a:t>
            </a:r>
            <a:r>
              <a:rPr lang="en-US" sz="1800" dirty="0" smtClean="0"/>
              <a:t>is </a:t>
            </a:r>
            <a:r>
              <a:rPr lang="en-US" sz="1800" dirty="0"/>
              <a:t>achieved.</a:t>
            </a:r>
          </a:p>
          <a:p>
            <a:pPr>
              <a:defRPr/>
            </a:pPr>
            <a:endParaRPr lang="en-US" sz="1800" dirty="0">
              <a:latin typeface="Times"/>
              <a:cs typeface="Times"/>
            </a:endParaRPr>
          </a:p>
          <a:p>
            <a:pPr marL="342900" indent="-342900">
              <a:buFontTx/>
              <a:buAutoNum type="arabicPeriod"/>
              <a:defRPr/>
            </a:pPr>
            <a:r>
              <a:rPr lang="en-US" sz="1800" dirty="0"/>
              <a:t>The duplex containing the target sequence and the flanking regions (primers) is heated to 80</a:t>
            </a:r>
            <a:r>
              <a:rPr lang="en-US" sz="1800" baseline="30000" dirty="0"/>
              <a:t>o</a:t>
            </a:r>
            <a:r>
              <a:rPr lang="en-US" sz="1800" dirty="0"/>
              <a:t>C </a:t>
            </a:r>
            <a:r>
              <a:rPr lang="en-US" sz="1800" dirty="0" smtClean="0"/>
              <a:t>to generate </a:t>
            </a:r>
            <a:r>
              <a:rPr lang="en-US" sz="1800" dirty="0"/>
              <a:t>single strands.</a:t>
            </a:r>
          </a:p>
          <a:p>
            <a:pPr marL="342900" indent="-342900">
              <a:buFontTx/>
              <a:buAutoNum type="arabicPeriod"/>
              <a:defRPr/>
            </a:pPr>
            <a:endParaRPr lang="en-US" sz="1800" dirty="0"/>
          </a:p>
          <a:p>
            <a:pPr marL="342900" indent="-342900">
              <a:buFontTx/>
              <a:buAutoNum type="arabicPeriod"/>
              <a:defRPr/>
            </a:pPr>
            <a:r>
              <a:rPr lang="en-US" sz="1800" dirty="0"/>
              <a:t>The mixture is cooled to a temperature determined by the experimenter (≈55</a:t>
            </a:r>
            <a:r>
              <a:rPr lang="en-US" sz="1800" baseline="30000" dirty="0"/>
              <a:t>o</a:t>
            </a:r>
            <a:r>
              <a:rPr lang="en-US" sz="1800" dirty="0"/>
              <a:t>C), to allow the primers to anneal to the DNA.</a:t>
            </a:r>
          </a:p>
          <a:p>
            <a:pPr marL="342900" indent="-342900">
              <a:buFontTx/>
              <a:buAutoNum type="arabicPeriod"/>
              <a:defRPr/>
            </a:pPr>
            <a:endParaRPr lang="en-US" sz="1800" dirty="0"/>
          </a:p>
          <a:p>
            <a:pPr marL="342900" indent="-342900">
              <a:buFontTx/>
              <a:buAutoNum type="arabicPeriod"/>
              <a:defRPr/>
            </a:pPr>
            <a:r>
              <a:rPr lang="en-US" sz="1800" dirty="0"/>
              <a:t>The mixture is heated to 72</a:t>
            </a:r>
            <a:r>
              <a:rPr lang="en-US" sz="1800" baseline="30000" dirty="0"/>
              <a:t>o</a:t>
            </a:r>
            <a:r>
              <a:rPr lang="en-US" sz="1800" dirty="0"/>
              <a:t>C, allowing the polymerase to synthesize DNA.</a:t>
            </a:r>
          </a:p>
          <a:p>
            <a:pPr>
              <a:defRPr/>
            </a:pPr>
            <a:endParaRPr lang="en-US" sz="1800" dirty="0"/>
          </a:p>
          <a:p>
            <a:pPr>
              <a:defRPr/>
            </a:pPr>
            <a:r>
              <a:rPr lang="en-US" sz="1800" dirty="0"/>
              <a:t>The three steps are repeated 20 to 30 times.</a:t>
            </a:r>
          </a:p>
        </p:txBody>
      </p:sp>
      <p:pic>
        <p:nvPicPr>
          <p:cNvPr id="2" name="Picture 1"/>
          <p:cNvPicPr>
            <a:picLocks noChangeAspect="1"/>
          </p:cNvPicPr>
          <p:nvPr/>
        </p:nvPicPr>
        <p:blipFill>
          <a:blip r:embed="rId3"/>
          <a:stretch>
            <a:fillRect/>
          </a:stretch>
        </p:blipFill>
        <p:spPr>
          <a:xfrm>
            <a:off x="1295400" y="0"/>
            <a:ext cx="6553200" cy="711200"/>
          </a:xfrm>
          <a:prstGeom prst="rect">
            <a:avLst/>
          </a:prstGeom>
        </p:spPr>
      </p:pic>
    </p:spTree>
    <p:extLst>
      <p:ext uri="{BB962C8B-B14F-4D97-AF65-F5344CB8AC3E}">
        <p14:creationId xmlns:p14="http://schemas.microsoft.com/office/powerpoint/2010/main" val="12996643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6.jpg"/>
          <p:cNvPicPr>
            <a:picLocks noChangeAspect="1"/>
          </p:cNvPicPr>
          <p:nvPr/>
        </p:nvPicPr>
        <p:blipFill>
          <a:blip r:embed="rId3"/>
          <a:stretch>
            <a:fillRect/>
          </a:stretch>
        </p:blipFill>
        <p:spPr>
          <a:xfrm>
            <a:off x="2877311" y="192023"/>
            <a:ext cx="3389376" cy="6473952"/>
          </a:xfrm>
          <a:prstGeom prst="rect">
            <a:avLst/>
          </a:prstGeom>
        </p:spPr>
      </p:pic>
    </p:spTree>
    <p:extLst>
      <p:ext uri="{BB962C8B-B14F-4D97-AF65-F5344CB8AC3E}">
        <p14:creationId xmlns:p14="http://schemas.microsoft.com/office/powerpoint/2010/main" val="3287170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5.7.jpg"/>
          <p:cNvPicPr>
            <a:picLocks noChangeAspect="1"/>
          </p:cNvPicPr>
          <p:nvPr/>
        </p:nvPicPr>
        <p:blipFill>
          <a:blip r:embed="rId3"/>
          <a:stretch>
            <a:fillRect/>
          </a:stretch>
        </p:blipFill>
        <p:spPr>
          <a:xfrm>
            <a:off x="3299460" y="225552"/>
            <a:ext cx="2545080" cy="6406896"/>
          </a:xfrm>
          <a:prstGeom prst="rect">
            <a:avLst/>
          </a:prstGeom>
        </p:spPr>
      </p:pic>
    </p:spTree>
    <p:extLst>
      <p:ext uri="{BB962C8B-B14F-4D97-AF65-F5344CB8AC3E}">
        <p14:creationId xmlns:p14="http://schemas.microsoft.com/office/powerpoint/2010/main" val="5163712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990600"/>
            <a:ext cx="5283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Box 3"/>
          <p:cNvSpPr txBox="1">
            <a:spLocks noChangeArrowheads="1"/>
          </p:cNvSpPr>
          <p:nvPr/>
        </p:nvSpPr>
        <p:spPr bwMode="auto">
          <a:xfrm>
            <a:off x="609600" y="2362200"/>
            <a:ext cx="7670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PCR is capable of amplifying a single molecule of DNA that can then be visualized in a gel or sequenced.</a:t>
            </a:r>
          </a:p>
          <a:p>
            <a:endParaRPr lang="en-US" sz="1800" dirty="0"/>
          </a:p>
          <a:p>
            <a:r>
              <a:rPr lang="en-US" sz="1800" dirty="0"/>
              <a:t>PCR is used to detect mutations in genes that cause cancer, verify the presence of infectious agents in cells, and determine the guilt or innocence of crime suspects.</a:t>
            </a:r>
          </a:p>
        </p:txBody>
      </p:sp>
      <p:pic>
        <p:nvPicPr>
          <p:cNvPr id="2" name="Picture 1"/>
          <p:cNvPicPr>
            <a:picLocks noChangeAspect="1"/>
          </p:cNvPicPr>
          <p:nvPr/>
        </p:nvPicPr>
        <p:blipFill>
          <a:blip r:embed="rId3"/>
          <a:stretch>
            <a:fillRect/>
          </a:stretch>
        </p:blipFill>
        <p:spPr>
          <a:xfrm>
            <a:off x="1295400" y="132168"/>
            <a:ext cx="6553200" cy="711200"/>
          </a:xfrm>
          <a:prstGeom prst="rect">
            <a:avLst/>
          </a:prstGeom>
        </p:spPr>
      </p:pic>
    </p:spTree>
    <p:extLst>
      <p:ext uri="{BB962C8B-B14F-4D97-AF65-F5344CB8AC3E}">
        <p14:creationId xmlns:p14="http://schemas.microsoft.com/office/powerpoint/2010/main" val="30339860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8.jpg"/>
          <p:cNvPicPr>
            <a:picLocks noChangeAspect="1"/>
          </p:cNvPicPr>
          <p:nvPr/>
        </p:nvPicPr>
        <p:blipFill>
          <a:blip r:embed="rId3"/>
          <a:stretch>
            <a:fillRect/>
          </a:stretch>
        </p:blipFill>
        <p:spPr>
          <a:xfrm>
            <a:off x="1676400" y="283464"/>
            <a:ext cx="5791200" cy="6291072"/>
          </a:xfrm>
          <a:prstGeom prst="rect">
            <a:avLst/>
          </a:prstGeom>
        </p:spPr>
      </p:pic>
    </p:spTree>
    <p:extLst>
      <p:ext uri="{BB962C8B-B14F-4D97-AF65-F5344CB8AC3E}">
        <p14:creationId xmlns:p14="http://schemas.microsoft.com/office/powerpoint/2010/main" val="6636541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838200"/>
            <a:ext cx="59309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extBox 3"/>
          <p:cNvSpPr txBox="1">
            <a:spLocks noChangeArrowheads="1"/>
          </p:cNvSpPr>
          <p:nvPr/>
        </p:nvSpPr>
        <p:spPr bwMode="auto">
          <a:xfrm>
            <a:off x="971550" y="1792288"/>
            <a:ext cx="725805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Instances of genetic variation, called polymorphisms, sometimes correlate with the emergence of a disease.</a:t>
            </a:r>
          </a:p>
          <a:p>
            <a:endParaRPr lang="en-US" sz="1800" dirty="0"/>
          </a:p>
          <a:p>
            <a:r>
              <a:rPr lang="en-US" sz="1800" dirty="0"/>
              <a:t>Examination of restriction fragment length polymorphisms (RFLP) is an especially powerful means of correlating a mutation with the occurrence of a disease.</a:t>
            </a:r>
          </a:p>
        </p:txBody>
      </p:sp>
      <p:pic>
        <p:nvPicPr>
          <p:cNvPr id="2" name="Picture 1"/>
          <p:cNvPicPr>
            <a:picLocks noChangeAspect="1"/>
          </p:cNvPicPr>
          <p:nvPr/>
        </p:nvPicPr>
        <p:blipFill>
          <a:blip r:embed="rId3"/>
          <a:stretch>
            <a:fillRect/>
          </a:stretch>
        </p:blipFill>
        <p:spPr>
          <a:xfrm>
            <a:off x="1295400" y="0"/>
            <a:ext cx="6553200" cy="711200"/>
          </a:xfrm>
          <a:prstGeom prst="rect">
            <a:avLst/>
          </a:prstGeom>
        </p:spPr>
      </p:pic>
    </p:spTree>
    <p:extLst>
      <p:ext uri="{BB962C8B-B14F-4D97-AF65-F5344CB8AC3E}">
        <p14:creationId xmlns:p14="http://schemas.microsoft.com/office/powerpoint/2010/main" val="2211221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50419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TextBox 3"/>
          <p:cNvSpPr txBox="1">
            <a:spLocks noChangeArrowheads="1"/>
          </p:cNvSpPr>
          <p:nvPr/>
        </p:nvSpPr>
        <p:spPr bwMode="auto">
          <a:xfrm>
            <a:off x="571500" y="2209800"/>
            <a:ext cx="85725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Digestion of DNA by restriction enzymes often generates staggered or sticky ends.</a:t>
            </a:r>
          </a:p>
          <a:p>
            <a:endParaRPr lang="en-US" sz="1800" dirty="0"/>
          </a:p>
          <a:p>
            <a:r>
              <a:rPr lang="en-US" sz="1800" dirty="0"/>
              <a:t>A vector, a piece of DNA readily taken up and replicated by bacteria, is cleaved by the same restriction enzyme used to generate the fragment. When the fragment and the cleaved vector are mixed together, the sticky ends anneal.</a:t>
            </a:r>
          </a:p>
          <a:p>
            <a:endParaRPr lang="en-US" sz="1800" dirty="0"/>
          </a:p>
          <a:p>
            <a:r>
              <a:rPr lang="en-US" sz="1800" dirty="0"/>
              <a:t>DNA ligase is then used to covalently join the fragment and the vector, generating recombinant DNA.</a:t>
            </a:r>
          </a:p>
          <a:p>
            <a:endParaRPr lang="en-US" sz="1800" dirty="0"/>
          </a:p>
          <a:p>
            <a:r>
              <a:rPr lang="en-US" sz="1800" dirty="0"/>
              <a:t>Common vectors are bacterial plasmids and bacteriophage lambda (λ).</a:t>
            </a:r>
          </a:p>
        </p:txBody>
      </p:sp>
      <p:pic>
        <p:nvPicPr>
          <p:cNvPr id="2" name="Picture 1"/>
          <p:cNvPicPr>
            <a:picLocks noChangeAspect="1"/>
          </p:cNvPicPr>
          <p:nvPr/>
        </p:nvPicPr>
        <p:blipFill>
          <a:blip r:embed="rId3"/>
          <a:stretch>
            <a:fillRect/>
          </a:stretch>
        </p:blipFill>
        <p:spPr>
          <a:xfrm>
            <a:off x="1193800" y="336053"/>
            <a:ext cx="6756400" cy="838200"/>
          </a:xfrm>
          <a:prstGeom prst="rect">
            <a:avLst/>
          </a:prstGeom>
        </p:spPr>
      </p:pic>
    </p:spTree>
    <p:extLst>
      <p:ext uri="{BB962C8B-B14F-4D97-AF65-F5344CB8AC3E}">
        <p14:creationId xmlns:p14="http://schemas.microsoft.com/office/powerpoint/2010/main" val="41416619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09.jpg"/>
          <p:cNvPicPr>
            <a:picLocks noChangeAspect="1"/>
          </p:cNvPicPr>
          <p:nvPr/>
        </p:nvPicPr>
        <p:blipFill>
          <a:blip r:embed="rId3"/>
          <a:stretch>
            <a:fillRect/>
          </a:stretch>
        </p:blipFill>
        <p:spPr>
          <a:xfrm>
            <a:off x="304800" y="853439"/>
            <a:ext cx="8534400" cy="5151120"/>
          </a:xfrm>
          <a:prstGeom prst="rect">
            <a:avLst/>
          </a:prstGeom>
        </p:spPr>
      </p:pic>
    </p:spTree>
    <p:extLst>
      <p:ext uri="{BB962C8B-B14F-4D97-AF65-F5344CB8AC3E}">
        <p14:creationId xmlns:p14="http://schemas.microsoft.com/office/powerpoint/2010/main" val="32068406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50419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TextBox 4"/>
          <p:cNvSpPr txBox="1">
            <a:spLocks noChangeArrowheads="1"/>
          </p:cNvSpPr>
          <p:nvPr/>
        </p:nvSpPr>
        <p:spPr bwMode="auto">
          <a:xfrm>
            <a:off x="839788" y="2259013"/>
            <a:ext cx="79232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If the DNA fragment of interest does not contain appropriate restriction sites for vector insertion, a chemically synthesized linker DNA with the required restriction site is added to the fragment.</a:t>
            </a:r>
          </a:p>
        </p:txBody>
      </p:sp>
      <p:pic>
        <p:nvPicPr>
          <p:cNvPr id="2" name="Picture 1"/>
          <p:cNvPicPr>
            <a:picLocks noChangeAspect="1"/>
          </p:cNvPicPr>
          <p:nvPr/>
        </p:nvPicPr>
        <p:blipFill>
          <a:blip r:embed="rId3"/>
          <a:stretch>
            <a:fillRect/>
          </a:stretch>
        </p:blipFill>
        <p:spPr>
          <a:xfrm>
            <a:off x="1076837" y="118803"/>
            <a:ext cx="6756400" cy="838200"/>
          </a:xfrm>
          <a:prstGeom prst="rect">
            <a:avLst/>
          </a:prstGeom>
        </p:spPr>
      </p:pic>
    </p:spTree>
    <p:extLst>
      <p:ext uri="{BB962C8B-B14F-4D97-AF65-F5344CB8AC3E}">
        <p14:creationId xmlns:p14="http://schemas.microsoft.com/office/powerpoint/2010/main" val="27186223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0.jpg"/>
          <p:cNvPicPr>
            <a:picLocks noChangeAspect="1"/>
          </p:cNvPicPr>
          <p:nvPr/>
        </p:nvPicPr>
        <p:blipFill>
          <a:blip r:embed="rId3"/>
          <a:stretch>
            <a:fillRect/>
          </a:stretch>
        </p:blipFill>
        <p:spPr>
          <a:xfrm>
            <a:off x="304800" y="381000"/>
            <a:ext cx="8534400" cy="6096000"/>
          </a:xfrm>
          <a:prstGeom prst="rect">
            <a:avLst/>
          </a:prstGeom>
        </p:spPr>
      </p:pic>
    </p:spTree>
    <p:extLst>
      <p:ext uri="{BB962C8B-B14F-4D97-AF65-F5344CB8AC3E}">
        <p14:creationId xmlns:p14="http://schemas.microsoft.com/office/powerpoint/2010/main" val="18684075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447800"/>
            <a:ext cx="5537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1" name="TextBox 5"/>
          <p:cNvSpPr txBox="1">
            <a:spLocks noChangeArrowheads="1"/>
          </p:cNvSpPr>
          <p:nvPr/>
        </p:nvSpPr>
        <p:spPr bwMode="auto">
          <a:xfrm>
            <a:off x="971550" y="2465388"/>
            <a:ext cx="741045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Specially designed plasmids called cloning vectors allow for efficient insertion of DNA as well as replication</a:t>
            </a:r>
            <a:r>
              <a:rPr lang="en-US" sz="1800" dirty="0" smtClean="0"/>
              <a:t>.</a:t>
            </a:r>
          </a:p>
          <a:p>
            <a:endParaRPr lang="en-US" sz="1800" dirty="0"/>
          </a:p>
          <a:p>
            <a:r>
              <a:rPr lang="en-US" sz="1800" dirty="0"/>
              <a:t>Cloning </a:t>
            </a:r>
            <a:r>
              <a:rPr lang="en-US" sz="1800" dirty="0" smtClean="0"/>
              <a:t>vectors </a:t>
            </a:r>
            <a:r>
              <a:rPr lang="en-US" sz="1800" dirty="0"/>
              <a:t>may have polylinker regions that </a:t>
            </a:r>
            <a:r>
              <a:rPr lang="en-US" sz="1800" dirty="0" smtClean="0"/>
              <a:t>allow </a:t>
            </a:r>
            <a:r>
              <a:rPr lang="en-US" sz="1800" dirty="0"/>
              <a:t>the use of many restriction sites for DNA insertion</a:t>
            </a:r>
            <a:r>
              <a:rPr lang="en-US" sz="1800" dirty="0" smtClean="0"/>
              <a:t>.</a:t>
            </a:r>
            <a:endParaRPr lang="en-US" sz="1800" dirty="0"/>
          </a:p>
          <a:p>
            <a:endParaRPr lang="en-US" sz="1800" dirty="0"/>
          </a:p>
          <a:p>
            <a:r>
              <a:rPr lang="en-US" sz="1800" dirty="0" smtClean="0"/>
              <a:t>Reporter genes, such as </a:t>
            </a:r>
            <a:r>
              <a:rPr lang="en-US" sz="1800" dirty="0" smtClean="0"/>
              <a:t>antibiotic-resistance </a:t>
            </a:r>
            <a:r>
              <a:rPr lang="en-US" sz="1800" dirty="0" smtClean="0"/>
              <a:t>genes, in </a:t>
            </a:r>
            <a:r>
              <a:rPr lang="en-US" sz="1800" dirty="0"/>
              <a:t>the vector make identification of vectors with the inserted DNA simple</a:t>
            </a:r>
            <a:r>
              <a:rPr lang="en-US" sz="1800" dirty="0" smtClean="0"/>
              <a:t>.</a:t>
            </a:r>
          </a:p>
          <a:p>
            <a:endParaRPr lang="en-US" sz="1800" dirty="0"/>
          </a:p>
          <a:p>
            <a:r>
              <a:rPr lang="en-US" sz="1800" dirty="0" smtClean="0"/>
              <a:t>Insertional inactivation also allows detection of plasmids that harbor insertions.</a:t>
            </a:r>
            <a:endParaRPr lang="en-US" sz="1800" dirty="0"/>
          </a:p>
          <a:p>
            <a:endParaRPr lang="en-US" sz="1800" dirty="0"/>
          </a:p>
          <a:p>
            <a:r>
              <a:rPr lang="en-US" sz="1800" dirty="0" smtClean="0"/>
              <a:t>Cloning vectors contain promoters that facilitate transcription of the insert and sequences that allow translation.</a:t>
            </a:r>
          </a:p>
          <a:p>
            <a:endParaRPr lang="en-US" sz="1800" dirty="0"/>
          </a:p>
        </p:txBody>
      </p:sp>
      <p:pic>
        <p:nvPicPr>
          <p:cNvPr id="2" name="Picture 1"/>
          <p:cNvPicPr>
            <a:picLocks noChangeAspect="1"/>
          </p:cNvPicPr>
          <p:nvPr/>
        </p:nvPicPr>
        <p:blipFill>
          <a:blip r:embed="rId3"/>
          <a:stretch>
            <a:fillRect/>
          </a:stretch>
        </p:blipFill>
        <p:spPr>
          <a:xfrm>
            <a:off x="971550" y="252495"/>
            <a:ext cx="6756400" cy="838200"/>
          </a:xfrm>
          <a:prstGeom prst="rect">
            <a:avLst/>
          </a:prstGeom>
        </p:spPr>
      </p:pic>
    </p:spTree>
    <p:extLst>
      <p:ext uri="{BB962C8B-B14F-4D97-AF65-F5344CB8AC3E}">
        <p14:creationId xmlns:p14="http://schemas.microsoft.com/office/powerpoint/2010/main" val="40140315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1.jpg"/>
          <p:cNvPicPr>
            <a:picLocks noChangeAspect="1"/>
          </p:cNvPicPr>
          <p:nvPr/>
        </p:nvPicPr>
        <p:blipFill>
          <a:blip r:embed="rId3"/>
          <a:stretch>
            <a:fillRect/>
          </a:stretch>
        </p:blipFill>
        <p:spPr>
          <a:xfrm>
            <a:off x="646176" y="192023"/>
            <a:ext cx="7851648" cy="6473952"/>
          </a:xfrm>
          <a:prstGeom prst="rect">
            <a:avLst/>
          </a:prstGeom>
        </p:spPr>
      </p:pic>
    </p:spTree>
    <p:extLst>
      <p:ext uri="{BB962C8B-B14F-4D97-AF65-F5344CB8AC3E}">
        <p14:creationId xmlns:p14="http://schemas.microsoft.com/office/powerpoint/2010/main" val="22200607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5_12.jpg"/>
          <p:cNvPicPr>
            <a:picLocks noChangeAspect="1"/>
          </p:cNvPicPr>
          <p:nvPr/>
        </p:nvPicPr>
        <p:blipFill>
          <a:blip r:embed="rId3"/>
          <a:stretch>
            <a:fillRect/>
          </a:stretch>
        </p:blipFill>
        <p:spPr>
          <a:xfrm>
            <a:off x="2286000" y="192023"/>
            <a:ext cx="4572000" cy="6473952"/>
          </a:xfrm>
          <a:prstGeom prst="rect">
            <a:avLst/>
          </a:prstGeom>
        </p:spPr>
      </p:pic>
    </p:spTree>
    <p:extLst>
      <p:ext uri="{BB962C8B-B14F-4D97-AF65-F5344CB8AC3E}">
        <p14:creationId xmlns:p14="http://schemas.microsoft.com/office/powerpoint/2010/main" val="36277455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447800"/>
            <a:ext cx="5537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TextBox 1"/>
          <p:cNvSpPr txBox="1">
            <a:spLocks noChangeArrowheads="1"/>
          </p:cNvSpPr>
          <p:nvPr/>
        </p:nvSpPr>
        <p:spPr bwMode="auto">
          <a:xfrm>
            <a:off x="838200" y="2209800"/>
            <a:ext cx="79248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Bacteriophage lambda (λ) is a commonly used cloning vector.</a:t>
            </a:r>
          </a:p>
          <a:p>
            <a:endParaRPr lang="en-US" sz="1800" dirty="0"/>
          </a:p>
          <a:p>
            <a:r>
              <a:rPr lang="en-US" sz="1800" dirty="0"/>
              <a:t>λ </a:t>
            </a:r>
            <a:r>
              <a:rPr lang="en-US" sz="1800" dirty="0"/>
              <a:t>phage can infect a cell and cause cell lysis (lytic pathway) or become stably integrated into the host DNA (lysogenic pathway) and be replicated indefinitely. Environmental changes can cause the switch </a:t>
            </a:r>
            <a:r>
              <a:rPr lang="en-US" sz="1800" dirty="0" smtClean="0"/>
              <a:t>from </a:t>
            </a:r>
            <a:r>
              <a:rPr lang="en-US" sz="1800" dirty="0"/>
              <a:t>lysogenic to lytic pathway.</a:t>
            </a:r>
          </a:p>
          <a:p>
            <a:endParaRPr lang="en-US" sz="1800" dirty="0"/>
          </a:p>
          <a:p>
            <a:r>
              <a:rPr lang="en-US" sz="1800" dirty="0"/>
              <a:t>Mutant λ phage have missing DNA that can be replaced with DNA to be cloned.</a:t>
            </a:r>
          </a:p>
          <a:p>
            <a:endParaRPr lang="en-US" sz="1800" dirty="0"/>
          </a:p>
          <a:p>
            <a:r>
              <a:rPr lang="en-US" sz="1800" dirty="0"/>
              <a:t>A cosmid is a hybrid of λ phage and a plasmid that is used to clone large pieces of DNA.</a:t>
            </a:r>
          </a:p>
        </p:txBody>
      </p:sp>
      <p:pic>
        <p:nvPicPr>
          <p:cNvPr id="2" name="Picture 1"/>
          <p:cNvPicPr>
            <a:picLocks noChangeAspect="1"/>
          </p:cNvPicPr>
          <p:nvPr/>
        </p:nvPicPr>
        <p:blipFill>
          <a:blip r:embed="rId3"/>
          <a:stretch>
            <a:fillRect/>
          </a:stretch>
        </p:blipFill>
        <p:spPr>
          <a:xfrm>
            <a:off x="838200" y="308792"/>
            <a:ext cx="6756400" cy="838200"/>
          </a:xfrm>
          <a:prstGeom prst="rect">
            <a:avLst/>
          </a:prstGeom>
        </p:spPr>
      </p:pic>
    </p:spTree>
    <p:extLst>
      <p:ext uri="{BB962C8B-B14F-4D97-AF65-F5344CB8AC3E}">
        <p14:creationId xmlns:p14="http://schemas.microsoft.com/office/powerpoint/2010/main" val="3141163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3.jpg"/>
          <p:cNvPicPr>
            <a:picLocks noChangeAspect="1"/>
          </p:cNvPicPr>
          <p:nvPr/>
        </p:nvPicPr>
        <p:blipFill>
          <a:blip r:embed="rId3"/>
          <a:stretch>
            <a:fillRect/>
          </a:stretch>
        </p:blipFill>
        <p:spPr>
          <a:xfrm>
            <a:off x="304800" y="1642872"/>
            <a:ext cx="8534400" cy="3572256"/>
          </a:xfrm>
          <a:prstGeom prst="rect">
            <a:avLst/>
          </a:prstGeom>
        </p:spPr>
      </p:pic>
    </p:spTree>
    <p:extLst>
      <p:ext uri="{BB962C8B-B14F-4D97-AF65-F5344CB8AC3E}">
        <p14:creationId xmlns:p14="http://schemas.microsoft.com/office/powerpoint/2010/main" val="19924849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4.jpg"/>
          <p:cNvPicPr>
            <a:picLocks noChangeAspect="1"/>
          </p:cNvPicPr>
          <p:nvPr/>
        </p:nvPicPr>
        <p:blipFill>
          <a:blip r:embed="rId3"/>
          <a:stretch>
            <a:fillRect/>
          </a:stretch>
        </p:blipFill>
        <p:spPr>
          <a:xfrm>
            <a:off x="1207008" y="192023"/>
            <a:ext cx="6729984" cy="6473952"/>
          </a:xfrm>
          <a:prstGeom prst="rect">
            <a:avLst/>
          </a:prstGeom>
        </p:spPr>
      </p:pic>
    </p:spTree>
    <p:extLst>
      <p:ext uri="{BB962C8B-B14F-4D97-AF65-F5344CB8AC3E}">
        <p14:creationId xmlns:p14="http://schemas.microsoft.com/office/powerpoint/2010/main" val="2058034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295400"/>
            <a:ext cx="4152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TextBox 3"/>
          <p:cNvSpPr txBox="1">
            <a:spLocks noChangeArrowheads="1"/>
          </p:cNvSpPr>
          <p:nvPr/>
        </p:nvSpPr>
        <p:spPr bwMode="auto">
          <a:xfrm>
            <a:off x="228600" y="2286000"/>
            <a:ext cx="868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Bacterial artificial chromosomes (BACs) and yeast artificial chromosomes (YACs) are especially useful for cloning large fragments of DNA.</a:t>
            </a:r>
          </a:p>
          <a:p>
            <a:endParaRPr lang="en-US" sz="1800" dirty="0"/>
          </a:p>
          <a:p>
            <a:r>
              <a:rPr lang="en-US" sz="1800" dirty="0"/>
              <a:t>YACs contain an </a:t>
            </a:r>
            <a:r>
              <a:rPr lang="en-US" sz="1800" dirty="0" smtClean="0"/>
              <a:t>autonomously </a:t>
            </a:r>
            <a:r>
              <a:rPr lang="en-US" sz="1800" dirty="0"/>
              <a:t>replicating sequence (ARS) where replication begins.</a:t>
            </a:r>
          </a:p>
        </p:txBody>
      </p:sp>
      <p:pic>
        <p:nvPicPr>
          <p:cNvPr id="2" name="Picture 1"/>
          <p:cNvPicPr>
            <a:picLocks noChangeAspect="1"/>
          </p:cNvPicPr>
          <p:nvPr/>
        </p:nvPicPr>
        <p:blipFill>
          <a:blip r:embed="rId3"/>
          <a:stretch>
            <a:fillRect/>
          </a:stretch>
        </p:blipFill>
        <p:spPr>
          <a:xfrm>
            <a:off x="826202" y="457200"/>
            <a:ext cx="6756400" cy="838200"/>
          </a:xfrm>
          <a:prstGeom prst="rect">
            <a:avLst/>
          </a:prstGeom>
        </p:spPr>
      </p:pic>
    </p:spTree>
    <p:extLst>
      <p:ext uri="{BB962C8B-B14F-4D97-AF65-F5344CB8AC3E}">
        <p14:creationId xmlns:p14="http://schemas.microsoft.com/office/powerpoint/2010/main" val="29030845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5.jpg"/>
          <p:cNvPicPr>
            <a:picLocks noChangeAspect="1"/>
          </p:cNvPicPr>
          <p:nvPr/>
        </p:nvPicPr>
        <p:blipFill>
          <a:blip r:embed="rId3"/>
          <a:stretch>
            <a:fillRect/>
          </a:stretch>
        </p:blipFill>
        <p:spPr>
          <a:xfrm>
            <a:off x="2456688" y="192023"/>
            <a:ext cx="4230624" cy="6473952"/>
          </a:xfrm>
          <a:prstGeom prst="rect">
            <a:avLst/>
          </a:prstGeom>
        </p:spPr>
      </p:pic>
    </p:spTree>
    <p:extLst>
      <p:ext uri="{BB962C8B-B14F-4D97-AF65-F5344CB8AC3E}">
        <p14:creationId xmlns:p14="http://schemas.microsoft.com/office/powerpoint/2010/main" val="31926719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95400"/>
            <a:ext cx="5880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Rectangle 3"/>
          <p:cNvSpPr>
            <a:spLocks noChangeArrowheads="1"/>
          </p:cNvSpPr>
          <p:nvPr/>
        </p:nvSpPr>
        <p:spPr bwMode="auto">
          <a:xfrm>
            <a:off x="533400" y="1905000"/>
            <a:ext cx="8305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800" dirty="0"/>
              <a:t>Probes are used to screen a cDNA library for a particular DNA sequence.</a:t>
            </a:r>
          </a:p>
          <a:p>
            <a:endParaRPr lang="en-US" sz="1800" dirty="0"/>
          </a:p>
          <a:p>
            <a:r>
              <a:rPr lang="en-US" sz="1800" dirty="0"/>
              <a:t>Probes can be synthesized from knowledge of the protein sequence of the gene of interest.</a:t>
            </a:r>
          </a:p>
          <a:p>
            <a:endParaRPr lang="en-US" sz="1800" dirty="0"/>
          </a:p>
          <a:p>
            <a:r>
              <a:rPr lang="en-US" sz="1800" dirty="0"/>
              <a:t>Probes can also be generated from mRNA of the corresponding protein.</a:t>
            </a:r>
          </a:p>
        </p:txBody>
      </p:sp>
      <p:pic>
        <p:nvPicPr>
          <p:cNvPr id="2" name="Picture 1"/>
          <p:cNvPicPr>
            <a:picLocks noChangeAspect="1"/>
          </p:cNvPicPr>
          <p:nvPr/>
        </p:nvPicPr>
        <p:blipFill>
          <a:blip r:embed="rId3"/>
          <a:stretch>
            <a:fillRect/>
          </a:stretch>
        </p:blipFill>
        <p:spPr>
          <a:xfrm>
            <a:off x="1360890" y="319342"/>
            <a:ext cx="6756400" cy="838200"/>
          </a:xfrm>
          <a:prstGeom prst="rect">
            <a:avLst/>
          </a:prstGeom>
        </p:spPr>
      </p:pic>
    </p:spTree>
    <p:extLst>
      <p:ext uri="{BB962C8B-B14F-4D97-AF65-F5344CB8AC3E}">
        <p14:creationId xmlns:p14="http://schemas.microsoft.com/office/powerpoint/2010/main" val="28005004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6.jpg"/>
          <p:cNvPicPr>
            <a:picLocks noChangeAspect="1"/>
          </p:cNvPicPr>
          <p:nvPr/>
        </p:nvPicPr>
        <p:blipFill>
          <a:blip r:embed="rId3"/>
          <a:stretch>
            <a:fillRect/>
          </a:stretch>
        </p:blipFill>
        <p:spPr>
          <a:xfrm>
            <a:off x="304800" y="2365247"/>
            <a:ext cx="8534400" cy="2127504"/>
          </a:xfrm>
          <a:prstGeom prst="rect">
            <a:avLst/>
          </a:prstGeom>
        </p:spPr>
      </p:pic>
    </p:spTree>
    <p:extLst>
      <p:ext uri="{BB962C8B-B14F-4D97-AF65-F5344CB8AC3E}">
        <p14:creationId xmlns:p14="http://schemas.microsoft.com/office/powerpoint/2010/main" val="31894645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28824"/>
            <a:ext cx="5880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Box 4"/>
          <p:cNvSpPr txBox="1">
            <a:spLocks noChangeArrowheads="1"/>
          </p:cNvSpPr>
          <p:nvPr/>
        </p:nvSpPr>
        <p:spPr bwMode="auto">
          <a:xfrm>
            <a:off x="660400" y="2743200"/>
            <a:ext cx="8178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genomic library is made by fragmenting the entire genome of an organism and inserting the fragments into a vector such as λ phage.</a:t>
            </a:r>
          </a:p>
          <a:p>
            <a:endParaRPr lang="en-US" sz="1800" dirty="0"/>
          </a:p>
          <a:p>
            <a:r>
              <a:rPr lang="en-US" sz="1800" dirty="0"/>
              <a:t>Bacteria are infected with the λ phage, replicas appear and </a:t>
            </a:r>
            <a:r>
              <a:rPr lang="en-US" sz="1800" dirty="0" smtClean="0"/>
              <a:t>are then </a:t>
            </a:r>
            <a:r>
              <a:rPr lang="en-US" sz="1800" dirty="0"/>
              <a:t>screened using radioactive probes for the gene of interest.</a:t>
            </a:r>
          </a:p>
        </p:txBody>
      </p:sp>
      <p:pic>
        <p:nvPicPr>
          <p:cNvPr id="2" name="Picture 1"/>
          <p:cNvPicPr>
            <a:picLocks noChangeAspect="1"/>
          </p:cNvPicPr>
          <p:nvPr/>
        </p:nvPicPr>
        <p:blipFill>
          <a:blip r:embed="rId3"/>
          <a:stretch>
            <a:fillRect/>
          </a:stretch>
        </p:blipFill>
        <p:spPr>
          <a:xfrm>
            <a:off x="1360890" y="440488"/>
            <a:ext cx="6756400" cy="838200"/>
          </a:xfrm>
          <a:prstGeom prst="rect">
            <a:avLst/>
          </a:prstGeom>
        </p:spPr>
      </p:pic>
    </p:spTree>
    <p:extLst>
      <p:ext uri="{BB962C8B-B14F-4D97-AF65-F5344CB8AC3E}">
        <p14:creationId xmlns:p14="http://schemas.microsoft.com/office/powerpoint/2010/main" val="39069679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7.jpg"/>
          <p:cNvPicPr>
            <a:picLocks noChangeAspect="1"/>
          </p:cNvPicPr>
          <p:nvPr/>
        </p:nvPicPr>
        <p:blipFill>
          <a:blip r:embed="rId3"/>
          <a:stretch>
            <a:fillRect/>
          </a:stretch>
        </p:blipFill>
        <p:spPr>
          <a:xfrm>
            <a:off x="2569464" y="192023"/>
            <a:ext cx="4005072" cy="6473952"/>
          </a:xfrm>
          <a:prstGeom prst="rect">
            <a:avLst/>
          </a:prstGeom>
        </p:spPr>
      </p:pic>
    </p:spTree>
    <p:extLst>
      <p:ext uri="{BB962C8B-B14F-4D97-AF65-F5344CB8AC3E}">
        <p14:creationId xmlns:p14="http://schemas.microsoft.com/office/powerpoint/2010/main" val="25195214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8.jpg"/>
          <p:cNvPicPr>
            <a:picLocks noChangeAspect="1"/>
          </p:cNvPicPr>
          <p:nvPr/>
        </p:nvPicPr>
        <p:blipFill>
          <a:blip r:embed="rId3"/>
          <a:stretch>
            <a:fillRect/>
          </a:stretch>
        </p:blipFill>
        <p:spPr>
          <a:xfrm>
            <a:off x="3069335" y="192023"/>
            <a:ext cx="3005328" cy="6473952"/>
          </a:xfrm>
          <a:prstGeom prst="rect">
            <a:avLst/>
          </a:prstGeom>
        </p:spPr>
      </p:pic>
    </p:spTree>
    <p:extLst>
      <p:ext uri="{BB962C8B-B14F-4D97-AF65-F5344CB8AC3E}">
        <p14:creationId xmlns:p14="http://schemas.microsoft.com/office/powerpoint/2010/main" val="42865149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19200"/>
            <a:ext cx="6121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TextBox 3"/>
          <p:cNvSpPr txBox="1">
            <a:spLocks noChangeArrowheads="1"/>
          </p:cNvSpPr>
          <p:nvPr/>
        </p:nvSpPr>
        <p:spPr bwMode="auto">
          <a:xfrm>
            <a:off x="533400" y="2298700"/>
            <a:ext cx="815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Complementary DNA (cDNA) is a </a:t>
            </a:r>
            <a:r>
              <a:rPr lang="en-US" sz="1800" dirty="0" smtClean="0"/>
              <a:t>double-stranded </a:t>
            </a:r>
            <a:r>
              <a:rPr lang="en-US" sz="1800" dirty="0"/>
              <a:t>DNA molecule generated from an mRNA template by the enzyme reverse transcriptase, a retroviral enzyme.</a:t>
            </a:r>
          </a:p>
        </p:txBody>
      </p:sp>
      <p:sp>
        <p:nvSpPr>
          <p:cNvPr id="74756" name="TextBox 4"/>
          <p:cNvSpPr txBox="1">
            <a:spLocks noChangeArrowheads="1"/>
          </p:cNvSpPr>
          <p:nvPr/>
        </p:nvSpPr>
        <p:spPr bwMode="auto">
          <a:xfrm>
            <a:off x="533400" y="3276600"/>
            <a:ext cx="84963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Complementary DNA can be synthesized from all of the mRNA that a cell contains and inserted into a cloning vector to generate a cDNA library.</a:t>
            </a:r>
          </a:p>
          <a:p>
            <a:endParaRPr lang="en-US" dirty="0"/>
          </a:p>
          <a:p>
            <a:r>
              <a:rPr lang="en-US" sz="1800" dirty="0"/>
              <a:t>Clones containing cDNA from eukaryotes can be expressed in bacteria.</a:t>
            </a:r>
          </a:p>
        </p:txBody>
      </p:sp>
      <p:pic>
        <p:nvPicPr>
          <p:cNvPr id="2" name="Picture 1"/>
          <p:cNvPicPr>
            <a:picLocks noChangeAspect="1"/>
          </p:cNvPicPr>
          <p:nvPr/>
        </p:nvPicPr>
        <p:blipFill>
          <a:blip r:embed="rId3"/>
          <a:stretch>
            <a:fillRect/>
          </a:stretch>
        </p:blipFill>
        <p:spPr>
          <a:xfrm>
            <a:off x="1193800" y="168938"/>
            <a:ext cx="6756400" cy="838200"/>
          </a:xfrm>
          <a:prstGeom prst="rect">
            <a:avLst/>
          </a:prstGeom>
        </p:spPr>
      </p:pic>
    </p:spTree>
    <p:extLst>
      <p:ext uri="{BB962C8B-B14F-4D97-AF65-F5344CB8AC3E}">
        <p14:creationId xmlns:p14="http://schemas.microsoft.com/office/powerpoint/2010/main" val="9194577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19.jpg"/>
          <p:cNvPicPr>
            <a:picLocks noChangeAspect="1"/>
          </p:cNvPicPr>
          <p:nvPr/>
        </p:nvPicPr>
        <p:blipFill>
          <a:blip r:embed="rId3"/>
          <a:stretch>
            <a:fillRect/>
          </a:stretch>
        </p:blipFill>
        <p:spPr>
          <a:xfrm>
            <a:off x="304800" y="1837944"/>
            <a:ext cx="8534400" cy="3182112"/>
          </a:xfrm>
          <a:prstGeom prst="rect">
            <a:avLst/>
          </a:prstGeom>
        </p:spPr>
      </p:pic>
    </p:spTree>
    <p:extLst>
      <p:ext uri="{BB962C8B-B14F-4D97-AF65-F5344CB8AC3E}">
        <p14:creationId xmlns:p14="http://schemas.microsoft.com/office/powerpoint/2010/main" val="10208259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extBox 1"/>
          <p:cNvSpPr txBox="1">
            <a:spLocks noChangeArrowheads="1"/>
          </p:cNvSpPr>
          <p:nvPr/>
        </p:nvSpPr>
        <p:spPr bwMode="auto">
          <a:xfrm>
            <a:off x="749300" y="2552700"/>
            <a:ext cx="7620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Complementary DNA can also be inserted into expression vectors.</a:t>
            </a:r>
          </a:p>
          <a:p>
            <a:endParaRPr lang="en-US" sz="1800" dirty="0"/>
          </a:p>
          <a:p>
            <a:r>
              <a:rPr lang="en-US" sz="1800" dirty="0"/>
              <a:t>Expression vectors are plasmids or λ phage that have powerful promoters for transcription as well as a segment of DNA that encodes a ribosome-binding site that is expressed with the mRNA encoded by the cDNA.</a:t>
            </a:r>
          </a:p>
          <a:p>
            <a:endParaRPr lang="en-US" sz="1800" dirty="0"/>
          </a:p>
          <a:p>
            <a:r>
              <a:rPr lang="en-US" sz="1800" dirty="0"/>
              <a:t>Expression vectors allow for not only transcription but also translation of the cDNA library.</a:t>
            </a:r>
          </a:p>
          <a:p>
            <a:endParaRPr lang="en-US" sz="1800" dirty="0"/>
          </a:p>
          <a:p>
            <a:r>
              <a:rPr lang="en-US" sz="1800" dirty="0"/>
              <a:t>Replica plates are made of a λ phage containing an expression vector, and the plaques are probed with an antibody for the protein of interest.</a:t>
            </a:r>
          </a:p>
        </p:txBody>
      </p:sp>
      <p:pic>
        <p:nvPicPr>
          <p:cNvPr id="7782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19200"/>
            <a:ext cx="6121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stretch>
            <a:fillRect/>
          </a:stretch>
        </p:blipFill>
        <p:spPr>
          <a:xfrm>
            <a:off x="1193800" y="381000"/>
            <a:ext cx="6756400" cy="838200"/>
          </a:xfrm>
          <a:prstGeom prst="rect">
            <a:avLst/>
          </a:prstGeom>
        </p:spPr>
      </p:pic>
    </p:spTree>
    <p:extLst>
      <p:ext uri="{BB962C8B-B14F-4D97-AF65-F5344CB8AC3E}">
        <p14:creationId xmlns:p14="http://schemas.microsoft.com/office/powerpoint/2010/main" val="33532880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20.jpg"/>
          <p:cNvPicPr>
            <a:picLocks noChangeAspect="1"/>
          </p:cNvPicPr>
          <p:nvPr/>
        </p:nvPicPr>
        <p:blipFill>
          <a:blip r:embed="rId3"/>
          <a:stretch>
            <a:fillRect/>
          </a:stretch>
        </p:blipFill>
        <p:spPr>
          <a:xfrm>
            <a:off x="2840735" y="192023"/>
            <a:ext cx="3462528" cy="6473952"/>
          </a:xfrm>
          <a:prstGeom prst="rect">
            <a:avLst/>
          </a:prstGeom>
        </p:spPr>
      </p:pic>
    </p:spTree>
    <p:extLst>
      <p:ext uri="{BB962C8B-B14F-4D97-AF65-F5344CB8AC3E}">
        <p14:creationId xmlns:p14="http://schemas.microsoft.com/office/powerpoint/2010/main" val="4740616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21.jpg"/>
          <p:cNvPicPr>
            <a:picLocks noChangeAspect="1"/>
          </p:cNvPicPr>
          <p:nvPr/>
        </p:nvPicPr>
        <p:blipFill>
          <a:blip r:embed="rId3"/>
          <a:stretch>
            <a:fillRect/>
          </a:stretch>
        </p:blipFill>
        <p:spPr>
          <a:xfrm>
            <a:off x="304800" y="1783079"/>
            <a:ext cx="8534400" cy="3291840"/>
          </a:xfrm>
          <a:prstGeom prst="rect">
            <a:avLst/>
          </a:prstGeom>
        </p:spPr>
      </p:pic>
    </p:spTree>
    <p:extLst>
      <p:ext uri="{BB962C8B-B14F-4D97-AF65-F5344CB8AC3E}">
        <p14:creationId xmlns:p14="http://schemas.microsoft.com/office/powerpoint/2010/main" val="41318754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04950"/>
            <a:ext cx="6959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3"/>
          <p:cNvSpPr txBox="1">
            <a:spLocks noChangeArrowheads="1"/>
          </p:cNvSpPr>
          <p:nvPr/>
        </p:nvSpPr>
        <p:spPr bwMode="auto">
          <a:xfrm>
            <a:off x="381000" y="2133600"/>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Recombinant DNA techniques allows for the introduction of  specific mutations in vitro,  permitting the investigation of protein structure and functions.</a:t>
            </a:r>
          </a:p>
          <a:p>
            <a:endParaRPr lang="en-US" sz="1800" dirty="0"/>
          </a:p>
          <a:p>
            <a:r>
              <a:rPr lang="en-US" sz="1800" dirty="0"/>
              <a:t>The three main classes of mutations are deletions, insertions and substitutions.</a:t>
            </a:r>
          </a:p>
        </p:txBody>
      </p:sp>
      <p:pic>
        <p:nvPicPr>
          <p:cNvPr id="2" name="Picture 1"/>
          <p:cNvPicPr>
            <a:picLocks noChangeAspect="1"/>
          </p:cNvPicPr>
          <p:nvPr/>
        </p:nvPicPr>
        <p:blipFill>
          <a:blip r:embed="rId3"/>
          <a:stretch>
            <a:fillRect/>
          </a:stretch>
        </p:blipFill>
        <p:spPr>
          <a:xfrm>
            <a:off x="1193800" y="381000"/>
            <a:ext cx="6756400" cy="838200"/>
          </a:xfrm>
          <a:prstGeom prst="rect">
            <a:avLst/>
          </a:prstGeom>
        </p:spPr>
      </p:pic>
    </p:spTree>
    <p:extLst>
      <p:ext uri="{BB962C8B-B14F-4D97-AF65-F5344CB8AC3E}">
        <p14:creationId xmlns:p14="http://schemas.microsoft.com/office/powerpoint/2010/main" val="42229630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19200"/>
            <a:ext cx="6959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TextBox 4"/>
          <p:cNvSpPr txBox="1">
            <a:spLocks noChangeArrowheads="1"/>
          </p:cNvSpPr>
          <p:nvPr/>
        </p:nvSpPr>
        <p:spPr bwMode="auto">
          <a:xfrm>
            <a:off x="609600" y="2057400"/>
            <a:ext cx="8083550" cy="2862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smtClean="0"/>
              <a:t>Site-direct mutagenesis allows the generation of mutant proteins with a single amino acid substitution.</a:t>
            </a:r>
          </a:p>
          <a:p>
            <a:endParaRPr lang="en-US" sz="1800" dirty="0"/>
          </a:p>
          <a:p>
            <a:r>
              <a:rPr lang="en-US" sz="1800" dirty="0" smtClean="0"/>
              <a:t>Cassette mutagenesis allows more complex sets of mutations. </a:t>
            </a:r>
            <a:r>
              <a:rPr lang="en-US" sz="1800" dirty="0" smtClean="0"/>
              <a:t>An </a:t>
            </a:r>
            <a:r>
              <a:rPr lang="en-US" sz="1800" dirty="0" smtClean="0"/>
              <a:t>oligonucleotide—a cassette—containing the mutations is inserted into the gene of interest.</a:t>
            </a:r>
          </a:p>
          <a:p>
            <a:endParaRPr lang="en-US" sz="1800" dirty="0"/>
          </a:p>
          <a:p>
            <a:r>
              <a:rPr lang="en-US" sz="1800" dirty="0" smtClean="0"/>
              <a:t>Mutagenesis by PCR uses primers to introduce insertions, </a:t>
            </a:r>
            <a:r>
              <a:rPr lang="en-US" sz="1800" dirty="0" smtClean="0"/>
              <a:t>deletions, </a:t>
            </a:r>
            <a:r>
              <a:rPr lang="en-US" sz="1800" dirty="0" smtClean="0"/>
              <a:t>and substitutions.</a:t>
            </a:r>
          </a:p>
          <a:p>
            <a:endParaRPr lang="en-US" sz="1800" dirty="0"/>
          </a:p>
          <a:p>
            <a:r>
              <a:rPr lang="en-US" sz="1800" dirty="0" smtClean="0"/>
              <a:t>The various means of altering DNA </a:t>
            </a:r>
            <a:r>
              <a:rPr lang="en-US" sz="1800" dirty="0" smtClean="0"/>
              <a:t>allow </a:t>
            </a:r>
            <a:r>
              <a:rPr lang="en-US" sz="1800" dirty="0" smtClean="0"/>
              <a:t>for the development of designer proteins, novel </a:t>
            </a:r>
            <a:r>
              <a:rPr lang="en-US" sz="1800" dirty="0" smtClean="0"/>
              <a:t>proteins </a:t>
            </a:r>
            <a:r>
              <a:rPr lang="en-US" sz="1800" dirty="0" smtClean="0"/>
              <a:t>that are not found in nature.</a:t>
            </a:r>
            <a:endParaRPr lang="en-US" sz="1800" dirty="0"/>
          </a:p>
        </p:txBody>
      </p:sp>
      <p:pic>
        <p:nvPicPr>
          <p:cNvPr id="2" name="Picture 1"/>
          <p:cNvPicPr>
            <a:picLocks noChangeAspect="1"/>
          </p:cNvPicPr>
          <p:nvPr/>
        </p:nvPicPr>
        <p:blipFill>
          <a:blip r:embed="rId3"/>
          <a:stretch>
            <a:fillRect/>
          </a:stretch>
        </p:blipFill>
        <p:spPr>
          <a:xfrm>
            <a:off x="1193800" y="185649"/>
            <a:ext cx="6756400" cy="838200"/>
          </a:xfrm>
          <a:prstGeom prst="rect">
            <a:avLst/>
          </a:prstGeom>
        </p:spPr>
      </p:pic>
    </p:spTree>
    <p:extLst>
      <p:ext uri="{BB962C8B-B14F-4D97-AF65-F5344CB8AC3E}">
        <p14:creationId xmlns:p14="http://schemas.microsoft.com/office/powerpoint/2010/main" val="8903203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22.jpg"/>
          <p:cNvPicPr>
            <a:picLocks noChangeAspect="1"/>
          </p:cNvPicPr>
          <p:nvPr/>
        </p:nvPicPr>
        <p:blipFill>
          <a:blip r:embed="rId3"/>
          <a:stretch>
            <a:fillRect/>
          </a:stretch>
        </p:blipFill>
        <p:spPr>
          <a:xfrm>
            <a:off x="304800" y="1743455"/>
            <a:ext cx="8534400" cy="3371088"/>
          </a:xfrm>
          <a:prstGeom prst="rect">
            <a:avLst/>
          </a:prstGeom>
        </p:spPr>
      </p:pic>
    </p:spTree>
    <p:extLst>
      <p:ext uri="{BB962C8B-B14F-4D97-AF65-F5344CB8AC3E}">
        <p14:creationId xmlns:p14="http://schemas.microsoft.com/office/powerpoint/2010/main" val="2109946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23.jpg"/>
          <p:cNvPicPr>
            <a:picLocks noChangeAspect="1"/>
          </p:cNvPicPr>
          <p:nvPr/>
        </p:nvPicPr>
        <p:blipFill>
          <a:blip r:embed="rId3"/>
          <a:stretch>
            <a:fillRect/>
          </a:stretch>
        </p:blipFill>
        <p:spPr>
          <a:xfrm>
            <a:off x="2965703" y="192023"/>
            <a:ext cx="3212592" cy="6473952"/>
          </a:xfrm>
          <a:prstGeom prst="rect">
            <a:avLst/>
          </a:prstGeom>
        </p:spPr>
      </p:pic>
    </p:spTree>
    <p:extLst>
      <p:ext uri="{BB962C8B-B14F-4D97-AF65-F5344CB8AC3E}">
        <p14:creationId xmlns:p14="http://schemas.microsoft.com/office/powerpoint/2010/main" val="42040064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5_24.jpg"/>
          <p:cNvPicPr>
            <a:picLocks noChangeAspect="1"/>
          </p:cNvPicPr>
          <p:nvPr/>
        </p:nvPicPr>
        <p:blipFill>
          <a:blip r:embed="rId3"/>
          <a:stretch>
            <a:fillRect/>
          </a:stretch>
        </p:blipFill>
        <p:spPr>
          <a:xfrm>
            <a:off x="2755392" y="192023"/>
            <a:ext cx="3633216" cy="6473952"/>
          </a:xfrm>
          <a:prstGeom prst="rect">
            <a:avLst/>
          </a:prstGeom>
        </p:spPr>
      </p:pic>
    </p:spTree>
    <p:extLst>
      <p:ext uri="{BB962C8B-B14F-4D97-AF65-F5344CB8AC3E}">
        <p14:creationId xmlns:p14="http://schemas.microsoft.com/office/powerpoint/2010/main" val="95109147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TextBox 4"/>
          <p:cNvSpPr txBox="1">
            <a:spLocks noChangeArrowheads="1"/>
          </p:cNvSpPr>
          <p:nvPr/>
        </p:nvSpPr>
        <p:spPr bwMode="auto">
          <a:xfrm>
            <a:off x="609600" y="2057400"/>
            <a:ext cx="8083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800" dirty="0"/>
          </a:p>
        </p:txBody>
      </p:sp>
      <p:pic>
        <p:nvPicPr>
          <p:cNvPr id="2" name="Picture 1"/>
          <p:cNvPicPr>
            <a:picLocks noChangeAspect="1"/>
          </p:cNvPicPr>
          <p:nvPr/>
        </p:nvPicPr>
        <p:blipFill>
          <a:blip r:embed="rId2"/>
          <a:stretch>
            <a:fillRect/>
          </a:stretch>
        </p:blipFill>
        <p:spPr>
          <a:xfrm>
            <a:off x="1193800" y="185649"/>
            <a:ext cx="6756400" cy="8382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34465"/>
            <a:ext cx="698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002540" y="2673846"/>
            <a:ext cx="8141460" cy="1200329"/>
          </a:xfrm>
          <a:prstGeom prst="rect">
            <a:avLst/>
          </a:prstGeom>
          <a:noFill/>
        </p:spPr>
        <p:txBody>
          <a:bodyPr wrap="square" rtlCol="0">
            <a:spAutoFit/>
          </a:bodyPr>
          <a:lstStyle/>
          <a:p>
            <a:r>
              <a:rPr lang="en-US" dirty="0" smtClean="0"/>
              <a:t>Amyotrophic lateral sclerosis may be caused, at least in part, by mutations in the  gene encoding superoxide dismutase.</a:t>
            </a:r>
          </a:p>
          <a:p>
            <a:endParaRPr lang="en-US" dirty="0"/>
          </a:p>
          <a:p>
            <a:r>
              <a:rPr lang="en-US" dirty="0" smtClean="0"/>
              <a:t>Interestingly, the mutations do not affect the activity of the enzyme.</a:t>
            </a:r>
            <a:endParaRPr lang="en-US" dirty="0"/>
          </a:p>
        </p:txBody>
      </p:sp>
    </p:spTree>
    <p:extLst>
      <p:ext uri="{BB962C8B-B14F-4D97-AF65-F5344CB8AC3E}">
        <p14:creationId xmlns:p14="http://schemas.microsoft.com/office/powerpoint/2010/main" val="15392648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600200"/>
            <a:ext cx="6527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524000" y="377499"/>
            <a:ext cx="6502400" cy="889000"/>
          </a:xfrm>
          <a:prstGeom prst="rect">
            <a:avLst/>
          </a:prstGeom>
        </p:spPr>
      </p:pic>
      <p:pic>
        <p:nvPicPr>
          <p:cNvPr id="6" name="Picture 5" descr="figure_05_25.jpg"/>
          <p:cNvPicPr>
            <a:picLocks noChangeAspect="1"/>
          </p:cNvPicPr>
          <p:nvPr/>
        </p:nvPicPr>
        <p:blipFill>
          <a:blip r:embed="rId5"/>
          <a:stretch>
            <a:fillRect/>
          </a:stretch>
        </p:blipFill>
        <p:spPr>
          <a:xfrm>
            <a:off x="2784959" y="2580901"/>
            <a:ext cx="4065731" cy="4277099"/>
          </a:xfrm>
          <a:prstGeom prst="rect">
            <a:avLst/>
          </a:prstGeom>
        </p:spPr>
      </p:pic>
    </p:spTree>
    <p:extLst>
      <p:ext uri="{BB962C8B-B14F-4D97-AF65-F5344CB8AC3E}">
        <p14:creationId xmlns:p14="http://schemas.microsoft.com/office/powerpoint/2010/main" val="15180002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20800" y="0"/>
            <a:ext cx="6502400" cy="889000"/>
          </a:xfrm>
          <a:prstGeom prst="rect">
            <a:avLst/>
          </a:prstGeom>
        </p:spPr>
      </p:pic>
      <p:pic>
        <p:nvPicPr>
          <p:cNvPr id="6" name="Picture 5" descr="figure_05_26.jpg"/>
          <p:cNvPicPr>
            <a:picLocks noChangeAspect="1"/>
          </p:cNvPicPr>
          <p:nvPr/>
        </p:nvPicPr>
        <p:blipFill>
          <a:blip r:embed="rId4"/>
          <a:stretch>
            <a:fillRect/>
          </a:stretch>
        </p:blipFill>
        <p:spPr>
          <a:xfrm>
            <a:off x="1320800" y="1389471"/>
            <a:ext cx="6339093" cy="4975696"/>
          </a:xfrm>
          <a:prstGeom prst="rect">
            <a:avLst/>
          </a:prstGeom>
        </p:spPr>
      </p:pic>
      <p:pic>
        <p:nvPicPr>
          <p:cNvPr id="3" name="Picture 2"/>
          <p:cNvPicPr>
            <a:picLocks noChangeAspect="1"/>
          </p:cNvPicPr>
          <p:nvPr/>
        </p:nvPicPr>
        <p:blipFill>
          <a:blip r:embed="rId5"/>
          <a:stretch>
            <a:fillRect/>
          </a:stretch>
        </p:blipFill>
        <p:spPr>
          <a:xfrm>
            <a:off x="2019300" y="889000"/>
            <a:ext cx="5803900" cy="406400"/>
          </a:xfrm>
          <a:prstGeom prst="rect">
            <a:avLst/>
          </a:prstGeom>
        </p:spPr>
      </p:pic>
    </p:spTree>
    <p:extLst>
      <p:ext uri="{BB962C8B-B14F-4D97-AF65-F5344CB8AC3E}">
        <p14:creationId xmlns:p14="http://schemas.microsoft.com/office/powerpoint/2010/main" val="169019203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55983" y="318676"/>
            <a:ext cx="6197600" cy="939800"/>
          </a:xfrm>
          <a:prstGeom prst="rect">
            <a:avLst/>
          </a:prstGeom>
        </p:spPr>
      </p:pic>
      <p:pic>
        <p:nvPicPr>
          <p:cNvPr id="3" name="Picture 2"/>
          <p:cNvPicPr>
            <a:picLocks noChangeAspect="1"/>
          </p:cNvPicPr>
          <p:nvPr/>
        </p:nvPicPr>
        <p:blipFill>
          <a:blip r:embed="rId3"/>
          <a:stretch>
            <a:fillRect/>
          </a:stretch>
        </p:blipFill>
        <p:spPr>
          <a:xfrm>
            <a:off x="1255983" y="1457057"/>
            <a:ext cx="6985000" cy="622300"/>
          </a:xfrm>
          <a:prstGeom prst="rect">
            <a:avLst/>
          </a:prstGeom>
        </p:spPr>
      </p:pic>
      <p:sp>
        <p:nvSpPr>
          <p:cNvPr id="5" name="TextBox 4"/>
          <p:cNvSpPr txBox="1"/>
          <p:nvPr/>
        </p:nvSpPr>
        <p:spPr>
          <a:xfrm>
            <a:off x="601525" y="2607000"/>
            <a:ext cx="8287664" cy="3416320"/>
          </a:xfrm>
          <a:prstGeom prst="rect">
            <a:avLst/>
          </a:prstGeom>
          <a:noFill/>
        </p:spPr>
        <p:txBody>
          <a:bodyPr wrap="square" rtlCol="0">
            <a:spAutoFit/>
          </a:bodyPr>
          <a:lstStyle/>
          <a:p>
            <a:r>
              <a:rPr lang="en-US" dirty="0" smtClean="0"/>
              <a:t>Next-generation sequencing (NGS), using advances in handling of small amounts of liquids, high-resolution optics and computing power, </a:t>
            </a:r>
            <a:r>
              <a:rPr lang="en-US" dirty="0" smtClean="0"/>
              <a:t>makes </a:t>
            </a:r>
            <a:r>
              <a:rPr lang="en-US" dirty="0" smtClean="0"/>
              <a:t>sequencing of whole genomes rapid and inexpensive.</a:t>
            </a:r>
          </a:p>
          <a:p>
            <a:endParaRPr lang="en-US" dirty="0"/>
          </a:p>
          <a:p>
            <a:r>
              <a:rPr lang="en-US" dirty="0" smtClean="0"/>
              <a:t>In NGS, fragments of DNA serve as a template for DNA polymerase. When a nucleotide is added by the polymerase, a signal </a:t>
            </a:r>
            <a:r>
              <a:rPr lang="en-US" dirty="0" smtClean="0"/>
              <a:t>is </a:t>
            </a:r>
            <a:r>
              <a:rPr lang="en-US" dirty="0" smtClean="0"/>
              <a:t>generated that allows the identification of the added nucleotide.</a:t>
            </a:r>
          </a:p>
          <a:p>
            <a:endParaRPr lang="en-US" dirty="0"/>
          </a:p>
          <a:p>
            <a:r>
              <a:rPr lang="en-US" dirty="0" smtClean="0"/>
              <a:t>Common types of NGS are the reversible terminator method, which is </a:t>
            </a:r>
            <a:r>
              <a:rPr lang="en-US" dirty="0" smtClean="0">
                <a:latin typeface="Times"/>
                <a:cs typeface="Times"/>
              </a:rPr>
              <a:t>akin</a:t>
            </a:r>
            <a:r>
              <a:rPr lang="en-US" dirty="0" smtClean="0"/>
              <a:t> to </a:t>
            </a:r>
            <a:r>
              <a:rPr lang="en-US" dirty="0" err="1" smtClean="0"/>
              <a:t>dideoxy</a:t>
            </a:r>
            <a:r>
              <a:rPr lang="en-US" dirty="0" smtClean="0"/>
              <a:t> </a:t>
            </a:r>
            <a:r>
              <a:rPr lang="en-US" dirty="0" smtClean="0"/>
              <a:t>sequencing; </a:t>
            </a:r>
            <a:r>
              <a:rPr lang="en-US" dirty="0" smtClean="0"/>
              <a:t>pyrosequencing, in which nucleotide addition is detected by a flash of </a:t>
            </a:r>
            <a:r>
              <a:rPr lang="en-US" dirty="0" smtClean="0"/>
              <a:t>light; </a:t>
            </a:r>
            <a:r>
              <a:rPr lang="en-US" dirty="0" smtClean="0"/>
              <a:t>and ion </a:t>
            </a:r>
            <a:r>
              <a:rPr lang="en-US" dirty="0" smtClean="0"/>
              <a:t>semiconductor sequencing</a:t>
            </a:r>
            <a:r>
              <a:rPr lang="en-US" dirty="0" smtClean="0"/>
              <a:t>, which detects a released proton upon nucleotide addition.</a:t>
            </a:r>
            <a:endParaRPr lang="en-US" dirty="0"/>
          </a:p>
        </p:txBody>
      </p:sp>
    </p:spTree>
    <p:extLst>
      <p:ext uri="{BB962C8B-B14F-4D97-AF65-F5344CB8AC3E}">
        <p14:creationId xmlns:p14="http://schemas.microsoft.com/office/powerpoint/2010/main" val="274959910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5_27.jpg"/>
          <p:cNvPicPr>
            <a:picLocks noChangeAspect="1"/>
          </p:cNvPicPr>
          <p:nvPr/>
        </p:nvPicPr>
        <p:blipFill>
          <a:blip r:embed="rId3"/>
          <a:stretch>
            <a:fillRect/>
          </a:stretch>
        </p:blipFill>
        <p:spPr>
          <a:xfrm>
            <a:off x="304800" y="1237488"/>
            <a:ext cx="8534400" cy="4383024"/>
          </a:xfrm>
          <a:prstGeom prst="rect">
            <a:avLst/>
          </a:prstGeom>
        </p:spPr>
      </p:pic>
    </p:spTree>
    <p:extLst>
      <p:ext uri="{BB962C8B-B14F-4D97-AF65-F5344CB8AC3E}">
        <p14:creationId xmlns:p14="http://schemas.microsoft.com/office/powerpoint/2010/main" val="27565310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19200"/>
            <a:ext cx="61595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TextBox 4"/>
          <p:cNvSpPr txBox="1">
            <a:spLocks noChangeArrowheads="1"/>
          </p:cNvSpPr>
          <p:nvPr/>
        </p:nvSpPr>
        <p:spPr bwMode="auto">
          <a:xfrm>
            <a:off x="914400" y="1600200"/>
            <a:ext cx="66694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Many genomes have been </a:t>
            </a:r>
            <a:r>
              <a:rPr lang="en-US" sz="1800" dirty="0" smtClean="0"/>
              <a:t>sequenced, </a:t>
            </a:r>
            <a:r>
              <a:rPr lang="en-US" sz="1800" dirty="0"/>
              <a:t>including that of the puffer fish.</a:t>
            </a:r>
          </a:p>
        </p:txBody>
      </p:sp>
      <p:pic>
        <p:nvPicPr>
          <p:cNvPr id="2" name="Picture 1"/>
          <p:cNvPicPr>
            <a:picLocks noChangeAspect="1"/>
          </p:cNvPicPr>
          <p:nvPr/>
        </p:nvPicPr>
        <p:blipFill>
          <a:blip r:embed="rId4"/>
          <a:stretch>
            <a:fillRect/>
          </a:stretch>
        </p:blipFill>
        <p:spPr>
          <a:xfrm>
            <a:off x="1009650" y="330200"/>
            <a:ext cx="6502400" cy="889000"/>
          </a:xfrm>
          <a:prstGeom prst="rect">
            <a:avLst/>
          </a:prstGeom>
        </p:spPr>
      </p:pic>
      <p:pic>
        <p:nvPicPr>
          <p:cNvPr id="9" name="Picture 8" descr="unnumbered_05_p157.jpg"/>
          <p:cNvPicPr>
            <a:picLocks noChangeAspect="1"/>
          </p:cNvPicPr>
          <p:nvPr/>
        </p:nvPicPr>
        <p:blipFill>
          <a:blip r:embed="rId5"/>
          <a:stretch>
            <a:fillRect/>
          </a:stretch>
        </p:blipFill>
        <p:spPr>
          <a:xfrm>
            <a:off x="1912944" y="2778542"/>
            <a:ext cx="5167042" cy="3735033"/>
          </a:xfrm>
          <a:prstGeom prst="rect">
            <a:avLst/>
          </a:prstGeom>
        </p:spPr>
      </p:pic>
    </p:spTree>
    <p:extLst>
      <p:ext uri="{BB962C8B-B14F-4D97-AF65-F5344CB8AC3E}">
        <p14:creationId xmlns:p14="http://schemas.microsoft.com/office/powerpoint/2010/main" val="25975471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5_28.jpg"/>
          <p:cNvPicPr>
            <a:picLocks noChangeAspect="1"/>
          </p:cNvPicPr>
          <p:nvPr/>
        </p:nvPicPr>
        <p:blipFill>
          <a:blip r:embed="rId3"/>
          <a:stretch>
            <a:fillRect/>
          </a:stretch>
        </p:blipFill>
        <p:spPr>
          <a:xfrm>
            <a:off x="304800" y="725423"/>
            <a:ext cx="8534400" cy="5407152"/>
          </a:xfrm>
          <a:prstGeom prst="rect">
            <a:avLst/>
          </a:prstGeom>
        </p:spPr>
      </p:pic>
    </p:spTree>
    <p:extLst>
      <p:ext uri="{BB962C8B-B14F-4D97-AF65-F5344CB8AC3E}">
        <p14:creationId xmlns:p14="http://schemas.microsoft.com/office/powerpoint/2010/main" val="271431409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752600"/>
            <a:ext cx="57277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TextBox 4"/>
          <p:cNvSpPr txBox="1">
            <a:spLocks noChangeArrowheads="1"/>
          </p:cNvSpPr>
          <p:nvPr/>
        </p:nvSpPr>
        <p:spPr bwMode="auto">
          <a:xfrm>
            <a:off x="558800" y="2540000"/>
            <a:ext cx="84201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quantity of individual transcripts in a cell can be determined by quantitative PCR (qPCR), sometimes called real-time PCR.</a:t>
            </a:r>
          </a:p>
          <a:p>
            <a:endParaRPr lang="en-US" sz="1800" dirty="0"/>
          </a:p>
          <a:p>
            <a:r>
              <a:rPr lang="en-US" sz="1800" dirty="0"/>
              <a:t>Messenger RNA is isolated and converted into cDNA, and the cDNA is used as the target DNA in a PCR reaction carried out in the presence of a dye that fluoresces when bound to the duplex DNA. The PCR cycle at which fluorescence's becomes detectable is inversely related to the original number of target templates.</a:t>
            </a:r>
          </a:p>
          <a:p>
            <a:endParaRPr lang="en-US" sz="1800" dirty="0"/>
          </a:p>
          <a:p>
            <a:r>
              <a:rPr lang="en-US" sz="1800" dirty="0"/>
              <a:t>DNA microarrays or gene chips allow the determination of the expression pattern of a large number of genes simultaneously. DNA sequences are attached to a solid support in a defined pattern to generate the microarray. Fluorescently labeled cDNA is then hybridized to the microarray to reveal the expression level of each gene on the chip</a:t>
            </a:r>
            <a:r>
              <a:rPr lang="en-US" sz="1800" dirty="0" smtClean="0"/>
              <a:t>.</a:t>
            </a:r>
          </a:p>
          <a:p>
            <a:endParaRPr lang="en-US" sz="1800" dirty="0"/>
          </a:p>
          <a:p>
            <a:r>
              <a:rPr lang="en-US" sz="1800" dirty="0" smtClean="0"/>
              <a:t>DNA microarrays can be used to detect gene expression changes in cancer cells.</a:t>
            </a:r>
            <a:endParaRPr lang="en-US" sz="1800" dirty="0"/>
          </a:p>
        </p:txBody>
      </p:sp>
      <p:pic>
        <p:nvPicPr>
          <p:cNvPr id="2" name="Picture 1"/>
          <p:cNvPicPr>
            <a:picLocks noChangeAspect="1"/>
          </p:cNvPicPr>
          <p:nvPr/>
        </p:nvPicPr>
        <p:blipFill>
          <a:blip r:embed="rId4"/>
          <a:stretch>
            <a:fillRect/>
          </a:stretch>
        </p:blipFill>
        <p:spPr>
          <a:xfrm>
            <a:off x="1241063" y="486520"/>
            <a:ext cx="6261100" cy="1003300"/>
          </a:xfrm>
          <a:prstGeom prst="rect">
            <a:avLst/>
          </a:prstGeom>
        </p:spPr>
      </p:pic>
    </p:spTree>
    <p:extLst>
      <p:ext uri="{BB962C8B-B14F-4D97-AF65-F5344CB8AC3E}">
        <p14:creationId xmlns:p14="http://schemas.microsoft.com/office/powerpoint/2010/main" val="7648885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29.jpg"/>
          <p:cNvPicPr>
            <a:picLocks noChangeAspect="1"/>
          </p:cNvPicPr>
          <p:nvPr/>
        </p:nvPicPr>
        <p:blipFill>
          <a:blip r:embed="rId3"/>
          <a:stretch>
            <a:fillRect/>
          </a:stretch>
        </p:blipFill>
        <p:spPr>
          <a:xfrm>
            <a:off x="2346960" y="192023"/>
            <a:ext cx="4450080" cy="6473952"/>
          </a:xfrm>
          <a:prstGeom prst="rect">
            <a:avLst/>
          </a:prstGeom>
        </p:spPr>
      </p:pic>
    </p:spTree>
    <p:extLst>
      <p:ext uri="{BB962C8B-B14F-4D97-AF65-F5344CB8AC3E}">
        <p14:creationId xmlns:p14="http://schemas.microsoft.com/office/powerpoint/2010/main" val="316252102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 5.30.jpg"/>
          <p:cNvPicPr>
            <a:picLocks noChangeAspect="1"/>
          </p:cNvPicPr>
          <p:nvPr/>
        </p:nvPicPr>
        <p:blipFill>
          <a:blip r:embed="rId3"/>
          <a:stretch>
            <a:fillRect/>
          </a:stretch>
        </p:blipFill>
        <p:spPr>
          <a:xfrm>
            <a:off x="1374648" y="225552"/>
            <a:ext cx="6394704" cy="6406896"/>
          </a:xfrm>
          <a:prstGeom prst="rect">
            <a:avLst/>
          </a:prstGeom>
        </p:spPr>
      </p:pic>
    </p:spTree>
    <p:extLst>
      <p:ext uri="{BB962C8B-B14F-4D97-AF65-F5344CB8AC3E}">
        <p14:creationId xmlns:p14="http://schemas.microsoft.com/office/powerpoint/2010/main" val="350263726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31.jpg"/>
          <p:cNvPicPr>
            <a:picLocks noChangeAspect="1"/>
          </p:cNvPicPr>
          <p:nvPr/>
        </p:nvPicPr>
        <p:blipFill>
          <a:blip r:embed="rId3"/>
          <a:stretch>
            <a:fillRect/>
          </a:stretch>
        </p:blipFill>
        <p:spPr>
          <a:xfrm>
            <a:off x="2743200" y="283464"/>
            <a:ext cx="3657600" cy="6291072"/>
          </a:xfrm>
          <a:prstGeom prst="rect">
            <a:avLst/>
          </a:prstGeom>
        </p:spPr>
      </p:pic>
    </p:spTree>
    <p:extLst>
      <p:ext uri="{BB962C8B-B14F-4D97-AF65-F5344CB8AC3E}">
        <p14:creationId xmlns:p14="http://schemas.microsoft.com/office/powerpoint/2010/main" val="321357232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752600"/>
            <a:ext cx="6705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TextBox 5"/>
          <p:cNvSpPr txBox="1">
            <a:spLocks noChangeArrowheads="1"/>
          </p:cNvSpPr>
          <p:nvPr/>
        </p:nvSpPr>
        <p:spPr bwMode="auto">
          <a:xfrm>
            <a:off x="1016000" y="2465388"/>
            <a:ext cx="660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New genes can be inserted into eukaryotic cells by a variety of methods:</a:t>
            </a:r>
          </a:p>
          <a:p>
            <a:endParaRPr lang="en-US" sz="1800" dirty="0"/>
          </a:p>
          <a:p>
            <a:r>
              <a:rPr lang="en-US" sz="1800" dirty="0"/>
              <a:t>Calcium phosphate mediated uptake</a:t>
            </a:r>
          </a:p>
          <a:p>
            <a:endParaRPr lang="en-US" sz="1800" dirty="0"/>
          </a:p>
          <a:p>
            <a:r>
              <a:rPr lang="en-US" sz="1800" dirty="0"/>
              <a:t>Microinjection into cells</a:t>
            </a:r>
          </a:p>
          <a:p>
            <a:endParaRPr lang="en-US" sz="1800" dirty="0"/>
          </a:p>
          <a:p>
            <a:r>
              <a:rPr lang="en-US" sz="1800" dirty="0"/>
              <a:t>Infection with a retrovirus carrying the gene of interest.</a:t>
            </a:r>
          </a:p>
        </p:txBody>
      </p:sp>
      <p:pic>
        <p:nvPicPr>
          <p:cNvPr id="2" name="Picture 1"/>
          <p:cNvPicPr>
            <a:picLocks noChangeAspect="1"/>
          </p:cNvPicPr>
          <p:nvPr/>
        </p:nvPicPr>
        <p:blipFill>
          <a:blip r:embed="rId4"/>
          <a:stretch>
            <a:fillRect/>
          </a:stretch>
        </p:blipFill>
        <p:spPr>
          <a:xfrm>
            <a:off x="1143000" y="749300"/>
            <a:ext cx="6261100" cy="1003300"/>
          </a:xfrm>
          <a:prstGeom prst="rect">
            <a:avLst/>
          </a:prstGeom>
        </p:spPr>
      </p:pic>
    </p:spTree>
    <p:extLst>
      <p:ext uri="{BB962C8B-B14F-4D97-AF65-F5344CB8AC3E}">
        <p14:creationId xmlns:p14="http://schemas.microsoft.com/office/powerpoint/2010/main" val="378490220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5.32.jpg"/>
          <p:cNvPicPr>
            <a:picLocks noChangeAspect="1"/>
          </p:cNvPicPr>
          <p:nvPr/>
        </p:nvPicPr>
        <p:blipFill>
          <a:blip r:embed="rId3"/>
          <a:stretch>
            <a:fillRect/>
          </a:stretch>
        </p:blipFill>
        <p:spPr>
          <a:xfrm>
            <a:off x="304800" y="195072"/>
            <a:ext cx="8534400" cy="6467856"/>
          </a:xfrm>
          <a:prstGeom prst="rect">
            <a:avLst/>
          </a:prstGeom>
        </p:spPr>
      </p:pic>
    </p:spTree>
    <p:extLst>
      <p:ext uri="{BB962C8B-B14F-4D97-AF65-F5344CB8AC3E}">
        <p14:creationId xmlns:p14="http://schemas.microsoft.com/office/powerpoint/2010/main" val="84877685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76400"/>
            <a:ext cx="67056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TextBox 4"/>
          <p:cNvSpPr txBox="1">
            <a:spLocks noChangeArrowheads="1"/>
          </p:cNvSpPr>
          <p:nvPr/>
        </p:nvSpPr>
        <p:spPr bwMode="auto">
          <a:xfrm>
            <a:off x="955675" y="2987675"/>
            <a:ext cx="71977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Some of the DNA injected into embryos may be incorporated into the genome, generating transgenic animals.</a:t>
            </a:r>
          </a:p>
          <a:p>
            <a:endParaRPr lang="en-US" sz="1800" dirty="0"/>
          </a:p>
          <a:p>
            <a:r>
              <a:rPr lang="en-US" sz="1800" dirty="0"/>
              <a:t>Transgenic animals are useful tools for investigating a variety of diseases, such as ALS.</a:t>
            </a:r>
          </a:p>
        </p:txBody>
      </p:sp>
      <p:pic>
        <p:nvPicPr>
          <p:cNvPr id="2" name="Picture 1"/>
          <p:cNvPicPr>
            <a:picLocks noChangeAspect="1"/>
          </p:cNvPicPr>
          <p:nvPr/>
        </p:nvPicPr>
        <p:blipFill>
          <a:blip r:embed="rId4"/>
          <a:stretch>
            <a:fillRect/>
          </a:stretch>
        </p:blipFill>
        <p:spPr>
          <a:xfrm>
            <a:off x="1435100" y="673100"/>
            <a:ext cx="6261100" cy="1003300"/>
          </a:xfrm>
          <a:prstGeom prst="rect">
            <a:avLst/>
          </a:prstGeom>
        </p:spPr>
      </p:pic>
    </p:spTree>
    <p:extLst>
      <p:ext uri="{BB962C8B-B14F-4D97-AF65-F5344CB8AC3E}">
        <p14:creationId xmlns:p14="http://schemas.microsoft.com/office/powerpoint/2010/main" val="225050992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TextBox 7"/>
          <p:cNvSpPr txBox="1">
            <a:spLocks noChangeArrowheads="1"/>
          </p:cNvSpPr>
          <p:nvPr/>
        </p:nvSpPr>
        <p:spPr bwMode="auto">
          <a:xfrm>
            <a:off x="914400" y="2667000"/>
            <a:ext cx="78486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Genes can be disrupted (knocked out) when a foreign fragment is inserted by homologous recombination</a:t>
            </a:r>
            <a:r>
              <a:rPr lang="en-US" sz="1800" dirty="0" smtClean="0"/>
              <a:t>.</a:t>
            </a:r>
          </a:p>
          <a:p>
            <a:endParaRPr lang="en-US" sz="1800" dirty="0"/>
          </a:p>
          <a:p>
            <a:r>
              <a:rPr lang="en-US" sz="1800" dirty="0" smtClean="0"/>
              <a:t>Gene editing allows highly specific modification of genomic DNA. </a:t>
            </a:r>
          </a:p>
          <a:p>
            <a:endParaRPr lang="en-US" sz="1800" dirty="0"/>
          </a:p>
          <a:p>
            <a:r>
              <a:rPr lang="en-US" sz="1800" dirty="0" smtClean="0"/>
              <a:t>Zinc finger nucleases (ZFN) are engineered nucleases that can target any region </a:t>
            </a:r>
            <a:r>
              <a:rPr lang="en-US" sz="1800" dirty="0" smtClean="0"/>
              <a:t>of </a:t>
            </a:r>
            <a:r>
              <a:rPr lang="en-US" sz="1800" dirty="0" smtClean="0"/>
              <a:t>the genome.</a:t>
            </a:r>
          </a:p>
          <a:p>
            <a:endParaRPr lang="en-US" sz="1800" dirty="0"/>
          </a:p>
          <a:p>
            <a:r>
              <a:rPr lang="en-US" sz="1800" dirty="0" smtClean="0"/>
              <a:t>In transcription activator-like effector nucleases (TALENS), the DNA binding domain is composed of an array of the amino acid sequence TALE. Mutations in the TALE array allow recognition of a vast number of DNA sequences.</a:t>
            </a:r>
            <a:endParaRPr lang="en-US" sz="1800" dirty="0"/>
          </a:p>
        </p:txBody>
      </p:sp>
      <p:pic>
        <p:nvPicPr>
          <p:cNvPr id="2" name="Picture 1"/>
          <p:cNvPicPr>
            <a:picLocks noChangeAspect="1"/>
          </p:cNvPicPr>
          <p:nvPr/>
        </p:nvPicPr>
        <p:blipFill>
          <a:blip r:embed="rId3"/>
          <a:stretch>
            <a:fillRect/>
          </a:stretch>
        </p:blipFill>
        <p:spPr>
          <a:xfrm>
            <a:off x="1293982" y="662932"/>
            <a:ext cx="6261100" cy="1003300"/>
          </a:xfrm>
          <a:prstGeom prst="rect">
            <a:avLst/>
          </a:prstGeom>
        </p:spPr>
      </p:pic>
      <p:pic>
        <p:nvPicPr>
          <p:cNvPr id="3" name="Picture 2"/>
          <p:cNvPicPr>
            <a:picLocks noChangeAspect="1"/>
          </p:cNvPicPr>
          <p:nvPr/>
        </p:nvPicPr>
        <p:blipFill>
          <a:blip r:embed="rId4"/>
          <a:stretch>
            <a:fillRect/>
          </a:stretch>
        </p:blipFill>
        <p:spPr>
          <a:xfrm>
            <a:off x="1663700" y="1909777"/>
            <a:ext cx="5816600" cy="520700"/>
          </a:xfrm>
          <a:prstGeom prst="rect">
            <a:avLst/>
          </a:prstGeom>
        </p:spPr>
      </p:pic>
    </p:spTree>
    <p:extLst>
      <p:ext uri="{BB962C8B-B14F-4D97-AF65-F5344CB8AC3E}">
        <p14:creationId xmlns:p14="http://schemas.microsoft.com/office/powerpoint/2010/main" val="329114586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33.jpg"/>
          <p:cNvPicPr>
            <a:picLocks noChangeAspect="1"/>
          </p:cNvPicPr>
          <p:nvPr/>
        </p:nvPicPr>
        <p:blipFill>
          <a:blip r:embed="rId3"/>
          <a:stretch>
            <a:fillRect/>
          </a:stretch>
        </p:blipFill>
        <p:spPr>
          <a:xfrm>
            <a:off x="1143000" y="192023"/>
            <a:ext cx="6858000" cy="6473952"/>
          </a:xfrm>
          <a:prstGeom prst="rect">
            <a:avLst/>
          </a:prstGeom>
        </p:spPr>
      </p:pic>
    </p:spTree>
    <p:extLst>
      <p:ext uri="{BB962C8B-B14F-4D97-AF65-F5344CB8AC3E}">
        <p14:creationId xmlns:p14="http://schemas.microsoft.com/office/powerpoint/2010/main" val="306134774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34.jpg"/>
          <p:cNvPicPr>
            <a:picLocks noChangeAspect="1"/>
          </p:cNvPicPr>
          <p:nvPr/>
        </p:nvPicPr>
        <p:blipFill>
          <a:blip r:embed="rId3"/>
          <a:stretch>
            <a:fillRect/>
          </a:stretch>
        </p:blipFill>
        <p:spPr>
          <a:xfrm>
            <a:off x="304800" y="441960"/>
            <a:ext cx="8534400" cy="5974080"/>
          </a:xfrm>
          <a:prstGeom prst="rect">
            <a:avLst/>
          </a:prstGeom>
        </p:spPr>
      </p:pic>
    </p:spTree>
    <p:extLst>
      <p:ext uri="{BB962C8B-B14F-4D97-AF65-F5344CB8AC3E}">
        <p14:creationId xmlns:p14="http://schemas.microsoft.com/office/powerpoint/2010/main" val="33901036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5_35.jpg"/>
          <p:cNvPicPr>
            <a:picLocks noChangeAspect="1"/>
          </p:cNvPicPr>
          <p:nvPr/>
        </p:nvPicPr>
        <p:blipFill>
          <a:blip r:embed="rId3"/>
          <a:stretch>
            <a:fillRect/>
          </a:stretch>
        </p:blipFill>
        <p:spPr>
          <a:xfrm>
            <a:off x="969264" y="283464"/>
            <a:ext cx="7205472" cy="6291072"/>
          </a:xfrm>
          <a:prstGeom prst="rect">
            <a:avLst/>
          </a:prstGeom>
        </p:spPr>
      </p:pic>
    </p:spTree>
    <p:extLst>
      <p:ext uri="{BB962C8B-B14F-4D97-AF65-F5344CB8AC3E}">
        <p14:creationId xmlns:p14="http://schemas.microsoft.com/office/powerpoint/2010/main" val="283786077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5_36.jpg"/>
          <p:cNvPicPr>
            <a:picLocks noChangeAspect="1"/>
          </p:cNvPicPr>
          <p:nvPr/>
        </p:nvPicPr>
        <p:blipFill>
          <a:blip r:embed="rId3"/>
          <a:stretch>
            <a:fillRect/>
          </a:stretch>
        </p:blipFill>
        <p:spPr>
          <a:xfrm>
            <a:off x="780288" y="192023"/>
            <a:ext cx="7583424" cy="6473952"/>
          </a:xfrm>
          <a:prstGeom prst="rect">
            <a:avLst/>
          </a:prstGeom>
        </p:spPr>
      </p:pic>
    </p:spTree>
    <p:extLst>
      <p:ext uri="{BB962C8B-B14F-4D97-AF65-F5344CB8AC3E}">
        <p14:creationId xmlns:p14="http://schemas.microsoft.com/office/powerpoint/2010/main" val="18161251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752600"/>
            <a:ext cx="5867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1" name="TextBox 3"/>
          <p:cNvSpPr txBox="1">
            <a:spLocks noChangeArrowheads="1"/>
          </p:cNvSpPr>
          <p:nvPr/>
        </p:nvSpPr>
        <p:spPr bwMode="auto">
          <a:xfrm>
            <a:off x="914400" y="2438400"/>
            <a:ext cx="78644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smtClean="0"/>
              <a:t>Double-stranded </a:t>
            </a:r>
            <a:r>
              <a:rPr lang="en-US" sz="1800" dirty="0"/>
              <a:t>RNA containing a strand </a:t>
            </a:r>
            <a:r>
              <a:rPr lang="en-US" sz="1800" dirty="0" smtClean="0"/>
              <a:t>complementary </a:t>
            </a:r>
            <a:r>
              <a:rPr lang="en-US" sz="1800" dirty="0"/>
              <a:t>to a specific mRNA can be introduced into a cell.</a:t>
            </a:r>
          </a:p>
          <a:p>
            <a:endParaRPr lang="en-US" sz="1800" dirty="0"/>
          </a:p>
          <a:p>
            <a:r>
              <a:rPr lang="en-US" sz="1800" dirty="0"/>
              <a:t>The introduced RNA is cleaved into small fragments by the enzyme Dicer.</a:t>
            </a:r>
          </a:p>
          <a:p>
            <a:endParaRPr lang="en-US" sz="1800" dirty="0"/>
          </a:p>
          <a:p>
            <a:r>
              <a:rPr lang="en-US" sz="1800" dirty="0"/>
              <a:t>The fragment that is complementary to the mRNA becomes incorporated into the RNA-induced silencing complex (RISC).</a:t>
            </a:r>
          </a:p>
          <a:p>
            <a:endParaRPr lang="en-US" sz="1800" dirty="0"/>
          </a:p>
          <a:p>
            <a:r>
              <a:rPr lang="en-US" sz="1800" dirty="0"/>
              <a:t>The associated complementary RNA guides the complex to the mRNA, which is then degraded.</a:t>
            </a:r>
          </a:p>
        </p:txBody>
      </p:sp>
      <p:pic>
        <p:nvPicPr>
          <p:cNvPr id="2" name="Picture 1"/>
          <p:cNvPicPr>
            <a:picLocks noChangeAspect="1"/>
          </p:cNvPicPr>
          <p:nvPr/>
        </p:nvPicPr>
        <p:blipFill>
          <a:blip r:embed="rId4"/>
          <a:stretch>
            <a:fillRect/>
          </a:stretch>
        </p:blipFill>
        <p:spPr>
          <a:xfrm>
            <a:off x="1600200" y="539444"/>
            <a:ext cx="6261100" cy="1003300"/>
          </a:xfrm>
          <a:prstGeom prst="rect">
            <a:avLst/>
          </a:prstGeom>
        </p:spPr>
      </p:pic>
    </p:spTree>
    <p:extLst>
      <p:ext uri="{BB962C8B-B14F-4D97-AF65-F5344CB8AC3E}">
        <p14:creationId xmlns:p14="http://schemas.microsoft.com/office/powerpoint/2010/main" val="213687653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gure_05_37.jpg"/>
          <p:cNvPicPr>
            <a:picLocks noChangeAspect="1"/>
          </p:cNvPicPr>
          <p:nvPr/>
        </p:nvPicPr>
        <p:blipFill>
          <a:blip r:embed="rId3"/>
          <a:stretch>
            <a:fillRect/>
          </a:stretch>
        </p:blipFill>
        <p:spPr>
          <a:xfrm>
            <a:off x="2977896" y="192023"/>
            <a:ext cx="3188208" cy="6473952"/>
          </a:xfrm>
          <a:prstGeom prst="rect">
            <a:avLst/>
          </a:prstGeom>
        </p:spPr>
      </p:pic>
    </p:spTree>
    <p:extLst>
      <p:ext uri="{BB962C8B-B14F-4D97-AF65-F5344CB8AC3E}">
        <p14:creationId xmlns:p14="http://schemas.microsoft.com/office/powerpoint/2010/main" val="84205848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19200"/>
            <a:ext cx="65786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TextBox 5"/>
          <p:cNvSpPr txBox="1">
            <a:spLocks noChangeArrowheads="1"/>
          </p:cNvSpPr>
          <p:nvPr/>
        </p:nvSpPr>
        <p:spPr bwMode="auto">
          <a:xfrm>
            <a:off x="457200" y="2209800"/>
            <a:ext cx="8229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soil bacterium </a:t>
            </a:r>
            <a:r>
              <a:rPr lang="en-US" sz="1800" i="1" dirty="0"/>
              <a:t>Agrobacterium tumefaciens </a:t>
            </a:r>
            <a:r>
              <a:rPr lang="en-US" sz="1800" dirty="0"/>
              <a:t>infects </a:t>
            </a:r>
            <a:r>
              <a:rPr lang="en-US" sz="1800" dirty="0" smtClean="0"/>
              <a:t>plant </a:t>
            </a:r>
            <a:r>
              <a:rPr lang="en-US" sz="1800" dirty="0"/>
              <a:t>cells to produce a tumor called crown gall.</a:t>
            </a:r>
          </a:p>
        </p:txBody>
      </p:sp>
      <p:pic>
        <p:nvPicPr>
          <p:cNvPr id="2" name="Picture 1"/>
          <p:cNvPicPr>
            <a:picLocks noChangeAspect="1"/>
          </p:cNvPicPr>
          <p:nvPr/>
        </p:nvPicPr>
        <p:blipFill>
          <a:blip r:embed="rId4"/>
          <a:stretch>
            <a:fillRect/>
          </a:stretch>
        </p:blipFill>
        <p:spPr>
          <a:xfrm>
            <a:off x="1219200" y="215900"/>
            <a:ext cx="6261100" cy="1003300"/>
          </a:xfrm>
          <a:prstGeom prst="rect">
            <a:avLst/>
          </a:prstGeom>
        </p:spPr>
      </p:pic>
      <p:pic>
        <p:nvPicPr>
          <p:cNvPr id="8" name="Picture 7" descr="figure_05_38.jpg"/>
          <p:cNvPicPr>
            <a:picLocks noChangeAspect="1"/>
          </p:cNvPicPr>
          <p:nvPr/>
        </p:nvPicPr>
        <p:blipFill>
          <a:blip r:embed="rId5"/>
          <a:stretch>
            <a:fillRect/>
          </a:stretch>
        </p:blipFill>
        <p:spPr>
          <a:xfrm>
            <a:off x="2892917" y="2704828"/>
            <a:ext cx="3669066" cy="3879586"/>
          </a:xfrm>
          <a:prstGeom prst="rect">
            <a:avLst/>
          </a:prstGeom>
        </p:spPr>
      </p:pic>
    </p:spTree>
    <p:extLst>
      <p:ext uri="{BB962C8B-B14F-4D97-AF65-F5344CB8AC3E}">
        <p14:creationId xmlns:p14="http://schemas.microsoft.com/office/powerpoint/2010/main" val="429422419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19200"/>
            <a:ext cx="65786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5" name="TextBox 1"/>
          <p:cNvSpPr txBox="1">
            <a:spLocks noChangeArrowheads="1"/>
          </p:cNvSpPr>
          <p:nvPr/>
        </p:nvSpPr>
        <p:spPr bwMode="auto">
          <a:xfrm>
            <a:off x="609600" y="2286000"/>
            <a:ext cx="8151813"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A. tumefaciens </a:t>
            </a:r>
            <a:r>
              <a:rPr lang="en-US" sz="1800" dirty="0"/>
              <a:t>contains tumor-inducing plasmids (</a:t>
            </a:r>
            <a:r>
              <a:rPr lang="en-US" sz="1800" dirty="0" err="1" smtClean="0"/>
              <a:t>Ti</a:t>
            </a:r>
            <a:r>
              <a:rPr lang="en-US" sz="1800" dirty="0" smtClean="0"/>
              <a:t> plasmids</a:t>
            </a:r>
            <a:r>
              <a:rPr lang="en-US" sz="1800" dirty="0"/>
              <a:t>) that are responsible for crown gall formation and the synthesis of amino acid derivatives called opines.</a:t>
            </a:r>
          </a:p>
          <a:p>
            <a:endParaRPr lang="en-US" sz="1800" dirty="0"/>
          </a:p>
          <a:p>
            <a:r>
              <a:rPr lang="en-US" sz="1800" dirty="0"/>
              <a:t>A part of the </a:t>
            </a:r>
            <a:r>
              <a:rPr lang="en-US" sz="1800" dirty="0" err="1" smtClean="0"/>
              <a:t>Ti</a:t>
            </a:r>
            <a:r>
              <a:rPr lang="en-US" sz="1800" dirty="0" smtClean="0"/>
              <a:t> plasmid </a:t>
            </a:r>
            <a:r>
              <a:rPr lang="en-US" sz="1800" dirty="0"/>
              <a:t>is incorporated into cellular DNA.</a:t>
            </a:r>
          </a:p>
          <a:p>
            <a:endParaRPr lang="en-US" sz="1800" dirty="0"/>
          </a:p>
          <a:p>
            <a:r>
              <a:rPr lang="en-US" sz="1800" dirty="0"/>
              <a:t>Modified </a:t>
            </a:r>
            <a:r>
              <a:rPr lang="en-US" sz="1800" dirty="0" err="1" smtClean="0"/>
              <a:t>Ti</a:t>
            </a:r>
            <a:r>
              <a:rPr lang="en-US" sz="1800" dirty="0" smtClean="0"/>
              <a:t> plasmids </a:t>
            </a:r>
            <a:r>
              <a:rPr lang="en-US" sz="1800" dirty="0"/>
              <a:t>are used to incorporate foreign DNA into the plant genome.</a:t>
            </a:r>
          </a:p>
          <a:p>
            <a:endParaRPr lang="en-US" sz="1800" dirty="0"/>
          </a:p>
          <a:p>
            <a:r>
              <a:rPr lang="en-US" sz="1800" dirty="0"/>
              <a:t>The modified plasmids can be introduced into plant cells by electroporation or by bombardment-mediated transformation.</a:t>
            </a:r>
          </a:p>
        </p:txBody>
      </p:sp>
      <p:pic>
        <p:nvPicPr>
          <p:cNvPr id="2" name="Picture 1"/>
          <p:cNvPicPr>
            <a:picLocks noChangeAspect="1"/>
          </p:cNvPicPr>
          <p:nvPr/>
        </p:nvPicPr>
        <p:blipFill>
          <a:blip r:embed="rId4"/>
          <a:stretch>
            <a:fillRect/>
          </a:stretch>
        </p:blipFill>
        <p:spPr>
          <a:xfrm>
            <a:off x="1536700" y="0"/>
            <a:ext cx="6261100" cy="1003300"/>
          </a:xfrm>
          <a:prstGeom prst="rect">
            <a:avLst/>
          </a:prstGeom>
        </p:spPr>
      </p:pic>
    </p:spTree>
    <p:extLst>
      <p:ext uri="{BB962C8B-B14F-4D97-AF65-F5344CB8AC3E}">
        <p14:creationId xmlns:p14="http://schemas.microsoft.com/office/powerpoint/2010/main" val="37671664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39.jpg"/>
          <p:cNvPicPr>
            <a:picLocks noChangeAspect="1"/>
          </p:cNvPicPr>
          <p:nvPr/>
        </p:nvPicPr>
        <p:blipFill>
          <a:blip r:embed="rId3"/>
          <a:stretch>
            <a:fillRect/>
          </a:stretch>
        </p:blipFill>
        <p:spPr>
          <a:xfrm>
            <a:off x="1207008" y="192023"/>
            <a:ext cx="6729984" cy="6473952"/>
          </a:xfrm>
          <a:prstGeom prst="rect">
            <a:avLst/>
          </a:prstGeom>
        </p:spPr>
      </p:pic>
    </p:spTree>
    <p:extLst>
      <p:ext uri="{BB962C8B-B14F-4D97-AF65-F5344CB8AC3E}">
        <p14:creationId xmlns:p14="http://schemas.microsoft.com/office/powerpoint/2010/main" val="82406559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5_40.jpg"/>
          <p:cNvPicPr>
            <a:picLocks noChangeAspect="1"/>
          </p:cNvPicPr>
          <p:nvPr/>
        </p:nvPicPr>
        <p:blipFill>
          <a:blip r:embed="rId3"/>
          <a:stretch>
            <a:fillRect/>
          </a:stretch>
        </p:blipFill>
        <p:spPr>
          <a:xfrm>
            <a:off x="3035808" y="192023"/>
            <a:ext cx="3072384" cy="6473952"/>
          </a:xfrm>
          <a:prstGeom prst="rect">
            <a:avLst/>
          </a:prstGeom>
        </p:spPr>
      </p:pic>
    </p:spTree>
    <p:extLst>
      <p:ext uri="{BB962C8B-B14F-4D97-AF65-F5344CB8AC3E}">
        <p14:creationId xmlns:p14="http://schemas.microsoft.com/office/powerpoint/2010/main" val="68142895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447800"/>
            <a:ext cx="54229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099" name="TextBox 3"/>
          <p:cNvSpPr txBox="1">
            <a:spLocks noChangeArrowheads="1"/>
          </p:cNvSpPr>
          <p:nvPr/>
        </p:nvSpPr>
        <p:spPr bwMode="auto">
          <a:xfrm>
            <a:off x="1165225" y="2346325"/>
            <a:ext cx="69881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Gene therapy, the insertion of  functional genes into cells to replace mutated genes, may become clinically important.</a:t>
            </a:r>
          </a:p>
          <a:p>
            <a:endParaRPr lang="en-US" sz="1800" dirty="0"/>
          </a:p>
          <a:p>
            <a:r>
              <a:rPr lang="en-US" sz="1800" dirty="0"/>
              <a:t>Severe combined immunodeficiency (</a:t>
            </a:r>
            <a:r>
              <a:rPr lang="en-US" sz="1800" dirty="0" smtClean="0"/>
              <a:t>SCID) </a:t>
            </a:r>
            <a:r>
              <a:rPr lang="en-US" sz="1800" dirty="0"/>
              <a:t>has been  treated by infecting cells with a functional version of the mutated enzyme, adenosine deaminase.</a:t>
            </a:r>
          </a:p>
        </p:txBody>
      </p:sp>
      <p:pic>
        <p:nvPicPr>
          <p:cNvPr id="2" name="Picture 1"/>
          <p:cNvPicPr>
            <a:picLocks noChangeAspect="1"/>
          </p:cNvPicPr>
          <p:nvPr/>
        </p:nvPicPr>
        <p:blipFill>
          <a:blip r:embed="rId3"/>
          <a:stretch>
            <a:fillRect/>
          </a:stretch>
        </p:blipFill>
        <p:spPr>
          <a:xfrm>
            <a:off x="1295400" y="133697"/>
            <a:ext cx="6261100" cy="1003300"/>
          </a:xfrm>
          <a:prstGeom prst="rect">
            <a:avLst/>
          </a:prstGeom>
        </p:spPr>
      </p:pic>
    </p:spTree>
    <p:extLst>
      <p:ext uri="{BB962C8B-B14F-4D97-AF65-F5344CB8AC3E}">
        <p14:creationId xmlns:p14="http://schemas.microsoft.com/office/powerpoint/2010/main" val="22799853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1079</TotalTime>
  <Words>4483</Words>
  <Application>Microsoft Office PowerPoint</Application>
  <PresentationFormat>On-screen Show (4:3)</PresentationFormat>
  <Paragraphs>244</Paragraphs>
  <Slides>71</Slides>
  <Notes>49</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Carleton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Tymoczko</dc:creator>
  <cp:lastModifiedBy>ivp</cp:lastModifiedBy>
  <cp:revision>62</cp:revision>
  <dcterms:created xsi:type="dcterms:W3CDTF">2015-05-25T20:49:26Z</dcterms:created>
  <dcterms:modified xsi:type="dcterms:W3CDTF">2015-06-11T00:13:03Z</dcterms:modified>
</cp:coreProperties>
</file>