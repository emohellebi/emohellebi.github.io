
<file path=[Content_Types].xml><?xml version="1.0" encoding="utf-8"?>
<Types xmlns="http://schemas.openxmlformats.org/package/2006/content-types">
  <Override PartName="/ppt/slides/slide41.xml" ContentType="application/vnd.openxmlformats-officedocument.presentationml.slide+xml"/>
  <Override PartName="/ppt/notesSlides/notesSlide16.xml" ContentType="application/vnd.openxmlformats-officedocument.presentationml.notesSlide+xml"/>
  <Override PartName="/ppt/slides/slide50.xml" ContentType="application/vnd.openxmlformats-officedocument.presentationml.slide+xml"/>
  <Override PartName="/ppt/slides/slide18.xml" ContentType="application/vnd.openxmlformats-officedocument.presentationml.slide+xml"/>
  <Override PartName="/ppt/notesSlides/notesSlide26.xml" ContentType="application/vnd.openxmlformats-officedocument.presentationml.notesSlide+xml"/>
  <Override PartName="/ppt/slides/slide60.xml" ContentType="application/vnd.openxmlformats-officedocument.presentationml.slide+xml"/>
  <Override PartName="/ppt/slides/slide28.xml" ContentType="application/vnd.openxmlformats-officedocument.presentationml.slide+xml"/>
  <Override PartName="/ppt/slides/slide37.xml" ContentType="application/vnd.openxmlformats-officedocument.presentationml.slide+xml"/>
  <Override PartName="/ppt/slides/slide70.xml" ContentType="application/vnd.openxmlformats-officedocument.presentationml.slide+xml"/>
  <Override PartName="/ppt/notesSlides/notesSlide45.xml" ContentType="application/vnd.openxmlformats-officedocument.presentationml.notesSlide+xml"/>
  <Override PartName="/ppt/slides/slide9.xml" ContentType="application/vnd.openxmlformats-officedocument.presentationml.slide+xml"/>
  <Override PartName="/ppt/slides/slide47.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Masters/notesMaster1.xml" ContentType="application/vnd.openxmlformats-officedocument.presentationml.notesMaster+xml"/>
  <Override PartName="/ppt/slides/slide66.xml" ContentType="application/vnd.openxmlformats-officedocument.presentationml.slide+xml"/>
  <Override PartName="/ppt/theme/theme1.xml" ContentType="application/vnd.openxmlformats-officedocument.theme+xml"/>
  <Override PartName="/ppt/notesSlides/notesSlide2.xml" ContentType="application/vnd.openxmlformats-officedocument.presentationml.notesSlide+xml"/>
  <Override PartName="/ppt/slides/slide75.xml" ContentType="application/vnd.openxmlformats-officedocument.presentationml.slide+xml"/>
  <Default Extension="jpeg" ContentType="image/jpeg"/>
  <Override PartName="/ppt/notesSlides/notesSlide11.xml" ContentType="application/vnd.openxmlformats-officedocument.presentationml.notesSlide+xml"/>
  <Override PartName="/ppt/slides/slide13.xml" ContentType="application/vnd.openxmlformats-officedocument.presentationml.slide+xml"/>
  <Override PartName="/ppt/notesSlides/notesSlide21.xml" ContentType="application/vnd.openxmlformats-officedocument.presentationml.notesSlide+xml"/>
  <Override PartName="/ppt/slides/slide23.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slides/slide4.xml" ContentType="application/vnd.openxmlformats-officedocument.presentationml.slide+xml"/>
  <Override PartName="/ppt/notesSlides/notesSlide40.xml" ContentType="application/vnd.openxmlformats-officedocument.presentationml.notesSlide+xml"/>
  <Override PartName="/ppt/slideLayouts/slideLayout5.xml" ContentType="application/vnd.openxmlformats-officedocument.presentationml.slideLayout+xml"/>
  <Override PartName="/ppt/slides/slide42.xml" ContentType="application/vnd.openxmlformats-officedocument.presentationml.slide+xml"/>
  <Override PartName="/ppt/notesSlides/notesSlide17.xml" ContentType="application/vnd.openxmlformats-officedocument.presentationml.notesSlide+xml"/>
  <Override PartName="/ppt/notesSlides/notesSlide50.xml" ContentType="application/vnd.openxmlformats-officedocument.presentationml.notesSlide+xml"/>
  <Override PartName="/ppt/slides/slide51.xml" ContentType="application/vnd.openxmlformats-officedocument.presentationml.slide+xml"/>
  <Override PartName="/ppt/slides/slide19.xml" ContentType="application/vnd.openxmlformats-officedocument.presentationml.slide+xml"/>
  <Override PartName="/ppt/notesSlides/notesSlide27.xml" ContentType="application/vnd.openxmlformats-officedocument.presentationml.notesSlide+xml"/>
  <Override PartName="/ppt/slideLayouts/slideLayout10.xml" ContentType="application/vnd.openxmlformats-officedocument.presentationml.slideLayout+xml"/>
  <Override PartName="/ppt/slides/slide61.xml" ContentType="application/vnd.openxmlformats-officedocument.presentationml.slide+xml"/>
  <Override PartName="/ppt/slides/slide29.xml" ContentType="application/vnd.openxmlformats-officedocument.presentationml.slide+xml"/>
  <Override PartName="/ppt/notesSlides/notesSlide36.xml" ContentType="application/vnd.openxmlformats-officedocument.presentationml.notesSlide+xml"/>
  <Override PartName="/ppt/slides/slide38.xml" ContentType="application/vnd.openxmlformats-officedocument.presentationml.slide+xml"/>
  <Override PartName="/ppt/slides/slide71.xml" ContentType="application/vnd.openxmlformats-officedocument.presentationml.slide+xml"/>
  <Override PartName="/ppt/notesSlides/notesSlide46.xml" ContentType="application/vnd.openxmlformats-officedocument.presentationml.notesSlide+xml"/>
  <Override PartName="/ppt/slides/slide80.xml" ContentType="application/vnd.openxmlformats-officedocument.presentationml.slide+xml"/>
  <Override PartName="/ppt/slides/slide48.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slides/slide67.xml" ContentType="application/vnd.openxmlformats-officedocument.presentationml.slide+xml"/>
  <Override PartName="/ppt/theme/theme2.xml" ContentType="application/vnd.openxmlformats-officedocument.theme+xml"/>
  <Override PartName="/ppt/notesSlides/notesSlide3.xml" ContentType="application/vnd.openxmlformats-officedocument.presentationml.notesSlide+xml"/>
  <Override PartName="/ppt/slides/slide76.xml" ContentType="application/vnd.openxmlformats-officedocument.presentationml.slide+xml"/>
  <Override PartName="/ppt/notesSlides/notesSlide8.xml" ContentType="application/vnd.openxmlformats-officedocument.presentationml.notesSlide+xml"/>
  <Override PartName="/ppt/notesSlides/notesSlide12.xml" ContentType="application/vnd.openxmlformats-officedocument.presentationml.notesSlide+xml"/>
  <Override PartName="/ppt/slides/slide14.xml" ContentType="application/vnd.openxmlformats-officedocument.presentationml.slide+xml"/>
  <Override PartName="/ppt/notesSlides/notesSlide22.xml" ContentType="application/vnd.openxmlformats-officedocument.presentationml.notesSlide+xml"/>
  <Override PartName="/ppt/slides/slide24.xml" ContentType="application/vnd.openxmlformats-officedocument.presentationml.slide+xml"/>
  <Default Extension="bin" ContentType="application/vnd.openxmlformats-officedocument.presentationml.printerSettings"/>
  <Override PartName="/ppt/notesSlides/notesSlide32.xml" ContentType="application/vnd.openxmlformats-officedocument.presentationml.notesSlide+xml"/>
  <Override PartName="/ppt/slides/slide33.xml" ContentType="application/vnd.openxmlformats-officedocument.presentationml.slide+xml"/>
  <Override PartName="/ppt/slides/slide5.xml" ContentType="application/vnd.openxmlformats-officedocument.presentationml.slide+xml"/>
  <Override PartName="/ppt/notesSlides/notesSlide41.xml" ContentType="application/vnd.openxmlformats-officedocument.presentationml.notesSlide+xml"/>
  <Override PartName="/ppt/slideLayouts/slideLayout6.xml" ContentType="application/vnd.openxmlformats-officedocument.presentationml.slideLayout+xml"/>
  <Default Extension="xml" ContentType="application/xml"/>
  <Override PartName="/ppt/slides/slide43.xml" ContentType="application/vnd.openxmlformats-officedocument.presentationml.slide+xml"/>
  <Override PartName="/ppt/tableStyles.xml" ContentType="application/vnd.openxmlformats-officedocument.presentationml.tableStyles+xml"/>
  <Override PartName="/ppt/notesSlides/notesSlide18.xml" ContentType="application/vnd.openxmlformats-officedocument.presentationml.notes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28.xml" ContentType="application/vnd.openxmlformats-officedocument.presentationml.notesSlide+xml"/>
  <Override PartName="/ppt/slideLayouts/slideLayout11.xml" ContentType="application/vnd.openxmlformats-officedocument.presentationml.slideLayout+xml"/>
  <Override PartName="/ppt/slides/slide62.xml" ContentType="application/vnd.openxmlformats-officedocument.presentationml.slide+xml"/>
  <Override PartName="/ppt/notesSlides/notesSlide37.xml" ContentType="application/vnd.openxmlformats-officedocument.presentationml.notesSlide+xml"/>
  <Override PartName="/docProps/app.xml" ContentType="application/vnd.openxmlformats-officedocument.extended-properties+xml"/>
  <Override PartName="/ppt/slides/slide39.xml" ContentType="application/vnd.openxmlformats-officedocument.presentationml.slide+xml"/>
  <Override PartName="/ppt/notesSlides/notesSlide47.xml" ContentType="application/vnd.openxmlformats-officedocument.presentationml.notesSlide+xml"/>
  <Override PartName="/ppt/slides/slide81.xml" ContentType="application/vnd.openxmlformats-officedocument.presentationml.slide+xml"/>
  <Override PartName="/ppt/slides/slide49.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docProps/core.xml" ContentType="application/vnd.openxmlformats-package.core-properties+xml"/>
  <Override PartName="/ppt/slides/slide68.xml" ContentType="application/vnd.openxmlformats-officedocument.presentationml.slide+xml"/>
  <Override PartName="/ppt/notesSlides/notesSlide4.xml" ContentType="application/vnd.openxmlformats-officedocument.presentationml.notesSlide+xml"/>
  <Override PartName="/ppt/slides/slide77.xml" ContentType="application/vnd.openxmlformats-officedocument.presentationml.slide+xml"/>
  <Override PartName="/ppt/slideLayouts/slideLayout1.xml" ContentType="application/vnd.openxmlformats-officedocument.presentationml.slideLayout+xml"/>
  <Override PartName="/ppt/notesSlides/notesSlide9.xml" ContentType="application/vnd.openxmlformats-officedocument.presentationml.notesSlide+xml"/>
  <Override PartName="/ppt/notesSlides/notesSlide13.xml" ContentType="application/vnd.openxmlformats-officedocument.presentationml.notesSlide+xml"/>
  <Override PartName="/ppt/slides/slide15.xml" ContentType="application/vnd.openxmlformats-officedocument.presentationml.slide+xml"/>
  <Override PartName="/ppt/notesSlides/notesSlide23.xml" ContentType="application/vnd.openxmlformats-officedocument.presentationml.notesSlide+xml"/>
  <Override PartName="/ppt/slides/slide25.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slides/slide6.xml" ContentType="application/vnd.openxmlformats-officedocument.presentationml.slide+xml"/>
  <Override PartName="/ppt/notesSlides/notesSlide42.xml" ContentType="application/vnd.openxmlformats-officedocument.presentationml.notesSlide+xml"/>
  <Override PartName="/ppt/slideLayouts/slideLayout7.xml" ContentType="application/vnd.openxmlformats-officedocument.presentationml.slideLayout+xml"/>
  <Default Extension="png" ContentType="image/png"/>
  <Override PartName="/ppt/slides/slide44.xml" ContentType="application/vnd.openxmlformats-officedocument.presentationml.slide+xml"/>
  <Override PartName="/ppt/notesSlides/notesSlide19.xml" ContentType="application/vnd.openxmlformats-officedocument.presentationml.notes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29.xml" ContentType="application/vnd.openxmlformats-officedocument.presentationml.notesSlide+xml"/>
  <Override PartName="/ppt/slides/slide63.xml" ContentType="application/vnd.openxmlformats-officedocument.presentationml.slide+xml"/>
  <Override PartName="/ppt/notesSlides/notesSlide38.xml" ContentType="application/vnd.openxmlformats-officedocument.presentationml.notesSlide+xml"/>
  <Override PartName="/ppt/slides/slide72.xml" ContentType="application/vnd.openxmlformats-officedocument.presentationml.slide+xml"/>
  <Override PartName="/ppt/notesSlides/notesSlide48.xml" ContentType="application/vnd.openxmlformats-officedocument.presentationml.notesSlide+xml"/>
  <Override PartName="/ppt/notesSlides/notesSlide58.xml" ContentType="application/vnd.openxmlformats-officedocument.presentationml.notesSlide+xml"/>
  <Override PartName="/ppt/slides/slide59.xml" ContentType="application/vnd.openxmlformats-officedocument.presentationml.slide+xml"/>
  <Override PartName="/ppt/slides/slide69.xml" ContentType="application/vnd.openxmlformats-officedocument.presentationml.slide+xml"/>
  <Override PartName="/ppt/notesSlides/notesSlide5.xml" ContentType="application/vnd.openxmlformats-officedocument.presentationml.notesSlide+xml"/>
  <Override PartName="/ppt/slides/slide78.xml" ContentType="application/vnd.openxmlformats-officedocument.presentationml.slide+xml"/>
  <Override PartName="/ppt/slides/slide10.xml" ContentType="application/vnd.openxmlformats-officedocument.presentationml.slide+xml"/>
  <Override PartName="/ppt/commentAuthors.xml" ContentType="application/vnd.openxmlformats-officedocument.presentationml.commentAuthors+xml"/>
  <Override PartName="/ppt/slides/slide20.xml" ContentType="application/vnd.openxmlformats-officedocument.presentationml.slide+xml"/>
  <Override PartName="/ppt/slides/slide1.xml" ContentType="application/vnd.openxmlformats-officedocument.presentationml.slide+xml"/>
  <Override PartName="/ppt/slideLayouts/slideLayout2.xml" ContentType="application/vnd.openxmlformats-officedocument.presentationml.slideLayout+xml"/>
  <Override PartName="/ppt/notesSlides/notesSlide14.xml" ContentType="application/vnd.openxmlformats-officedocument.presentationml.notesSlide+xml"/>
  <Override PartName="/ppt/slides/slide16.xml" ContentType="application/vnd.openxmlformats-officedocument.presentationml.slide+xml"/>
  <Override PartName="/ppt/notesSlides/notesSlide24.xml" ContentType="application/vnd.openxmlformats-officedocument.presentationml.notesSlide+xml"/>
  <Override PartName="/ppt/viewProps.xml" ContentType="application/vnd.openxmlformats-officedocument.presentationml.viewProps+xml"/>
  <Default Extension="rels" ContentType="application/vnd.openxmlformats-package.relationships+xml"/>
  <Override PartName="/ppt/slides/slide26.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slides/slide7.xml" ContentType="application/vnd.openxmlformats-officedocument.presentationml.slide+xml"/>
  <Override PartName="/ppt/notesSlides/notesSlide43.xml" ContentType="application/vnd.openxmlformats-officedocument.presentationml.notesSlide+xml"/>
  <Override PartName="/ppt/slideLayouts/slideLayout8.xml" ContentType="application/vnd.openxmlformats-officedocument.presentationml.slideLayout+xml"/>
  <Override PartName="/ppt/slides/slide45.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slides/slide64.xml" ContentType="application/vnd.openxmlformats-officedocument.presentationml.slide+xml"/>
  <Override PartName="/ppt/presProps.xml" ContentType="application/vnd.openxmlformats-officedocument.presentationml.presProps+xml"/>
  <Override PartName="/ppt/notesSlides/notesSlide39.xml" ContentType="application/vnd.openxmlformats-officedocument.presentationml.notesSlide+xml"/>
  <Override PartName="/ppt/slides/slide73.xml" ContentType="application/vnd.openxmlformats-officedocument.presentationml.slide+xml"/>
  <Override PartName="/ppt/notesSlides/notesSlide49.xml" ContentType="application/vnd.openxmlformats-officedocument.presentationml.notesSlide+xml"/>
  <Override PartName="/ppt/presentation.xml" ContentType="application/vnd.openxmlformats-officedocument.presentationml.presentation.main+xml"/>
  <Override PartName="/ppt/notesSlides/notesSlide59.xml" ContentType="application/vnd.openxmlformats-officedocument.presentationml.notesSlide+xml"/>
  <Override PartName="/ppt/notesSlides/notesSlide6.xml" ContentType="application/vnd.openxmlformats-officedocument.presentationml.notesSlide+xml"/>
  <Override PartName="/ppt/slides/slide79.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slides/slide2.xml" ContentType="application/vnd.openxmlformats-officedocument.presentationml.slide+xml"/>
  <Override PartName="/ppt/slideLayouts/slideLayout3.xml" ContentType="application/vnd.openxmlformats-officedocument.presentationml.slideLayout+xml"/>
  <Override PartName="/ppt/slides/slide40.xml" ContentType="application/vnd.openxmlformats-officedocument.presentationml.slide+xml"/>
  <Override PartName="/ppt/notesSlides/notesSlide15.xml" ContentType="application/vnd.openxmlformats-officedocument.presentationml.notesSlide+xml"/>
  <Override PartName="/ppt/slides/slide17.xml" ContentType="application/vnd.openxmlformats-officedocument.presentationml.slide+xml"/>
  <Override PartName="/ppt/notesSlides/notesSlide25.xml" ContentType="application/vnd.openxmlformats-officedocument.presentationml.notesSlide+xml"/>
  <Override PartName="/ppt/slides/slide27.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slides/slide8.xml" ContentType="application/vnd.openxmlformats-officedocument.presentationml.slide+xml"/>
  <Override PartName="/ppt/notesSlides/notesSlide44.xml" ContentType="application/vnd.openxmlformats-officedocument.presentationml.notesSlide+xml"/>
  <Override PartName="/ppt/slideLayouts/slideLayout9.xml" ContentType="application/vnd.openxmlformats-officedocument.presentationml.slideLayout+xml"/>
  <Override PartName="/ppt/slides/slide46.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slides/slide65.xml" ContentType="application/vnd.openxmlformats-officedocument.presentationml.slide+xml"/>
  <Override PartName="/ppt/notesSlides/notesSlide1.xml" ContentType="application/vnd.openxmlformats-officedocument.presentationml.notesSlide+xml"/>
  <Override PartName="/ppt/slides/slide74.xml" ContentType="application/vnd.openxmlformats-officedocument.presentationml.slide+xml"/>
  <Override PartName="/ppt/notesSlides/notesSlide7.xml" ContentType="application/vnd.openxmlformats-officedocument.presentationml.notesSlide+xml"/>
  <Override PartName="/ppt/slides/slide12.xml" ContentType="application/vnd.openxmlformats-officedocument.presentationml.slide+xml"/>
  <Override PartName="/ppt/notesSlides/notesSlide20.xml" ContentType="application/vnd.openxmlformats-officedocument.presentationml.notesSlide+xml"/>
  <Override PartName="/ppt/slides/slide22.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slides/slide3.xml" ContentType="application/vnd.openxmlformats-officedocument.presentationml.slide+xml"/>
  <Override PartName="/ppt/slideLayouts/slideLayout4.xml" ContentType="application/vnd.openxmlformats-officedocument.presentationml.slideLayout+xml"/>
  <Override PartName="/ppt/slideMasters/slideMaster1.xml" ContentType="application/vnd.openxmlformats-officedocument.presentationml.slideMaster+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saveSubsetFonts="1" autoCompressPictures="0">
  <p:sldMasterIdLst>
    <p:sldMasterId id="2147483648" r:id="rId1"/>
  </p:sldMasterIdLst>
  <p:notesMasterIdLst>
    <p:notesMasterId r:id="rId83"/>
  </p:notesMasterIdLst>
  <p:sldIdLst>
    <p:sldId id="258" r:id="rId2"/>
    <p:sldId id="259" r:id="rId3"/>
    <p:sldId id="260" r:id="rId4"/>
    <p:sldId id="261" r:id="rId5"/>
    <p:sldId id="262" r:id="rId6"/>
    <p:sldId id="263" r:id="rId7"/>
    <p:sldId id="264" r:id="rId8"/>
    <p:sldId id="265" r:id="rId9"/>
    <p:sldId id="266" r:id="rId10"/>
    <p:sldId id="267" r:id="rId11"/>
    <p:sldId id="268" r:id="rId12"/>
    <p:sldId id="269" r:id="rId13"/>
    <p:sldId id="270" r:id="rId14"/>
    <p:sldId id="271" r:id="rId15"/>
    <p:sldId id="272" r:id="rId16"/>
    <p:sldId id="273" r:id="rId17"/>
    <p:sldId id="274" r:id="rId18"/>
    <p:sldId id="275" r:id="rId19"/>
    <p:sldId id="276" r:id="rId20"/>
    <p:sldId id="333" r:id="rId21"/>
    <p:sldId id="278" r:id="rId22"/>
    <p:sldId id="279" r:id="rId23"/>
    <p:sldId id="334" r:id="rId24"/>
    <p:sldId id="280" r:id="rId25"/>
    <p:sldId id="281" r:id="rId26"/>
    <p:sldId id="282" r:id="rId27"/>
    <p:sldId id="283" r:id="rId28"/>
    <p:sldId id="335" r:id="rId29"/>
    <p:sldId id="284" r:id="rId30"/>
    <p:sldId id="285" r:id="rId31"/>
    <p:sldId id="336"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37" r:id="rId55"/>
    <p:sldId id="308" r:id="rId56"/>
    <p:sldId id="309" r:id="rId57"/>
    <p:sldId id="310" r:id="rId58"/>
    <p:sldId id="311" r:id="rId59"/>
    <p:sldId id="312" r:id="rId60"/>
    <p:sldId id="313" r:id="rId61"/>
    <p:sldId id="338" r:id="rId62"/>
    <p:sldId id="314" r:id="rId63"/>
    <p:sldId id="315" r:id="rId64"/>
    <p:sldId id="316" r:id="rId65"/>
    <p:sldId id="317" r:id="rId66"/>
    <p:sldId id="318" r:id="rId67"/>
    <p:sldId id="319" r:id="rId68"/>
    <p:sldId id="320" r:id="rId69"/>
    <p:sldId id="321" r:id="rId70"/>
    <p:sldId id="322" r:id="rId71"/>
    <p:sldId id="323" r:id="rId72"/>
    <p:sldId id="324" r:id="rId73"/>
    <p:sldId id="325" r:id="rId74"/>
    <p:sldId id="326" r:id="rId75"/>
    <p:sldId id="327" r:id="rId76"/>
    <p:sldId id="328" r:id="rId77"/>
    <p:sldId id="329" r:id="rId78"/>
    <p:sldId id="330" r:id="rId79"/>
    <p:sldId id="331" r:id="rId80"/>
    <p:sldId id="339" r:id="rId81"/>
    <p:sldId id="332" r:id="rId8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mAuthor id="0" name="ivp" initials="i" lastIdx="4" clrIdx="0"/>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extLst>
    <p:ext uri="{E76CE94A-603C-4142-B9EB-6D1370010A27}">
      <p14:discardImageEditData xmlns:p14="http://schemas.microsoft.com/office/powerpoint/2010/main" xmlns:p="http://schemas.openxmlformats.org/presentationml/2006/main" xmlns:r="http://schemas.openxmlformats.org/officeDocument/2006/relationships" xmlns:a="http://schemas.openxmlformats.org/drawingml/2006/main" xmlns="" val="0"/>
    </p:ext>
    <p:ext uri="{D31A062A-798A-4329-ABDD-BBA856620510}">
      <p14:defaultImageDpi xmlns:p14="http://schemas.microsoft.com/office/powerpoint/2010/main" xmlns:p="http://schemas.openxmlformats.org/presentationml/2006/main" xmlns:r="http://schemas.openxmlformats.org/officeDocument/2006/relationships" xmlns:a="http://schemas.openxmlformats.org/drawingml/2006/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normalViewPr>
    <p:restoredLeft sz="15620"/>
    <p:restoredTop sz="94660"/>
  </p:normalViewPr>
  <p:slideViewPr>
    <p:cSldViewPr snapToGrid="0" snapToObjects="1">
      <p:cViewPr>
        <p:scale>
          <a:sx n="144" d="100"/>
          <a:sy n="144" d="100"/>
        </p:scale>
        <p:origin x="-1328" y="-224"/>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notesMaster" Target="notesMasters/notesMaster1.xml"/><Relationship Id="rId84" Type="http://schemas.openxmlformats.org/officeDocument/2006/relationships/printerSettings" Target="printerSettings/printerSettings1.bin"/><Relationship Id="rId85" Type="http://schemas.openxmlformats.org/officeDocument/2006/relationships/commentAuthors" Target="commentAuthors.xml"/><Relationship Id="rId86" Type="http://schemas.openxmlformats.org/officeDocument/2006/relationships/presProps" Target="presProps.xml"/><Relationship Id="rId87" Type="http://schemas.openxmlformats.org/officeDocument/2006/relationships/viewProps" Target="viewProps.xml"/><Relationship Id="rId88" Type="http://schemas.openxmlformats.org/officeDocument/2006/relationships/theme" Target="theme/theme1.xml"/><Relationship Id="rId8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282152B-F687-8E46-ACB4-62A0D7B76A02}" type="datetimeFigureOut">
              <a:rPr lang="en-US" smtClean="0"/>
              <a:pPr/>
              <a:t>7/7/15</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FF6F00E-0827-B145-A85F-C5C5AD61EF06}" type="slidenum">
              <a:rPr lang="en-US" smtClean="0"/>
              <a:pPr/>
              <a:t>‹#›</a:t>
            </a:fld>
            <a:endParaRPr lang="en-US" dirty="0"/>
          </a:p>
        </p:txBody>
      </p:sp>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4065356537"/>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888D905B-5AA7-2649-ADAF-8EF82FB8C874}" type="slidenum">
              <a:rPr lang="en-US"/>
              <a:pPr>
                <a:defRPr/>
              </a:pPr>
              <a:t>1</a:t>
            </a:fld>
            <a:endParaRPr lang="en-US" dirty="0"/>
          </a:p>
        </p:txBody>
      </p:sp>
      <p:sp>
        <p:nvSpPr>
          <p:cNvPr id="171010"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xmlns:p="http://schemas.openxmlformats.org/presentationml/2006/main" xmlns:r="http://schemas.openxmlformats.org/officeDocument/2006/relationships" xmlns:a="http://schemas.openxmlformats.org/drawingml/2006/main" val="1"/>
            </a:ext>
          </a:extLst>
        </p:spPr>
      </p:sp>
      <p:sp>
        <p:nvSpPr>
          <p:cNvPr id="171011" name="Rectangle 3"/>
          <p:cNvSpPr>
            <a:spLocks noGrp="1" noChangeArrowheads="1"/>
          </p:cNvSpPr>
          <p:nvPr>
            <p:ph type="body" idx="1"/>
          </p:nvPr>
        </p:nvSpPr>
        <p:spPr/>
        <p:txBody>
          <a:bodyPr/>
          <a:lstStyle/>
          <a:p>
            <a:r>
              <a:rPr lang="en-US" sz="1200" b="0" i="0" u="none" strike="noStrike" kern="1200" baseline="0" dirty="0" smtClean="0">
                <a:solidFill>
                  <a:schemeClr val="tx1"/>
                </a:solidFill>
                <a:latin typeface="+mn-lt"/>
                <a:ea typeface="+mn-ea"/>
                <a:cs typeface="+mn-cs"/>
              </a:rPr>
              <a:t>Family resemblance, very evident in this photograph of four sisters, results from having genes in common. Genes must be expressed to exert an effect, and proteins regulate such expression. One such regulatory protein, a zinc-finger protein (zinc ion is blue, protein is red), is shown bound to a control region of DNA (black). [(Left) © Nicholas Nixon, courtesy Fraenkel Gallery, San Francisco. (Right) Drawn from 1AAY.pdb.]</a:t>
            </a:r>
            <a:endParaRPr lang="en-US" dirty="0" smtClean="0">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3B2E6195-CED9-014B-A3D2-9034A51B5775}" type="slidenum">
              <a:rPr lang="en-US"/>
              <a:pPr>
                <a:defRPr/>
              </a:pPr>
              <a:t>5</a:t>
            </a:fld>
            <a:endParaRPr lang="en-US" dirty="0"/>
          </a:p>
        </p:txBody>
      </p:sp>
      <p:sp>
        <p:nvSpPr>
          <p:cNvPr id="173058"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xmlns:p="http://schemas.openxmlformats.org/presentationml/2006/main" xmlns:r="http://schemas.openxmlformats.org/officeDocument/2006/relationships" xmlns:a="http://schemas.openxmlformats.org/drawingml/2006/main" val="1"/>
            </a:ext>
          </a:extLst>
        </p:spPr>
      </p:sp>
      <p:sp>
        <p:nvSpPr>
          <p:cNvPr id="173059" name="Rectangle 3"/>
          <p:cNvSpPr>
            <a:spLocks noGrp="1" noChangeArrowheads="1"/>
          </p:cNvSpPr>
          <p:nvPr>
            <p:ph type="body" idx="1"/>
          </p:nvPr>
        </p:nvSpPr>
        <p:spPr/>
        <p:txBody>
          <a:bodyPr/>
          <a:lstStyle/>
          <a:p>
            <a:pPr>
              <a:defRPr/>
            </a:pPr>
            <a:r>
              <a:rPr lang="en-US" b="1" dirty="0" smtClean="0"/>
              <a:t>FIGURE 4.1 Polymeric structure of nucleic</a:t>
            </a:r>
            <a:r>
              <a:rPr lang="en-US" b="1" baseline="0" dirty="0" smtClean="0"/>
              <a:t> </a:t>
            </a:r>
            <a:r>
              <a:rPr lang="en-US" b="1" dirty="0" smtClean="0"/>
              <a:t>acids.</a:t>
            </a:r>
            <a:endParaRPr lang="en-US" b="1" dirty="0" smtClean="0">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77580D8B-7B3E-5D43-B3DA-50B555C72A06}" type="slidenum">
              <a:rPr lang="en-US"/>
              <a:pPr>
                <a:defRPr/>
              </a:pPr>
              <a:t>7</a:t>
            </a:fld>
            <a:endParaRPr lang="en-US" dirty="0"/>
          </a:p>
        </p:txBody>
      </p:sp>
      <p:sp>
        <p:nvSpPr>
          <p:cNvPr id="174082"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xmlns:p="http://schemas.openxmlformats.org/presentationml/2006/main" xmlns:r="http://schemas.openxmlformats.org/officeDocument/2006/relationships" xmlns:a="http://schemas.openxmlformats.org/drawingml/2006/main" val="1"/>
            </a:ext>
          </a:extLst>
        </p:spPr>
      </p:sp>
      <p:sp>
        <p:nvSpPr>
          <p:cNvPr id="174083" name="Rectangle 3"/>
          <p:cNvSpPr>
            <a:spLocks noGrp="1" noChangeArrowheads="1"/>
          </p:cNvSpPr>
          <p:nvPr>
            <p:ph type="body" idx="1"/>
          </p:nvPr>
        </p:nvSpPr>
        <p:spPr/>
        <p:txBody>
          <a:bodyPr/>
          <a:lstStyle/>
          <a:p>
            <a:pPr>
              <a:defRPr/>
            </a:pPr>
            <a:r>
              <a:rPr lang="en-US" b="1" dirty="0" smtClean="0"/>
              <a:t>FIGURE 4.2 Ribose and deoxyribose</a:t>
            </a:r>
            <a:r>
              <a:rPr lang="en-US" dirty="0" smtClean="0"/>
              <a:t>.</a:t>
            </a:r>
            <a:r>
              <a:rPr lang="en-US" baseline="0" dirty="0" smtClean="0"/>
              <a:t> </a:t>
            </a:r>
            <a:r>
              <a:rPr lang="en-US" dirty="0" smtClean="0"/>
              <a:t>Atoms in sugar units are numbered with</a:t>
            </a:r>
            <a:r>
              <a:rPr lang="en-US" baseline="0" dirty="0" smtClean="0"/>
              <a:t> </a:t>
            </a:r>
            <a:r>
              <a:rPr lang="en-US" dirty="0" smtClean="0"/>
              <a:t>primes to distinguish them from atoms in</a:t>
            </a:r>
            <a:r>
              <a:rPr lang="en-US" baseline="0" dirty="0" smtClean="0"/>
              <a:t> </a:t>
            </a:r>
            <a:r>
              <a:rPr lang="en-US" dirty="0" smtClean="0"/>
              <a:t>bases (see Figure 4.4).</a:t>
            </a:r>
            <a:endParaRPr lang="en-US" dirty="0" smtClean="0">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94714CED-D17A-0A4F-BDAF-6DC25A298326}" type="slidenum">
              <a:rPr lang="en-US"/>
              <a:pPr>
                <a:defRPr/>
              </a:pPr>
              <a:t>8</a:t>
            </a:fld>
            <a:endParaRPr lang="en-US" dirty="0"/>
          </a:p>
        </p:txBody>
      </p:sp>
      <p:sp>
        <p:nvSpPr>
          <p:cNvPr id="175106"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xmlns:p="http://schemas.openxmlformats.org/presentationml/2006/main" xmlns:r="http://schemas.openxmlformats.org/officeDocument/2006/relationships" xmlns:a="http://schemas.openxmlformats.org/drawingml/2006/main" val="1"/>
            </a:ext>
          </a:extLst>
        </p:spPr>
      </p:sp>
      <p:sp>
        <p:nvSpPr>
          <p:cNvPr id="175107" name="Rectangle 3"/>
          <p:cNvSpPr>
            <a:spLocks noGrp="1" noChangeArrowheads="1"/>
          </p:cNvSpPr>
          <p:nvPr>
            <p:ph type="body" idx="1"/>
          </p:nvPr>
        </p:nvSpPr>
        <p:spPr/>
        <p:txBody>
          <a:bodyPr/>
          <a:lstStyle/>
          <a:p>
            <a:pPr>
              <a:defRPr/>
            </a:pPr>
            <a:r>
              <a:rPr lang="en-US" b="1" dirty="0" smtClean="0"/>
              <a:t>FIGURE 4.3 Backbones of DNA and RNA</a:t>
            </a:r>
            <a:r>
              <a:rPr lang="en-US" dirty="0" smtClean="0"/>
              <a:t>. The backbones of these nucleic acids are formed by</a:t>
            </a:r>
            <a:r>
              <a:rPr lang="en-US" baseline="0" dirty="0" smtClean="0"/>
              <a:t> </a:t>
            </a:r>
            <a:r>
              <a:rPr lang="en-US" dirty="0" smtClean="0"/>
              <a:t>3</a:t>
            </a:r>
            <a:r>
              <a:rPr lang="en-US" dirty="0" smtClean="0">
                <a:sym typeface="Symbol"/>
              </a:rPr>
              <a:t></a:t>
            </a:r>
            <a:r>
              <a:rPr lang="en-US" dirty="0" smtClean="0"/>
              <a:t>-to-5</a:t>
            </a:r>
            <a:r>
              <a:rPr lang="en-US" dirty="0" smtClean="0">
                <a:sym typeface="Symbol"/>
              </a:rPr>
              <a:t></a:t>
            </a:r>
            <a:r>
              <a:rPr lang="en-US" dirty="0" smtClean="0"/>
              <a:t> phosphodiester linkages. A sugar unit is highlighted in red and a phosphate group in blue.</a:t>
            </a:r>
            <a:endParaRPr lang="en-US" dirty="0" smtClean="0">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A3371289-7D61-3C45-90AB-67373CAA9C2D}" type="slidenum">
              <a:rPr lang="en-US"/>
              <a:pPr>
                <a:defRPr/>
              </a:pPr>
              <a:t>9</a:t>
            </a:fld>
            <a:endParaRPr lang="en-US" dirty="0"/>
          </a:p>
        </p:txBody>
      </p:sp>
      <p:sp>
        <p:nvSpPr>
          <p:cNvPr id="176130"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xmlns:p="http://schemas.openxmlformats.org/presentationml/2006/main" xmlns:r="http://schemas.openxmlformats.org/officeDocument/2006/relationships" xmlns:a="http://schemas.openxmlformats.org/drawingml/2006/main" val="1"/>
            </a:ext>
          </a:extLst>
        </p:spPr>
      </p:sp>
      <p:sp>
        <p:nvSpPr>
          <p:cNvPr id="176131" name="Rectangle 3"/>
          <p:cNvSpPr>
            <a:spLocks noGrp="1" noChangeArrowheads="1"/>
          </p:cNvSpPr>
          <p:nvPr>
            <p:ph type="body" idx="1"/>
          </p:nvPr>
        </p:nvSpPr>
        <p:spPr/>
        <p:txBody>
          <a:bodyPr/>
          <a:lstStyle/>
          <a:p>
            <a:pPr>
              <a:defRPr/>
            </a:pPr>
            <a:r>
              <a:rPr lang="en-US" b="1" dirty="0" smtClean="0"/>
              <a:t>FIGURE 4.4 Purines and</a:t>
            </a:r>
            <a:r>
              <a:rPr lang="en-US" b="1" baseline="0" dirty="0" smtClean="0"/>
              <a:t> </a:t>
            </a:r>
            <a:r>
              <a:rPr lang="en-US" b="1" dirty="0" smtClean="0"/>
              <a:t>pyrimidines. </a:t>
            </a:r>
            <a:r>
              <a:rPr lang="en-US" dirty="0" smtClean="0"/>
              <a:t>Atoms within bases</a:t>
            </a:r>
            <a:r>
              <a:rPr lang="en-US" baseline="0" dirty="0" smtClean="0"/>
              <a:t> </a:t>
            </a:r>
            <a:r>
              <a:rPr lang="en-US" dirty="0" smtClean="0"/>
              <a:t>are numbered without primes. Uracil</a:t>
            </a:r>
            <a:r>
              <a:rPr lang="en-US" baseline="0" dirty="0" smtClean="0"/>
              <a:t> </a:t>
            </a:r>
            <a:r>
              <a:rPr lang="en-US" dirty="0" smtClean="0"/>
              <a:t>is present in RNA instead of thymine.</a:t>
            </a:r>
            <a:endParaRPr lang="en-US" dirty="0" smtClean="0">
              <a:cs typeface="+mn-c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endParaRPr lang="en-US" dirty="0"/>
          </a:p>
        </p:txBody>
      </p:sp>
      <p:sp>
        <p:nvSpPr>
          <p:cNvPr id="4" name="Slide Number Placeholder 3"/>
          <p:cNvSpPr>
            <a:spLocks noGrp="1"/>
          </p:cNvSpPr>
          <p:nvPr>
            <p:ph type="sldNum" sz="quarter" idx="5"/>
          </p:nvPr>
        </p:nvSpPr>
        <p:spPr/>
        <p:txBody>
          <a:bodyPr/>
          <a:lstStyle/>
          <a:p>
            <a:pPr>
              <a:defRPr/>
            </a:pPr>
            <a:fld id="{16F3FFA8-C31A-DF48-8949-15F3E647C966}" type="slidenum">
              <a:rPr lang="en-US" smtClean="0"/>
              <a:pPr>
                <a:defRPr/>
              </a:pPr>
              <a:t>10</a:t>
            </a:fld>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5E8C15BF-73F7-7246-BC4A-8C5E1617DC91}" type="slidenum">
              <a:rPr lang="en-US"/>
              <a:pPr>
                <a:defRPr/>
              </a:pPr>
              <a:t>11</a:t>
            </a:fld>
            <a:endParaRPr lang="en-US" dirty="0"/>
          </a:p>
        </p:txBody>
      </p:sp>
      <p:sp>
        <p:nvSpPr>
          <p:cNvPr id="177154"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xmlns:p="http://schemas.openxmlformats.org/presentationml/2006/main" xmlns:r="http://schemas.openxmlformats.org/officeDocument/2006/relationships" xmlns:a="http://schemas.openxmlformats.org/drawingml/2006/main" val="1"/>
            </a:ext>
          </a:extLst>
        </p:spPr>
      </p:sp>
      <p:sp>
        <p:nvSpPr>
          <p:cNvPr id="177155" name="Rectangle 3"/>
          <p:cNvSpPr>
            <a:spLocks noGrp="1" noChangeArrowheads="1"/>
          </p:cNvSpPr>
          <p:nvPr>
            <p:ph type="body" idx="1"/>
          </p:nvPr>
        </p:nvSpPr>
        <p:spPr/>
        <p:txBody>
          <a:bodyPr/>
          <a:lstStyle/>
          <a:p>
            <a:pPr>
              <a:defRPr/>
            </a:pPr>
            <a:r>
              <a:rPr lang="en-US" b="1" dirty="0" smtClean="0"/>
              <a:t>FIGURE 4.5 β-Glycosidic linkage in a</a:t>
            </a:r>
            <a:r>
              <a:rPr lang="en-US" b="1" baseline="0" dirty="0" smtClean="0"/>
              <a:t> </a:t>
            </a:r>
            <a:r>
              <a:rPr lang="en-US" b="1" dirty="0" smtClean="0"/>
              <a:t>nucleoside.</a:t>
            </a:r>
            <a:endParaRPr lang="en-US" b="1" dirty="0" smtClean="0">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B5A01700-5C0F-2149-9FAE-6FA0C87F053B}" type="slidenum">
              <a:rPr lang="en-US"/>
              <a:pPr>
                <a:defRPr/>
              </a:pPr>
              <a:t>12</a:t>
            </a:fld>
            <a:endParaRPr lang="en-US" dirty="0"/>
          </a:p>
        </p:txBody>
      </p:sp>
      <p:sp>
        <p:nvSpPr>
          <p:cNvPr id="178178"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xmlns:p="http://schemas.openxmlformats.org/presentationml/2006/main" xmlns:r="http://schemas.openxmlformats.org/officeDocument/2006/relationships" xmlns:a="http://schemas.openxmlformats.org/drawingml/2006/main" val="1"/>
            </a:ext>
          </a:extLst>
        </p:spPr>
      </p:sp>
      <p:sp>
        <p:nvSpPr>
          <p:cNvPr id="178179" name="Rectangle 3"/>
          <p:cNvSpPr>
            <a:spLocks noGrp="1" noChangeArrowheads="1"/>
          </p:cNvSpPr>
          <p:nvPr>
            <p:ph type="body" idx="1"/>
          </p:nvPr>
        </p:nvSpPr>
        <p:spPr/>
        <p:txBody>
          <a:bodyPr/>
          <a:lstStyle/>
          <a:p>
            <a:pPr>
              <a:defRPr/>
            </a:pPr>
            <a:r>
              <a:rPr lang="en-US" b="1" dirty="0" smtClean="0"/>
              <a:t>FIGURE 4.6 Nucleotides adenosine 5</a:t>
            </a:r>
            <a:r>
              <a:rPr lang="en-US" sz="1200" kern="1200" dirty="0" smtClean="0">
                <a:solidFill>
                  <a:schemeClr val="tx1"/>
                </a:solidFill>
                <a:effectLst/>
                <a:latin typeface="+mn-lt"/>
                <a:ea typeface="+mn-ea"/>
                <a:cs typeface="+mn-cs"/>
                <a:sym typeface="Symbol"/>
              </a:rPr>
              <a:t></a:t>
            </a:r>
            <a:r>
              <a:rPr lang="en-US" b="1" dirty="0" smtClean="0"/>
              <a:t>-triphosphate (5</a:t>
            </a:r>
            <a:r>
              <a:rPr lang="en-US" sz="1200" kern="1200" dirty="0" smtClean="0">
                <a:solidFill>
                  <a:schemeClr val="tx1"/>
                </a:solidFill>
                <a:effectLst/>
                <a:latin typeface="+mn-lt"/>
                <a:ea typeface="+mn-ea"/>
                <a:cs typeface="+mn-cs"/>
                <a:sym typeface="Symbol"/>
              </a:rPr>
              <a:t></a:t>
            </a:r>
            <a:r>
              <a:rPr lang="en-US" b="1" dirty="0" smtClean="0"/>
              <a:t>-ATP) and deoxyguanosine</a:t>
            </a:r>
            <a:r>
              <a:rPr lang="en-US" b="1" baseline="0" dirty="0" smtClean="0"/>
              <a:t> </a:t>
            </a:r>
            <a:r>
              <a:rPr lang="en-US" b="1" dirty="0" smtClean="0"/>
              <a:t>3</a:t>
            </a:r>
            <a:r>
              <a:rPr lang="en-US" sz="1200" kern="1200" dirty="0" smtClean="0">
                <a:solidFill>
                  <a:schemeClr val="tx1"/>
                </a:solidFill>
                <a:effectLst/>
                <a:latin typeface="+mn-lt"/>
                <a:ea typeface="+mn-ea"/>
                <a:cs typeface="+mn-cs"/>
                <a:sym typeface="Symbol"/>
              </a:rPr>
              <a:t></a:t>
            </a:r>
            <a:r>
              <a:rPr lang="en-US" b="1" dirty="0" smtClean="0"/>
              <a:t>-monophosphate (3</a:t>
            </a:r>
            <a:r>
              <a:rPr lang="en-US" sz="1200" kern="1200" dirty="0" smtClean="0">
                <a:solidFill>
                  <a:schemeClr val="tx1"/>
                </a:solidFill>
                <a:effectLst/>
                <a:latin typeface="+mn-lt"/>
                <a:ea typeface="+mn-ea"/>
                <a:cs typeface="+mn-cs"/>
                <a:sym typeface="Symbol"/>
              </a:rPr>
              <a:t></a:t>
            </a:r>
            <a:r>
              <a:rPr lang="en-US" b="1" dirty="0" smtClean="0"/>
              <a:t>-dGMP).</a:t>
            </a:r>
            <a:endParaRPr lang="en-US" b="1" dirty="0" smtClean="0">
              <a:cs typeface="+mn-c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D1B7E45E-283F-4C40-AD93-4300C373FFC8}" type="slidenum">
              <a:rPr lang="en-US"/>
              <a:pPr>
                <a:defRPr/>
              </a:pPr>
              <a:t>14</a:t>
            </a:fld>
            <a:endParaRPr lang="en-US" dirty="0"/>
          </a:p>
        </p:txBody>
      </p:sp>
      <p:sp>
        <p:nvSpPr>
          <p:cNvPr id="180226"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xmlns:p="http://schemas.openxmlformats.org/presentationml/2006/main" xmlns:r="http://schemas.openxmlformats.org/officeDocument/2006/relationships" xmlns:a="http://schemas.openxmlformats.org/drawingml/2006/main" val="1"/>
            </a:ext>
          </a:extLst>
        </p:spPr>
      </p:sp>
      <p:sp>
        <p:nvSpPr>
          <p:cNvPr id="180227" name="Rectangle 3"/>
          <p:cNvSpPr>
            <a:spLocks noGrp="1" noChangeArrowheads="1"/>
          </p:cNvSpPr>
          <p:nvPr>
            <p:ph type="body" idx="1"/>
          </p:nvPr>
        </p:nvSpPr>
        <p:spPr/>
        <p:txBody>
          <a:bodyPr/>
          <a:lstStyle/>
          <a:p>
            <a:pPr>
              <a:defRPr/>
            </a:pPr>
            <a:r>
              <a:rPr lang="en-US" b="1" dirty="0" smtClean="0"/>
              <a:t>FIGURE 4.7 Structure of a DNA chain</a:t>
            </a:r>
            <a:r>
              <a:rPr lang="en-US" dirty="0" smtClean="0"/>
              <a:t>. The</a:t>
            </a:r>
            <a:r>
              <a:rPr lang="en-US" baseline="0" dirty="0" smtClean="0"/>
              <a:t> </a:t>
            </a:r>
            <a:r>
              <a:rPr lang="en-US" dirty="0" smtClean="0"/>
              <a:t>chain has a 5</a:t>
            </a:r>
            <a:r>
              <a:rPr lang="en-US" sz="1200" kern="1200" dirty="0" smtClean="0">
                <a:solidFill>
                  <a:schemeClr val="tx1"/>
                </a:solidFill>
                <a:effectLst/>
                <a:latin typeface="+mn-lt"/>
                <a:ea typeface="+mn-ea"/>
                <a:cs typeface="+mn-cs"/>
                <a:sym typeface="Symbol"/>
              </a:rPr>
              <a:t></a:t>
            </a:r>
            <a:r>
              <a:rPr lang="en-US" dirty="0" smtClean="0"/>
              <a:t> end, which is usually attached</a:t>
            </a:r>
            <a:r>
              <a:rPr lang="en-US" baseline="0" dirty="0" smtClean="0"/>
              <a:t> </a:t>
            </a:r>
            <a:r>
              <a:rPr lang="en-US" dirty="0" smtClean="0"/>
              <a:t>to a phosphoryl group, and a 3</a:t>
            </a:r>
            <a:r>
              <a:rPr lang="en-US" sz="1200" kern="1200" dirty="0" smtClean="0">
                <a:solidFill>
                  <a:schemeClr val="tx1"/>
                </a:solidFill>
                <a:effectLst/>
                <a:latin typeface="+mn-lt"/>
                <a:ea typeface="+mn-ea"/>
                <a:cs typeface="+mn-cs"/>
                <a:sym typeface="Symbol"/>
              </a:rPr>
              <a:t></a:t>
            </a:r>
            <a:r>
              <a:rPr lang="en-US" dirty="0" smtClean="0"/>
              <a:t> end, which is</a:t>
            </a:r>
            <a:r>
              <a:rPr lang="en-US" baseline="0" dirty="0" smtClean="0"/>
              <a:t> </a:t>
            </a:r>
            <a:r>
              <a:rPr lang="en-US" dirty="0" smtClean="0"/>
              <a:t>usually a free hydroxyl group.</a:t>
            </a:r>
            <a:endParaRPr lang="en-US" dirty="0" smtClean="0">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DC3ED2EC-249D-CE45-8380-F968DDBB2A39}" type="slidenum">
              <a:rPr lang="en-US"/>
              <a:pPr>
                <a:defRPr/>
              </a:pPr>
              <a:t>15</a:t>
            </a:fld>
            <a:endParaRPr lang="en-US" dirty="0"/>
          </a:p>
        </p:txBody>
      </p:sp>
      <p:sp>
        <p:nvSpPr>
          <p:cNvPr id="181250"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xmlns:p="http://schemas.openxmlformats.org/presentationml/2006/main" xmlns:r="http://schemas.openxmlformats.org/officeDocument/2006/relationships" xmlns:a="http://schemas.openxmlformats.org/drawingml/2006/main" val="1"/>
            </a:ext>
          </a:extLst>
        </p:spPr>
      </p:sp>
      <p:sp>
        <p:nvSpPr>
          <p:cNvPr id="181251" name="Rectangle 3"/>
          <p:cNvSpPr>
            <a:spLocks noGrp="1" noChangeArrowheads="1"/>
          </p:cNvSpPr>
          <p:nvPr>
            <p:ph type="body" idx="1"/>
          </p:nvPr>
        </p:nvSpPr>
        <p:spPr/>
        <p:txBody>
          <a:bodyPr/>
          <a:lstStyle/>
          <a:p>
            <a:pPr>
              <a:defRPr/>
            </a:pPr>
            <a:r>
              <a:rPr lang="en-US" b="1" dirty="0" smtClean="0"/>
              <a:t>FIGURE 4.8 Electron micrograph of part of</a:t>
            </a:r>
            <a:r>
              <a:rPr lang="en-US" b="1" baseline="0" dirty="0" smtClean="0"/>
              <a:t> </a:t>
            </a:r>
            <a:r>
              <a:rPr lang="en-US" b="1" dirty="0" smtClean="0"/>
              <a:t>the </a:t>
            </a:r>
            <a:r>
              <a:rPr lang="en-US" b="1" i="1" dirty="0" smtClean="0"/>
              <a:t>E. coli </a:t>
            </a:r>
            <a:r>
              <a:rPr lang="en-US" b="1" dirty="0" smtClean="0"/>
              <a:t>genome. </a:t>
            </a:r>
            <a:r>
              <a:rPr lang="en-US" dirty="0" smtClean="0"/>
              <a:t>[Dr. Gopal </a:t>
            </a:r>
            <a:r>
              <a:rPr lang="en-US" dirty="0" err="1" smtClean="0"/>
              <a:t>Murti</a:t>
            </a:r>
            <a:r>
              <a:rPr lang="en-US" dirty="0" smtClean="0"/>
              <a:t>/Science Photo Library/Photo Researchers.]</a:t>
            </a:r>
            <a:endParaRPr lang="en-US" dirty="0" smtClean="0">
              <a:cs typeface="+mn-c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E7D616F4-0FFB-DB42-B125-825F2207DF43}" type="slidenum">
              <a:rPr lang="en-US"/>
              <a:pPr>
                <a:defRPr/>
              </a:pPr>
              <a:t>16</a:t>
            </a:fld>
            <a:endParaRPr lang="en-US" dirty="0"/>
          </a:p>
        </p:txBody>
      </p:sp>
      <p:sp>
        <p:nvSpPr>
          <p:cNvPr id="182274"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xmlns:p="http://schemas.openxmlformats.org/presentationml/2006/main" xmlns:r="http://schemas.openxmlformats.org/officeDocument/2006/relationships" xmlns:a="http://schemas.openxmlformats.org/drawingml/2006/main" val="1"/>
            </a:ext>
          </a:extLst>
        </p:spPr>
      </p:sp>
      <p:sp>
        <p:nvSpPr>
          <p:cNvPr id="182275" name="Rectangle 3"/>
          <p:cNvSpPr>
            <a:spLocks noGrp="1" noChangeArrowheads="1"/>
          </p:cNvSpPr>
          <p:nvPr>
            <p:ph type="body" idx="1"/>
          </p:nvPr>
        </p:nvSpPr>
        <p:spPr/>
        <p:txBody>
          <a:bodyPr/>
          <a:lstStyle/>
          <a:p>
            <a:r>
              <a:rPr lang="en-US" sz="1200" b="1" i="0" u="none" strike="noStrike" kern="1200" baseline="0" dirty="0" smtClean="0">
                <a:solidFill>
                  <a:schemeClr val="tx1"/>
                </a:solidFill>
                <a:latin typeface="+mn-lt"/>
                <a:ea typeface="+mn-ea"/>
                <a:cs typeface="+mn-cs"/>
              </a:rPr>
              <a:t>FIGURE 4.9 The Indian muntjac and its chromosomes. </a:t>
            </a:r>
            <a:r>
              <a:rPr lang="en-US" sz="1200" b="0" i="0" u="none" strike="noStrike" kern="1200" baseline="0" dirty="0" smtClean="0">
                <a:solidFill>
                  <a:schemeClr val="tx1"/>
                </a:solidFill>
                <a:latin typeface="+mn-lt"/>
                <a:ea typeface="+mn-ea"/>
                <a:cs typeface="+mn-cs"/>
              </a:rPr>
              <a:t>Cells from a female Indian muntjac (right) contain three pairs of very large chromosomes (stained orange). The cell shown is a hybrid containing a pair of human chromosomes (stained green) for comparison. [(Left) Hugh Lansdown/Shutterstock. (Right) J.–Y. Lee, M. Koi, E. J. Stanbridge, M. Oshimura, A. T. Kumamoto, and A. P. Feinberg. </a:t>
            </a:r>
            <a:r>
              <a:rPr lang="en-US" sz="1200" b="0" i="1" u="none" strike="noStrike" kern="1200" baseline="0" dirty="0" smtClean="0">
                <a:solidFill>
                  <a:schemeClr val="tx1"/>
                </a:solidFill>
                <a:latin typeface="+mn-lt"/>
                <a:ea typeface="+mn-ea"/>
                <a:cs typeface="+mn-cs"/>
              </a:rPr>
              <a:t>Nat. Genet</a:t>
            </a:r>
            <a:r>
              <a:rPr lang="en-US" sz="1200" b="0" i="0" u="none" strike="noStrike" kern="1200" baseline="0" dirty="0" smtClean="0">
                <a:solidFill>
                  <a:schemeClr val="tx1"/>
                </a:solidFill>
                <a:latin typeface="+mn-lt"/>
                <a:ea typeface="+mn-ea"/>
                <a:cs typeface="+mn-cs"/>
              </a:rPr>
              <a:t>. 7:30, 1994.]</a:t>
            </a:r>
            <a:endParaRPr lang="en-US" dirty="0" smtClean="0">
              <a:cs typeface="+mn-c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94D9BE08-BF33-2349-BE11-9D55282054A6}" type="slidenum">
              <a:rPr lang="en-US"/>
              <a:pPr>
                <a:defRPr/>
              </a:pPr>
              <a:t>18</a:t>
            </a:fld>
            <a:endParaRPr lang="en-US" dirty="0"/>
          </a:p>
        </p:txBody>
      </p:sp>
      <p:sp>
        <p:nvSpPr>
          <p:cNvPr id="184322"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xmlns:p="http://schemas.openxmlformats.org/presentationml/2006/main" xmlns:r="http://schemas.openxmlformats.org/officeDocument/2006/relationships" xmlns:a="http://schemas.openxmlformats.org/drawingml/2006/main" val="1"/>
            </a:ext>
          </a:extLst>
        </p:spPr>
      </p:sp>
      <p:sp>
        <p:nvSpPr>
          <p:cNvPr id="184323" name="Rectangle 3"/>
          <p:cNvSpPr>
            <a:spLocks noGrp="1" noChangeArrowheads="1"/>
          </p:cNvSpPr>
          <p:nvPr>
            <p:ph type="body" idx="1"/>
          </p:nvPr>
        </p:nvSpPr>
        <p:spPr/>
        <p:txBody>
          <a:bodyPr/>
          <a:lstStyle/>
          <a:p>
            <a:pPr>
              <a:defRPr/>
            </a:pPr>
            <a:r>
              <a:rPr lang="en-US" b="1" dirty="0" smtClean="0"/>
              <a:t>FIGURE 4.10 X-ray diffraction photograph</a:t>
            </a:r>
            <a:r>
              <a:rPr lang="en-US" b="1" baseline="0" dirty="0" smtClean="0"/>
              <a:t> </a:t>
            </a:r>
            <a:r>
              <a:rPr lang="en-US" b="1" dirty="0" smtClean="0"/>
              <a:t>of a hydrated DNA fiber</a:t>
            </a:r>
            <a:r>
              <a:rPr lang="en-US" dirty="0" smtClean="0"/>
              <a:t>. When crystals of a</a:t>
            </a:r>
            <a:r>
              <a:rPr lang="en-US" baseline="0" dirty="0" smtClean="0"/>
              <a:t> </a:t>
            </a:r>
            <a:r>
              <a:rPr lang="en-US" dirty="0" smtClean="0"/>
              <a:t>biomolecule are irradiated with x-rays, the x-rays</a:t>
            </a:r>
            <a:r>
              <a:rPr lang="en-US" baseline="0" dirty="0" smtClean="0"/>
              <a:t> </a:t>
            </a:r>
            <a:r>
              <a:rPr lang="en-US" dirty="0" smtClean="0"/>
              <a:t>are diffracted and these diffracted x-rays are</a:t>
            </a:r>
            <a:r>
              <a:rPr lang="en-US" baseline="0" dirty="0" smtClean="0"/>
              <a:t> </a:t>
            </a:r>
            <a:r>
              <a:rPr lang="en-US" dirty="0" smtClean="0"/>
              <a:t>seen as a series of spots, called reflections, on</a:t>
            </a:r>
            <a:r>
              <a:rPr lang="en-US" baseline="0" dirty="0" smtClean="0"/>
              <a:t> </a:t>
            </a:r>
            <a:r>
              <a:rPr lang="en-US" dirty="0" smtClean="0"/>
              <a:t>a screen behind the crystal. The structure of the</a:t>
            </a:r>
            <a:r>
              <a:rPr lang="en-US" baseline="0" dirty="0" smtClean="0"/>
              <a:t> </a:t>
            </a:r>
            <a:r>
              <a:rPr lang="en-US" dirty="0" smtClean="0"/>
              <a:t>molecule can be determined by the pattern of</a:t>
            </a:r>
            <a:r>
              <a:rPr lang="en-US" baseline="0" dirty="0" smtClean="0"/>
              <a:t> </a:t>
            </a:r>
            <a:r>
              <a:rPr lang="en-US" dirty="0" smtClean="0"/>
              <a:t>the reflections (Section 3.5). In regard to DNA</a:t>
            </a:r>
            <a:r>
              <a:rPr lang="en-US" baseline="0" dirty="0" smtClean="0"/>
              <a:t> </a:t>
            </a:r>
            <a:r>
              <a:rPr lang="en-US" dirty="0" smtClean="0"/>
              <a:t>crystals, the central cross is diagnostic of a</a:t>
            </a:r>
            <a:r>
              <a:rPr lang="en-US" baseline="0" dirty="0" smtClean="0"/>
              <a:t> </a:t>
            </a:r>
            <a:r>
              <a:rPr lang="en-US" dirty="0" smtClean="0"/>
              <a:t>helical structure. The strong arcs on the</a:t>
            </a:r>
            <a:r>
              <a:rPr lang="en-US" baseline="0" dirty="0" smtClean="0"/>
              <a:t> </a:t>
            </a:r>
            <a:r>
              <a:rPr lang="en-US" dirty="0" smtClean="0"/>
              <a:t>meridian arise from the stack of nucleotide</a:t>
            </a:r>
            <a:r>
              <a:rPr lang="en-US" baseline="0" dirty="0" smtClean="0"/>
              <a:t> </a:t>
            </a:r>
            <a:r>
              <a:rPr lang="en-US" dirty="0" smtClean="0"/>
              <a:t>bases, which are 3.4 Å apart. [Science</a:t>
            </a:r>
            <a:r>
              <a:rPr lang="en-US" baseline="0" dirty="0" smtClean="0"/>
              <a:t> Photo Library</a:t>
            </a:r>
            <a:r>
              <a:rPr lang="en-US" dirty="0" smtClean="0"/>
              <a:t>.]</a:t>
            </a:r>
            <a:endParaRPr lang="en-US" dirty="0" smtClean="0">
              <a:cs typeface="+mn-c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4FC2D040-3FCC-5F4A-89A1-7DE2B6C22EF6}" type="slidenum">
              <a:rPr lang="en-US"/>
              <a:pPr>
                <a:defRPr/>
              </a:pPr>
              <a:t>19</a:t>
            </a:fld>
            <a:endParaRPr lang="en-US" dirty="0"/>
          </a:p>
        </p:txBody>
      </p:sp>
      <p:sp>
        <p:nvSpPr>
          <p:cNvPr id="185346"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xmlns:p="http://schemas.openxmlformats.org/presentationml/2006/main" xmlns:r="http://schemas.openxmlformats.org/officeDocument/2006/relationships" xmlns:a="http://schemas.openxmlformats.org/drawingml/2006/main" val="1"/>
            </a:ext>
          </a:extLst>
        </p:spPr>
      </p:sp>
      <p:sp>
        <p:nvSpPr>
          <p:cNvPr id="185347" name="Rectangle 3"/>
          <p:cNvSpPr>
            <a:spLocks noGrp="1" noChangeArrowheads="1"/>
          </p:cNvSpPr>
          <p:nvPr>
            <p:ph type="body" idx="1"/>
          </p:nvPr>
        </p:nvSpPr>
        <p:spPr/>
        <p:txBody>
          <a:bodyPr/>
          <a:lstStyle/>
          <a:p>
            <a:r>
              <a:rPr lang="en-US" sz="1200" b="1" i="0" u="none" strike="noStrike" kern="1200" baseline="0" dirty="0" smtClean="0">
                <a:solidFill>
                  <a:schemeClr val="tx1"/>
                </a:solidFill>
                <a:latin typeface="+mn-lt"/>
                <a:ea typeface="+mn-ea"/>
                <a:cs typeface="+mn-cs"/>
              </a:rPr>
              <a:t>FIGURE 4.11 Watson–Crick model of double-helical DNA. </a:t>
            </a:r>
            <a:r>
              <a:rPr lang="en-US" sz="1200" b="0" i="0" u="none" strike="noStrike" kern="1200" baseline="0" dirty="0" smtClean="0">
                <a:solidFill>
                  <a:schemeClr val="tx1"/>
                </a:solidFill>
                <a:latin typeface="+mn-lt"/>
                <a:ea typeface="+mn-ea"/>
                <a:cs typeface="+mn-cs"/>
              </a:rPr>
              <a:t>(A) Side view. Adjacent bases are separated by 3.4 Å. The structure repeats along the helical axis (vertical) at intervals of 34 Å, which corresponds to approximately 10 nucleotides on each chain. (B) Axial view, looking down the helix axis, reveals a rotation of 36° per base and shows that the bases are stacked on top of one another [Source: J. L. Tymoczko, J. Berg, and L. Stryer, </a:t>
            </a:r>
            <a:r>
              <a:rPr lang="en-US" sz="1200" b="0" i="1" u="none" strike="noStrike" kern="1200" baseline="0" dirty="0" smtClean="0">
                <a:solidFill>
                  <a:schemeClr val="tx1"/>
                </a:solidFill>
                <a:latin typeface="+mn-lt"/>
                <a:ea typeface="+mn-ea"/>
                <a:cs typeface="+mn-cs"/>
              </a:rPr>
              <a:t>Biochemistry: A Short Course</a:t>
            </a:r>
            <a:r>
              <a:rPr lang="en-US" sz="1200" b="0" i="0" u="none" strike="noStrike" kern="1200" baseline="0" dirty="0" smtClean="0">
                <a:solidFill>
                  <a:schemeClr val="tx1"/>
                </a:solidFill>
                <a:latin typeface="+mn-lt"/>
                <a:ea typeface="+mn-ea"/>
                <a:cs typeface="+mn-cs"/>
              </a:rPr>
              <a:t>, 2nd ed. (W. H. Freeman and Company, 2013), Fig. 33.11.].</a:t>
            </a:r>
            <a:endParaRPr lang="en-US" dirty="0" smtClean="0">
              <a:cs typeface="+mn-c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b="1" dirty="0" smtClean="0"/>
              <a:t>FIGURE 4.12 Structures of the base pairs</a:t>
            </a:r>
            <a:r>
              <a:rPr lang="en-US" b="1" baseline="0" dirty="0" smtClean="0"/>
              <a:t> </a:t>
            </a:r>
            <a:r>
              <a:rPr lang="en-US" b="1" dirty="0" smtClean="0"/>
              <a:t>proposed by Watson and Crick.</a:t>
            </a:r>
            <a:endParaRPr lang="en-US" b="1" dirty="0" smtClean="0">
              <a:cs typeface="+mn-cs"/>
            </a:endParaRPr>
          </a:p>
          <a:p>
            <a:endParaRPr lang="en-US" dirty="0"/>
          </a:p>
        </p:txBody>
      </p:sp>
      <p:sp>
        <p:nvSpPr>
          <p:cNvPr id="4" name="Slide Number Placeholder 3"/>
          <p:cNvSpPr>
            <a:spLocks noGrp="1"/>
          </p:cNvSpPr>
          <p:nvPr>
            <p:ph type="sldNum" sz="quarter" idx="10"/>
          </p:nvPr>
        </p:nvSpPr>
        <p:spPr/>
        <p:txBody>
          <a:bodyPr/>
          <a:lstStyle/>
          <a:p>
            <a:fld id="{8FF6F00E-0827-B145-A85F-C5C5AD61EF06}" type="slidenum">
              <a:rPr lang="en-US" smtClean="0"/>
              <a:pPr/>
              <a:t>20</a:t>
            </a:fld>
            <a:endParaRPr lang="en-US" dirty="0"/>
          </a:p>
        </p:txBody>
      </p:sp>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2993236772"/>
      </p:ext>
    </p:extLst>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0B3DE759-53F0-A247-BF73-58D7F6C71D70}" type="slidenum">
              <a:rPr lang="en-US"/>
              <a:pPr>
                <a:defRPr/>
              </a:pPr>
              <a:t>21</a:t>
            </a:fld>
            <a:endParaRPr lang="en-US" dirty="0"/>
          </a:p>
        </p:txBody>
      </p:sp>
      <p:sp>
        <p:nvSpPr>
          <p:cNvPr id="187394"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xmlns:p="http://schemas.openxmlformats.org/presentationml/2006/main" xmlns:r="http://schemas.openxmlformats.org/officeDocument/2006/relationships" xmlns:a="http://schemas.openxmlformats.org/drawingml/2006/main" val="1"/>
            </a:ext>
          </a:extLst>
        </p:spPr>
      </p:sp>
      <p:sp>
        <p:nvSpPr>
          <p:cNvPr id="187395" name="Rectangle 3"/>
          <p:cNvSpPr>
            <a:spLocks noGrp="1" noChangeArrowheads="1"/>
          </p:cNvSpPr>
          <p:nvPr>
            <p:ph type="body" idx="1"/>
          </p:nvPr>
        </p:nvSpPr>
        <p:spPr/>
        <p:txBody>
          <a:bodyPr/>
          <a:lstStyle/>
          <a:p>
            <a:pPr eaLnBrk="1" hangingPunct="1">
              <a:defRPr/>
            </a:pPr>
            <a:endParaRPr lang="en-US" dirty="0" smtClean="0">
              <a:cs typeface="+mn-c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ECB89C50-E3DD-1B48-AE65-400311F22BB3}" type="slidenum">
              <a:rPr lang="en-US"/>
              <a:pPr>
                <a:defRPr/>
              </a:pPr>
              <a:t>22</a:t>
            </a:fld>
            <a:endParaRPr lang="en-US" dirty="0"/>
          </a:p>
        </p:txBody>
      </p:sp>
      <p:sp>
        <p:nvSpPr>
          <p:cNvPr id="188418"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xmlns:p="http://schemas.openxmlformats.org/presentationml/2006/main" xmlns:r="http://schemas.openxmlformats.org/officeDocument/2006/relationships" xmlns:a="http://schemas.openxmlformats.org/drawingml/2006/main" val="1"/>
            </a:ext>
          </a:extLst>
        </p:spPr>
      </p:sp>
      <p:sp>
        <p:nvSpPr>
          <p:cNvPr id="188419" name="Rectangle 3"/>
          <p:cNvSpPr>
            <a:spLocks noGrp="1" noChangeArrowheads="1"/>
          </p:cNvSpPr>
          <p:nvPr>
            <p:ph type="body" idx="1"/>
          </p:nvPr>
        </p:nvSpPr>
        <p:spPr/>
        <p:txBody>
          <a:bodyPr/>
          <a:lstStyle/>
          <a:p>
            <a:pPr>
              <a:defRPr/>
            </a:pPr>
            <a:endParaRPr lang="en-US" dirty="0" smtClean="0">
              <a:cs typeface="+mn-c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dirty="0" smtClean="0">
                <a:solidFill>
                  <a:schemeClr val="tx1"/>
                </a:solidFill>
                <a:latin typeface="+mn-lt"/>
                <a:ea typeface="+mn-ea"/>
                <a:cs typeface="+mn-cs"/>
              </a:rPr>
              <a:t>FIGURE 4.13 A side view of DNA. </a:t>
            </a:r>
            <a:r>
              <a:rPr lang="en-US" sz="1200" b="0" i="0" u="none" strike="noStrike" kern="1200" baseline="0" dirty="0" smtClean="0">
                <a:solidFill>
                  <a:schemeClr val="tx1"/>
                </a:solidFill>
                <a:latin typeface="+mn-lt"/>
                <a:ea typeface="+mn-ea"/>
                <a:cs typeface="+mn-cs"/>
              </a:rPr>
              <a:t>Base pairs are stacked nearly one on top of another in the double helix. The stacked bases interact with van der Waals forces. Such stacking forces help stabilize the double helix. [Source: J. L. Tymoczko, J. Berg, and L. Stryer, </a:t>
            </a:r>
            <a:r>
              <a:rPr lang="en-US" sz="1200" b="0" i="1" u="none" strike="noStrike" kern="1200" baseline="0" dirty="0" smtClean="0">
                <a:solidFill>
                  <a:schemeClr val="tx1"/>
                </a:solidFill>
                <a:latin typeface="+mn-lt"/>
                <a:ea typeface="+mn-ea"/>
                <a:cs typeface="+mn-cs"/>
              </a:rPr>
              <a:t>Biochemistry: A Short Course</a:t>
            </a:r>
            <a:r>
              <a:rPr lang="en-US" sz="1200" b="0" i="0" u="none" strike="noStrike" kern="1200" baseline="0" dirty="0" smtClean="0">
                <a:solidFill>
                  <a:schemeClr val="tx1"/>
                </a:solidFill>
                <a:latin typeface="+mn-lt"/>
                <a:ea typeface="+mn-ea"/>
                <a:cs typeface="+mn-cs"/>
              </a:rPr>
              <a:t>, 2nd ed. (W. H. Freeman and Company, 2013), Fig. 33.13.].</a:t>
            </a:r>
            <a:endParaRPr lang="en-US" dirty="0"/>
          </a:p>
        </p:txBody>
      </p:sp>
      <p:sp>
        <p:nvSpPr>
          <p:cNvPr id="4" name="Slide Number Placeholder 3"/>
          <p:cNvSpPr>
            <a:spLocks noGrp="1"/>
          </p:cNvSpPr>
          <p:nvPr>
            <p:ph type="sldNum" sz="quarter" idx="10"/>
          </p:nvPr>
        </p:nvSpPr>
        <p:spPr/>
        <p:txBody>
          <a:bodyPr/>
          <a:lstStyle/>
          <a:p>
            <a:fld id="{8FF6F00E-0827-B145-A85F-C5C5AD61EF06}" type="slidenum">
              <a:rPr lang="en-US" smtClean="0"/>
              <a:pPr/>
              <a:t>23</a:t>
            </a:fld>
            <a:endParaRPr lang="en-US" dirty="0"/>
          </a:p>
        </p:txBody>
      </p:sp>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1187453231"/>
      </p:ext>
    </p:extLst>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4D7E5572-6672-614F-BC40-619FE6CA577B}" type="slidenum">
              <a:rPr lang="en-US"/>
              <a:pPr>
                <a:defRPr/>
              </a:pPr>
              <a:t>24</a:t>
            </a:fld>
            <a:endParaRPr lang="en-US" dirty="0"/>
          </a:p>
        </p:txBody>
      </p:sp>
      <p:sp>
        <p:nvSpPr>
          <p:cNvPr id="188418"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xmlns:p="http://schemas.openxmlformats.org/presentationml/2006/main" xmlns:r="http://schemas.openxmlformats.org/officeDocument/2006/relationships" xmlns:a="http://schemas.openxmlformats.org/drawingml/2006/main" val="1"/>
            </a:ext>
          </a:extLst>
        </p:spPr>
      </p:sp>
      <p:sp>
        <p:nvSpPr>
          <p:cNvPr id="188419" name="Rectangle 3"/>
          <p:cNvSpPr>
            <a:spLocks noGrp="1" noChangeArrowheads="1"/>
          </p:cNvSpPr>
          <p:nvPr>
            <p:ph type="body" idx="1"/>
          </p:nvPr>
        </p:nvSpPr>
        <p:spPr/>
        <p:txBody>
          <a:bodyPr/>
          <a:lstStyle/>
          <a:p>
            <a:pPr>
              <a:defRPr/>
            </a:pPr>
            <a:endParaRPr lang="en-US" dirty="0" smtClean="0">
              <a:cs typeface="+mn-c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D7742F9B-22EC-B341-92DE-5DB454DA0654}" type="slidenum">
              <a:rPr lang="en-US"/>
              <a:pPr>
                <a:defRPr/>
              </a:pPr>
              <a:t>25</a:t>
            </a:fld>
            <a:endParaRPr lang="en-US" dirty="0"/>
          </a:p>
        </p:txBody>
      </p:sp>
      <p:sp>
        <p:nvSpPr>
          <p:cNvPr id="189442"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xmlns:p="http://schemas.openxmlformats.org/presentationml/2006/main" xmlns:r="http://schemas.openxmlformats.org/officeDocument/2006/relationships" xmlns:a="http://schemas.openxmlformats.org/drawingml/2006/main" val="1"/>
            </a:ext>
          </a:extLst>
        </p:spPr>
      </p:sp>
      <p:sp>
        <p:nvSpPr>
          <p:cNvPr id="189443" name="Rectangle 3"/>
          <p:cNvSpPr>
            <a:spLocks noGrp="1" noChangeArrowheads="1"/>
          </p:cNvSpPr>
          <p:nvPr>
            <p:ph type="body" idx="1"/>
          </p:nvPr>
        </p:nvSpPr>
        <p:spPr/>
        <p:txBody>
          <a:bodyPr/>
          <a:lstStyle/>
          <a:p>
            <a:pPr>
              <a:defRPr/>
            </a:pPr>
            <a:r>
              <a:rPr lang="en-US" b="1" dirty="0" smtClean="0"/>
              <a:t>FIGURE 4.14 B-form and A-form DNA</a:t>
            </a:r>
            <a:r>
              <a:rPr lang="en-US" dirty="0" smtClean="0"/>
              <a:t>. Space-filling models of 10 base pairs</a:t>
            </a:r>
            <a:r>
              <a:rPr lang="en-US" baseline="0" dirty="0" smtClean="0"/>
              <a:t> </a:t>
            </a:r>
            <a:r>
              <a:rPr lang="en-US" dirty="0" smtClean="0"/>
              <a:t>of B-form and A-form DNA depict their right-handed helical structures. </a:t>
            </a:r>
            <a:r>
              <a:rPr lang="en-US" i="1" dirty="0" smtClean="0"/>
              <a:t>Notice</a:t>
            </a:r>
            <a:r>
              <a:rPr lang="en-US" dirty="0" smtClean="0"/>
              <a:t> that the</a:t>
            </a:r>
            <a:r>
              <a:rPr lang="en-US" baseline="0" dirty="0" smtClean="0"/>
              <a:t> </a:t>
            </a:r>
            <a:r>
              <a:rPr lang="en-US" dirty="0" smtClean="0"/>
              <a:t>B-form helix is longer and narrower than the A-form helix. The carbon atoms of the</a:t>
            </a:r>
            <a:r>
              <a:rPr lang="en-US" baseline="0" dirty="0" smtClean="0"/>
              <a:t> </a:t>
            </a:r>
            <a:r>
              <a:rPr lang="en-US" dirty="0" smtClean="0"/>
              <a:t>backbone are shown in white. [Drawn from 1BNA.pdb and 1DNZ.pdb.]</a:t>
            </a:r>
            <a:endParaRPr lang="en-US" dirty="0" smtClean="0">
              <a:cs typeface="+mn-c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6BE865B4-B008-8C47-9A74-B8C5B267DE5D}" type="slidenum">
              <a:rPr lang="en-US"/>
              <a:pPr>
                <a:defRPr/>
              </a:pPr>
              <a:t>26</a:t>
            </a:fld>
            <a:endParaRPr lang="en-US" dirty="0"/>
          </a:p>
        </p:txBody>
      </p:sp>
      <p:sp>
        <p:nvSpPr>
          <p:cNvPr id="190466"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xmlns:p="http://schemas.openxmlformats.org/presentationml/2006/main" xmlns:r="http://schemas.openxmlformats.org/officeDocument/2006/relationships" xmlns:a="http://schemas.openxmlformats.org/drawingml/2006/main" val="1"/>
            </a:ext>
          </a:extLst>
        </p:spPr>
      </p:sp>
      <p:sp>
        <p:nvSpPr>
          <p:cNvPr id="190467" name="Rectangle 3"/>
          <p:cNvSpPr>
            <a:spLocks noGrp="1" noChangeArrowheads="1"/>
          </p:cNvSpPr>
          <p:nvPr>
            <p:ph type="body" idx="1"/>
          </p:nvPr>
        </p:nvSpPr>
        <p:spPr/>
        <p:txBody>
          <a:bodyPr/>
          <a:lstStyle/>
          <a:p>
            <a:pPr>
              <a:defRPr/>
            </a:pPr>
            <a:r>
              <a:rPr lang="en-US" b="1" dirty="0" smtClean="0"/>
              <a:t>FIGURE 4.15 Sugar pucker. </a:t>
            </a:r>
            <a:r>
              <a:rPr lang="en-US" dirty="0" smtClean="0"/>
              <a:t>In A-form DNA,</a:t>
            </a:r>
            <a:r>
              <a:rPr lang="en-US" baseline="0" dirty="0" smtClean="0"/>
              <a:t> </a:t>
            </a:r>
            <a:r>
              <a:rPr lang="en-US" dirty="0" smtClean="0"/>
              <a:t>the C-3</a:t>
            </a:r>
            <a:r>
              <a:rPr lang="en-US" sz="1200" kern="1200" dirty="0" smtClean="0">
                <a:solidFill>
                  <a:schemeClr val="tx1"/>
                </a:solidFill>
                <a:effectLst/>
                <a:latin typeface="+mn-lt"/>
                <a:ea typeface="+mn-ea"/>
                <a:cs typeface="+mn-cs"/>
                <a:sym typeface="Symbol"/>
              </a:rPr>
              <a:t></a:t>
            </a:r>
            <a:r>
              <a:rPr lang="en-US" dirty="0" smtClean="0"/>
              <a:t> carbon atom lies above the</a:t>
            </a:r>
            <a:r>
              <a:rPr lang="en-US" baseline="0" dirty="0" smtClean="0"/>
              <a:t> </a:t>
            </a:r>
            <a:r>
              <a:rPr lang="en-US" dirty="0" smtClean="0"/>
              <a:t>approximate plane defined by the four other</a:t>
            </a:r>
            <a:r>
              <a:rPr lang="en-US" baseline="0" dirty="0" smtClean="0"/>
              <a:t> </a:t>
            </a:r>
            <a:r>
              <a:rPr lang="en-US" dirty="0" smtClean="0"/>
              <a:t>sugar nonhydrogen atoms (called C-3</a:t>
            </a:r>
            <a:r>
              <a:rPr lang="en-US" sz="1200" kern="1200" dirty="0" smtClean="0">
                <a:solidFill>
                  <a:schemeClr val="tx1"/>
                </a:solidFill>
                <a:effectLst/>
                <a:latin typeface="+mn-lt"/>
                <a:ea typeface="+mn-ea"/>
                <a:cs typeface="+mn-cs"/>
                <a:sym typeface="Symbol"/>
              </a:rPr>
              <a:t>-</a:t>
            </a:r>
            <a:r>
              <a:rPr lang="en-US" dirty="0" smtClean="0"/>
              <a:t>endo).</a:t>
            </a:r>
            <a:r>
              <a:rPr lang="en-US" baseline="0" dirty="0" smtClean="0"/>
              <a:t> </a:t>
            </a:r>
            <a:r>
              <a:rPr lang="en-US" dirty="0" smtClean="0"/>
              <a:t>In B-form DNA, each deoxyribose is in a C-2</a:t>
            </a:r>
            <a:r>
              <a:rPr lang="en-US" sz="1200" kern="1200" dirty="0" smtClean="0">
                <a:solidFill>
                  <a:schemeClr val="tx1"/>
                </a:solidFill>
                <a:effectLst/>
                <a:latin typeface="+mn-lt"/>
                <a:ea typeface="+mn-ea"/>
                <a:cs typeface="+mn-cs"/>
                <a:sym typeface="Symbol"/>
              </a:rPr>
              <a:t></a:t>
            </a:r>
            <a:r>
              <a:rPr lang="en-US" dirty="0" smtClean="0"/>
              <a:t>-</a:t>
            </a:r>
            <a:r>
              <a:rPr lang="en-US" baseline="0" dirty="0" smtClean="0"/>
              <a:t> </a:t>
            </a:r>
            <a:r>
              <a:rPr lang="en-US" dirty="0" smtClean="0"/>
              <a:t>endo conformation, in which C-2</a:t>
            </a:r>
            <a:r>
              <a:rPr lang="en-US" sz="1200" kern="1200" dirty="0" smtClean="0">
                <a:solidFill>
                  <a:schemeClr val="tx1"/>
                </a:solidFill>
                <a:effectLst/>
                <a:latin typeface="+mn-lt"/>
                <a:ea typeface="+mn-ea"/>
                <a:cs typeface="+mn-cs"/>
                <a:sym typeface="Symbol"/>
              </a:rPr>
              <a:t></a:t>
            </a:r>
            <a:r>
              <a:rPr lang="en-US" dirty="0" smtClean="0">
                <a:effectLst/>
              </a:rPr>
              <a:t> </a:t>
            </a:r>
            <a:r>
              <a:rPr lang="en-US" dirty="0" smtClean="0"/>
              <a:t>lies out of</a:t>
            </a:r>
            <a:r>
              <a:rPr lang="en-US" baseline="0" dirty="0" smtClean="0"/>
              <a:t> </a:t>
            </a:r>
            <a:r>
              <a:rPr lang="en-US" dirty="0" smtClean="0"/>
              <a:t>the plane.</a:t>
            </a:r>
            <a:endParaRPr lang="en-US" dirty="0" smtClean="0">
              <a:cs typeface="+mn-c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E20DD3A7-1D21-CE4E-A3FA-B247D8F1B111}" type="slidenum">
              <a:rPr lang="en-US"/>
              <a:pPr>
                <a:defRPr/>
              </a:pPr>
              <a:t>27</a:t>
            </a:fld>
            <a:endParaRPr lang="en-US" dirty="0"/>
          </a:p>
        </p:txBody>
      </p:sp>
      <p:sp>
        <p:nvSpPr>
          <p:cNvPr id="188418"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xmlns:p="http://schemas.openxmlformats.org/presentationml/2006/main" xmlns:r="http://schemas.openxmlformats.org/officeDocument/2006/relationships" xmlns:a="http://schemas.openxmlformats.org/drawingml/2006/main" val="1"/>
            </a:ext>
          </a:extLst>
        </p:spPr>
      </p:sp>
      <p:sp>
        <p:nvSpPr>
          <p:cNvPr id="188419" name="Rectangle 3"/>
          <p:cNvSpPr>
            <a:spLocks noGrp="1" noChangeArrowheads="1"/>
          </p:cNvSpPr>
          <p:nvPr>
            <p:ph type="body" idx="1"/>
          </p:nvPr>
        </p:nvSpPr>
        <p:spPr/>
        <p:txBody>
          <a:bodyPr/>
          <a:lstStyle/>
          <a:p>
            <a:pPr>
              <a:defRPr/>
            </a:pPr>
            <a:endParaRPr lang="en-US" dirty="0" smtClean="0">
              <a:cs typeface="+mn-c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b="1" dirty="0" smtClean="0"/>
              <a:t>FIGURE 4.16 Z-DNA. </a:t>
            </a:r>
            <a:r>
              <a:rPr lang="en-US" dirty="0" smtClean="0"/>
              <a:t>DNA oligomers</a:t>
            </a:r>
            <a:r>
              <a:rPr lang="en-US" baseline="0" dirty="0" smtClean="0"/>
              <a:t> </a:t>
            </a:r>
            <a:r>
              <a:rPr lang="en-US" dirty="0" smtClean="0"/>
              <a:t>such as CGCGCG adopt an alternative</a:t>
            </a:r>
            <a:r>
              <a:rPr lang="en-US" baseline="0" dirty="0" smtClean="0"/>
              <a:t> </a:t>
            </a:r>
            <a:r>
              <a:rPr lang="en-US" dirty="0" smtClean="0"/>
              <a:t>conformation under some conditions. This</a:t>
            </a:r>
            <a:r>
              <a:rPr lang="en-US" baseline="0" dirty="0" smtClean="0"/>
              <a:t> </a:t>
            </a:r>
            <a:r>
              <a:rPr lang="en-US" dirty="0" smtClean="0"/>
              <a:t>conformation is called Z-DNA</a:t>
            </a:r>
            <a:r>
              <a:rPr lang="en-US" baseline="0" dirty="0" smtClean="0"/>
              <a:t> </a:t>
            </a:r>
            <a:r>
              <a:rPr lang="en-US" dirty="0" smtClean="0"/>
              <a:t>because the</a:t>
            </a:r>
            <a:r>
              <a:rPr lang="en-US" baseline="0" dirty="0" smtClean="0"/>
              <a:t> </a:t>
            </a:r>
            <a:r>
              <a:rPr lang="en-US" dirty="0" smtClean="0"/>
              <a:t>phosphoryl groups zigzag along the backbone.</a:t>
            </a:r>
            <a:r>
              <a:rPr lang="en-US" baseline="0" dirty="0" smtClean="0"/>
              <a:t> </a:t>
            </a:r>
            <a:r>
              <a:rPr lang="en-US" dirty="0" smtClean="0"/>
              <a:t>[Drawn from 131D.pdb.]</a:t>
            </a:r>
            <a:endParaRPr lang="en-US" dirty="0" smtClean="0">
              <a:cs typeface="+mn-cs"/>
            </a:endParaRPr>
          </a:p>
          <a:p>
            <a:endParaRPr lang="en-US" dirty="0"/>
          </a:p>
        </p:txBody>
      </p:sp>
      <p:sp>
        <p:nvSpPr>
          <p:cNvPr id="4" name="Slide Number Placeholder 3"/>
          <p:cNvSpPr>
            <a:spLocks noGrp="1"/>
          </p:cNvSpPr>
          <p:nvPr>
            <p:ph type="sldNum" sz="quarter" idx="10"/>
          </p:nvPr>
        </p:nvSpPr>
        <p:spPr/>
        <p:txBody>
          <a:bodyPr/>
          <a:lstStyle/>
          <a:p>
            <a:fld id="{8FF6F00E-0827-B145-A85F-C5C5AD61EF06}" type="slidenum">
              <a:rPr lang="en-US" smtClean="0"/>
              <a:pPr/>
              <a:t>28</a:t>
            </a:fld>
            <a:endParaRPr lang="en-US" dirty="0"/>
          </a:p>
        </p:txBody>
      </p:sp>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751599496"/>
      </p:ext>
    </p:extLst>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FF7807AE-CA00-8945-902C-3A861398B26F}" type="slidenum">
              <a:rPr lang="en-US"/>
              <a:pPr>
                <a:defRPr/>
              </a:pPr>
              <a:t>29</a:t>
            </a:fld>
            <a:endParaRPr lang="en-US" dirty="0"/>
          </a:p>
        </p:txBody>
      </p:sp>
      <p:sp>
        <p:nvSpPr>
          <p:cNvPr id="192514"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xmlns:p="http://schemas.openxmlformats.org/presentationml/2006/main" xmlns:r="http://schemas.openxmlformats.org/officeDocument/2006/relationships" xmlns:a="http://schemas.openxmlformats.org/drawingml/2006/main" val="1"/>
            </a:ext>
          </a:extLst>
        </p:spPr>
      </p:sp>
      <p:sp>
        <p:nvSpPr>
          <p:cNvPr id="192515" name="Rectangle 3"/>
          <p:cNvSpPr>
            <a:spLocks noGrp="1" noChangeArrowheads="1"/>
          </p:cNvSpPr>
          <p:nvPr>
            <p:ph type="body" idx="1"/>
          </p:nvPr>
        </p:nvSpPr>
        <p:spPr/>
        <p:txBody>
          <a:bodyPr/>
          <a:lstStyle/>
          <a:p>
            <a:pPr eaLnBrk="1" hangingPunct="1">
              <a:defRPr/>
            </a:pPr>
            <a:endParaRPr lang="en-US" dirty="0" smtClean="0">
              <a:cs typeface="+mn-cs"/>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8C8D4654-AB93-354E-B590-EA6F0561E640}" type="slidenum">
              <a:rPr lang="en-US"/>
              <a:pPr>
                <a:defRPr/>
              </a:pPr>
              <a:t>30</a:t>
            </a:fld>
            <a:endParaRPr lang="en-US" dirty="0"/>
          </a:p>
        </p:txBody>
      </p:sp>
      <p:sp>
        <p:nvSpPr>
          <p:cNvPr id="188418"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xmlns:p="http://schemas.openxmlformats.org/presentationml/2006/main" xmlns:r="http://schemas.openxmlformats.org/officeDocument/2006/relationships" xmlns:a="http://schemas.openxmlformats.org/drawingml/2006/main" val="1"/>
            </a:ext>
          </a:extLst>
        </p:spPr>
      </p:sp>
      <p:sp>
        <p:nvSpPr>
          <p:cNvPr id="188419" name="Rectangle 3"/>
          <p:cNvSpPr>
            <a:spLocks noGrp="1" noChangeArrowheads="1"/>
          </p:cNvSpPr>
          <p:nvPr>
            <p:ph type="body" idx="1"/>
          </p:nvPr>
        </p:nvSpPr>
        <p:spPr/>
        <p:txBody>
          <a:bodyPr/>
          <a:lstStyle/>
          <a:p>
            <a:pPr>
              <a:defRPr/>
            </a:pPr>
            <a:endParaRPr lang="en-US" dirty="0" smtClean="0">
              <a:cs typeface="+mn-cs"/>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b="1" dirty="0" smtClean="0"/>
              <a:t>FIGURE 4.17 Electron micrographs</a:t>
            </a:r>
            <a:r>
              <a:rPr lang="en-US" b="1" baseline="0" dirty="0" smtClean="0"/>
              <a:t> </a:t>
            </a:r>
            <a:r>
              <a:rPr lang="en-US" b="1" dirty="0" smtClean="0"/>
              <a:t>of circular DNA from mitochondria</a:t>
            </a:r>
            <a:r>
              <a:rPr lang="en-US" dirty="0" smtClean="0"/>
              <a:t>.</a:t>
            </a:r>
            <a:r>
              <a:rPr lang="en-US" baseline="0" dirty="0" smtClean="0"/>
              <a:t> </a:t>
            </a:r>
            <a:r>
              <a:rPr lang="en-US" dirty="0" smtClean="0"/>
              <a:t>(A) Relaxed form. (B) Supercoiled form.</a:t>
            </a:r>
            <a:r>
              <a:rPr lang="en-US" baseline="0" dirty="0" smtClean="0"/>
              <a:t> </a:t>
            </a:r>
            <a:r>
              <a:rPr lang="en-US" dirty="0" smtClean="0"/>
              <a:t>[Courtesy of Dr. David Clayton.]</a:t>
            </a:r>
          </a:p>
          <a:p>
            <a:pPr>
              <a:defRPr/>
            </a:pPr>
            <a:endParaRPr lang="en-US" dirty="0" smtClean="0">
              <a:cs typeface="+mn-cs"/>
            </a:endParaRPr>
          </a:p>
          <a:p>
            <a:endParaRPr lang="en-US" dirty="0"/>
          </a:p>
        </p:txBody>
      </p:sp>
      <p:sp>
        <p:nvSpPr>
          <p:cNvPr id="4" name="Slide Number Placeholder 3"/>
          <p:cNvSpPr>
            <a:spLocks noGrp="1"/>
          </p:cNvSpPr>
          <p:nvPr>
            <p:ph type="sldNum" sz="quarter" idx="10"/>
          </p:nvPr>
        </p:nvSpPr>
        <p:spPr/>
        <p:txBody>
          <a:bodyPr/>
          <a:lstStyle/>
          <a:p>
            <a:fld id="{8FF6F00E-0827-B145-A85F-C5C5AD61EF06}" type="slidenum">
              <a:rPr lang="en-US" smtClean="0"/>
              <a:pPr/>
              <a:t>31</a:t>
            </a:fld>
            <a:endParaRPr lang="en-US" dirty="0"/>
          </a:p>
        </p:txBody>
      </p:sp>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1505900898"/>
      </p:ext>
    </p:extLst>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B07FF671-B6A2-9542-8167-8B9FB84B579E}" type="slidenum">
              <a:rPr lang="en-US"/>
              <a:pPr>
                <a:defRPr/>
              </a:pPr>
              <a:t>32</a:t>
            </a:fld>
            <a:endParaRPr lang="en-US" dirty="0"/>
          </a:p>
        </p:txBody>
      </p:sp>
      <p:sp>
        <p:nvSpPr>
          <p:cNvPr id="188418"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xmlns:p="http://schemas.openxmlformats.org/presentationml/2006/main" xmlns:r="http://schemas.openxmlformats.org/officeDocument/2006/relationships" xmlns:a="http://schemas.openxmlformats.org/drawingml/2006/main" val="1"/>
            </a:ext>
          </a:extLst>
        </p:spPr>
      </p:sp>
      <p:sp>
        <p:nvSpPr>
          <p:cNvPr id="188419" name="Rectangle 3"/>
          <p:cNvSpPr>
            <a:spLocks noGrp="1" noChangeArrowheads="1"/>
          </p:cNvSpPr>
          <p:nvPr>
            <p:ph type="body" idx="1"/>
          </p:nvPr>
        </p:nvSpPr>
        <p:spPr/>
        <p:txBody>
          <a:bodyPr/>
          <a:lstStyle/>
          <a:p>
            <a:pPr>
              <a:defRPr/>
            </a:pPr>
            <a:endParaRPr lang="en-US" dirty="0" smtClean="0">
              <a:cs typeface="+mn-cs"/>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D056B6A1-B4A2-BB4A-AA78-6BEAAACF4A52}" type="slidenum">
              <a:rPr lang="en-US"/>
              <a:pPr>
                <a:defRPr/>
              </a:pPr>
              <a:t>33</a:t>
            </a:fld>
            <a:endParaRPr lang="en-US" dirty="0"/>
          </a:p>
        </p:txBody>
      </p:sp>
      <p:sp>
        <p:nvSpPr>
          <p:cNvPr id="195586"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xmlns:p="http://schemas.openxmlformats.org/presentationml/2006/main" xmlns:r="http://schemas.openxmlformats.org/officeDocument/2006/relationships" xmlns:a="http://schemas.openxmlformats.org/drawingml/2006/main" val="1"/>
            </a:ext>
          </a:extLst>
        </p:spPr>
      </p:sp>
      <p:sp>
        <p:nvSpPr>
          <p:cNvPr id="195587" name="Rectangle 3"/>
          <p:cNvSpPr>
            <a:spLocks noGrp="1" noChangeArrowheads="1"/>
          </p:cNvSpPr>
          <p:nvPr>
            <p:ph type="body" idx="1"/>
          </p:nvPr>
        </p:nvSpPr>
        <p:spPr/>
        <p:txBody>
          <a:bodyPr/>
          <a:lstStyle/>
          <a:p>
            <a:pPr>
              <a:defRPr/>
            </a:pPr>
            <a:r>
              <a:rPr lang="en-US" b="1" dirty="0" smtClean="0"/>
              <a:t>FIGURE 4.18 Stem-loop structures</a:t>
            </a:r>
            <a:r>
              <a:rPr lang="en-US" dirty="0" smtClean="0"/>
              <a:t>. Stem-loop</a:t>
            </a:r>
            <a:r>
              <a:rPr lang="en-US" baseline="0" dirty="0" smtClean="0"/>
              <a:t> </a:t>
            </a:r>
            <a:r>
              <a:rPr lang="en-US" dirty="0" smtClean="0"/>
              <a:t>structures can be formed from single-stranded</a:t>
            </a:r>
            <a:r>
              <a:rPr lang="en-US" baseline="0" dirty="0" smtClean="0"/>
              <a:t> </a:t>
            </a:r>
            <a:r>
              <a:rPr lang="en-US" dirty="0" smtClean="0"/>
              <a:t>DNA and RNA molecules.</a:t>
            </a:r>
            <a:endParaRPr lang="en-US" dirty="0" smtClean="0">
              <a:cs typeface="+mn-cs"/>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A5A130AF-245B-D148-8BEA-97EB94AB70B1}" type="slidenum">
              <a:rPr lang="en-US"/>
              <a:pPr>
                <a:defRPr/>
              </a:pPr>
              <a:t>34</a:t>
            </a:fld>
            <a:endParaRPr lang="en-US" dirty="0"/>
          </a:p>
        </p:txBody>
      </p:sp>
      <p:sp>
        <p:nvSpPr>
          <p:cNvPr id="196610"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xmlns:p="http://schemas.openxmlformats.org/presentationml/2006/main" xmlns:r="http://schemas.openxmlformats.org/officeDocument/2006/relationships" xmlns:a="http://schemas.openxmlformats.org/drawingml/2006/main" val="1"/>
            </a:ext>
          </a:extLst>
        </p:spPr>
      </p:sp>
      <p:sp>
        <p:nvSpPr>
          <p:cNvPr id="196611" name="Rectangle 3"/>
          <p:cNvSpPr>
            <a:spLocks noGrp="1" noChangeArrowheads="1"/>
          </p:cNvSpPr>
          <p:nvPr>
            <p:ph type="body" idx="1"/>
          </p:nvPr>
        </p:nvSpPr>
        <p:spPr/>
        <p:txBody>
          <a:bodyPr/>
          <a:lstStyle/>
          <a:p>
            <a:pPr>
              <a:defRPr/>
            </a:pPr>
            <a:r>
              <a:rPr lang="en-US" b="1" dirty="0" smtClean="0"/>
              <a:t>FIGURE 4.19 Complex structure of an RNA molecule. </a:t>
            </a:r>
            <a:r>
              <a:rPr lang="en-US" dirty="0" smtClean="0"/>
              <a:t>A single-stranded RNA molecule can fold</a:t>
            </a:r>
            <a:r>
              <a:rPr lang="en-US" baseline="0" dirty="0" smtClean="0"/>
              <a:t> </a:t>
            </a:r>
            <a:r>
              <a:rPr lang="en-US" dirty="0" smtClean="0"/>
              <a:t>back on itself to form a complex structure. (A) The nucleotide sequence showing Watson–Crick</a:t>
            </a:r>
            <a:r>
              <a:rPr lang="en-US" baseline="0" dirty="0" smtClean="0"/>
              <a:t> </a:t>
            </a:r>
            <a:r>
              <a:rPr lang="en-US" dirty="0" smtClean="0"/>
              <a:t>base pairs and other nonstandard base pairings in stem-loop structures. (B) The three-dimensional</a:t>
            </a:r>
            <a:r>
              <a:rPr lang="en-US" baseline="0" dirty="0" smtClean="0"/>
              <a:t> </a:t>
            </a:r>
            <a:r>
              <a:rPr lang="en-US" dirty="0" smtClean="0"/>
              <a:t>structure and one important long-range interaction between three bases. In the three-dimensional</a:t>
            </a:r>
            <a:r>
              <a:rPr lang="en-US" baseline="0" dirty="0" smtClean="0"/>
              <a:t> </a:t>
            </a:r>
            <a:r>
              <a:rPr lang="en-US" dirty="0" smtClean="0"/>
              <a:t>structure at the left, cytidine nucleotides are shown in blue, adenosine in red, guanosine in black,</a:t>
            </a:r>
            <a:r>
              <a:rPr lang="en-US" baseline="0" dirty="0" smtClean="0"/>
              <a:t> </a:t>
            </a:r>
            <a:r>
              <a:rPr lang="en-US" dirty="0" smtClean="0"/>
              <a:t>and uridine in green. In the detailed projection, hydrogen bonds within the Watson–Crick base pair</a:t>
            </a:r>
            <a:r>
              <a:rPr lang="en-US" baseline="0" dirty="0" smtClean="0"/>
              <a:t> </a:t>
            </a:r>
            <a:r>
              <a:rPr lang="en-US" dirty="0" smtClean="0"/>
              <a:t>are shown as dashed black lines; additional hydrogen bonds are shown as dashed green lines.</a:t>
            </a:r>
            <a:endParaRPr lang="en-US" dirty="0" smtClean="0">
              <a:cs typeface="+mn-cs"/>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318413B0-A71B-C747-A5CB-439E2539C233}" type="slidenum">
              <a:rPr lang="en-US"/>
              <a:pPr>
                <a:defRPr/>
              </a:pPr>
              <a:t>37</a:t>
            </a:fld>
            <a:endParaRPr lang="en-US" dirty="0"/>
          </a:p>
        </p:txBody>
      </p:sp>
      <p:sp>
        <p:nvSpPr>
          <p:cNvPr id="198658"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xmlns:p="http://schemas.openxmlformats.org/presentationml/2006/main" xmlns:r="http://schemas.openxmlformats.org/officeDocument/2006/relationships" xmlns:a="http://schemas.openxmlformats.org/drawingml/2006/main" val="1"/>
            </a:ext>
          </a:extLst>
        </p:spPr>
      </p:sp>
      <p:sp>
        <p:nvSpPr>
          <p:cNvPr id="198659" name="Rectangle 3"/>
          <p:cNvSpPr>
            <a:spLocks noGrp="1" noChangeArrowheads="1"/>
          </p:cNvSpPr>
          <p:nvPr>
            <p:ph type="body" idx="1"/>
          </p:nvPr>
        </p:nvSpPr>
        <p:spPr/>
        <p:txBody>
          <a:bodyPr/>
          <a:lstStyle/>
          <a:p>
            <a:pPr>
              <a:defRPr/>
            </a:pPr>
            <a:r>
              <a:rPr lang="en-US" b="1" dirty="0" smtClean="0"/>
              <a:t>FIGURE 4.20 Resolution of </a:t>
            </a:r>
            <a:r>
              <a:rPr lang="en-US" b="1" baseline="30000" dirty="0" smtClean="0"/>
              <a:t>14</a:t>
            </a:r>
            <a:r>
              <a:rPr lang="en-US" b="1" dirty="0" smtClean="0"/>
              <a:t>N DNA and</a:t>
            </a:r>
            <a:r>
              <a:rPr lang="en-US" b="1" baseline="0" dirty="0" smtClean="0"/>
              <a:t> </a:t>
            </a:r>
            <a:r>
              <a:rPr lang="en-US" b="1" baseline="30000" dirty="0" smtClean="0"/>
              <a:t>15</a:t>
            </a:r>
            <a:r>
              <a:rPr lang="en-US" b="1" dirty="0" smtClean="0"/>
              <a:t>N DNA by density-gradient</a:t>
            </a:r>
            <a:r>
              <a:rPr lang="en-US" b="1" baseline="0" dirty="0" smtClean="0"/>
              <a:t> </a:t>
            </a:r>
            <a:r>
              <a:rPr lang="en-US" b="1" dirty="0" smtClean="0"/>
              <a:t>centrifugation. </a:t>
            </a:r>
            <a:r>
              <a:rPr lang="en-US" dirty="0" smtClean="0"/>
              <a:t>(A) Ultraviolet-absorption</a:t>
            </a:r>
            <a:r>
              <a:rPr lang="en-US" baseline="0" dirty="0" smtClean="0"/>
              <a:t> </a:t>
            </a:r>
            <a:r>
              <a:rPr lang="en-US" dirty="0" smtClean="0"/>
              <a:t>photograph of a centrifuged cell showing the</a:t>
            </a:r>
            <a:r>
              <a:rPr lang="en-US" baseline="0" dirty="0" smtClean="0"/>
              <a:t> </a:t>
            </a:r>
            <a:r>
              <a:rPr lang="en-US" dirty="0" smtClean="0"/>
              <a:t>two distinct bands of DNA. (B) Densitometric</a:t>
            </a:r>
            <a:r>
              <a:rPr lang="en-US" baseline="0" dirty="0" smtClean="0"/>
              <a:t> </a:t>
            </a:r>
            <a:r>
              <a:rPr lang="en-US" dirty="0" smtClean="0"/>
              <a:t>tracing of the absorption photograph. [Data</a:t>
            </a:r>
            <a:r>
              <a:rPr lang="en-US" baseline="0" dirty="0" smtClean="0"/>
              <a:t> f</a:t>
            </a:r>
            <a:r>
              <a:rPr lang="en-US" dirty="0" smtClean="0"/>
              <a:t>rom</a:t>
            </a:r>
            <a:r>
              <a:rPr lang="en-US" baseline="0" dirty="0" smtClean="0"/>
              <a:t> </a:t>
            </a:r>
            <a:r>
              <a:rPr lang="en-US" dirty="0" smtClean="0"/>
              <a:t>M. Meselson and F. W. Stahl. </a:t>
            </a:r>
            <a:r>
              <a:rPr lang="en-US" i="1" dirty="0" smtClean="0"/>
              <a:t>Proc. Natl. Acad.</a:t>
            </a:r>
            <a:r>
              <a:rPr lang="en-US" i="1" baseline="0" dirty="0" smtClean="0"/>
              <a:t> </a:t>
            </a:r>
            <a:r>
              <a:rPr lang="en-US" i="1" dirty="0" smtClean="0"/>
              <a:t>Sci. U. S. A</a:t>
            </a:r>
            <a:r>
              <a:rPr lang="en-US" dirty="0" smtClean="0"/>
              <a:t>. 44:671–682, 1958.]</a:t>
            </a:r>
            <a:endParaRPr lang="en-US" dirty="0" smtClean="0">
              <a:cs typeface="+mn-cs"/>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9095C833-0BD0-9E4B-9DED-3FBE299CBCFB}" type="slidenum">
              <a:rPr lang="en-US"/>
              <a:pPr>
                <a:defRPr/>
              </a:pPr>
              <a:t>38</a:t>
            </a:fld>
            <a:endParaRPr lang="en-US" dirty="0"/>
          </a:p>
        </p:txBody>
      </p:sp>
      <p:sp>
        <p:nvSpPr>
          <p:cNvPr id="199682"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xmlns:p="http://schemas.openxmlformats.org/presentationml/2006/main" xmlns:r="http://schemas.openxmlformats.org/officeDocument/2006/relationships" xmlns:a="http://schemas.openxmlformats.org/drawingml/2006/main" val="1"/>
            </a:ext>
          </a:extLst>
        </p:spPr>
      </p:sp>
      <p:sp>
        <p:nvSpPr>
          <p:cNvPr id="199683" name="Rectangle 3"/>
          <p:cNvSpPr>
            <a:spLocks noGrp="1" noChangeArrowheads="1"/>
          </p:cNvSpPr>
          <p:nvPr>
            <p:ph type="body" idx="1"/>
          </p:nvPr>
        </p:nvSpPr>
        <p:spPr/>
        <p:txBody>
          <a:bodyPr/>
          <a:lstStyle/>
          <a:p>
            <a:pPr>
              <a:defRPr/>
            </a:pPr>
            <a:r>
              <a:rPr lang="en-US" b="1" dirty="0" smtClean="0"/>
              <a:t>FIGURE 4.21 Detection of</a:t>
            </a:r>
            <a:r>
              <a:rPr lang="en-US" b="1" baseline="0" dirty="0" smtClean="0"/>
              <a:t> </a:t>
            </a:r>
            <a:r>
              <a:rPr lang="en-US" b="1" dirty="0" smtClean="0"/>
              <a:t>semiconservative replication of</a:t>
            </a:r>
            <a:r>
              <a:rPr lang="en-US" b="1" baseline="0" dirty="0" smtClean="0"/>
              <a:t> </a:t>
            </a:r>
            <a:r>
              <a:rPr lang="en-US" b="1" i="1" dirty="0" smtClean="0"/>
              <a:t>E. coli </a:t>
            </a:r>
            <a:r>
              <a:rPr lang="en-US" b="1" dirty="0" smtClean="0"/>
              <a:t>DNA by density-gradient</a:t>
            </a:r>
            <a:r>
              <a:rPr lang="en-US" b="1" baseline="0" dirty="0" smtClean="0"/>
              <a:t> </a:t>
            </a:r>
            <a:r>
              <a:rPr lang="en-US" b="1" dirty="0" smtClean="0"/>
              <a:t>centrifugation. </a:t>
            </a:r>
            <a:r>
              <a:rPr lang="en-US" dirty="0" smtClean="0"/>
              <a:t>The position of a band of</a:t>
            </a:r>
            <a:r>
              <a:rPr lang="en-US" baseline="0" dirty="0" smtClean="0"/>
              <a:t> </a:t>
            </a:r>
            <a:r>
              <a:rPr lang="en-US" dirty="0" smtClean="0"/>
              <a:t>DNA depends on its content of </a:t>
            </a:r>
            <a:r>
              <a:rPr lang="en-US" baseline="30000" dirty="0" smtClean="0"/>
              <a:t>14</a:t>
            </a:r>
            <a:r>
              <a:rPr lang="en-US" dirty="0" smtClean="0"/>
              <a:t>N and </a:t>
            </a:r>
            <a:r>
              <a:rPr lang="en-US" baseline="30000" dirty="0" smtClean="0"/>
              <a:t>15</a:t>
            </a:r>
            <a:r>
              <a:rPr lang="en-US" dirty="0" smtClean="0"/>
              <a:t>N.</a:t>
            </a:r>
            <a:r>
              <a:rPr lang="en-US" baseline="0" dirty="0" smtClean="0"/>
              <a:t> </a:t>
            </a:r>
            <a:r>
              <a:rPr lang="en-US" dirty="0" smtClean="0"/>
              <a:t>After 1.0 generation, all of the DNA molecules</a:t>
            </a:r>
            <a:r>
              <a:rPr lang="en-US" baseline="0" dirty="0" smtClean="0"/>
              <a:t> </a:t>
            </a:r>
            <a:r>
              <a:rPr lang="en-US" dirty="0" smtClean="0"/>
              <a:t>were hybrids containing equal amounts of </a:t>
            </a:r>
            <a:r>
              <a:rPr lang="en-US" baseline="30000" dirty="0" smtClean="0"/>
              <a:t>14</a:t>
            </a:r>
            <a:r>
              <a:rPr lang="en-US" dirty="0" smtClean="0"/>
              <a:t>N</a:t>
            </a:r>
            <a:r>
              <a:rPr lang="en-US" baseline="0" dirty="0" smtClean="0"/>
              <a:t> </a:t>
            </a:r>
            <a:r>
              <a:rPr lang="en-US" dirty="0" smtClean="0"/>
              <a:t>and </a:t>
            </a:r>
            <a:r>
              <a:rPr lang="en-US" baseline="30000" dirty="0" smtClean="0"/>
              <a:t>15</a:t>
            </a:r>
            <a:r>
              <a:rPr lang="en-US" dirty="0" smtClean="0"/>
              <a:t>N. [Data</a:t>
            </a:r>
            <a:r>
              <a:rPr lang="en-US" baseline="0" dirty="0" smtClean="0"/>
              <a:t> f</a:t>
            </a:r>
            <a:r>
              <a:rPr lang="en-US" dirty="0" smtClean="0"/>
              <a:t>rom M. Meselson and F. W. Stahl.</a:t>
            </a:r>
            <a:r>
              <a:rPr lang="en-US" baseline="0" dirty="0" smtClean="0"/>
              <a:t> </a:t>
            </a:r>
            <a:r>
              <a:rPr lang="en-US" i="1" dirty="0" smtClean="0"/>
              <a:t>Proc. Natl. Acad. Sci. U. S. A. </a:t>
            </a:r>
            <a:r>
              <a:rPr lang="en-US" dirty="0" smtClean="0"/>
              <a:t>44:671–682,</a:t>
            </a:r>
            <a:r>
              <a:rPr lang="en-US" baseline="0" dirty="0" smtClean="0"/>
              <a:t> </a:t>
            </a:r>
            <a:r>
              <a:rPr lang="en-US" dirty="0" smtClean="0"/>
              <a:t>1958.]</a:t>
            </a:r>
            <a:endParaRPr lang="en-US" dirty="0" smtClean="0">
              <a:cs typeface="+mn-cs"/>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57D9E51F-134E-DE45-BE1C-D00E450BE3E3}" type="slidenum">
              <a:rPr lang="en-US"/>
              <a:pPr>
                <a:defRPr/>
              </a:pPr>
              <a:t>39</a:t>
            </a:fld>
            <a:endParaRPr lang="en-US" dirty="0"/>
          </a:p>
        </p:txBody>
      </p:sp>
      <p:sp>
        <p:nvSpPr>
          <p:cNvPr id="200706"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xmlns:p="http://schemas.openxmlformats.org/presentationml/2006/main" xmlns:r="http://schemas.openxmlformats.org/officeDocument/2006/relationships" xmlns:a="http://schemas.openxmlformats.org/drawingml/2006/main" val="1"/>
            </a:ext>
          </a:extLst>
        </p:spPr>
      </p:sp>
      <p:sp>
        <p:nvSpPr>
          <p:cNvPr id="200707" name="Rectangle 3"/>
          <p:cNvSpPr>
            <a:spLocks noGrp="1" noChangeArrowheads="1"/>
          </p:cNvSpPr>
          <p:nvPr>
            <p:ph type="body" idx="1"/>
          </p:nvPr>
        </p:nvSpPr>
        <p:spPr/>
        <p:txBody>
          <a:bodyPr/>
          <a:lstStyle/>
          <a:p>
            <a:pPr>
              <a:defRPr/>
            </a:pPr>
            <a:r>
              <a:rPr lang="en-US" b="1" dirty="0" smtClean="0"/>
              <a:t>FIGURE 4.22 Diagram of semiconservative</a:t>
            </a:r>
            <a:r>
              <a:rPr lang="en-US" b="1" baseline="0" dirty="0" smtClean="0"/>
              <a:t> </a:t>
            </a:r>
            <a:r>
              <a:rPr lang="en-US" b="1" dirty="0" smtClean="0"/>
              <a:t>replication. </a:t>
            </a:r>
            <a:r>
              <a:rPr lang="en-US" dirty="0" smtClean="0"/>
              <a:t>Parental DNA is shown in blue</a:t>
            </a:r>
            <a:r>
              <a:rPr lang="en-US" baseline="0" dirty="0" smtClean="0"/>
              <a:t> </a:t>
            </a:r>
            <a:r>
              <a:rPr lang="en-US" dirty="0" smtClean="0"/>
              <a:t>and newly synthesized DNA in red. [Information</a:t>
            </a:r>
            <a:r>
              <a:rPr lang="en-US" baseline="0" dirty="0" smtClean="0"/>
              <a:t> from</a:t>
            </a:r>
            <a:r>
              <a:rPr lang="en-US" dirty="0" smtClean="0"/>
              <a:t> M.</a:t>
            </a:r>
            <a:r>
              <a:rPr lang="en-US" baseline="0" dirty="0" smtClean="0"/>
              <a:t> </a:t>
            </a:r>
            <a:r>
              <a:rPr lang="en-US" dirty="0" smtClean="0"/>
              <a:t>Meselson and F. W. Stahl. </a:t>
            </a:r>
            <a:r>
              <a:rPr lang="en-US" i="1" dirty="0" smtClean="0"/>
              <a:t>Proc. Natl. Acad.</a:t>
            </a:r>
            <a:r>
              <a:rPr lang="en-US" i="1" baseline="0" dirty="0" smtClean="0"/>
              <a:t> </a:t>
            </a:r>
            <a:r>
              <a:rPr lang="en-US" i="1" dirty="0" smtClean="0"/>
              <a:t>Sci. U. S. A. </a:t>
            </a:r>
            <a:r>
              <a:rPr lang="en-US" dirty="0" smtClean="0"/>
              <a:t>44:671–682, 1958.]</a:t>
            </a:r>
            <a:endParaRPr lang="en-US" dirty="0" smtClean="0">
              <a:cs typeface="+mn-cs"/>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86C62AC7-C865-FC40-B80B-64D1BE6AF213}" type="slidenum">
              <a:rPr lang="en-US"/>
              <a:pPr>
                <a:defRPr/>
              </a:pPr>
              <a:t>41</a:t>
            </a:fld>
            <a:endParaRPr lang="en-US" dirty="0"/>
          </a:p>
        </p:txBody>
      </p:sp>
      <p:sp>
        <p:nvSpPr>
          <p:cNvPr id="201730"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xmlns:p="http://schemas.openxmlformats.org/presentationml/2006/main" xmlns:r="http://schemas.openxmlformats.org/officeDocument/2006/relationships" xmlns:a="http://schemas.openxmlformats.org/drawingml/2006/main" val="1"/>
            </a:ext>
          </a:extLst>
        </p:spPr>
      </p:sp>
      <p:sp>
        <p:nvSpPr>
          <p:cNvPr id="201731" name="Rectangle 3"/>
          <p:cNvSpPr>
            <a:spLocks noGrp="1" noChangeArrowheads="1"/>
          </p:cNvSpPr>
          <p:nvPr>
            <p:ph type="body" idx="1"/>
          </p:nvPr>
        </p:nvSpPr>
        <p:spPr/>
        <p:txBody>
          <a:bodyPr/>
          <a:lstStyle/>
          <a:p>
            <a:pPr>
              <a:defRPr/>
            </a:pPr>
            <a:r>
              <a:rPr lang="en-US" b="1" dirty="0" smtClean="0"/>
              <a:t>FIGURE 4.23 Hypochromism. </a:t>
            </a:r>
            <a:r>
              <a:rPr lang="en-US" dirty="0" smtClean="0"/>
              <a:t>(A) Single-stranded DNA absorbs light more effectively than does</a:t>
            </a:r>
            <a:r>
              <a:rPr lang="en-US" baseline="0" dirty="0" smtClean="0"/>
              <a:t> </a:t>
            </a:r>
            <a:r>
              <a:rPr lang="en-US" dirty="0" smtClean="0"/>
              <a:t>double-helical DNA. (B) The absorbance of a DNA</a:t>
            </a:r>
            <a:r>
              <a:rPr lang="en-US" baseline="0" dirty="0" smtClean="0"/>
              <a:t> </a:t>
            </a:r>
            <a:r>
              <a:rPr lang="en-US" dirty="0" smtClean="0"/>
              <a:t>solution at a wavelength of 260 nm increases</a:t>
            </a:r>
            <a:r>
              <a:rPr lang="en-US" baseline="0" dirty="0" smtClean="0"/>
              <a:t> </a:t>
            </a:r>
            <a:r>
              <a:rPr lang="en-US" dirty="0" smtClean="0"/>
              <a:t>when the double helix is melted into single strands.</a:t>
            </a:r>
            <a:endParaRPr lang="en-US" dirty="0" smtClean="0">
              <a:cs typeface="+mn-cs"/>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0269B96F-18FA-464E-A1A2-8632B8BE152E}" type="slidenum">
              <a:rPr lang="en-US"/>
              <a:pPr>
                <a:defRPr/>
              </a:pPr>
              <a:t>44</a:t>
            </a:fld>
            <a:endParaRPr lang="en-US" dirty="0"/>
          </a:p>
        </p:txBody>
      </p:sp>
      <p:sp>
        <p:nvSpPr>
          <p:cNvPr id="203778"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xmlns:p="http://schemas.openxmlformats.org/presentationml/2006/main" xmlns:r="http://schemas.openxmlformats.org/officeDocument/2006/relationships" xmlns:a="http://schemas.openxmlformats.org/drawingml/2006/main" val="1"/>
            </a:ext>
          </a:extLst>
        </p:spPr>
      </p:sp>
      <p:sp>
        <p:nvSpPr>
          <p:cNvPr id="203779" name="Rectangle 3"/>
          <p:cNvSpPr>
            <a:spLocks noGrp="1" noChangeArrowheads="1"/>
          </p:cNvSpPr>
          <p:nvPr>
            <p:ph type="body" idx="1"/>
          </p:nvPr>
        </p:nvSpPr>
        <p:spPr/>
        <p:txBody>
          <a:bodyPr/>
          <a:lstStyle/>
          <a:p>
            <a:pPr eaLnBrk="1" hangingPunct="1">
              <a:defRPr/>
            </a:pPr>
            <a:r>
              <a:rPr lang="en-US" b="1" dirty="0" smtClean="0"/>
              <a:t>FIGURE 4.24 Polymerization reaction catalyzed by DNA polymerases.</a:t>
            </a:r>
            <a:endParaRPr lang="en-US" b="1" dirty="0" smtClean="0">
              <a:cs typeface="+mn-cs"/>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0A3C6CA1-D5BB-6D42-9396-E8A8663C499D}" type="slidenum">
              <a:rPr lang="en-US"/>
              <a:pPr>
                <a:defRPr/>
              </a:pPr>
              <a:t>45</a:t>
            </a:fld>
            <a:endParaRPr lang="en-US" dirty="0"/>
          </a:p>
        </p:txBody>
      </p:sp>
      <p:sp>
        <p:nvSpPr>
          <p:cNvPr id="206850"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xmlns:p="http://schemas.openxmlformats.org/presentationml/2006/main" xmlns:r="http://schemas.openxmlformats.org/officeDocument/2006/relationships" xmlns:a="http://schemas.openxmlformats.org/drawingml/2006/main" val="1"/>
            </a:ext>
          </a:extLst>
        </p:spPr>
      </p:sp>
      <p:sp>
        <p:nvSpPr>
          <p:cNvPr id="206851" name="Rectangle 3"/>
          <p:cNvSpPr>
            <a:spLocks noGrp="1" noChangeArrowheads="1"/>
          </p:cNvSpPr>
          <p:nvPr>
            <p:ph type="body" idx="1"/>
          </p:nvPr>
        </p:nvSpPr>
        <p:spPr/>
        <p:txBody>
          <a:bodyPr/>
          <a:lstStyle/>
          <a:p>
            <a:pPr>
              <a:defRPr/>
            </a:pPr>
            <a:r>
              <a:rPr lang="en-US" b="1" dirty="0" smtClean="0"/>
              <a:t>FIGURE 4.25 Strand-elongation reaction</a:t>
            </a:r>
            <a:r>
              <a:rPr lang="en-US" dirty="0" smtClean="0"/>
              <a:t>. DNA polymerases catalyze the formation of a</a:t>
            </a:r>
            <a:r>
              <a:rPr lang="en-US" baseline="0" dirty="0" smtClean="0"/>
              <a:t> </a:t>
            </a:r>
            <a:r>
              <a:rPr lang="en-US" dirty="0" smtClean="0"/>
              <a:t>phosphodiester bridge. </a:t>
            </a:r>
            <a:r>
              <a:rPr lang="en-US" sz="1200" b="0" i="0" u="none" strike="noStrike" kern="1200" baseline="0" dirty="0" smtClean="0">
                <a:solidFill>
                  <a:schemeClr val="tx1"/>
                </a:solidFill>
                <a:latin typeface="+mn-lt"/>
                <a:ea typeface="+mn-ea"/>
                <a:cs typeface="+mn-cs"/>
              </a:rPr>
              <a:t>[Source: J. L. </a:t>
            </a:r>
            <a:r>
              <a:rPr lang="en-US" sz="1200" b="0" i="0" u="none" strike="noStrike" kern="1200" baseline="0" dirty="0" err="1" smtClean="0">
                <a:solidFill>
                  <a:schemeClr val="tx1"/>
                </a:solidFill>
                <a:latin typeface="+mn-lt"/>
                <a:ea typeface="+mn-ea"/>
                <a:cs typeface="+mn-cs"/>
              </a:rPr>
              <a:t>Tymoczko</a:t>
            </a:r>
            <a:r>
              <a:rPr lang="en-US" sz="1200" b="0" i="0" u="none" strike="noStrike" kern="1200" baseline="0" dirty="0" smtClean="0">
                <a:solidFill>
                  <a:schemeClr val="tx1"/>
                </a:solidFill>
                <a:latin typeface="+mn-lt"/>
                <a:ea typeface="+mn-ea"/>
                <a:cs typeface="+mn-cs"/>
              </a:rPr>
              <a:t>, J. Berg, and L. </a:t>
            </a:r>
            <a:r>
              <a:rPr lang="en-US" sz="1200" b="0" i="0" u="none" strike="noStrike" kern="1200" baseline="0" dirty="0" err="1" smtClean="0">
                <a:solidFill>
                  <a:schemeClr val="tx1"/>
                </a:solidFill>
                <a:latin typeface="+mn-lt"/>
                <a:ea typeface="+mn-ea"/>
                <a:cs typeface="+mn-cs"/>
              </a:rPr>
              <a:t>Stryer</a:t>
            </a:r>
            <a:r>
              <a:rPr lang="en-US" sz="1200" b="0" i="0" u="none" strike="noStrike" kern="1200" baseline="0" dirty="0" smtClean="0">
                <a:solidFill>
                  <a:schemeClr val="tx1"/>
                </a:solidFill>
                <a:latin typeface="+mn-lt"/>
                <a:ea typeface="+mn-ea"/>
                <a:cs typeface="+mn-cs"/>
              </a:rPr>
              <a:t>, </a:t>
            </a:r>
            <a:r>
              <a:rPr lang="en-US" sz="1200" b="0" i="1" u="none" strike="noStrike" kern="1200" baseline="0" dirty="0" smtClean="0">
                <a:solidFill>
                  <a:schemeClr val="tx1"/>
                </a:solidFill>
                <a:latin typeface="+mn-lt"/>
                <a:ea typeface="+mn-ea"/>
                <a:cs typeface="+mn-cs"/>
              </a:rPr>
              <a:t>Biochemistry: A Short Course</a:t>
            </a:r>
            <a:r>
              <a:rPr lang="en-US" sz="1200" b="0" i="0" u="none" strike="noStrike" kern="1200" baseline="0" dirty="0" smtClean="0">
                <a:solidFill>
                  <a:schemeClr val="tx1"/>
                </a:solidFill>
                <a:latin typeface="+mn-lt"/>
                <a:ea typeface="+mn-ea"/>
                <a:cs typeface="+mn-cs"/>
              </a:rPr>
              <a:t>, 2nd ed. (W. H. Freeman and Company, 2013), Fig. 34.2.].</a:t>
            </a:r>
            <a:endParaRPr lang="en-US" dirty="0" smtClean="0">
              <a:cs typeface="+mn-cs"/>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65FCF5A1-7E5A-BF47-9C7A-518501459E7C}" type="slidenum">
              <a:rPr lang="en-US"/>
              <a:pPr>
                <a:defRPr/>
              </a:pPr>
              <a:t>47</a:t>
            </a:fld>
            <a:endParaRPr lang="en-US" dirty="0"/>
          </a:p>
        </p:txBody>
      </p:sp>
      <p:sp>
        <p:nvSpPr>
          <p:cNvPr id="207874"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xmlns:p="http://schemas.openxmlformats.org/presentationml/2006/main" xmlns:r="http://schemas.openxmlformats.org/officeDocument/2006/relationships" xmlns:a="http://schemas.openxmlformats.org/drawingml/2006/main" val="1"/>
            </a:ext>
          </a:extLst>
        </p:spPr>
      </p:sp>
      <p:sp>
        <p:nvSpPr>
          <p:cNvPr id="207875" name="Rectangle 3"/>
          <p:cNvSpPr>
            <a:spLocks noGrp="1" noChangeArrowheads="1"/>
          </p:cNvSpPr>
          <p:nvPr>
            <p:ph type="body" idx="1"/>
          </p:nvPr>
        </p:nvSpPr>
        <p:spPr/>
        <p:txBody>
          <a:bodyPr/>
          <a:lstStyle/>
          <a:p>
            <a:r>
              <a:rPr lang="en-US" sz="1200" b="1" i="0" u="none" strike="noStrike" kern="1200" baseline="0" dirty="0" smtClean="0">
                <a:solidFill>
                  <a:schemeClr val="tx1"/>
                </a:solidFill>
                <a:latin typeface="+mn-lt"/>
                <a:ea typeface="+mn-ea"/>
                <a:cs typeface="+mn-cs"/>
              </a:rPr>
              <a:t>FIGURE 4.26 Flow of information from RNA to DNA in retroviruses. </a:t>
            </a:r>
            <a:r>
              <a:rPr lang="en-US" sz="1200" b="0" i="0" u="none" strike="noStrike" kern="1200" baseline="0" dirty="0" smtClean="0">
                <a:solidFill>
                  <a:schemeClr val="tx1"/>
                </a:solidFill>
                <a:latin typeface="+mn-lt"/>
                <a:ea typeface="+mn-ea"/>
                <a:cs typeface="+mn-cs"/>
              </a:rPr>
              <a:t>The RNA genome of a retrovirus is converted into DNA by reverse transcriptase, an enzyme brought into the cell by the infecting virus particle. Reverse transcriptase possesses several activities and catalyzes the synthesis of a complementary DNA strand, the digestion of the RNA, and the subsequent synthesis of the DNA strand.</a:t>
            </a:r>
            <a:endParaRPr lang="en-US" dirty="0" smtClean="0">
              <a:cs typeface="+mn-cs"/>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96615993-3855-B449-8793-0E9A498E17EA}" type="slidenum">
              <a:rPr lang="en-US"/>
              <a:pPr>
                <a:defRPr/>
              </a:pPr>
              <a:t>49</a:t>
            </a:fld>
            <a:endParaRPr lang="en-US" dirty="0"/>
          </a:p>
        </p:txBody>
      </p:sp>
      <p:sp>
        <p:nvSpPr>
          <p:cNvPr id="208898"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xmlns:p="http://schemas.openxmlformats.org/presentationml/2006/main" xmlns:r="http://schemas.openxmlformats.org/officeDocument/2006/relationships" xmlns:a="http://schemas.openxmlformats.org/drawingml/2006/main" val="1"/>
            </a:ext>
          </a:extLst>
        </p:spPr>
      </p:sp>
      <p:sp>
        <p:nvSpPr>
          <p:cNvPr id="208899" name="Rectangle 3"/>
          <p:cNvSpPr>
            <a:spLocks noGrp="1" noChangeArrowheads="1"/>
          </p:cNvSpPr>
          <p:nvPr>
            <p:ph type="body" idx="1"/>
          </p:nvPr>
        </p:nvSpPr>
        <p:spPr/>
        <p:txBody>
          <a:bodyPr/>
          <a:lstStyle/>
          <a:p>
            <a:pPr eaLnBrk="1" hangingPunct="1">
              <a:defRPr/>
            </a:pPr>
            <a:endParaRPr lang="en-US" dirty="0" smtClean="0">
              <a:cs typeface="+mn-cs"/>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802C6FA7-46C2-8C45-B146-58E6F09331C5}" type="slidenum">
              <a:rPr lang="en-US"/>
              <a:pPr>
                <a:defRPr/>
              </a:pPr>
              <a:t>51</a:t>
            </a:fld>
            <a:endParaRPr lang="en-US" dirty="0"/>
          </a:p>
        </p:txBody>
      </p:sp>
      <p:sp>
        <p:nvSpPr>
          <p:cNvPr id="209922"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xmlns:p="http://schemas.openxmlformats.org/presentationml/2006/main" xmlns:r="http://schemas.openxmlformats.org/officeDocument/2006/relationships" xmlns:a="http://schemas.openxmlformats.org/drawingml/2006/main" val="1"/>
            </a:ext>
          </a:extLst>
        </p:spPr>
      </p:sp>
      <p:sp>
        <p:nvSpPr>
          <p:cNvPr id="209923" name="Rectangle 3"/>
          <p:cNvSpPr>
            <a:spLocks noGrp="1" noChangeArrowheads="1"/>
          </p:cNvSpPr>
          <p:nvPr>
            <p:ph type="body" idx="1"/>
          </p:nvPr>
        </p:nvSpPr>
        <p:spPr/>
        <p:txBody>
          <a:bodyPr/>
          <a:lstStyle/>
          <a:p>
            <a:pPr>
              <a:defRPr/>
            </a:pPr>
            <a:r>
              <a:rPr lang="en-US" b="1" dirty="0" smtClean="0"/>
              <a:t>FIGURE 4.27 RNA Polymerase. </a:t>
            </a:r>
            <a:r>
              <a:rPr lang="en-US" dirty="0" smtClean="0"/>
              <a:t>This large enzyme comprises many subunits, including β</a:t>
            </a:r>
            <a:r>
              <a:rPr lang="en-US" baseline="0" dirty="0" smtClean="0"/>
              <a:t> </a:t>
            </a:r>
            <a:r>
              <a:rPr lang="en-US" dirty="0" smtClean="0"/>
              <a:t>(red) and β’ (yellow), which form a “claw” that holds the DNA to be transcribed. Notice that the</a:t>
            </a:r>
            <a:r>
              <a:rPr lang="en-US" baseline="0" dirty="0" smtClean="0"/>
              <a:t> </a:t>
            </a:r>
            <a:r>
              <a:rPr lang="en-US" dirty="0" smtClean="0"/>
              <a:t>active site includes a Mg</a:t>
            </a:r>
            <a:r>
              <a:rPr lang="en-US" baseline="30000" dirty="0" smtClean="0"/>
              <a:t>2+</a:t>
            </a:r>
            <a:r>
              <a:rPr lang="en-US" dirty="0" smtClean="0"/>
              <a:t>ion (green) at the center of the structure. The curved tubes making</a:t>
            </a:r>
            <a:r>
              <a:rPr lang="en-US" baseline="0" dirty="0" smtClean="0"/>
              <a:t> </a:t>
            </a:r>
            <a:r>
              <a:rPr lang="en-US" dirty="0" smtClean="0"/>
              <a:t>up the protein in the image represent the backbone of the polypeptide chain. [Drawn from 1L9Z.</a:t>
            </a:r>
            <a:r>
              <a:rPr lang="en-US" baseline="0" dirty="0" smtClean="0"/>
              <a:t> </a:t>
            </a:r>
            <a:r>
              <a:rPr lang="en-US" dirty="0" smtClean="0"/>
              <a:t>pdb.]</a:t>
            </a:r>
            <a:endParaRPr lang="en-US" dirty="0" smtClean="0">
              <a:cs typeface="+mn-cs"/>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46F50CC5-A330-3B49-A3B9-72B2C4C7405D}" type="slidenum">
              <a:rPr lang="en-US"/>
              <a:pPr>
                <a:defRPr/>
              </a:pPr>
              <a:t>52</a:t>
            </a:fld>
            <a:endParaRPr lang="en-US" dirty="0"/>
          </a:p>
        </p:txBody>
      </p:sp>
      <p:sp>
        <p:nvSpPr>
          <p:cNvPr id="210946"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xmlns:p="http://schemas.openxmlformats.org/presentationml/2006/main" xmlns:r="http://schemas.openxmlformats.org/officeDocument/2006/relationships" xmlns:a="http://schemas.openxmlformats.org/drawingml/2006/main" val="1"/>
            </a:ext>
          </a:extLst>
        </p:spPr>
      </p:sp>
      <p:sp>
        <p:nvSpPr>
          <p:cNvPr id="210947" name="Rectangle 3"/>
          <p:cNvSpPr>
            <a:spLocks noGrp="1" noChangeArrowheads="1"/>
          </p:cNvSpPr>
          <p:nvPr>
            <p:ph type="body" idx="1"/>
          </p:nvPr>
        </p:nvSpPr>
        <p:spPr/>
        <p:txBody>
          <a:bodyPr/>
          <a:lstStyle/>
          <a:p>
            <a:r>
              <a:rPr lang="en-US" sz="1200" b="1" i="0" u="none" strike="noStrike" kern="1200" baseline="0" dirty="0" smtClean="0">
                <a:solidFill>
                  <a:schemeClr val="tx1"/>
                </a:solidFill>
                <a:latin typeface="+mn-lt"/>
                <a:ea typeface="+mn-ea"/>
                <a:cs typeface="+mn-cs"/>
              </a:rPr>
              <a:t>FIGURE 4.28 Transcription mechanism of the chain-elongation reaction catalyzed by RNA polymerase. </a:t>
            </a:r>
            <a:r>
              <a:rPr lang="en-US" sz="1200" b="0" i="0" u="none" strike="noStrike" kern="1200" baseline="0" dirty="0" smtClean="0">
                <a:solidFill>
                  <a:schemeClr val="tx1"/>
                </a:solidFill>
                <a:latin typeface="+mn-lt"/>
                <a:ea typeface="+mn-ea"/>
                <a:cs typeface="+mn-cs"/>
              </a:rPr>
              <a:t>[Source: J. L. Tymoczko, J. Berg, and L. Stryer, </a:t>
            </a:r>
            <a:r>
              <a:rPr lang="en-US" sz="1200" b="0" i="1" u="none" strike="noStrike" kern="1200" baseline="0" dirty="0" smtClean="0">
                <a:solidFill>
                  <a:schemeClr val="tx1"/>
                </a:solidFill>
                <a:latin typeface="+mn-lt"/>
                <a:ea typeface="+mn-ea"/>
                <a:cs typeface="+mn-cs"/>
              </a:rPr>
              <a:t>Biochemistry: A Short Course</a:t>
            </a:r>
            <a:r>
              <a:rPr lang="en-US" sz="1200" b="0" i="0" u="none" strike="noStrike" kern="1200" baseline="0" dirty="0" smtClean="0">
                <a:solidFill>
                  <a:schemeClr val="tx1"/>
                </a:solidFill>
                <a:latin typeface="+mn-lt"/>
                <a:ea typeface="+mn-ea"/>
                <a:cs typeface="+mn-cs"/>
              </a:rPr>
              <a:t>, 2nd ed. (W. H. Freeman and Company, 2013), Fig. 36.3.]</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E2C854BB-9864-4746-A7A7-38C8398F4CDD}" type="slidenum">
              <a:rPr lang="en-US"/>
              <a:pPr>
                <a:defRPr/>
              </a:pPr>
              <a:t>55</a:t>
            </a:fld>
            <a:endParaRPr lang="en-US" dirty="0"/>
          </a:p>
        </p:txBody>
      </p:sp>
      <p:sp>
        <p:nvSpPr>
          <p:cNvPr id="212994"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xmlns:p="http://schemas.openxmlformats.org/presentationml/2006/main" xmlns:r="http://schemas.openxmlformats.org/officeDocument/2006/relationships" xmlns:a="http://schemas.openxmlformats.org/drawingml/2006/main" val="1"/>
            </a:ext>
          </a:extLst>
        </p:spPr>
      </p:sp>
      <p:sp>
        <p:nvSpPr>
          <p:cNvPr id="212995" name="Rectangle 3"/>
          <p:cNvSpPr>
            <a:spLocks noGrp="1" noChangeArrowheads="1"/>
          </p:cNvSpPr>
          <p:nvPr>
            <p:ph type="body" idx="1"/>
          </p:nvPr>
        </p:nvSpPr>
        <p:spPr/>
        <p:txBody>
          <a:bodyPr/>
          <a:lstStyle/>
          <a:p>
            <a:pPr>
              <a:defRPr/>
            </a:pPr>
            <a:r>
              <a:rPr lang="en-US" b="1" dirty="0" smtClean="0"/>
              <a:t>FIGURE 4.29 Complementarity between mRNA and DNA</a:t>
            </a:r>
            <a:r>
              <a:rPr lang="en-US" dirty="0" smtClean="0"/>
              <a:t>. The base sequence of mRNA (red)</a:t>
            </a:r>
            <a:r>
              <a:rPr lang="en-US" baseline="0" dirty="0" smtClean="0"/>
              <a:t> </a:t>
            </a:r>
            <a:r>
              <a:rPr lang="en-US" dirty="0" smtClean="0"/>
              <a:t>is the complement of that of the DNA template strand (blue). The sequence shown here is from</a:t>
            </a:r>
            <a:r>
              <a:rPr lang="en-US" baseline="0" dirty="0" smtClean="0"/>
              <a:t> </a:t>
            </a:r>
            <a:r>
              <a:rPr lang="en-US" dirty="0" smtClean="0"/>
              <a:t>the tryptophan operon, a segment of DNA containing the genes for five enzymes that catalyze the</a:t>
            </a:r>
            <a:r>
              <a:rPr lang="en-US" baseline="0" dirty="0" smtClean="0"/>
              <a:t> </a:t>
            </a:r>
            <a:r>
              <a:rPr lang="en-US" dirty="0" smtClean="0"/>
              <a:t>synthesis of tryptophan. The other strand of DNA (black) is called the coding strand because it has</a:t>
            </a:r>
            <a:r>
              <a:rPr lang="en-US" baseline="0" dirty="0" smtClean="0"/>
              <a:t> </a:t>
            </a:r>
            <a:r>
              <a:rPr lang="en-US" dirty="0" smtClean="0"/>
              <a:t>the same sequence as the RNA transcript except for thymine (T) in place of uracil (U).</a:t>
            </a:r>
            <a:endParaRPr lang="en-US" dirty="0" smtClean="0">
              <a:cs typeface="+mn-cs"/>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728F5A0D-32DD-C44C-A9BF-341987391F15}" type="slidenum">
              <a:rPr lang="en-US"/>
              <a:pPr>
                <a:defRPr/>
              </a:pPr>
              <a:t>56</a:t>
            </a:fld>
            <a:endParaRPr lang="en-US" dirty="0"/>
          </a:p>
        </p:txBody>
      </p:sp>
      <p:sp>
        <p:nvSpPr>
          <p:cNvPr id="211970"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xmlns:p="http://schemas.openxmlformats.org/presentationml/2006/main" xmlns:r="http://schemas.openxmlformats.org/officeDocument/2006/relationships" xmlns:a="http://schemas.openxmlformats.org/drawingml/2006/main" val="1"/>
            </a:ext>
          </a:extLst>
        </p:spPr>
      </p:sp>
      <p:sp>
        <p:nvSpPr>
          <p:cNvPr id="211971" name="Rectangle 3"/>
          <p:cNvSpPr>
            <a:spLocks noGrp="1" noChangeArrowheads="1"/>
          </p:cNvSpPr>
          <p:nvPr>
            <p:ph type="body" idx="1"/>
          </p:nvPr>
        </p:nvSpPr>
        <p:spPr/>
        <p:txBody>
          <a:bodyPr/>
          <a:lstStyle/>
          <a:p>
            <a:pPr eaLnBrk="1" hangingPunct="1">
              <a:defRPr/>
            </a:pPr>
            <a:endParaRPr lang="en-US" dirty="0" smtClean="0">
              <a:cs typeface="+mn-cs"/>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311B8CE6-9D71-954C-A0C8-89C90EA7A5E3}" type="slidenum">
              <a:rPr lang="en-US"/>
              <a:pPr>
                <a:defRPr/>
              </a:pPr>
              <a:t>57</a:t>
            </a:fld>
            <a:endParaRPr lang="en-US" dirty="0"/>
          </a:p>
        </p:txBody>
      </p:sp>
      <p:sp>
        <p:nvSpPr>
          <p:cNvPr id="214018"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xmlns:p="http://schemas.openxmlformats.org/presentationml/2006/main" xmlns:r="http://schemas.openxmlformats.org/officeDocument/2006/relationships" xmlns:a="http://schemas.openxmlformats.org/drawingml/2006/main" val="1"/>
            </a:ext>
          </a:extLst>
        </p:spPr>
      </p:sp>
      <p:sp>
        <p:nvSpPr>
          <p:cNvPr id="214019" name="Rectangle 3"/>
          <p:cNvSpPr>
            <a:spLocks noGrp="1" noChangeArrowheads="1"/>
          </p:cNvSpPr>
          <p:nvPr>
            <p:ph type="body" idx="1"/>
          </p:nvPr>
        </p:nvSpPr>
        <p:spPr/>
        <p:txBody>
          <a:bodyPr/>
          <a:lstStyle/>
          <a:p>
            <a:pPr>
              <a:defRPr/>
            </a:pPr>
            <a:r>
              <a:rPr lang="en-US" b="1" dirty="0" smtClean="0"/>
              <a:t>FIGURE 4.30 Promoter sites for</a:t>
            </a:r>
            <a:r>
              <a:rPr lang="en-US" b="1" baseline="0" dirty="0" smtClean="0"/>
              <a:t> </a:t>
            </a:r>
            <a:r>
              <a:rPr lang="en-US" b="1" dirty="0" smtClean="0"/>
              <a:t>transcription in (A) prokaryotes and</a:t>
            </a:r>
            <a:r>
              <a:rPr lang="en-US" b="1" baseline="0" dirty="0" smtClean="0"/>
              <a:t> </a:t>
            </a:r>
            <a:r>
              <a:rPr lang="en-US" b="1" dirty="0" smtClean="0"/>
              <a:t>(B) eukaryotes. </a:t>
            </a:r>
            <a:r>
              <a:rPr lang="en-US" dirty="0" smtClean="0"/>
              <a:t>Consensus sequences are</a:t>
            </a:r>
            <a:r>
              <a:rPr lang="en-US" baseline="0" dirty="0" smtClean="0"/>
              <a:t> </a:t>
            </a:r>
            <a:r>
              <a:rPr lang="en-US" dirty="0" smtClean="0"/>
              <a:t>shown. The first nucleotide to be</a:t>
            </a:r>
            <a:r>
              <a:rPr lang="en-US" baseline="0" dirty="0" smtClean="0"/>
              <a:t> </a:t>
            </a:r>
            <a:r>
              <a:rPr lang="en-US" dirty="0" smtClean="0"/>
              <a:t>transcribed is</a:t>
            </a:r>
            <a:r>
              <a:rPr lang="en-US" baseline="0" dirty="0" smtClean="0"/>
              <a:t> </a:t>
            </a:r>
            <a:r>
              <a:rPr lang="en-US" dirty="0" smtClean="0"/>
              <a:t>numbered +1. The adjacent nucleotide on the</a:t>
            </a:r>
            <a:r>
              <a:rPr lang="en-US" baseline="0" dirty="0" smtClean="0"/>
              <a:t> </a:t>
            </a:r>
            <a:r>
              <a:rPr lang="en-US" dirty="0" smtClean="0"/>
              <a:t>5</a:t>
            </a:r>
            <a:r>
              <a:rPr lang="en-US" sz="1200" kern="1200" dirty="0" smtClean="0">
                <a:solidFill>
                  <a:schemeClr val="tx1"/>
                </a:solidFill>
                <a:effectLst/>
                <a:latin typeface="+mn-lt"/>
                <a:ea typeface="+mn-ea"/>
                <a:cs typeface="+mn-cs"/>
                <a:sym typeface="Symbol"/>
              </a:rPr>
              <a:t></a:t>
            </a:r>
            <a:r>
              <a:rPr lang="en-US" dirty="0" smtClean="0"/>
              <a:t> side is numbered -1. The sequences</a:t>
            </a:r>
            <a:r>
              <a:rPr lang="en-US" baseline="0" dirty="0" smtClean="0"/>
              <a:t> </a:t>
            </a:r>
            <a:r>
              <a:rPr lang="en-US" dirty="0" smtClean="0"/>
              <a:t>shown are those of the coding strand of DNA.</a:t>
            </a:r>
            <a:endParaRPr lang="en-US" dirty="0" smtClean="0">
              <a:cs typeface="+mn-cs"/>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5DCC5E07-1EE6-9346-870A-AA11FA470C13}" type="slidenum">
              <a:rPr lang="en-US"/>
              <a:pPr>
                <a:defRPr/>
              </a:pPr>
              <a:t>58</a:t>
            </a:fld>
            <a:endParaRPr lang="en-US" dirty="0"/>
          </a:p>
        </p:txBody>
      </p:sp>
      <p:sp>
        <p:nvSpPr>
          <p:cNvPr id="211970"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xmlns:p="http://schemas.openxmlformats.org/presentationml/2006/main" xmlns:r="http://schemas.openxmlformats.org/officeDocument/2006/relationships" xmlns:a="http://schemas.openxmlformats.org/drawingml/2006/main" val="1"/>
            </a:ext>
          </a:extLst>
        </p:spPr>
      </p:sp>
      <p:sp>
        <p:nvSpPr>
          <p:cNvPr id="211971" name="Rectangle 3"/>
          <p:cNvSpPr>
            <a:spLocks noGrp="1" noChangeArrowheads="1"/>
          </p:cNvSpPr>
          <p:nvPr>
            <p:ph type="body" idx="1"/>
          </p:nvPr>
        </p:nvSpPr>
        <p:spPr/>
        <p:txBody>
          <a:bodyPr/>
          <a:lstStyle/>
          <a:p>
            <a:pPr eaLnBrk="1" hangingPunct="1">
              <a:defRPr/>
            </a:pPr>
            <a:endParaRPr lang="en-US" dirty="0" smtClean="0">
              <a:cs typeface="+mn-cs"/>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9FCBD7BF-EE85-A444-BFA6-8E08790E7ABC}" type="slidenum">
              <a:rPr lang="en-US"/>
              <a:pPr>
                <a:defRPr/>
              </a:pPr>
              <a:t>59</a:t>
            </a:fld>
            <a:endParaRPr lang="en-US" dirty="0"/>
          </a:p>
        </p:txBody>
      </p:sp>
      <p:sp>
        <p:nvSpPr>
          <p:cNvPr id="217090"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xmlns:p="http://schemas.openxmlformats.org/presentationml/2006/main" xmlns:r="http://schemas.openxmlformats.org/officeDocument/2006/relationships" xmlns:a="http://schemas.openxmlformats.org/drawingml/2006/main" val="1"/>
            </a:ext>
          </a:extLst>
        </p:spPr>
      </p:sp>
      <p:sp>
        <p:nvSpPr>
          <p:cNvPr id="217091" name="Rectangle 3"/>
          <p:cNvSpPr>
            <a:spLocks noGrp="1" noChangeArrowheads="1"/>
          </p:cNvSpPr>
          <p:nvPr>
            <p:ph type="body" idx="1"/>
          </p:nvPr>
        </p:nvSpPr>
        <p:spPr/>
        <p:txBody>
          <a:bodyPr/>
          <a:lstStyle/>
          <a:p>
            <a:pPr>
              <a:defRPr/>
            </a:pPr>
            <a:r>
              <a:rPr lang="en-US" b="1" dirty="0" smtClean="0"/>
              <a:t>FIGURE 4.31 Base sequence of the 3’ end</a:t>
            </a:r>
            <a:r>
              <a:rPr lang="en-US" b="1" baseline="0" dirty="0" smtClean="0"/>
              <a:t> </a:t>
            </a:r>
            <a:r>
              <a:rPr lang="en-US" b="1" dirty="0" smtClean="0"/>
              <a:t>of an mRNA transcript in </a:t>
            </a:r>
            <a:r>
              <a:rPr lang="en-US" b="1" i="1" dirty="0" smtClean="0"/>
              <a:t>E. coli</a:t>
            </a:r>
            <a:r>
              <a:rPr lang="en-US" b="1" dirty="0" smtClean="0"/>
              <a:t>. </a:t>
            </a:r>
            <a:r>
              <a:rPr lang="en-US" dirty="0" smtClean="0"/>
              <a:t>A stable</a:t>
            </a:r>
            <a:r>
              <a:rPr lang="en-US" baseline="0" dirty="0" smtClean="0"/>
              <a:t> </a:t>
            </a:r>
            <a:r>
              <a:rPr lang="en-US" dirty="0" smtClean="0"/>
              <a:t>hairpin structure is followed by a sequence of</a:t>
            </a:r>
            <a:r>
              <a:rPr lang="en-US" baseline="0" dirty="0" smtClean="0"/>
              <a:t> </a:t>
            </a:r>
            <a:r>
              <a:rPr lang="en-US" dirty="0" smtClean="0"/>
              <a:t>uridine (U) residues.</a:t>
            </a:r>
            <a:endParaRPr lang="en-US" dirty="0" smtClean="0">
              <a:cs typeface="+mn-cs"/>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A0236B3C-6377-EB48-AA4D-1BF239F34B34}" type="slidenum">
              <a:rPr lang="en-US"/>
              <a:pPr>
                <a:defRPr/>
              </a:pPr>
              <a:t>60</a:t>
            </a:fld>
            <a:endParaRPr lang="en-US" dirty="0"/>
          </a:p>
        </p:txBody>
      </p:sp>
      <p:sp>
        <p:nvSpPr>
          <p:cNvPr id="211970"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xmlns:p="http://schemas.openxmlformats.org/presentationml/2006/main" xmlns:r="http://schemas.openxmlformats.org/officeDocument/2006/relationships" xmlns:a="http://schemas.openxmlformats.org/drawingml/2006/main" val="1"/>
            </a:ext>
          </a:extLst>
        </p:spPr>
      </p:sp>
      <p:sp>
        <p:nvSpPr>
          <p:cNvPr id="211971" name="Rectangle 3"/>
          <p:cNvSpPr>
            <a:spLocks noGrp="1" noChangeArrowheads="1"/>
          </p:cNvSpPr>
          <p:nvPr>
            <p:ph type="body" idx="1"/>
          </p:nvPr>
        </p:nvSpPr>
        <p:spPr/>
        <p:txBody>
          <a:bodyPr/>
          <a:lstStyle/>
          <a:p>
            <a:pPr eaLnBrk="1" hangingPunct="1">
              <a:defRPr/>
            </a:pPr>
            <a:endParaRPr lang="en-US" dirty="0" smtClean="0">
              <a:cs typeface="+mn-cs"/>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b="1" dirty="0" smtClean="0"/>
              <a:t>FIGURE 4.32 Modification of mRNA.</a:t>
            </a:r>
            <a:r>
              <a:rPr lang="en-US" b="1" baseline="0" dirty="0" smtClean="0"/>
              <a:t> </a:t>
            </a:r>
            <a:r>
              <a:rPr lang="en-US" dirty="0" smtClean="0"/>
              <a:t>Messenger RNA in eukaryotes is modified</a:t>
            </a:r>
            <a:r>
              <a:rPr lang="en-US" baseline="0" dirty="0" smtClean="0"/>
              <a:t> </a:t>
            </a:r>
            <a:r>
              <a:rPr lang="en-US" dirty="0" smtClean="0"/>
              <a:t>after transcription. A nucleotide “cap” structure</a:t>
            </a:r>
            <a:r>
              <a:rPr lang="en-US" baseline="0" dirty="0" smtClean="0"/>
              <a:t> </a:t>
            </a:r>
            <a:r>
              <a:rPr lang="en-US" dirty="0" smtClean="0"/>
              <a:t>is added to the 5</a:t>
            </a:r>
            <a:r>
              <a:rPr lang="en-US" sz="1200" kern="1200" dirty="0" smtClean="0">
                <a:solidFill>
                  <a:schemeClr val="tx1"/>
                </a:solidFill>
                <a:effectLst/>
                <a:latin typeface="+mn-lt"/>
                <a:ea typeface="+mn-ea"/>
                <a:cs typeface="+mn-cs"/>
                <a:sym typeface="Symbol"/>
              </a:rPr>
              <a:t></a:t>
            </a:r>
            <a:r>
              <a:rPr lang="en-US" dirty="0" smtClean="0"/>
              <a:t> end, and a poly(A) tail is</a:t>
            </a:r>
            <a:r>
              <a:rPr lang="en-US" baseline="0" dirty="0" smtClean="0"/>
              <a:t> </a:t>
            </a:r>
            <a:r>
              <a:rPr lang="en-US" dirty="0" smtClean="0"/>
              <a:t>added at the 3</a:t>
            </a:r>
            <a:r>
              <a:rPr lang="en-US" sz="1200" kern="1200" dirty="0" smtClean="0">
                <a:solidFill>
                  <a:schemeClr val="tx1"/>
                </a:solidFill>
                <a:effectLst/>
                <a:latin typeface="+mn-lt"/>
                <a:ea typeface="+mn-ea"/>
                <a:cs typeface="+mn-cs"/>
                <a:sym typeface="Symbol"/>
              </a:rPr>
              <a:t></a:t>
            </a:r>
            <a:r>
              <a:rPr lang="en-US" dirty="0" smtClean="0"/>
              <a:t> end.</a:t>
            </a:r>
          </a:p>
          <a:p>
            <a:pPr eaLnBrk="1" hangingPunct="1">
              <a:defRPr/>
            </a:pPr>
            <a:endParaRPr lang="en-US" dirty="0" smtClean="0">
              <a:cs typeface="+mn-cs"/>
            </a:endParaRPr>
          </a:p>
          <a:p>
            <a:endParaRPr lang="en-US" dirty="0"/>
          </a:p>
        </p:txBody>
      </p:sp>
      <p:sp>
        <p:nvSpPr>
          <p:cNvPr id="4" name="Slide Number Placeholder 3"/>
          <p:cNvSpPr>
            <a:spLocks noGrp="1"/>
          </p:cNvSpPr>
          <p:nvPr>
            <p:ph type="sldNum" sz="quarter" idx="10"/>
          </p:nvPr>
        </p:nvSpPr>
        <p:spPr/>
        <p:txBody>
          <a:bodyPr/>
          <a:lstStyle/>
          <a:p>
            <a:fld id="{8FF6F00E-0827-B145-A85F-C5C5AD61EF06}" type="slidenum">
              <a:rPr lang="en-US" smtClean="0"/>
              <a:pPr/>
              <a:t>61</a:t>
            </a:fld>
            <a:endParaRPr lang="en-US" dirty="0"/>
          </a:p>
        </p:txBody>
      </p:sp>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2398595666"/>
      </p:ext>
    </p:extLst>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F6A2245D-2E52-D94B-9E73-C2DD90D56F83}" type="slidenum">
              <a:rPr lang="en-US"/>
              <a:pPr>
                <a:defRPr/>
              </a:pPr>
              <a:t>62</a:t>
            </a:fld>
            <a:endParaRPr lang="en-US" dirty="0"/>
          </a:p>
        </p:txBody>
      </p:sp>
      <p:sp>
        <p:nvSpPr>
          <p:cNvPr id="218114"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xmlns:p="http://schemas.openxmlformats.org/presentationml/2006/main" xmlns:r="http://schemas.openxmlformats.org/officeDocument/2006/relationships" xmlns:a="http://schemas.openxmlformats.org/drawingml/2006/main" val="1"/>
            </a:ext>
          </a:extLst>
        </p:spPr>
      </p:sp>
      <p:sp>
        <p:nvSpPr>
          <p:cNvPr id="218115" name="Rectangle 3"/>
          <p:cNvSpPr>
            <a:spLocks noGrp="1" noChangeArrowheads="1"/>
          </p:cNvSpPr>
          <p:nvPr>
            <p:ph type="body" idx="1"/>
          </p:nvPr>
        </p:nvSpPr>
        <p:spPr/>
        <p:txBody>
          <a:bodyPr/>
          <a:lstStyle/>
          <a:p>
            <a:pPr>
              <a:defRPr/>
            </a:pPr>
            <a:endParaRPr lang="en-US" dirty="0" smtClean="0">
              <a:cs typeface="+mn-cs"/>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22053C07-D5C0-A942-9FBA-9E70E4740E25}" type="slidenum">
              <a:rPr lang="en-US"/>
              <a:pPr>
                <a:defRPr/>
              </a:pPr>
              <a:t>63</a:t>
            </a:fld>
            <a:endParaRPr lang="en-US" dirty="0"/>
          </a:p>
        </p:txBody>
      </p:sp>
      <p:sp>
        <p:nvSpPr>
          <p:cNvPr id="219138"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xmlns:p="http://schemas.openxmlformats.org/presentationml/2006/main" xmlns:r="http://schemas.openxmlformats.org/officeDocument/2006/relationships" xmlns:a="http://schemas.openxmlformats.org/drawingml/2006/main" val="1"/>
            </a:ext>
          </a:extLst>
        </p:spPr>
      </p:sp>
      <p:sp>
        <p:nvSpPr>
          <p:cNvPr id="219139" name="Rectangle 3"/>
          <p:cNvSpPr>
            <a:spLocks noGrp="1" noChangeArrowheads="1"/>
          </p:cNvSpPr>
          <p:nvPr>
            <p:ph type="body" idx="1"/>
          </p:nvPr>
        </p:nvSpPr>
        <p:spPr/>
        <p:txBody>
          <a:bodyPr/>
          <a:lstStyle/>
          <a:p>
            <a:r>
              <a:rPr lang="en-US" sz="1200" b="1" i="0" u="none" strike="noStrike" kern="1200" baseline="0" dirty="0" smtClean="0">
                <a:solidFill>
                  <a:schemeClr val="tx1"/>
                </a:solidFill>
                <a:latin typeface="+mn-lt"/>
                <a:ea typeface="+mn-ea"/>
                <a:cs typeface="+mn-cs"/>
              </a:rPr>
              <a:t>FIGURE 4.33 Attachment of an amino acid to a tRNA molecule. </a:t>
            </a:r>
            <a:r>
              <a:rPr lang="en-US" sz="1200" b="0" i="0" u="none" strike="noStrike" kern="1200" baseline="0" dirty="0" smtClean="0">
                <a:solidFill>
                  <a:schemeClr val="tx1"/>
                </a:solidFill>
                <a:latin typeface="+mn-lt"/>
                <a:ea typeface="+mn-ea"/>
                <a:cs typeface="+mn-cs"/>
              </a:rPr>
              <a:t>The amino acid (shown in blue) is esterified to the 3</a:t>
            </a:r>
            <a:r>
              <a:rPr lang="en-US" sz="1200" kern="1200" dirty="0" smtClean="0">
                <a:solidFill>
                  <a:schemeClr val="tx1"/>
                </a:solidFill>
                <a:effectLst/>
                <a:latin typeface="+mn-lt"/>
                <a:ea typeface="+mn-ea"/>
                <a:cs typeface="+mn-cs"/>
                <a:sym typeface="Symbol"/>
              </a:rPr>
              <a:t></a:t>
            </a:r>
            <a:r>
              <a:rPr lang="en-US" sz="1200" b="0" i="0" u="none" strike="noStrike" kern="1200" baseline="0" dirty="0" smtClean="0">
                <a:solidFill>
                  <a:schemeClr val="tx1"/>
                </a:solidFill>
                <a:latin typeface="+mn-lt"/>
                <a:ea typeface="+mn-ea"/>
                <a:cs typeface="+mn-cs"/>
              </a:rPr>
              <a:t>-hydroxyl group of the terminal adenylate of tRNA. [Source: J. L. Tymoczko, J. Berg, and L. Stryer, </a:t>
            </a:r>
            <a:r>
              <a:rPr lang="en-US" sz="1200" b="0" i="1" u="none" strike="noStrike" kern="1200" baseline="0" dirty="0" smtClean="0">
                <a:solidFill>
                  <a:schemeClr val="tx1"/>
                </a:solidFill>
                <a:latin typeface="+mn-lt"/>
                <a:ea typeface="+mn-ea"/>
                <a:cs typeface="+mn-cs"/>
              </a:rPr>
              <a:t>Biochemistry: A Short Course</a:t>
            </a:r>
            <a:r>
              <a:rPr lang="en-US" sz="1200" b="0" i="0" u="none" strike="noStrike" kern="1200" baseline="0" dirty="0" smtClean="0">
                <a:solidFill>
                  <a:schemeClr val="tx1"/>
                </a:solidFill>
                <a:latin typeface="+mn-lt"/>
                <a:ea typeface="+mn-ea"/>
                <a:cs typeface="+mn-cs"/>
              </a:rPr>
              <a:t>, 2nd ed. (W. H. Freeman and Company, 2013), Fig. 39.3.]</a:t>
            </a:r>
            <a:endParaRPr lang="en-US" dirty="0" smtClean="0"/>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759D42C2-D585-6B46-9547-4F8B7D873AFC}" type="slidenum">
              <a:rPr lang="en-US"/>
              <a:pPr>
                <a:defRPr/>
              </a:pPr>
              <a:t>64</a:t>
            </a:fld>
            <a:endParaRPr lang="en-US" dirty="0"/>
          </a:p>
        </p:txBody>
      </p:sp>
      <p:sp>
        <p:nvSpPr>
          <p:cNvPr id="220162"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xmlns:p="http://schemas.openxmlformats.org/presentationml/2006/main" xmlns:r="http://schemas.openxmlformats.org/officeDocument/2006/relationships" xmlns:a="http://schemas.openxmlformats.org/drawingml/2006/main" val="1"/>
            </a:ext>
          </a:extLst>
        </p:spPr>
      </p:sp>
      <p:sp>
        <p:nvSpPr>
          <p:cNvPr id="220163" name="Rectangle 3"/>
          <p:cNvSpPr>
            <a:spLocks noGrp="1" noChangeArrowheads="1"/>
          </p:cNvSpPr>
          <p:nvPr>
            <p:ph type="body" idx="1"/>
          </p:nvPr>
        </p:nvSpPr>
        <p:spPr/>
        <p:txBody>
          <a:bodyPr/>
          <a:lstStyle/>
          <a:p>
            <a:pPr>
              <a:defRPr/>
            </a:pPr>
            <a:r>
              <a:rPr lang="en-US" b="1" dirty="0" smtClean="0"/>
              <a:t>FIGURE 4.34 General structure of an aminoacyl-tRNA. </a:t>
            </a:r>
            <a:r>
              <a:rPr lang="en-US" dirty="0" smtClean="0"/>
              <a:t>The amino acid is attached at the 3</a:t>
            </a:r>
            <a:r>
              <a:rPr lang="en-US" sz="1200" kern="1200" dirty="0" smtClean="0">
                <a:solidFill>
                  <a:schemeClr val="tx1"/>
                </a:solidFill>
                <a:effectLst/>
                <a:latin typeface="+mn-lt"/>
                <a:ea typeface="+mn-ea"/>
                <a:cs typeface="+mn-cs"/>
                <a:sym typeface="Symbol"/>
              </a:rPr>
              <a:t></a:t>
            </a:r>
            <a:r>
              <a:rPr lang="en-US" baseline="0" dirty="0" smtClean="0"/>
              <a:t> </a:t>
            </a:r>
            <a:r>
              <a:rPr lang="en-US" dirty="0" smtClean="0"/>
              <a:t>end of the RNA. The anticodon is the template-recognition</a:t>
            </a:r>
            <a:r>
              <a:rPr lang="en-US" baseline="0" dirty="0" smtClean="0"/>
              <a:t> </a:t>
            </a:r>
            <a:r>
              <a:rPr lang="en-US" dirty="0" smtClean="0"/>
              <a:t>site. </a:t>
            </a:r>
            <a:r>
              <a:rPr lang="en-US" i="1" dirty="0" smtClean="0"/>
              <a:t>Notice</a:t>
            </a:r>
            <a:r>
              <a:rPr lang="en-US" dirty="0" smtClean="0"/>
              <a:t> that the tRNA has a</a:t>
            </a:r>
            <a:r>
              <a:rPr lang="en-US" baseline="0" dirty="0" smtClean="0"/>
              <a:t> </a:t>
            </a:r>
            <a:r>
              <a:rPr lang="en-US" dirty="0" smtClean="0"/>
              <a:t>cloverleaf structure with many hydrogen bonds (green dots) between bases.</a:t>
            </a:r>
            <a:endParaRPr lang="en-US" dirty="0" smtClean="0">
              <a:cs typeface="+mn-cs"/>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8D057673-7333-F24B-AC19-40F4429E0461}" type="slidenum">
              <a:rPr lang="en-US"/>
              <a:pPr>
                <a:defRPr/>
              </a:pPr>
              <a:t>67</a:t>
            </a:fld>
            <a:endParaRPr lang="en-US" dirty="0"/>
          </a:p>
        </p:txBody>
      </p:sp>
      <p:sp>
        <p:nvSpPr>
          <p:cNvPr id="221186"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xmlns:p="http://schemas.openxmlformats.org/presentationml/2006/main" xmlns:r="http://schemas.openxmlformats.org/officeDocument/2006/relationships" xmlns:a="http://schemas.openxmlformats.org/drawingml/2006/main" val="1"/>
            </a:ext>
          </a:extLst>
        </p:spPr>
      </p:sp>
      <p:sp>
        <p:nvSpPr>
          <p:cNvPr id="221187" name="Rectangle 3"/>
          <p:cNvSpPr>
            <a:spLocks noGrp="1" noChangeArrowheads="1"/>
          </p:cNvSpPr>
          <p:nvPr>
            <p:ph type="body" idx="1"/>
          </p:nvPr>
        </p:nvSpPr>
        <p:spPr/>
        <p:txBody>
          <a:bodyPr/>
          <a:lstStyle/>
          <a:p>
            <a:pPr eaLnBrk="1" hangingPunct="1">
              <a:defRPr/>
            </a:pPr>
            <a:endParaRPr lang="en-US" dirty="0" smtClean="0">
              <a:cs typeface="+mn-cs"/>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01BC90F4-352C-4A43-BBA0-CE2006E76E8A}" type="slidenum">
              <a:rPr lang="en-US"/>
              <a:pPr>
                <a:defRPr/>
              </a:pPr>
              <a:t>69</a:t>
            </a:fld>
            <a:endParaRPr lang="en-US" dirty="0"/>
          </a:p>
        </p:txBody>
      </p:sp>
      <p:sp>
        <p:nvSpPr>
          <p:cNvPr id="223234"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xmlns:p="http://schemas.openxmlformats.org/presentationml/2006/main" xmlns:r="http://schemas.openxmlformats.org/officeDocument/2006/relationships" xmlns:a="http://schemas.openxmlformats.org/drawingml/2006/main" val="1"/>
            </a:ext>
          </a:extLst>
        </p:spPr>
      </p:sp>
      <p:sp>
        <p:nvSpPr>
          <p:cNvPr id="223235" name="Rectangle 3"/>
          <p:cNvSpPr>
            <a:spLocks noGrp="1" noChangeArrowheads="1"/>
          </p:cNvSpPr>
          <p:nvPr>
            <p:ph type="body" idx="1"/>
          </p:nvPr>
        </p:nvSpPr>
        <p:spPr/>
        <p:txBody>
          <a:bodyPr/>
          <a:lstStyle/>
          <a:p>
            <a:pPr>
              <a:defRPr/>
            </a:pPr>
            <a:r>
              <a:rPr lang="en-US" b="1" dirty="0" smtClean="0"/>
              <a:t>FIGURE 4.35 Initiation of protein synthesis. </a:t>
            </a:r>
            <a:r>
              <a:rPr lang="en-US" dirty="0" smtClean="0"/>
              <a:t>Start signals are required for the initiation of protein</a:t>
            </a:r>
            <a:r>
              <a:rPr lang="en-US" baseline="0" dirty="0" smtClean="0"/>
              <a:t> </a:t>
            </a:r>
            <a:r>
              <a:rPr lang="en-US" dirty="0" smtClean="0"/>
              <a:t>synthesis in (A) prokaryotes and (B) eukaryotes.</a:t>
            </a:r>
            <a:endParaRPr lang="en-US" dirty="0" smtClean="0">
              <a:cs typeface="+mn-cs"/>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FBBE5AE5-0CFA-C54C-B21B-C794ECC0FF91}" type="slidenum">
              <a:rPr lang="en-US"/>
              <a:pPr>
                <a:defRPr/>
              </a:pPr>
              <a:t>70</a:t>
            </a:fld>
            <a:endParaRPr lang="en-US" dirty="0"/>
          </a:p>
        </p:txBody>
      </p:sp>
      <p:sp>
        <p:nvSpPr>
          <p:cNvPr id="222210"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xmlns:p="http://schemas.openxmlformats.org/presentationml/2006/main" xmlns:r="http://schemas.openxmlformats.org/officeDocument/2006/relationships" xmlns:a="http://schemas.openxmlformats.org/drawingml/2006/main" val="1"/>
            </a:ext>
          </a:extLst>
        </p:spPr>
      </p:sp>
      <p:sp>
        <p:nvSpPr>
          <p:cNvPr id="222211" name="Rectangle 3"/>
          <p:cNvSpPr>
            <a:spLocks noGrp="1" noChangeArrowheads="1"/>
          </p:cNvSpPr>
          <p:nvPr>
            <p:ph type="body" idx="1"/>
          </p:nvPr>
        </p:nvSpPr>
        <p:spPr/>
        <p:txBody>
          <a:bodyPr/>
          <a:lstStyle/>
          <a:p>
            <a:pPr eaLnBrk="1" hangingPunct="1">
              <a:defRPr/>
            </a:pPr>
            <a:endParaRPr lang="en-US" dirty="0" smtClean="0">
              <a:cs typeface="+mn-cs"/>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1A2B7300-2CA9-E348-980F-D08FCFD00F59}" type="slidenum">
              <a:rPr lang="en-US"/>
              <a:pPr>
                <a:defRPr/>
              </a:pPr>
              <a:t>71</a:t>
            </a:fld>
            <a:endParaRPr lang="en-US" dirty="0"/>
          </a:p>
        </p:txBody>
      </p:sp>
      <p:sp>
        <p:nvSpPr>
          <p:cNvPr id="225282"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xmlns:p="http://schemas.openxmlformats.org/presentationml/2006/main" xmlns:r="http://schemas.openxmlformats.org/officeDocument/2006/relationships" xmlns:a="http://schemas.openxmlformats.org/drawingml/2006/main" val="1"/>
            </a:ext>
          </a:extLst>
        </p:spPr>
      </p:sp>
      <p:sp>
        <p:nvSpPr>
          <p:cNvPr id="225283" name="Rectangle 3"/>
          <p:cNvSpPr>
            <a:spLocks noGrp="1" noChangeArrowheads="1"/>
          </p:cNvSpPr>
          <p:nvPr>
            <p:ph type="body" idx="1"/>
          </p:nvPr>
        </p:nvSpPr>
        <p:spPr/>
        <p:txBody>
          <a:bodyPr/>
          <a:lstStyle/>
          <a:p>
            <a:pPr eaLnBrk="1" hangingPunct="1">
              <a:defRPr/>
            </a:pPr>
            <a:endParaRPr lang="en-US" dirty="0" smtClean="0">
              <a:cs typeface="+mn-cs"/>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45C1F51F-5371-9F4C-89A2-6EB35DD5B7CC}" type="slidenum">
              <a:rPr lang="en-US"/>
              <a:pPr>
                <a:defRPr/>
              </a:pPr>
              <a:t>73</a:t>
            </a:fld>
            <a:endParaRPr lang="en-US" dirty="0"/>
          </a:p>
        </p:txBody>
      </p:sp>
      <p:sp>
        <p:nvSpPr>
          <p:cNvPr id="226306"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xmlns:p="http://schemas.openxmlformats.org/presentationml/2006/main" xmlns:r="http://schemas.openxmlformats.org/officeDocument/2006/relationships" xmlns:a="http://schemas.openxmlformats.org/drawingml/2006/main" val="1"/>
            </a:ext>
          </a:extLst>
        </p:spPr>
      </p:sp>
      <p:sp>
        <p:nvSpPr>
          <p:cNvPr id="226307" name="Rectangle 3"/>
          <p:cNvSpPr>
            <a:spLocks noGrp="1" noChangeArrowheads="1"/>
          </p:cNvSpPr>
          <p:nvPr>
            <p:ph type="body" idx="1"/>
          </p:nvPr>
        </p:nvSpPr>
        <p:spPr/>
        <p:txBody>
          <a:bodyPr/>
          <a:lstStyle/>
          <a:p>
            <a:pPr>
              <a:defRPr/>
            </a:pPr>
            <a:r>
              <a:rPr lang="en-US" b="1" dirty="0" smtClean="0"/>
              <a:t>FIGURE 4.36 Detection of introns by electron microscopy.</a:t>
            </a:r>
            <a:r>
              <a:rPr lang="en-US" dirty="0" smtClean="0"/>
              <a:t> An mRNA molecule (shown in red)</a:t>
            </a:r>
            <a:r>
              <a:rPr lang="en-US" baseline="0" dirty="0" smtClean="0"/>
              <a:t> </a:t>
            </a:r>
            <a:r>
              <a:rPr lang="en-US" dirty="0" smtClean="0"/>
              <a:t>is hybridized to genomic DNA containing the corresponding gene. (A) A single loop of single-stranded</a:t>
            </a:r>
            <a:r>
              <a:rPr lang="en-US" baseline="0" dirty="0" smtClean="0"/>
              <a:t> </a:t>
            </a:r>
            <a:r>
              <a:rPr lang="en-US" dirty="0" smtClean="0"/>
              <a:t>DNA (shown in blue) is seen if the gene is continuous. (B) Two loops of single-stranded</a:t>
            </a:r>
          </a:p>
          <a:p>
            <a:pPr>
              <a:defRPr/>
            </a:pPr>
            <a:r>
              <a:rPr lang="en-US" dirty="0" smtClean="0"/>
              <a:t>DNA (blue) and a loop of double-stranded DNA (blue and green) are seen if the gene contains an</a:t>
            </a:r>
            <a:r>
              <a:rPr lang="en-US" baseline="0" dirty="0" smtClean="0"/>
              <a:t> </a:t>
            </a:r>
            <a:r>
              <a:rPr lang="en-US" dirty="0" smtClean="0"/>
              <a:t>intron. Additional loops are evident if more than one intron is present.</a:t>
            </a:r>
            <a:endParaRPr lang="en-US" dirty="0" smtClean="0">
              <a:cs typeface="+mn-cs"/>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0FD9EE63-DD75-9B4F-94D7-02AD166DD203}" type="slidenum">
              <a:rPr lang="en-US"/>
              <a:pPr>
                <a:defRPr/>
              </a:pPr>
              <a:t>74</a:t>
            </a:fld>
            <a:endParaRPr lang="en-US" dirty="0"/>
          </a:p>
        </p:txBody>
      </p:sp>
      <p:sp>
        <p:nvSpPr>
          <p:cNvPr id="229378"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xmlns:p="http://schemas.openxmlformats.org/presentationml/2006/main" xmlns:r="http://schemas.openxmlformats.org/officeDocument/2006/relationships" xmlns:a="http://schemas.openxmlformats.org/drawingml/2006/main" val="1"/>
            </a:ext>
          </a:extLst>
        </p:spPr>
      </p:sp>
      <p:sp>
        <p:nvSpPr>
          <p:cNvPr id="229379" name="Rectangle 3"/>
          <p:cNvSpPr>
            <a:spLocks noGrp="1" noChangeArrowheads="1"/>
          </p:cNvSpPr>
          <p:nvPr>
            <p:ph type="body" idx="1"/>
          </p:nvPr>
        </p:nvSpPr>
        <p:spPr/>
        <p:txBody>
          <a:bodyPr/>
          <a:lstStyle/>
          <a:p>
            <a:pPr eaLnBrk="1" hangingPunct="1">
              <a:defRPr/>
            </a:pPr>
            <a:r>
              <a:rPr lang="en-US" b="1" dirty="0" smtClean="0"/>
              <a:t>FIGURE 4.37 Structure of the β-globin gene.</a:t>
            </a:r>
            <a:endParaRPr lang="en-US" b="1" dirty="0" smtClean="0">
              <a:cs typeface="+mn-cs"/>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1C6DFA46-0FE9-434B-A300-B19514E0E9E3}" type="slidenum">
              <a:rPr lang="en-US"/>
              <a:pPr>
                <a:defRPr/>
              </a:pPr>
              <a:t>76</a:t>
            </a:fld>
            <a:endParaRPr lang="en-US" dirty="0"/>
          </a:p>
        </p:txBody>
      </p:sp>
      <p:sp>
        <p:nvSpPr>
          <p:cNvPr id="230402"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xmlns:p="http://schemas.openxmlformats.org/presentationml/2006/main" xmlns:r="http://schemas.openxmlformats.org/officeDocument/2006/relationships" xmlns:a="http://schemas.openxmlformats.org/drawingml/2006/main" val="1"/>
            </a:ext>
          </a:extLst>
        </p:spPr>
      </p:sp>
      <p:sp>
        <p:nvSpPr>
          <p:cNvPr id="230403" name="Rectangle 3"/>
          <p:cNvSpPr>
            <a:spLocks noGrp="1" noChangeArrowheads="1"/>
          </p:cNvSpPr>
          <p:nvPr>
            <p:ph type="body" idx="1"/>
          </p:nvPr>
        </p:nvSpPr>
        <p:spPr/>
        <p:txBody>
          <a:bodyPr/>
          <a:lstStyle/>
          <a:p>
            <a:pPr>
              <a:defRPr/>
            </a:pPr>
            <a:r>
              <a:rPr lang="en-US" b="1" dirty="0" smtClean="0"/>
              <a:t>FIGURE 4.38 Transcription and processing</a:t>
            </a:r>
            <a:r>
              <a:rPr lang="en-US" b="1" baseline="0" dirty="0" smtClean="0"/>
              <a:t> </a:t>
            </a:r>
            <a:r>
              <a:rPr lang="en-US" b="1" dirty="0" smtClean="0"/>
              <a:t>of the β-globin gene. </a:t>
            </a:r>
            <a:r>
              <a:rPr lang="en-US" dirty="0" smtClean="0"/>
              <a:t>The gene is</a:t>
            </a:r>
            <a:r>
              <a:rPr lang="en-US" baseline="0" dirty="0" smtClean="0"/>
              <a:t> </a:t>
            </a:r>
            <a:r>
              <a:rPr lang="en-US" dirty="0" smtClean="0"/>
              <a:t>transcribed to yield the primary transcript,</a:t>
            </a:r>
            <a:r>
              <a:rPr lang="en-US" baseline="0" dirty="0" smtClean="0"/>
              <a:t> </a:t>
            </a:r>
            <a:r>
              <a:rPr lang="en-US" dirty="0" smtClean="0"/>
              <a:t>which is modified by cap and poly(A)</a:t>
            </a:r>
            <a:r>
              <a:rPr lang="en-US" baseline="0" dirty="0" smtClean="0"/>
              <a:t> </a:t>
            </a:r>
            <a:r>
              <a:rPr lang="en-US" dirty="0" smtClean="0"/>
              <a:t>addition. The introns in the primary RNA</a:t>
            </a:r>
            <a:r>
              <a:rPr lang="en-US" baseline="0" dirty="0" smtClean="0"/>
              <a:t> </a:t>
            </a:r>
            <a:r>
              <a:rPr lang="en-US" dirty="0" smtClean="0"/>
              <a:t>transcript are removed to form the mRNA.</a:t>
            </a:r>
            <a:endParaRPr lang="en-US" dirty="0" smtClean="0">
              <a:cs typeface="+mn-cs"/>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B946D541-8B75-0841-94E5-F910EA5D2931}" type="slidenum">
              <a:rPr lang="en-US"/>
              <a:pPr>
                <a:defRPr/>
              </a:pPr>
              <a:t>77</a:t>
            </a:fld>
            <a:endParaRPr lang="en-US" dirty="0"/>
          </a:p>
        </p:txBody>
      </p:sp>
      <p:sp>
        <p:nvSpPr>
          <p:cNvPr id="231426"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xmlns:p="http://schemas.openxmlformats.org/presentationml/2006/main" xmlns:r="http://schemas.openxmlformats.org/officeDocument/2006/relationships" xmlns:a="http://schemas.openxmlformats.org/drawingml/2006/main" val="1"/>
            </a:ext>
          </a:extLst>
        </p:spPr>
      </p:sp>
      <p:sp>
        <p:nvSpPr>
          <p:cNvPr id="231427" name="Rectangle 3"/>
          <p:cNvSpPr>
            <a:spLocks noGrp="1" noChangeArrowheads="1"/>
          </p:cNvSpPr>
          <p:nvPr>
            <p:ph type="body" idx="1"/>
          </p:nvPr>
        </p:nvSpPr>
        <p:spPr/>
        <p:txBody>
          <a:bodyPr/>
          <a:lstStyle/>
          <a:p>
            <a:pPr eaLnBrk="1" hangingPunct="1">
              <a:defRPr/>
            </a:pPr>
            <a:r>
              <a:rPr lang="en-US" b="1" dirty="0" smtClean="0"/>
              <a:t>FIGURE 4.39 Consensus sequence for the splicing of mRNA precursors.</a:t>
            </a:r>
            <a:endParaRPr lang="en-US" b="1" dirty="0" smtClean="0">
              <a:cs typeface="+mn-cs"/>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CD69537F-CDE4-5141-BDD2-F0374B05E995}" type="slidenum">
              <a:rPr lang="en-US"/>
              <a:pPr>
                <a:defRPr/>
              </a:pPr>
              <a:t>79</a:t>
            </a:fld>
            <a:endParaRPr lang="en-US" dirty="0"/>
          </a:p>
        </p:txBody>
      </p:sp>
      <p:sp>
        <p:nvSpPr>
          <p:cNvPr id="232450"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xmlns:p="http://schemas.openxmlformats.org/presentationml/2006/main" xmlns:r="http://schemas.openxmlformats.org/officeDocument/2006/relationships" xmlns:a="http://schemas.openxmlformats.org/drawingml/2006/main" val="1"/>
            </a:ext>
          </a:extLst>
        </p:spPr>
      </p:sp>
      <p:sp>
        <p:nvSpPr>
          <p:cNvPr id="232451" name="Rectangle 3"/>
          <p:cNvSpPr>
            <a:spLocks noGrp="1" noChangeArrowheads="1"/>
          </p:cNvSpPr>
          <p:nvPr>
            <p:ph type="body" idx="1"/>
          </p:nvPr>
        </p:nvSpPr>
        <p:spPr/>
        <p:txBody>
          <a:bodyPr/>
          <a:lstStyle/>
          <a:p>
            <a:pPr>
              <a:defRPr/>
            </a:pPr>
            <a:r>
              <a:rPr lang="en-US" b="1" dirty="0" smtClean="0"/>
              <a:t>FIGURE 4.40 Exon shuffling. </a:t>
            </a:r>
            <a:r>
              <a:rPr lang="en-US" dirty="0" smtClean="0"/>
              <a:t>Exons can be readily shuffled by</a:t>
            </a:r>
            <a:r>
              <a:rPr lang="en-US" baseline="0" dirty="0" smtClean="0"/>
              <a:t> </a:t>
            </a:r>
            <a:r>
              <a:rPr lang="en-US" dirty="0" smtClean="0"/>
              <a:t>recombination of DNA to expand the genetic repertoire.</a:t>
            </a:r>
            <a:endParaRPr lang="en-US" dirty="0" smtClean="0">
              <a:cs typeface="+mn-cs"/>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u="none" strike="noStrike" kern="1200" baseline="0" dirty="0" smtClean="0">
                <a:solidFill>
                  <a:schemeClr val="tx1"/>
                </a:solidFill>
                <a:latin typeface="+mn-lt"/>
                <a:ea typeface="+mn-ea"/>
                <a:cs typeface="+mn-cs"/>
              </a:rPr>
              <a:t>FIGURE 4.41 The tissue plasminogen activator (TPA) gene was generated by exon shuffling. </a:t>
            </a:r>
            <a:r>
              <a:rPr lang="en-US" sz="1200" b="0" i="0" u="none" strike="noStrike" kern="1200" baseline="0" dirty="0" smtClean="0">
                <a:solidFill>
                  <a:schemeClr val="tx1"/>
                </a:solidFill>
                <a:latin typeface="+mn-lt"/>
                <a:ea typeface="+mn-ea"/>
                <a:cs typeface="+mn-cs"/>
              </a:rPr>
              <a:t>The gene for TPA encodes an enzyme that functions in hemostasis (Section 10.4). This gene consists of 4 exons, one (F) derived from the fibronectin gene which encodes an extracellular matrix protein, one from the epidermal growth factor gene (EGF), and two from the plasminogen gene (K, Section 10.4), the substrate of the TPA protein. The K domain appears to have arrived by exon shuffling and then been duplicated to generate the TPA gene that exists today. [Information from: www.ehu.es/ehusfera/genetica/2012/10/02/demostracion-molecular-de-microevolucion/]</a:t>
            </a:r>
            <a:endParaRPr lang="en-US" dirty="0"/>
          </a:p>
        </p:txBody>
      </p:sp>
      <p:sp>
        <p:nvSpPr>
          <p:cNvPr id="4" name="Slide Number Placeholder 3"/>
          <p:cNvSpPr>
            <a:spLocks noGrp="1"/>
          </p:cNvSpPr>
          <p:nvPr>
            <p:ph type="sldNum" sz="quarter" idx="10"/>
          </p:nvPr>
        </p:nvSpPr>
        <p:spPr/>
        <p:txBody>
          <a:bodyPr/>
          <a:lstStyle/>
          <a:p>
            <a:fld id="{8FF6F00E-0827-B145-A85F-C5C5AD61EF06}" type="slidenum">
              <a:rPr lang="en-US" smtClean="0"/>
              <a:pPr/>
              <a:t>80</a:t>
            </a:fld>
            <a:endParaRPr lang="en-US" dirty="0"/>
          </a:p>
        </p:txBody>
      </p:sp>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569743153"/>
      </p:ext>
    </p:extLst>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830BE96C-6BEC-8C4A-8E8A-710F6EE67C43}" type="slidenum">
              <a:rPr lang="en-US"/>
              <a:pPr>
                <a:defRPr/>
              </a:pPr>
              <a:t>81</a:t>
            </a:fld>
            <a:endParaRPr lang="en-US" dirty="0"/>
          </a:p>
        </p:txBody>
      </p:sp>
      <p:sp>
        <p:nvSpPr>
          <p:cNvPr id="233474"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xmlns:p="http://schemas.openxmlformats.org/presentationml/2006/main" xmlns:r="http://schemas.openxmlformats.org/officeDocument/2006/relationships" xmlns:a="http://schemas.openxmlformats.org/drawingml/2006/main" val="1"/>
            </a:ext>
          </a:extLst>
        </p:spPr>
      </p:sp>
      <p:sp>
        <p:nvSpPr>
          <p:cNvPr id="233475" name="Rectangle 3"/>
          <p:cNvSpPr>
            <a:spLocks noGrp="1" noChangeArrowheads="1"/>
          </p:cNvSpPr>
          <p:nvPr>
            <p:ph type="body" idx="1"/>
          </p:nvPr>
        </p:nvSpPr>
        <p:spPr/>
        <p:txBody>
          <a:bodyPr/>
          <a:lstStyle/>
          <a:p>
            <a:pPr>
              <a:defRPr/>
            </a:pPr>
            <a:r>
              <a:rPr lang="en-US" b="1" smtClean="0"/>
              <a:t>FIGURE </a:t>
            </a:r>
            <a:r>
              <a:rPr lang="en-US" b="1" dirty="0" smtClean="0"/>
              <a:t>4.41 Alternative splicing.</a:t>
            </a:r>
            <a:r>
              <a:rPr lang="en-US" b="1" baseline="0" dirty="0" smtClean="0"/>
              <a:t> </a:t>
            </a:r>
            <a:r>
              <a:rPr lang="en-US" dirty="0" smtClean="0"/>
              <a:t>Alternative splicing generates mRNAs that</a:t>
            </a:r>
            <a:r>
              <a:rPr lang="en-US" baseline="0" dirty="0" smtClean="0"/>
              <a:t> </a:t>
            </a:r>
            <a:r>
              <a:rPr lang="en-US" dirty="0" smtClean="0"/>
              <a:t>are templates for different forms of a</a:t>
            </a:r>
            <a:r>
              <a:rPr lang="en-US" baseline="0" dirty="0" smtClean="0"/>
              <a:t> </a:t>
            </a:r>
            <a:r>
              <a:rPr lang="en-US" dirty="0" smtClean="0"/>
              <a:t>protein: (A) a membrane-bound antibody</a:t>
            </a:r>
            <a:r>
              <a:rPr lang="en-US" baseline="0" dirty="0" smtClean="0"/>
              <a:t> </a:t>
            </a:r>
            <a:r>
              <a:rPr lang="en-US" dirty="0" smtClean="0"/>
              <a:t>on the surface of a lymphocyte and (B) its</a:t>
            </a:r>
            <a:r>
              <a:rPr lang="en-US" baseline="0" dirty="0" smtClean="0"/>
              <a:t> </a:t>
            </a:r>
            <a:r>
              <a:rPr lang="en-US" dirty="0" smtClean="0"/>
              <a:t>soluble counterpart, exported from the cell.</a:t>
            </a:r>
            <a:r>
              <a:rPr lang="en-US" baseline="0" dirty="0" smtClean="0"/>
              <a:t> </a:t>
            </a:r>
            <a:r>
              <a:rPr lang="en-US" dirty="0" smtClean="0"/>
              <a:t>The membrane-bound antibody is</a:t>
            </a:r>
            <a:r>
              <a:rPr lang="en-US" baseline="0" dirty="0" smtClean="0"/>
              <a:t> </a:t>
            </a:r>
            <a:r>
              <a:rPr lang="en-US" dirty="0" smtClean="0"/>
              <a:t>anchored to the plasma membrane by a</a:t>
            </a:r>
            <a:r>
              <a:rPr lang="en-US" baseline="0" dirty="0" smtClean="0"/>
              <a:t> </a:t>
            </a:r>
            <a:r>
              <a:rPr lang="en-US" dirty="0" smtClean="0"/>
              <a:t>helical segment (highlighted in yellow) that</a:t>
            </a:r>
            <a:r>
              <a:rPr lang="en-US" baseline="0" dirty="0" smtClean="0"/>
              <a:t> </a:t>
            </a:r>
            <a:r>
              <a:rPr lang="en-US" dirty="0" smtClean="0"/>
              <a:t>is encoded by its own exon.</a:t>
            </a:r>
            <a:endParaRPr lang="en-US" dirty="0" smtClean="0">
              <a:cs typeface="+mn-c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042C4887-44F5-9948-89C9-D37C3761D827}" type="datetimeFigureOut">
              <a:rPr lang="en-US" smtClean="0"/>
              <a:pPr/>
              <a:t>7/7/15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6EB8F32-1DCB-6546-8E3C-87972EAB48E9}" type="slidenum">
              <a:rPr lang="en-US" smtClean="0"/>
              <a:pPr/>
              <a:t>‹#›</a:t>
            </a:fld>
            <a:endParaRPr lang="en-US" dirty="0"/>
          </a:p>
        </p:txBody>
      </p:sp>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2540744377"/>
      </p:ext>
    </p:extLst>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42C4887-44F5-9948-89C9-D37C3761D827}" type="datetimeFigureOut">
              <a:rPr lang="en-US" smtClean="0"/>
              <a:pPr/>
              <a:t>7/7/15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6EB8F32-1DCB-6546-8E3C-87972EAB48E9}" type="slidenum">
              <a:rPr lang="en-US" smtClean="0"/>
              <a:pPr/>
              <a:t>‹#›</a:t>
            </a:fld>
            <a:endParaRPr lang="en-US" dirty="0"/>
          </a:p>
        </p:txBody>
      </p:sp>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1370299399"/>
      </p:ext>
    </p:extLst>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42C4887-44F5-9948-89C9-D37C3761D827}" type="datetimeFigureOut">
              <a:rPr lang="en-US" smtClean="0"/>
              <a:pPr/>
              <a:t>7/7/15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6EB8F32-1DCB-6546-8E3C-87972EAB48E9}" type="slidenum">
              <a:rPr lang="en-US" smtClean="0"/>
              <a:pPr/>
              <a:t>‹#›</a:t>
            </a:fld>
            <a:endParaRPr lang="en-US" dirty="0"/>
          </a:p>
        </p:txBody>
      </p:sp>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426231296"/>
      </p:ext>
    </p:extLst>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042C4887-44F5-9948-89C9-D37C3761D827}" type="datetimeFigureOut">
              <a:rPr lang="en-US" smtClean="0"/>
              <a:pPr/>
              <a:t>7/7/15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6EB8F32-1DCB-6546-8E3C-87972EAB48E9}" type="slidenum">
              <a:rPr lang="en-US" smtClean="0"/>
              <a:pPr/>
              <a:t>‹#›</a:t>
            </a:fld>
            <a:endParaRPr lang="en-US" dirty="0"/>
          </a:p>
        </p:txBody>
      </p:sp>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655745741"/>
      </p:ext>
    </p:extLst>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042C4887-44F5-9948-89C9-D37C3761D827}" type="datetimeFigureOut">
              <a:rPr lang="en-US" smtClean="0"/>
              <a:pPr/>
              <a:t>7/7/15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6EB8F32-1DCB-6546-8E3C-87972EAB48E9}" type="slidenum">
              <a:rPr lang="en-US" smtClean="0"/>
              <a:pPr/>
              <a:t>‹#›</a:t>
            </a:fld>
            <a:endParaRPr lang="en-US" dirty="0"/>
          </a:p>
        </p:txBody>
      </p:sp>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1550318390"/>
      </p:ext>
    </p:extLst>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042C4887-44F5-9948-89C9-D37C3761D827}" type="datetimeFigureOut">
              <a:rPr lang="en-US" smtClean="0"/>
              <a:pPr/>
              <a:t>7/7/15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6EB8F32-1DCB-6546-8E3C-87972EAB48E9}" type="slidenum">
              <a:rPr lang="en-US" smtClean="0"/>
              <a:pPr/>
              <a:t>‹#›</a:t>
            </a:fld>
            <a:endParaRPr lang="en-US" dirty="0"/>
          </a:p>
        </p:txBody>
      </p:sp>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2202328933"/>
      </p:ext>
    </p:extLst>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2C4887-44F5-9948-89C9-D37C3761D827}" type="datetimeFigureOut">
              <a:rPr lang="en-US" smtClean="0"/>
              <a:pPr/>
              <a:t>7/7/15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6EB8F32-1DCB-6546-8E3C-87972EAB48E9}" type="slidenum">
              <a:rPr lang="en-US" smtClean="0"/>
              <a:pPr/>
              <a:t>‹#›</a:t>
            </a:fld>
            <a:endParaRPr lang="en-US" dirty="0"/>
          </a:p>
        </p:txBody>
      </p:sp>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2448251289"/>
      </p:ext>
    </p:extLst>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42C4887-44F5-9948-89C9-D37C3761D827}" type="datetimeFigureOut">
              <a:rPr lang="en-US" smtClean="0"/>
              <a:pPr/>
              <a:t>7/7/15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6EB8F32-1DCB-6546-8E3C-87972EAB48E9}" type="slidenum">
              <a:rPr lang="en-US" smtClean="0"/>
              <a:pPr/>
              <a:t>‹#›</a:t>
            </a:fld>
            <a:endParaRPr lang="en-US" dirty="0"/>
          </a:p>
        </p:txBody>
      </p:sp>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2118710447"/>
      </p:ext>
    </p:extLst>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42C4887-44F5-9948-89C9-D37C3761D827}" type="datetimeFigureOut">
              <a:rPr lang="en-US" smtClean="0"/>
              <a:pPr/>
              <a:t>7/7/15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6EB8F32-1DCB-6546-8E3C-87972EAB48E9}" type="slidenum">
              <a:rPr lang="en-US" smtClean="0"/>
              <a:pPr/>
              <a:t>‹#›</a:t>
            </a:fld>
            <a:endParaRPr lang="en-US" dirty="0"/>
          </a:p>
        </p:txBody>
      </p:sp>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1092407980"/>
      </p:ext>
    </p:extLst>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42C4887-44F5-9948-89C9-D37C3761D827}" type="datetimeFigureOut">
              <a:rPr lang="en-US" smtClean="0"/>
              <a:pPr/>
              <a:t>7/7/15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6EB8F32-1DCB-6546-8E3C-87972EAB48E9}" type="slidenum">
              <a:rPr lang="en-US" smtClean="0"/>
              <a:pPr/>
              <a:t>‹#›</a:t>
            </a:fld>
            <a:endParaRPr lang="en-US" dirty="0"/>
          </a:p>
        </p:txBody>
      </p:sp>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3553197443"/>
      </p:ext>
    </p:extLst>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42C4887-44F5-9948-89C9-D37C3761D827}" type="datetimeFigureOut">
              <a:rPr lang="en-US" smtClean="0"/>
              <a:pPr/>
              <a:t>7/7/15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6EB8F32-1DCB-6546-8E3C-87972EAB48E9}" type="slidenum">
              <a:rPr lang="en-US" smtClean="0"/>
              <a:pPr/>
              <a:t>‹#›</a:t>
            </a:fld>
            <a:endParaRPr lang="en-US" dirty="0"/>
          </a:p>
        </p:txBody>
      </p:sp>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3765156241"/>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42C4887-44F5-9948-89C9-D37C3761D827}" type="datetimeFigureOut">
              <a:rPr lang="en-US" smtClean="0"/>
              <a:pPr/>
              <a:t>7/7/15</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6EB8F32-1DCB-6546-8E3C-87972EAB48E9}" type="slidenum">
              <a:rPr lang="en-US" smtClean="0"/>
              <a:pPr/>
              <a:t>‹#›</a:t>
            </a:fld>
            <a:endParaRPr lang="en-US" dirty="0"/>
          </a:p>
        </p:txBody>
      </p:sp>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31621954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4" Type="http://schemas.openxmlformats.org/officeDocument/2006/relationships/image" Target="../media/image2.jpeg"/><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6.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8.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9.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0.jpeg"/></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4" Type="http://schemas.openxmlformats.org/officeDocument/2006/relationships/image" Target="../media/image5.png"/><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2.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3.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4.jpeg"/></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4" Type="http://schemas.openxmlformats.org/officeDocument/2006/relationships/image" Target="../media/image5.png"/><Relationship Id="rId5" Type="http://schemas.openxmlformats.org/officeDocument/2006/relationships/image" Target="../media/image16.jpeg"/><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7.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1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20.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21.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22.jpe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23.jpeg"/></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4" Type="http://schemas.openxmlformats.org/officeDocument/2006/relationships/image" Target="../media/image19.png"/><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24.jpeg"/></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4" Type="http://schemas.openxmlformats.org/officeDocument/2006/relationships/image" Target="../media/image19.png"/><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26.jpe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27.jpeg"/></Relationships>
</file>

<file path=ppt/slides/_rels/slide27.xml.rels><?xml version="1.0" encoding="UTF-8" standalone="yes"?>
<Relationships xmlns="http://schemas.openxmlformats.org/package/2006/relationships"><Relationship Id="rId3" Type="http://schemas.openxmlformats.org/officeDocument/2006/relationships/image" Target="../media/image28.png"/><Relationship Id="rId4" Type="http://schemas.openxmlformats.org/officeDocument/2006/relationships/image" Target="../media/image19.png"/><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29.jpe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30.jpeg"/></Relationships>
</file>

<file path=ppt/slides/_rels/slide30.xml.rels><?xml version="1.0" encoding="UTF-8" standalone="yes"?>
<Relationships xmlns="http://schemas.openxmlformats.org/package/2006/relationships"><Relationship Id="rId3" Type="http://schemas.openxmlformats.org/officeDocument/2006/relationships/image" Target="../media/image31.png"/><Relationship Id="rId4" Type="http://schemas.openxmlformats.org/officeDocument/2006/relationships/image" Target="../media/image19.png"/><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32.jpeg"/></Relationships>
</file>

<file path=ppt/slides/_rels/slide32.xml.rels><?xml version="1.0" encoding="UTF-8" standalone="yes"?>
<Relationships xmlns="http://schemas.openxmlformats.org/package/2006/relationships"><Relationship Id="rId3" Type="http://schemas.openxmlformats.org/officeDocument/2006/relationships/image" Target="../media/image33.png"/><Relationship Id="rId4" Type="http://schemas.openxmlformats.org/officeDocument/2006/relationships/image" Target="../media/image19.png"/><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34.jpeg"/></Relationships>
</file>

<file path=ppt/slides/_rels/slide34.xml.rels><?xml version="1.0" encoding="UTF-8" standalone="yes"?>
<Relationships xmlns="http://schemas.openxmlformats.org/package/2006/relationships"><Relationship Id="rId3" Type="http://schemas.openxmlformats.org/officeDocument/2006/relationships/image" Target="../media/image35.jpeg"/><Relationship Id="rId4" Type="http://schemas.openxmlformats.org/officeDocument/2006/relationships/image" Target="../media/image36.jpeg"/><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image" Target="../media/image3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39.jpe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40.jpe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41.jpe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image" Target="../media/image3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43.jpe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s>
</file>

<file path=ppt/slides/_rels/slide43.xml.rels><?xml version="1.0" encoding="UTF-8" standalone="yes"?>
<Relationships xmlns="http://schemas.openxmlformats.org/package/2006/relationships"><Relationship Id="rId3" Type="http://schemas.openxmlformats.org/officeDocument/2006/relationships/image" Target="../media/image44.png"/><Relationship Id="rId4" Type="http://schemas.openxmlformats.org/officeDocument/2006/relationships/image" Target="../media/image46.png"/><Relationship Id="rId1" Type="http://schemas.openxmlformats.org/officeDocument/2006/relationships/slideLayout" Target="../slideLayouts/slideLayout7.xml"/><Relationship Id="rId2" Type="http://schemas.openxmlformats.org/officeDocument/2006/relationships/image" Target="../media/image45.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47.jpe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48.jpe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 Id="rId3" Type="http://schemas.openxmlformats.org/officeDocument/2006/relationships/image" Target="../media/image44.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50.jpeg"/></Relationships>
</file>

<file path=ppt/slides/_rels/slide48.xml.rels><?xml version="1.0" encoding="UTF-8" standalone="yes"?>
<Relationships xmlns="http://schemas.openxmlformats.org/package/2006/relationships"><Relationship Id="rId3" Type="http://schemas.openxmlformats.org/officeDocument/2006/relationships/image" Target="../media/image52.png"/><Relationship Id="rId4" Type="http://schemas.openxmlformats.org/officeDocument/2006/relationships/image" Target="../media/image53.png"/><Relationship Id="rId1" Type="http://schemas.openxmlformats.org/officeDocument/2006/relationships/slideLayout" Target="../slideLayouts/slideLayout7.xml"/><Relationship Id="rId2" Type="http://schemas.openxmlformats.org/officeDocument/2006/relationships/image" Target="../media/image5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54.jpeg"/></Relationships>
</file>

<file path=ppt/slides/_rels/slide50.xml.rels><?xml version="1.0" encoding="UTF-8" standalone="yes"?>
<Relationships xmlns="http://schemas.openxmlformats.org/package/2006/relationships"><Relationship Id="rId3" Type="http://schemas.openxmlformats.org/officeDocument/2006/relationships/image" Target="../media/image51.png"/><Relationship Id="rId4" Type="http://schemas.openxmlformats.org/officeDocument/2006/relationships/image" Target="../media/image56.png"/><Relationship Id="rId1" Type="http://schemas.openxmlformats.org/officeDocument/2006/relationships/slideLayout" Target="../slideLayouts/slideLayout7.xml"/><Relationship Id="rId2" Type="http://schemas.openxmlformats.org/officeDocument/2006/relationships/image" Target="../media/image55.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57.jpe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58.jpe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png"/><Relationship Id="rId3" Type="http://schemas.openxmlformats.org/officeDocument/2006/relationships/image" Target="../media/image5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0.jpe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image" Target="../media/image61.jpeg"/></Relationships>
</file>

<file path=ppt/slides/_rels/slide56.xml.rels><?xml version="1.0" encoding="UTF-8" standalone="yes"?>
<Relationships xmlns="http://schemas.openxmlformats.org/package/2006/relationships"><Relationship Id="rId3" Type="http://schemas.openxmlformats.org/officeDocument/2006/relationships/image" Target="../media/image62.png"/><Relationship Id="rId4" Type="http://schemas.openxmlformats.org/officeDocument/2006/relationships/image" Target="../media/image51.png"/><Relationship Id="rId5" Type="http://schemas.openxmlformats.org/officeDocument/2006/relationships/image" Target="../media/image63.png"/><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 Id="rId3" Type="http://schemas.openxmlformats.org/officeDocument/2006/relationships/image" Target="../media/image64.jpeg"/></Relationships>
</file>

<file path=ppt/slides/_rels/slide58.xml.rels><?xml version="1.0" encoding="UTF-8" standalone="yes"?>
<Relationships xmlns="http://schemas.openxmlformats.org/package/2006/relationships"><Relationship Id="rId3" Type="http://schemas.openxmlformats.org/officeDocument/2006/relationships/image" Target="../media/image62.png"/><Relationship Id="rId4" Type="http://schemas.openxmlformats.org/officeDocument/2006/relationships/image" Target="../media/image51.png"/><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 Id="rId3" Type="http://schemas.openxmlformats.org/officeDocument/2006/relationships/image" Target="../media/image65.jpeg"/></Relationships>
</file>

<file path=ppt/slides/_rels/slide60.xml.rels><?xml version="1.0" encoding="UTF-8" standalone="yes"?>
<Relationships xmlns="http://schemas.openxmlformats.org/package/2006/relationships"><Relationship Id="rId3" Type="http://schemas.openxmlformats.org/officeDocument/2006/relationships/image" Target="../media/image62.png"/><Relationship Id="rId4" Type="http://schemas.openxmlformats.org/officeDocument/2006/relationships/image" Target="../media/image51.png"/><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 Id="rId3" Type="http://schemas.openxmlformats.org/officeDocument/2006/relationships/image" Target="../media/image66.jpeg"/></Relationships>
</file>

<file path=ppt/slides/_rels/slide62.xml.rels><?xml version="1.0" encoding="UTF-8" standalone="yes"?>
<Relationships xmlns="http://schemas.openxmlformats.org/package/2006/relationships"><Relationship Id="rId3" Type="http://schemas.openxmlformats.org/officeDocument/2006/relationships/image" Target="../media/image67.png"/><Relationship Id="rId4" Type="http://schemas.openxmlformats.org/officeDocument/2006/relationships/image" Target="../media/image51.png"/><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 Id="rId3" Type="http://schemas.openxmlformats.org/officeDocument/2006/relationships/image" Target="../media/image68.jpe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 Id="rId3" Type="http://schemas.openxmlformats.org/officeDocument/2006/relationships/image" Target="../media/image69.jpe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0.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1.png"/><Relationship Id="rId3" Type="http://schemas.openxmlformats.org/officeDocument/2006/relationships/image" Target="../media/image70.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 Id="rId3" Type="http://schemas.openxmlformats.org/officeDocument/2006/relationships/image" Target="../media/image72.jpe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3.png"/><Relationship Id="rId3" Type="http://schemas.openxmlformats.org/officeDocument/2006/relationships/image" Target="../media/image70.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 Id="rId3" Type="http://schemas.openxmlformats.org/officeDocument/2006/relationships/image" Target="../media/image74.jpeg"/></Relationships>
</file>

<file path=ppt/slides/_rels/slide70.xml.rels><?xml version="1.0" encoding="UTF-8" standalone="yes"?>
<Relationships xmlns="http://schemas.openxmlformats.org/package/2006/relationships"><Relationship Id="rId3" Type="http://schemas.openxmlformats.org/officeDocument/2006/relationships/image" Target="../media/image75.png"/><Relationship Id="rId4" Type="http://schemas.openxmlformats.org/officeDocument/2006/relationships/image" Target="../media/image70.png"/><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 Id="rId3" Type="http://schemas.openxmlformats.org/officeDocument/2006/relationships/image" Target="../media/image76.jpe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7.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 Id="rId3" Type="http://schemas.openxmlformats.org/officeDocument/2006/relationships/image" Target="../media/image78.jpe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 Id="rId3" Type="http://schemas.openxmlformats.org/officeDocument/2006/relationships/image" Target="../media/image79.jpe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0.png"/><Relationship Id="rId3" Type="http://schemas.openxmlformats.org/officeDocument/2006/relationships/image" Target="../media/image77.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 Id="rId3" Type="http://schemas.openxmlformats.org/officeDocument/2006/relationships/image" Target="../media/image81.jpe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 Id="rId3" Type="http://schemas.openxmlformats.org/officeDocument/2006/relationships/image" Target="../media/image82.jpe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3.png"/><Relationship Id="rId3" Type="http://schemas.openxmlformats.org/officeDocument/2006/relationships/image" Target="../media/image77.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 Id="rId3" Type="http://schemas.openxmlformats.org/officeDocument/2006/relationships/image" Target="../media/image84.jpe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 Id="rId3" Type="http://schemas.openxmlformats.org/officeDocument/2006/relationships/image" Target="../media/image85.jpe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 Id="rId3" Type="http://schemas.openxmlformats.org/officeDocument/2006/relationships/image" Target="../media/image86.jpe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5" name="Picture 4" descr="figure_04_00_02.jpg"/>
          <p:cNvPicPr>
            <a:picLocks noChangeAspect="1"/>
          </p:cNvPicPr>
          <p:nvPr/>
        </p:nvPicPr>
        <p:blipFill>
          <a:blip r:embed="rId3"/>
          <a:stretch>
            <a:fillRect/>
          </a:stretch>
        </p:blipFill>
        <p:spPr>
          <a:xfrm>
            <a:off x="4594177" y="2819762"/>
            <a:ext cx="4531235" cy="3690315"/>
          </a:xfrm>
          <a:prstGeom prst="rect">
            <a:avLst/>
          </a:prstGeom>
        </p:spPr>
      </p:pic>
      <p:pic>
        <p:nvPicPr>
          <p:cNvPr id="4" name="Picture 3" descr="figure_04_00_01.jpg"/>
          <p:cNvPicPr>
            <a:picLocks noChangeAspect="1"/>
          </p:cNvPicPr>
          <p:nvPr/>
        </p:nvPicPr>
        <p:blipFill>
          <a:blip r:embed="rId4"/>
          <a:stretch>
            <a:fillRect/>
          </a:stretch>
        </p:blipFill>
        <p:spPr>
          <a:xfrm>
            <a:off x="497441" y="0"/>
            <a:ext cx="4802855" cy="4123583"/>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310676551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2717800" y="355600"/>
            <a:ext cx="3695700" cy="6134100"/>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93342739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9457" name="TextBox 1"/>
          <p:cNvSpPr txBox="1">
            <a:spLocks noChangeArrowheads="1"/>
          </p:cNvSpPr>
          <p:nvPr/>
        </p:nvSpPr>
        <p:spPr bwMode="auto">
          <a:xfrm>
            <a:off x="795459" y="1143000"/>
            <a:ext cx="7772400" cy="1015663"/>
          </a:xfrm>
          <a:prstGeom prst="rect">
            <a:avLst/>
          </a:prstGeom>
          <a:noFill/>
          <a:ln>
            <a:noFill/>
          </a:ln>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rgbClr val="FFFFFF"/>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endParaRPr lang="en-US" dirty="0"/>
          </a:p>
          <a:p>
            <a:r>
              <a:rPr lang="en-US" sz="1800" dirty="0"/>
              <a:t>The flow of genetic information is from DNA to RNA to </a:t>
            </a:r>
            <a:r>
              <a:rPr lang="en-US" sz="1800" dirty="0" smtClean="0"/>
              <a:t>proteins, a scheme called the central dogm</a:t>
            </a:r>
            <a:r>
              <a:rPr lang="en-US" sz="1800" dirty="0"/>
              <a:t>a</a:t>
            </a:r>
            <a:r>
              <a:rPr lang="en-US" sz="1800" dirty="0" smtClean="0"/>
              <a:t>.</a:t>
            </a:r>
            <a:endParaRPr lang="en-US" sz="1800" dirty="0"/>
          </a:p>
        </p:txBody>
      </p:sp>
      <p:pic>
        <p:nvPicPr>
          <p:cNvPr id="2" name="Picture 1"/>
          <p:cNvPicPr>
            <a:picLocks noChangeAspect="1"/>
          </p:cNvPicPr>
          <p:nvPr/>
        </p:nvPicPr>
        <p:blipFill>
          <a:blip r:embed="rId2"/>
          <a:stretch>
            <a:fillRect/>
          </a:stretch>
        </p:blipFill>
        <p:spPr>
          <a:xfrm>
            <a:off x="2057400" y="2781300"/>
            <a:ext cx="5029200" cy="1295400"/>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134945378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20482" name="TextBox 2"/>
          <p:cNvSpPr txBox="1">
            <a:spLocks noChangeArrowheads="1"/>
          </p:cNvSpPr>
          <p:nvPr/>
        </p:nvSpPr>
        <p:spPr bwMode="auto">
          <a:xfrm>
            <a:off x="685800" y="1752600"/>
            <a:ext cx="7772400" cy="1846263"/>
          </a:xfrm>
          <a:prstGeom prst="rect">
            <a:avLst/>
          </a:prstGeom>
          <a:noFill/>
          <a:ln>
            <a:noFill/>
          </a:ln>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rgbClr val="FFFFFF"/>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Nucleic acids are long, linear polymers constructed from 4 types of monomers.</a:t>
            </a:r>
          </a:p>
          <a:p>
            <a:endParaRPr lang="en-US" sz="1800" dirty="0"/>
          </a:p>
          <a:p>
            <a:r>
              <a:rPr lang="en-US" sz="1800" dirty="0"/>
              <a:t>Each monomer consists of a sugar, a phosphate and a base.</a:t>
            </a:r>
          </a:p>
          <a:p>
            <a:endParaRPr lang="en-US" sz="1800" dirty="0"/>
          </a:p>
          <a:p>
            <a:r>
              <a:rPr lang="en-US" sz="1800" dirty="0"/>
              <a:t>The sequence of the bases is the information content of the nucleic acid.</a:t>
            </a:r>
          </a:p>
          <a:p>
            <a:endParaRPr lang="en-US" dirty="0"/>
          </a:p>
        </p:txBody>
      </p:sp>
      <p:pic>
        <p:nvPicPr>
          <p:cNvPr id="2" name="Picture 1"/>
          <p:cNvPicPr>
            <a:picLocks noChangeAspect="1"/>
          </p:cNvPicPr>
          <p:nvPr/>
        </p:nvPicPr>
        <p:blipFill>
          <a:blip r:embed="rId2"/>
          <a:stretch>
            <a:fillRect/>
          </a:stretch>
        </p:blipFill>
        <p:spPr>
          <a:xfrm>
            <a:off x="1095945" y="580785"/>
            <a:ext cx="6565900" cy="977900"/>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220611439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3" name="Picture 2" descr="figure_04_01.jpg"/>
          <p:cNvPicPr>
            <a:picLocks noChangeAspect="1"/>
          </p:cNvPicPr>
          <p:nvPr/>
        </p:nvPicPr>
        <p:blipFill>
          <a:blip r:embed="rId3"/>
          <a:stretch>
            <a:fillRect/>
          </a:stretch>
        </p:blipFill>
        <p:spPr>
          <a:xfrm>
            <a:off x="304800" y="2182367"/>
            <a:ext cx="8534400" cy="2493264"/>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74913843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23554" name="Picture 3"/>
          <p:cNvPicPr>
            <a:picLocks noChangeAspect="1"/>
          </p:cNvPicPr>
          <p:nvPr/>
        </p:nvPicPr>
        <p:blipFill>
          <a:blip r:embed="rId2">
            <a:extLst>
              <a:ext uri="{28A0092B-C50C-407E-A947-70E740481C1C}">
                <a14:useLocalDpi xmlns:a14="http://schemas.microsoft.com/office/drawing/2010/main" xmlns:p="http://schemas.openxmlformats.org/presentationml/2006/main" xmlns:r="http://schemas.openxmlformats.org/officeDocument/2006/relationships" xmlns:a="http://schemas.openxmlformats.org/drawingml/2006/main" xmlns="" val="0"/>
              </a:ext>
            </a:extLst>
          </a:blip>
          <a:srcRect/>
          <a:stretch>
            <a:fillRect/>
          </a:stretch>
        </p:blipFill>
        <p:spPr bwMode="auto">
          <a:xfrm>
            <a:off x="1143000" y="1676400"/>
            <a:ext cx="6311900" cy="381000"/>
          </a:xfrm>
          <a:prstGeom prst="rect">
            <a:avLst/>
          </a:prstGeom>
          <a:noFill/>
          <a:ln>
            <a:noFill/>
          </a:ln>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rgbClr val="FFFFFF"/>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rgbClr val="000000"/>
                </a:solidFill>
                <a:miter lim="800000"/>
                <a:headEnd/>
                <a:tailEnd/>
              </a14:hiddenLine>
            </a:ext>
          </a:extLst>
        </p:spPr>
      </p:pic>
      <p:sp>
        <p:nvSpPr>
          <p:cNvPr id="23555" name="TextBox 4"/>
          <p:cNvSpPr txBox="1">
            <a:spLocks noChangeArrowheads="1"/>
          </p:cNvSpPr>
          <p:nvPr/>
        </p:nvSpPr>
        <p:spPr bwMode="auto">
          <a:xfrm>
            <a:off x="838200" y="2667000"/>
            <a:ext cx="6819900" cy="3694113"/>
          </a:xfrm>
          <a:prstGeom prst="rect">
            <a:avLst/>
          </a:prstGeom>
          <a:noFill/>
          <a:ln>
            <a:noFill/>
          </a:ln>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rgbClr val="FFFFFF"/>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The sugar component of deoxyribonucleic acid (DNA) is deoxyribose, a ribose in which the  2</a:t>
            </a:r>
            <a:r>
              <a:rPr lang="en-US" sz="1800" dirty="0">
                <a:sym typeface="Symbol" charset="0"/>
              </a:rPr>
              <a:t></a:t>
            </a:r>
            <a:r>
              <a:rPr lang="en-US" sz="1800" dirty="0"/>
              <a:t>-hydroxyl is replaced with a hydrogen.</a:t>
            </a:r>
          </a:p>
          <a:p>
            <a:endParaRPr lang="en-US" sz="1800" dirty="0"/>
          </a:p>
          <a:p>
            <a:r>
              <a:rPr lang="en-US" sz="1800" dirty="0"/>
              <a:t>Ribonucleic acid (RNA) contains the sugar ribose.</a:t>
            </a:r>
          </a:p>
          <a:p>
            <a:endParaRPr lang="en-US" sz="1800" dirty="0"/>
          </a:p>
          <a:p>
            <a:r>
              <a:rPr lang="en-US" sz="1800" dirty="0"/>
              <a:t>The backbones of DNA and RNA consist of sugars linked by phosphodiester bridges between the 3</a:t>
            </a:r>
            <a:r>
              <a:rPr lang="en-US" sz="1800" dirty="0">
                <a:sym typeface="Symbol" charset="0"/>
              </a:rPr>
              <a:t></a:t>
            </a:r>
            <a:r>
              <a:rPr lang="en-US" sz="1800" dirty="0"/>
              <a:t>-hydroxyl of one sugar and the 5</a:t>
            </a:r>
            <a:r>
              <a:rPr lang="en-US" sz="1800" dirty="0">
                <a:sym typeface="Symbol" charset="0"/>
              </a:rPr>
              <a:t></a:t>
            </a:r>
            <a:r>
              <a:rPr lang="en-US" sz="1800" dirty="0"/>
              <a:t>-hydroxyl of an adjacent sugar.</a:t>
            </a:r>
          </a:p>
          <a:p>
            <a:endParaRPr lang="en-US" sz="1800" dirty="0"/>
          </a:p>
          <a:p>
            <a:r>
              <a:rPr lang="en-US" sz="1800" dirty="0"/>
              <a:t>Bases are attached to carbon atom 1</a:t>
            </a:r>
            <a:r>
              <a:rPr lang="en-US" sz="1800" dirty="0">
                <a:sym typeface="Symbol" charset="0"/>
              </a:rPr>
              <a:t></a:t>
            </a:r>
            <a:r>
              <a:rPr lang="en-US" sz="1800" dirty="0"/>
              <a:t> in the sugar.</a:t>
            </a:r>
          </a:p>
          <a:p>
            <a:endParaRPr lang="en-US" sz="1800" dirty="0"/>
          </a:p>
          <a:p>
            <a:r>
              <a:rPr lang="en-US" sz="1800" dirty="0"/>
              <a:t>Two of the bases are purines (adenine and guanine) and two are pyrimidines (cytosine and thymine (DNA) or uracil (RNA)).</a:t>
            </a:r>
          </a:p>
        </p:txBody>
      </p:sp>
      <p:pic>
        <p:nvPicPr>
          <p:cNvPr id="2" name="Picture 1"/>
          <p:cNvPicPr>
            <a:picLocks noChangeAspect="1"/>
          </p:cNvPicPr>
          <p:nvPr/>
        </p:nvPicPr>
        <p:blipFill>
          <a:blip r:embed="rId3"/>
          <a:stretch>
            <a:fillRect/>
          </a:stretch>
        </p:blipFill>
        <p:spPr>
          <a:xfrm>
            <a:off x="1143000" y="356698"/>
            <a:ext cx="6565900" cy="977900"/>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17994992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3" name="Picture 2" descr="figure_04_02.jpg"/>
          <p:cNvPicPr>
            <a:picLocks noChangeAspect="1"/>
          </p:cNvPicPr>
          <p:nvPr/>
        </p:nvPicPr>
        <p:blipFill>
          <a:blip r:embed="rId3"/>
          <a:stretch>
            <a:fillRect/>
          </a:stretch>
        </p:blipFill>
        <p:spPr>
          <a:xfrm>
            <a:off x="304800" y="1347216"/>
            <a:ext cx="8534400" cy="4163568"/>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44228065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3" name="Picture 2" descr="figure_04_03.jpg"/>
          <p:cNvPicPr>
            <a:picLocks noChangeAspect="1"/>
          </p:cNvPicPr>
          <p:nvPr/>
        </p:nvPicPr>
        <p:blipFill>
          <a:blip r:embed="rId3"/>
          <a:stretch>
            <a:fillRect/>
          </a:stretch>
        </p:blipFill>
        <p:spPr>
          <a:xfrm>
            <a:off x="304800" y="722376"/>
            <a:ext cx="8534400" cy="5413248"/>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234944553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3" name="Picture 2" descr="figure_04_04.jpg"/>
          <p:cNvPicPr>
            <a:picLocks noChangeAspect="1"/>
          </p:cNvPicPr>
          <p:nvPr/>
        </p:nvPicPr>
        <p:blipFill>
          <a:blip r:embed="rId3"/>
          <a:stretch>
            <a:fillRect/>
          </a:stretch>
        </p:blipFill>
        <p:spPr>
          <a:xfrm>
            <a:off x="304800" y="957072"/>
            <a:ext cx="8534400" cy="4943856"/>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274786132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30722" name="Picture 2"/>
          <p:cNvPicPr>
            <a:picLocks noChangeAspect="1"/>
          </p:cNvPicPr>
          <p:nvPr/>
        </p:nvPicPr>
        <p:blipFill>
          <a:blip r:embed="rId3">
            <a:extLst>
              <a:ext uri="{28A0092B-C50C-407E-A947-70E740481C1C}">
                <a14:useLocalDpi xmlns:a14="http://schemas.microsoft.com/office/drawing/2010/main" xmlns:p="http://schemas.openxmlformats.org/presentationml/2006/main" xmlns:r="http://schemas.openxmlformats.org/officeDocument/2006/relationships" xmlns:a="http://schemas.openxmlformats.org/drawingml/2006/main" xmlns="" val="0"/>
              </a:ext>
            </a:extLst>
          </a:blip>
          <a:srcRect/>
          <a:stretch>
            <a:fillRect/>
          </a:stretch>
        </p:blipFill>
        <p:spPr bwMode="auto">
          <a:xfrm>
            <a:off x="1524000" y="1676400"/>
            <a:ext cx="5207000" cy="469900"/>
          </a:xfrm>
          <a:prstGeom prst="rect">
            <a:avLst/>
          </a:prstGeom>
          <a:noFill/>
          <a:ln>
            <a:noFill/>
          </a:ln>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rgbClr val="FFFFFF"/>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rgbClr val="000000"/>
                </a:solidFill>
                <a:miter lim="800000"/>
                <a:headEnd/>
                <a:tailEnd/>
              </a14:hiddenLine>
            </a:ext>
          </a:extLst>
        </p:spPr>
      </p:pic>
      <p:sp>
        <p:nvSpPr>
          <p:cNvPr id="30723" name="TextBox 5"/>
          <p:cNvSpPr txBox="1">
            <a:spLocks noChangeArrowheads="1"/>
          </p:cNvSpPr>
          <p:nvPr/>
        </p:nvSpPr>
        <p:spPr bwMode="auto">
          <a:xfrm>
            <a:off x="404813" y="2374900"/>
            <a:ext cx="8535987" cy="3416300"/>
          </a:xfrm>
          <a:prstGeom prst="rect">
            <a:avLst/>
          </a:prstGeom>
          <a:noFill/>
          <a:ln>
            <a:noFill/>
          </a:ln>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rgbClr val="FFFFFF"/>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A base bound to a sugar is called a nucleoside. The nucleosides of DNA are deoxyadenosine, deoxyguanosine, deoxycytidine and deoxythymidine. By convention, deoxythymidine, which rarely occurs in RNA, is simply called thymidine.</a:t>
            </a:r>
          </a:p>
          <a:p>
            <a:endParaRPr lang="en-US" sz="1800" dirty="0"/>
          </a:p>
          <a:p>
            <a:r>
              <a:rPr lang="en-US" sz="1800" dirty="0"/>
              <a:t>The nucleosides of RNA are adenosine, guanosine, cytidine and uridine.</a:t>
            </a:r>
          </a:p>
          <a:p>
            <a:endParaRPr lang="en-US" sz="1800" dirty="0"/>
          </a:p>
          <a:p>
            <a:r>
              <a:rPr lang="en-US" sz="1800" dirty="0"/>
              <a:t>In all cases, the C-1</a:t>
            </a:r>
            <a:r>
              <a:rPr lang="en-US" sz="1800" dirty="0">
                <a:sym typeface="Symbol" charset="0"/>
              </a:rPr>
              <a:t></a:t>
            </a:r>
            <a:r>
              <a:rPr lang="en-US" sz="1800" dirty="0"/>
              <a:t> of the sugar is attached to the N-9 of the purine or the N-1 of the </a:t>
            </a:r>
            <a:r>
              <a:rPr lang="en-US" sz="1800" dirty="0" smtClean="0"/>
              <a:t>pyrimidine by a β-glycosidic bond.</a:t>
            </a:r>
            <a:endParaRPr lang="en-US" sz="1800" dirty="0"/>
          </a:p>
          <a:p>
            <a:endParaRPr lang="en-US" sz="1800" dirty="0"/>
          </a:p>
          <a:p>
            <a:r>
              <a:rPr lang="en-US" sz="1800" dirty="0"/>
              <a:t>A nucleotide is a nucleoside with one or more phosphoryl groups attached.</a:t>
            </a:r>
          </a:p>
          <a:p>
            <a:endParaRPr lang="en-US" sz="1800" dirty="0"/>
          </a:p>
          <a:p>
            <a:r>
              <a:rPr lang="en-US" sz="1800" dirty="0" smtClean="0"/>
              <a:t>Nucleotide </a:t>
            </a:r>
            <a:r>
              <a:rPr lang="en-US" sz="1800" dirty="0"/>
              <a:t>triphosphates are the building blocks of DNA and RNA.</a:t>
            </a:r>
          </a:p>
        </p:txBody>
      </p:sp>
      <p:pic>
        <p:nvPicPr>
          <p:cNvPr id="2" name="Picture 1"/>
          <p:cNvPicPr>
            <a:picLocks noChangeAspect="1"/>
          </p:cNvPicPr>
          <p:nvPr/>
        </p:nvPicPr>
        <p:blipFill>
          <a:blip r:embed="rId4"/>
          <a:stretch>
            <a:fillRect/>
          </a:stretch>
        </p:blipFill>
        <p:spPr>
          <a:xfrm>
            <a:off x="1282700" y="0"/>
            <a:ext cx="6565900" cy="977900"/>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391545597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3" name="Picture 2" descr="figure_04_05.jpg"/>
          <p:cNvPicPr>
            <a:picLocks noChangeAspect="1"/>
          </p:cNvPicPr>
          <p:nvPr/>
        </p:nvPicPr>
        <p:blipFill>
          <a:blip r:embed="rId3"/>
          <a:stretch>
            <a:fillRect/>
          </a:stretch>
        </p:blipFill>
        <p:spPr>
          <a:xfrm>
            <a:off x="304800" y="548639"/>
            <a:ext cx="8534400" cy="5760720"/>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78353520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4" name="Picture 3" descr="figure_04_06.jpg"/>
          <p:cNvPicPr>
            <a:picLocks noChangeAspect="1"/>
          </p:cNvPicPr>
          <p:nvPr/>
        </p:nvPicPr>
        <p:blipFill>
          <a:blip r:embed="rId3"/>
          <a:stretch>
            <a:fillRect/>
          </a:stretch>
        </p:blipFill>
        <p:spPr>
          <a:xfrm>
            <a:off x="304800" y="1655064"/>
            <a:ext cx="8534400" cy="3547872"/>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276427268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36866" name="Picture 2"/>
          <p:cNvPicPr>
            <a:picLocks noChangeAspect="1"/>
          </p:cNvPicPr>
          <p:nvPr/>
        </p:nvPicPr>
        <p:blipFill>
          <a:blip r:embed="rId2">
            <a:extLst>
              <a:ext uri="{28A0092B-C50C-407E-A947-70E740481C1C}">
                <a14:useLocalDpi xmlns:a14="http://schemas.microsoft.com/office/drawing/2010/main" xmlns:p="http://schemas.openxmlformats.org/presentationml/2006/main" xmlns:r="http://schemas.openxmlformats.org/officeDocument/2006/relationships" xmlns:a="http://schemas.openxmlformats.org/drawingml/2006/main" xmlns="" val="0"/>
              </a:ext>
            </a:extLst>
          </a:blip>
          <a:srcRect/>
          <a:stretch>
            <a:fillRect/>
          </a:stretch>
        </p:blipFill>
        <p:spPr bwMode="auto">
          <a:xfrm>
            <a:off x="1524000" y="1676400"/>
            <a:ext cx="5207000" cy="469900"/>
          </a:xfrm>
          <a:prstGeom prst="rect">
            <a:avLst/>
          </a:prstGeom>
          <a:noFill/>
          <a:ln>
            <a:noFill/>
          </a:ln>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rgbClr val="FFFFFF"/>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rgbClr val="000000"/>
                </a:solidFill>
                <a:miter lim="800000"/>
                <a:headEnd/>
                <a:tailEnd/>
              </a14:hiddenLine>
            </a:ext>
          </a:extLst>
        </p:spPr>
      </p:pic>
      <p:sp>
        <p:nvSpPr>
          <p:cNvPr id="36867" name="TextBox 4"/>
          <p:cNvSpPr txBox="1">
            <a:spLocks noChangeArrowheads="1"/>
          </p:cNvSpPr>
          <p:nvPr/>
        </p:nvSpPr>
        <p:spPr bwMode="auto">
          <a:xfrm>
            <a:off x="533400" y="2333625"/>
            <a:ext cx="8229600" cy="2308225"/>
          </a:xfrm>
          <a:prstGeom prst="rect">
            <a:avLst/>
          </a:prstGeom>
          <a:noFill/>
          <a:ln>
            <a:noFill/>
          </a:ln>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rgbClr val="FFFFFF"/>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Nucleic acid chains are </a:t>
            </a:r>
            <a:r>
              <a:rPr lang="en-US" sz="1800" dirty="0" smtClean="0"/>
              <a:t>represented </a:t>
            </a:r>
            <a:r>
              <a:rPr lang="en-US" sz="1800" dirty="0"/>
              <a:t>by abbreviations such as  pApGpCpT, pAGCT or more simply AGCT.</a:t>
            </a:r>
          </a:p>
          <a:p>
            <a:endParaRPr lang="en-US" sz="1800" dirty="0"/>
          </a:p>
          <a:p>
            <a:r>
              <a:rPr lang="en-US" sz="1800" dirty="0"/>
              <a:t>Nucleic acid chains have directionality in that the two ends are different. One end has a phosphoryl group attached to the 5</a:t>
            </a:r>
            <a:r>
              <a:rPr lang="en-US" sz="1800" dirty="0">
                <a:sym typeface="Symbol" charset="0"/>
              </a:rPr>
              <a:t></a:t>
            </a:r>
            <a:r>
              <a:rPr lang="en-US" sz="1800" dirty="0"/>
              <a:t> carbon atom of the sugar and one end has a free hydroxyl attached to the 3</a:t>
            </a:r>
            <a:r>
              <a:rPr lang="en-US" sz="1800" dirty="0">
                <a:sym typeface="Symbol" charset="0"/>
              </a:rPr>
              <a:t></a:t>
            </a:r>
            <a:r>
              <a:rPr lang="en-US" sz="1800" dirty="0"/>
              <a:t> carbon of the sugar.</a:t>
            </a:r>
          </a:p>
          <a:p>
            <a:endParaRPr lang="en-US" sz="1800" dirty="0"/>
          </a:p>
          <a:p>
            <a:r>
              <a:rPr lang="en-US" sz="1800" dirty="0"/>
              <a:t>Nucleic acid sequences are written in the 5</a:t>
            </a:r>
            <a:r>
              <a:rPr lang="en-US" sz="1800" dirty="0">
                <a:sym typeface="Symbol" charset="0"/>
              </a:rPr>
              <a:t></a:t>
            </a:r>
            <a:r>
              <a:rPr lang="en-US" sz="1800" dirty="0"/>
              <a:t> to 3</a:t>
            </a:r>
            <a:r>
              <a:rPr lang="en-US" sz="1800" dirty="0">
                <a:sym typeface="Symbol" charset="0"/>
              </a:rPr>
              <a:t></a:t>
            </a:r>
            <a:r>
              <a:rPr lang="en-US" sz="1800" dirty="0"/>
              <a:t> direction.</a:t>
            </a:r>
          </a:p>
        </p:txBody>
      </p:sp>
      <p:pic>
        <p:nvPicPr>
          <p:cNvPr id="2" name="Picture 1"/>
          <p:cNvPicPr>
            <a:picLocks noChangeAspect="1"/>
          </p:cNvPicPr>
          <p:nvPr/>
        </p:nvPicPr>
        <p:blipFill>
          <a:blip r:embed="rId3"/>
          <a:stretch>
            <a:fillRect/>
          </a:stretch>
        </p:blipFill>
        <p:spPr>
          <a:xfrm>
            <a:off x="1282700" y="412720"/>
            <a:ext cx="6565900" cy="977900"/>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61474526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3" name="Picture 2" descr="figure_04_07.jpg"/>
          <p:cNvPicPr>
            <a:picLocks noChangeAspect="1"/>
          </p:cNvPicPr>
          <p:nvPr/>
        </p:nvPicPr>
        <p:blipFill>
          <a:blip r:embed="rId3"/>
          <a:stretch>
            <a:fillRect/>
          </a:stretch>
        </p:blipFill>
        <p:spPr>
          <a:xfrm>
            <a:off x="304800" y="914400"/>
            <a:ext cx="8534400" cy="5029200"/>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314849431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39939" name="Picture 3"/>
          <p:cNvPicPr>
            <a:picLocks noChangeAspect="1"/>
          </p:cNvPicPr>
          <p:nvPr/>
        </p:nvPicPr>
        <p:blipFill>
          <a:blip r:embed="rId3">
            <a:extLst>
              <a:ext uri="{28A0092B-C50C-407E-A947-70E740481C1C}">
                <a14:useLocalDpi xmlns:a14="http://schemas.microsoft.com/office/drawing/2010/main" xmlns:p="http://schemas.openxmlformats.org/presentationml/2006/main" xmlns:r="http://schemas.openxmlformats.org/officeDocument/2006/relationships" xmlns:a="http://schemas.openxmlformats.org/drawingml/2006/main" xmlns="" val="0"/>
              </a:ext>
            </a:extLst>
          </a:blip>
          <a:srcRect/>
          <a:stretch>
            <a:fillRect/>
          </a:stretch>
        </p:blipFill>
        <p:spPr bwMode="auto">
          <a:xfrm>
            <a:off x="2667000" y="1066800"/>
            <a:ext cx="2946400" cy="419100"/>
          </a:xfrm>
          <a:prstGeom prst="rect">
            <a:avLst/>
          </a:prstGeom>
          <a:noFill/>
          <a:ln>
            <a:noFill/>
          </a:ln>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rgbClr val="FFFFFF"/>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rgbClr val="000000"/>
                </a:solidFill>
                <a:miter lim="800000"/>
                <a:headEnd/>
                <a:tailEnd/>
              </a14:hiddenLine>
            </a:ext>
          </a:extLst>
        </p:spPr>
      </p:pic>
      <p:sp>
        <p:nvSpPr>
          <p:cNvPr id="39940" name="TextBox 4"/>
          <p:cNvSpPr txBox="1">
            <a:spLocks noChangeArrowheads="1"/>
          </p:cNvSpPr>
          <p:nvPr/>
        </p:nvSpPr>
        <p:spPr bwMode="auto">
          <a:xfrm>
            <a:off x="457200" y="1676400"/>
            <a:ext cx="8229600" cy="646113"/>
          </a:xfrm>
          <a:prstGeom prst="rect">
            <a:avLst/>
          </a:prstGeom>
          <a:noFill/>
          <a:ln>
            <a:noFill/>
          </a:ln>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rgbClr val="FFFFFF"/>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DNA molecules can be extremely long, some consisting </a:t>
            </a:r>
            <a:r>
              <a:rPr lang="en-US" sz="1800" dirty="0" smtClean="0"/>
              <a:t>of </a:t>
            </a:r>
            <a:r>
              <a:rPr lang="en-US" sz="1800" dirty="0"/>
              <a:t>more than 1 billion </a:t>
            </a:r>
            <a:r>
              <a:rPr lang="en-US" sz="1800" dirty="0" smtClean="0"/>
              <a:t>nucleotides.</a:t>
            </a:r>
            <a:endParaRPr lang="en-US" sz="1800" dirty="0"/>
          </a:p>
        </p:txBody>
      </p:sp>
      <p:pic>
        <p:nvPicPr>
          <p:cNvPr id="2" name="Picture 1"/>
          <p:cNvPicPr>
            <a:picLocks noChangeAspect="1"/>
          </p:cNvPicPr>
          <p:nvPr/>
        </p:nvPicPr>
        <p:blipFill>
          <a:blip r:embed="rId4"/>
          <a:stretch>
            <a:fillRect/>
          </a:stretch>
        </p:blipFill>
        <p:spPr>
          <a:xfrm>
            <a:off x="1282700" y="88900"/>
            <a:ext cx="6565900" cy="977900"/>
          </a:xfrm>
          <a:prstGeom prst="rect">
            <a:avLst/>
          </a:prstGeom>
        </p:spPr>
      </p:pic>
      <p:pic>
        <p:nvPicPr>
          <p:cNvPr id="7" name="Picture 6" descr="figure_04_08.jpg"/>
          <p:cNvPicPr>
            <a:picLocks noChangeAspect="1"/>
          </p:cNvPicPr>
          <p:nvPr/>
        </p:nvPicPr>
        <p:blipFill>
          <a:blip r:embed="rId5"/>
          <a:stretch>
            <a:fillRect/>
          </a:stretch>
        </p:blipFill>
        <p:spPr>
          <a:xfrm>
            <a:off x="2409143" y="2322513"/>
            <a:ext cx="3510996" cy="4557670"/>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128512956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4" name="Picture 3" descr="figure_04_09.jpg"/>
          <p:cNvPicPr>
            <a:picLocks noChangeAspect="1"/>
          </p:cNvPicPr>
          <p:nvPr/>
        </p:nvPicPr>
        <p:blipFill>
          <a:blip r:embed="rId3"/>
          <a:stretch>
            <a:fillRect/>
          </a:stretch>
        </p:blipFill>
        <p:spPr>
          <a:xfrm>
            <a:off x="304800" y="1712976"/>
            <a:ext cx="8534400" cy="3432048"/>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300542672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44034" name="TextBox 2"/>
          <p:cNvSpPr txBox="1">
            <a:spLocks noChangeArrowheads="1"/>
          </p:cNvSpPr>
          <p:nvPr/>
        </p:nvSpPr>
        <p:spPr bwMode="auto">
          <a:xfrm>
            <a:off x="609600" y="2362200"/>
            <a:ext cx="8051800" cy="1477963"/>
          </a:xfrm>
          <a:prstGeom prst="rect">
            <a:avLst/>
          </a:prstGeom>
          <a:noFill/>
          <a:ln>
            <a:noFill/>
          </a:ln>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rgbClr val="FFFFFF"/>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Adenine always forms hydrogen bonds with thymine while guanine forms hydrogen bonds with cytosine.</a:t>
            </a:r>
          </a:p>
          <a:p>
            <a:endParaRPr lang="en-US" sz="1800" dirty="0"/>
          </a:p>
          <a:p>
            <a:r>
              <a:rPr lang="en-US" sz="1800" dirty="0"/>
              <a:t>The helix is stabilized by hydrogen bonds between base pairs as well as by hydrophobic interactions, called stacking forces, between adjacent bases.</a:t>
            </a:r>
          </a:p>
        </p:txBody>
      </p:sp>
      <p:pic>
        <p:nvPicPr>
          <p:cNvPr id="44035" name="Picture 3"/>
          <p:cNvPicPr>
            <a:picLocks noChangeAspect="1"/>
          </p:cNvPicPr>
          <p:nvPr/>
        </p:nvPicPr>
        <p:blipFill>
          <a:blip r:embed="rId2">
            <a:extLst>
              <a:ext uri="{28A0092B-C50C-407E-A947-70E740481C1C}">
                <a14:useLocalDpi xmlns:a14="http://schemas.microsoft.com/office/drawing/2010/main" xmlns:p="http://schemas.openxmlformats.org/presentationml/2006/main" xmlns:r="http://schemas.openxmlformats.org/officeDocument/2006/relationships" xmlns:a="http://schemas.openxmlformats.org/drawingml/2006/main" xmlns="" val="0"/>
              </a:ext>
            </a:extLst>
          </a:blip>
          <a:srcRect/>
          <a:stretch>
            <a:fillRect/>
          </a:stretch>
        </p:blipFill>
        <p:spPr bwMode="auto">
          <a:xfrm>
            <a:off x="1524000" y="1676400"/>
            <a:ext cx="5410200" cy="558800"/>
          </a:xfrm>
          <a:prstGeom prst="rect">
            <a:avLst/>
          </a:prstGeom>
          <a:noFill/>
          <a:ln>
            <a:noFill/>
          </a:ln>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rgbClr val="FFFFFF"/>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rgbClr val="000000"/>
                </a:solidFill>
                <a:miter lim="800000"/>
                <a:headEnd/>
                <a:tailEnd/>
              </a14:hiddenLine>
            </a:ext>
          </a:extLst>
        </p:spPr>
      </p:pic>
      <p:sp>
        <p:nvSpPr>
          <p:cNvPr id="44036" name="TextBox 4"/>
          <p:cNvSpPr txBox="1">
            <a:spLocks noChangeArrowheads="1"/>
          </p:cNvSpPr>
          <p:nvPr/>
        </p:nvSpPr>
        <p:spPr bwMode="auto">
          <a:xfrm>
            <a:off x="558800" y="4038600"/>
            <a:ext cx="8585200" cy="2308225"/>
          </a:xfrm>
          <a:prstGeom prst="rect">
            <a:avLst/>
          </a:prstGeom>
          <a:noFill/>
          <a:ln>
            <a:noFill/>
          </a:ln>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rgbClr val="FFFFFF"/>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Because of the base pairing rules, the sequence of one strand determines the sequence of the partner strand.</a:t>
            </a:r>
          </a:p>
          <a:p>
            <a:endParaRPr lang="en-US" sz="1800" dirty="0"/>
          </a:p>
          <a:p>
            <a:r>
              <a:rPr lang="en-US" sz="1800" dirty="0"/>
              <a:t>The two strands can be separated and complementary sequences synthesized to generate two identical daughter strands.</a:t>
            </a:r>
          </a:p>
          <a:p>
            <a:endParaRPr lang="en-US" sz="1800" dirty="0"/>
          </a:p>
          <a:p>
            <a:r>
              <a:rPr lang="en-US" sz="1800" dirty="0"/>
              <a:t>Because the two daughter helices have one parent strand and one newly synthesized strand, the replication process is called semiconservative replication.</a:t>
            </a:r>
          </a:p>
        </p:txBody>
      </p:sp>
      <p:pic>
        <p:nvPicPr>
          <p:cNvPr id="2" name="Picture 1"/>
          <p:cNvPicPr>
            <a:picLocks noChangeAspect="1"/>
          </p:cNvPicPr>
          <p:nvPr/>
        </p:nvPicPr>
        <p:blipFill>
          <a:blip r:embed="rId3"/>
          <a:stretch>
            <a:fillRect/>
          </a:stretch>
        </p:blipFill>
        <p:spPr>
          <a:xfrm>
            <a:off x="1181100" y="338776"/>
            <a:ext cx="6781800" cy="901700"/>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124011989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3" name="Picture 2" descr="figure_04_10.jpg"/>
          <p:cNvPicPr>
            <a:picLocks noChangeAspect="1"/>
          </p:cNvPicPr>
          <p:nvPr/>
        </p:nvPicPr>
        <p:blipFill>
          <a:blip r:embed="rId3"/>
          <a:stretch>
            <a:fillRect/>
          </a:stretch>
        </p:blipFill>
        <p:spPr>
          <a:xfrm>
            <a:off x="2051304" y="283464"/>
            <a:ext cx="5041392" cy="6291072"/>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412198218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4" name="Picture 3" descr="figure_04_11.jpg"/>
          <p:cNvPicPr>
            <a:picLocks noChangeAspect="1"/>
          </p:cNvPicPr>
          <p:nvPr/>
        </p:nvPicPr>
        <p:blipFill>
          <a:blip r:embed="rId3"/>
          <a:stretch>
            <a:fillRect/>
          </a:stretch>
        </p:blipFill>
        <p:spPr>
          <a:xfrm>
            <a:off x="1706880" y="283464"/>
            <a:ext cx="5730240" cy="6291072"/>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208105663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2" name="Picture 1" descr="figure_04_12.jpg"/>
          <p:cNvPicPr>
            <a:picLocks noChangeAspect="1"/>
          </p:cNvPicPr>
          <p:nvPr/>
        </p:nvPicPr>
        <p:blipFill>
          <a:blip r:embed="rId3"/>
          <a:stretch>
            <a:fillRect/>
          </a:stretch>
        </p:blipFill>
        <p:spPr>
          <a:xfrm>
            <a:off x="2395727" y="192023"/>
            <a:ext cx="4352544" cy="6473952"/>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67313682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3" name="Picture 2" descr="table_04_01.jpg"/>
          <p:cNvPicPr>
            <a:picLocks noChangeAspect="1"/>
          </p:cNvPicPr>
          <p:nvPr/>
        </p:nvPicPr>
        <p:blipFill>
          <a:blip r:embed="rId3"/>
          <a:stretch>
            <a:fillRect/>
          </a:stretch>
        </p:blipFill>
        <p:spPr>
          <a:xfrm>
            <a:off x="304800" y="1816608"/>
            <a:ext cx="8534400" cy="3224784"/>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357713492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53251" name="Picture 3"/>
          <p:cNvPicPr>
            <a:picLocks noChangeAspect="1"/>
          </p:cNvPicPr>
          <p:nvPr/>
        </p:nvPicPr>
        <p:blipFill>
          <a:blip r:embed="rId3">
            <a:extLst>
              <a:ext uri="{28A0092B-C50C-407E-A947-70E740481C1C}">
                <a14:useLocalDpi xmlns:a14="http://schemas.microsoft.com/office/drawing/2010/main" xmlns:p="http://schemas.openxmlformats.org/presentationml/2006/main" xmlns:r="http://schemas.openxmlformats.org/officeDocument/2006/relationships" xmlns:a="http://schemas.openxmlformats.org/drawingml/2006/main" xmlns="" val="0"/>
              </a:ext>
            </a:extLst>
          </a:blip>
          <a:srcRect/>
          <a:stretch>
            <a:fillRect/>
          </a:stretch>
        </p:blipFill>
        <p:spPr bwMode="auto">
          <a:xfrm>
            <a:off x="1524000" y="990600"/>
            <a:ext cx="5410200" cy="558800"/>
          </a:xfrm>
          <a:prstGeom prst="rect">
            <a:avLst/>
          </a:prstGeom>
          <a:noFill/>
          <a:ln>
            <a:noFill/>
          </a:ln>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rgbClr val="FFFFFF"/>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rgbClr val="000000"/>
                </a:solidFill>
                <a:miter lim="800000"/>
                <a:headEnd/>
                <a:tailEnd/>
              </a14:hiddenLine>
            </a:ext>
          </a:extLst>
        </p:spPr>
      </p:pic>
      <p:sp>
        <p:nvSpPr>
          <p:cNvPr id="53252" name="TextBox 1"/>
          <p:cNvSpPr txBox="1">
            <a:spLocks noChangeArrowheads="1"/>
          </p:cNvSpPr>
          <p:nvPr/>
        </p:nvSpPr>
        <p:spPr bwMode="auto">
          <a:xfrm>
            <a:off x="447675" y="2576513"/>
            <a:ext cx="8273791" cy="646331"/>
          </a:xfrm>
          <a:prstGeom prst="rect">
            <a:avLst/>
          </a:prstGeom>
          <a:noFill/>
          <a:ln>
            <a:noFill/>
          </a:ln>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rgbClr val="FFFFFF"/>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rgbClr val="000000"/>
                </a:solidFill>
                <a:miter lim="800000"/>
                <a:headEnd/>
                <a:tailEnd/>
              </a14:hiddenLine>
            </a:ext>
          </a:extLst>
        </p:spPr>
        <p:txBody>
          <a:bodyPr wrap="square">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Van der Waals interactions between stacked bases, called stacking forces, help to </a:t>
            </a:r>
            <a:r>
              <a:rPr lang="en-US" sz="1800" dirty="0" smtClean="0"/>
              <a:t>stabilize the </a:t>
            </a:r>
            <a:r>
              <a:rPr lang="en-US" sz="1800" dirty="0"/>
              <a:t>double helix.</a:t>
            </a:r>
          </a:p>
        </p:txBody>
      </p:sp>
      <p:pic>
        <p:nvPicPr>
          <p:cNvPr id="2" name="Picture 1"/>
          <p:cNvPicPr>
            <a:picLocks noChangeAspect="1"/>
          </p:cNvPicPr>
          <p:nvPr/>
        </p:nvPicPr>
        <p:blipFill>
          <a:blip r:embed="rId4"/>
          <a:stretch>
            <a:fillRect/>
          </a:stretch>
        </p:blipFill>
        <p:spPr>
          <a:xfrm>
            <a:off x="882292" y="0"/>
            <a:ext cx="6781800" cy="901700"/>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3164118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2" name="Picture 1" descr="figure_04_13.jpg"/>
          <p:cNvPicPr>
            <a:picLocks noChangeAspect="1"/>
          </p:cNvPicPr>
          <p:nvPr/>
        </p:nvPicPr>
        <p:blipFill>
          <a:blip r:embed="rId3"/>
          <a:stretch>
            <a:fillRect/>
          </a:stretch>
        </p:blipFill>
        <p:spPr>
          <a:xfrm>
            <a:off x="1350264" y="283464"/>
            <a:ext cx="6443472" cy="6291072"/>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62599370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55298" name="Picture 4"/>
          <p:cNvPicPr>
            <a:picLocks noChangeAspect="1"/>
          </p:cNvPicPr>
          <p:nvPr/>
        </p:nvPicPr>
        <p:blipFill>
          <a:blip r:embed="rId3">
            <a:extLst>
              <a:ext uri="{28A0092B-C50C-407E-A947-70E740481C1C}">
                <a14:useLocalDpi xmlns:a14="http://schemas.microsoft.com/office/drawing/2010/main" xmlns:p="http://schemas.openxmlformats.org/presentationml/2006/main" xmlns:r="http://schemas.openxmlformats.org/officeDocument/2006/relationships" xmlns:a="http://schemas.openxmlformats.org/drawingml/2006/main" xmlns="" val="0"/>
              </a:ext>
            </a:extLst>
          </a:blip>
          <a:srcRect/>
          <a:stretch>
            <a:fillRect/>
          </a:stretch>
        </p:blipFill>
        <p:spPr bwMode="auto">
          <a:xfrm>
            <a:off x="1600200" y="1219200"/>
            <a:ext cx="4445000" cy="368300"/>
          </a:xfrm>
          <a:prstGeom prst="rect">
            <a:avLst/>
          </a:prstGeom>
          <a:noFill/>
          <a:ln>
            <a:noFill/>
          </a:ln>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rgbClr val="FFFFFF"/>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rgbClr val="000000"/>
                </a:solidFill>
                <a:miter lim="800000"/>
                <a:headEnd/>
                <a:tailEnd/>
              </a14:hiddenLine>
            </a:ext>
          </a:extLst>
        </p:spPr>
      </p:pic>
      <p:sp>
        <p:nvSpPr>
          <p:cNvPr id="55299" name="TextBox 6"/>
          <p:cNvSpPr txBox="1">
            <a:spLocks noChangeArrowheads="1"/>
          </p:cNvSpPr>
          <p:nvPr/>
        </p:nvSpPr>
        <p:spPr bwMode="auto">
          <a:xfrm>
            <a:off x="609600" y="1828800"/>
            <a:ext cx="7988300" cy="2862323"/>
          </a:xfrm>
          <a:prstGeom prst="rect">
            <a:avLst/>
          </a:prstGeom>
          <a:noFill/>
          <a:ln>
            <a:noFill/>
          </a:ln>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rgbClr val="FFFFFF"/>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In the cell, the most commonly seen form of DNA double helix is called the B form or the Watson-Crick helix.</a:t>
            </a:r>
          </a:p>
          <a:p>
            <a:endParaRPr lang="en-US" sz="1800" dirty="0"/>
          </a:p>
          <a:p>
            <a:r>
              <a:rPr lang="en-US" sz="1800" dirty="0"/>
              <a:t>The double helix can also exist in an A form, which is shorter and wider than the B form with the bases at an angle rather than perpendicular to the helix axis. In the A forms, the sugar is in the C-3</a:t>
            </a:r>
            <a:r>
              <a:rPr lang="en-US" sz="1800" dirty="0">
                <a:sym typeface="Symbol"/>
              </a:rPr>
              <a:t></a:t>
            </a:r>
            <a:r>
              <a:rPr lang="en-US" sz="1800" dirty="0"/>
              <a:t>-endo conformation, while the sugar is in C-2</a:t>
            </a:r>
            <a:r>
              <a:rPr lang="en-US" sz="1800" dirty="0">
                <a:sym typeface="Symbol"/>
              </a:rPr>
              <a:t></a:t>
            </a:r>
            <a:r>
              <a:rPr lang="en-US" sz="1800" dirty="0"/>
              <a:t>-endo configuration in the B form.</a:t>
            </a:r>
          </a:p>
          <a:p>
            <a:endParaRPr lang="en-US" sz="1800" dirty="0"/>
          </a:p>
          <a:p>
            <a:r>
              <a:rPr lang="en-US" sz="1800" dirty="0"/>
              <a:t>The A form is seen in RNA double helices and in RNA-DNA hybrid helices, structures observed in transcription and RNA processing.</a:t>
            </a:r>
          </a:p>
        </p:txBody>
      </p:sp>
      <p:pic>
        <p:nvPicPr>
          <p:cNvPr id="2" name="Picture 1"/>
          <p:cNvPicPr>
            <a:picLocks noChangeAspect="1"/>
          </p:cNvPicPr>
          <p:nvPr/>
        </p:nvPicPr>
        <p:blipFill>
          <a:blip r:embed="rId4"/>
          <a:stretch>
            <a:fillRect/>
          </a:stretch>
        </p:blipFill>
        <p:spPr>
          <a:xfrm>
            <a:off x="1311829" y="133363"/>
            <a:ext cx="6781800" cy="901700"/>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124487898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3" name="Picture 2" descr="figure_04_14.jpg"/>
          <p:cNvPicPr>
            <a:picLocks noChangeAspect="1"/>
          </p:cNvPicPr>
          <p:nvPr/>
        </p:nvPicPr>
        <p:blipFill>
          <a:blip r:embed="rId3"/>
          <a:stretch>
            <a:fillRect/>
          </a:stretch>
        </p:blipFill>
        <p:spPr>
          <a:xfrm>
            <a:off x="2072639" y="283464"/>
            <a:ext cx="4998720" cy="6291072"/>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1436871926"/>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3" name="Picture 2" descr="figure_04_15.jpg"/>
          <p:cNvPicPr>
            <a:picLocks noChangeAspect="1"/>
          </p:cNvPicPr>
          <p:nvPr/>
        </p:nvPicPr>
        <p:blipFill>
          <a:blip r:embed="rId3"/>
          <a:stretch>
            <a:fillRect/>
          </a:stretch>
        </p:blipFill>
        <p:spPr>
          <a:xfrm>
            <a:off x="304800" y="1261872"/>
            <a:ext cx="8534400" cy="4334256"/>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415935332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61442" name="Picture 1"/>
          <p:cNvPicPr>
            <a:picLocks noChangeAspect="1"/>
          </p:cNvPicPr>
          <p:nvPr/>
        </p:nvPicPr>
        <p:blipFill>
          <a:blip r:embed="rId3">
            <a:extLst>
              <a:ext uri="{28A0092B-C50C-407E-A947-70E740481C1C}">
                <a14:useLocalDpi xmlns:a14="http://schemas.microsoft.com/office/drawing/2010/main" xmlns:p="http://schemas.openxmlformats.org/presentationml/2006/main" xmlns:r="http://schemas.openxmlformats.org/officeDocument/2006/relationships" xmlns:a="http://schemas.openxmlformats.org/drawingml/2006/main" xmlns="" val="0"/>
              </a:ext>
            </a:extLst>
          </a:blip>
          <a:srcRect/>
          <a:stretch>
            <a:fillRect/>
          </a:stretch>
        </p:blipFill>
        <p:spPr bwMode="auto">
          <a:xfrm>
            <a:off x="1752600" y="1066800"/>
            <a:ext cx="5219700" cy="596900"/>
          </a:xfrm>
          <a:prstGeom prst="rect">
            <a:avLst/>
          </a:prstGeom>
          <a:noFill/>
          <a:ln>
            <a:noFill/>
          </a:ln>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rgbClr val="FFFFFF"/>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rgbClr val="000000"/>
                </a:solidFill>
                <a:miter lim="800000"/>
                <a:headEnd/>
                <a:tailEnd/>
              </a14:hiddenLine>
            </a:ext>
          </a:extLst>
        </p:spPr>
      </p:pic>
      <p:sp>
        <p:nvSpPr>
          <p:cNvPr id="61443" name="TextBox 5"/>
          <p:cNvSpPr txBox="1">
            <a:spLocks noChangeArrowheads="1"/>
          </p:cNvSpPr>
          <p:nvPr/>
        </p:nvSpPr>
        <p:spPr bwMode="auto">
          <a:xfrm>
            <a:off x="571500" y="2500533"/>
            <a:ext cx="7627052" cy="646331"/>
          </a:xfrm>
          <a:prstGeom prst="rect">
            <a:avLst/>
          </a:prstGeom>
          <a:noFill/>
          <a:ln>
            <a:noFill/>
          </a:ln>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rgbClr val="FFFFFF"/>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rgbClr val="000000"/>
                </a:solidFill>
                <a:miter lim="800000"/>
                <a:headEnd/>
                <a:tailEnd/>
              </a14:hiddenLine>
            </a:ext>
          </a:extLst>
        </p:spPr>
        <p:txBody>
          <a:bodyPr wrap="square">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The double helix can also form </a:t>
            </a:r>
            <a:r>
              <a:rPr lang="en-US" sz="1800" dirty="0" smtClean="0"/>
              <a:t>Z-DNA</a:t>
            </a:r>
            <a:r>
              <a:rPr lang="en-US" sz="1800" dirty="0"/>
              <a:t>. </a:t>
            </a:r>
            <a:r>
              <a:rPr lang="en-US" sz="1800" dirty="0" smtClean="0"/>
              <a:t>Z-DNA </a:t>
            </a:r>
            <a:r>
              <a:rPr lang="en-US" sz="1800" dirty="0"/>
              <a:t>is left-handed and the backbone is zigzagged, accounting for the name “</a:t>
            </a:r>
            <a:r>
              <a:rPr lang="en-US" sz="1800" dirty="0" smtClean="0"/>
              <a:t>Z-DNA</a:t>
            </a:r>
            <a:r>
              <a:rPr lang="en-US" sz="1800" dirty="0"/>
              <a:t>”.</a:t>
            </a:r>
          </a:p>
        </p:txBody>
      </p:sp>
      <p:pic>
        <p:nvPicPr>
          <p:cNvPr id="2" name="Picture 1"/>
          <p:cNvPicPr>
            <a:picLocks noChangeAspect="1"/>
          </p:cNvPicPr>
          <p:nvPr/>
        </p:nvPicPr>
        <p:blipFill>
          <a:blip r:embed="rId4"/>
          <a:stretch>
            <a:fillRect/>
          </a:stretch>
        </p:blipFill>
        <p:spPr>
          <a:xfrm>
            <a:off x="994344" y="0"/>
            <a:ext cx="6781800" cy="901700"/>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123229104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2" name="Picture 1" descr="figure_04_16.jpg"/>
          <p:cNvPicPr>
            <a:picLocks noChangeAspect="1"/>
          </p:cNvPicPr>
          <p:nvPr/>
        </p:nvPicPr>
        <p:blipFill>
          <a:blip r:embed="rId3"/>
          <a:stretch>
            <a:fillRect/>
          </a:stretch>
        </p:blipFill>
        <p:spPr>
          <a:xfrm>
            <a:off x="304800" y="710183"/>
            <a:ext cx="8534400" cy="5437632"/>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3368025442"/>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3" name="Picture 2" descr="Table 4.2.jpg"/>
          <p:cNvPicPr>
            <a:picLocks noChangeAspect="1"/>
          </p:cNvPicPr>
          <p:nvPr/>
        </p:nvPicPr>
        <p:blipFill>
          <a:blip r:embed="rId3"/>
          <a:stretch>
            <a:fillRect/>
          </a:stretch>
        </p:blipFill>
        <p:spPr>
          <a:xfrm>
            <a:off x="304800" y="1135380"/>
            <a:ext cx="8534400" cy="4587240"/>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3326497255"/>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65538" name="Picture 3"/>
          <p:cNvPicPr>
            <a:picLocks noChangeAspect="1"/>
          </p:cNvPicPr>
          <p:nvPr/>
        </p:nvPicPr>
        <p:blipFill>
          <a:blip r:embed="rId3">
            <a:extLst>
              <a:ext uri="{28A0092B-C50C-407E-A947-70E740481C1C}">
                <a14:useLocalDpi xmlns:a14="http://schemas.microsoft.com/office/drawing/2010/main" xmlns:p="http://schemas.openxmlformats.org/presentationml/2006/main" xmlns:r="http://schemas.openxmlformats.org/officeDocument/2006/relationships" xmlns:a="http://schemas.openxmlformats.org/drawingml/2006/main" xmlns="" val="0"/>
              </a:ext>
            </a:extLst>
          </a:blip>
          <a:srcRect/>
          <a:stretch>
            <a:fillRect/>
          </a:stretch>
        </p:blipFill>
        <p:spPr bwMode="auto">
          <a:xfrm>
            <a:off x="1828800" y="990600"/>
            <a:ext cx="4775200" cy="393700"/>
          </a:xfrm>
          <a:prstGeom prst="rect">
            <a:avLst/>
          </a:prstGeom>
          <a:noFill/>
          <a:ln>
            <a:noFill/>
          </a:ln>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rgbClr val="FFFFFF"/>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rgbClr val="000000"/>
                </a:solidFill>
                <a:miter lim="800000"/>
                <a:headEnd/>
                <a:tailEnd/>
              </a14:hiddenLine>
            </a:ext>
          </a:extLst>
        </p:spPr>
      </p:pic>
      <p:sp>
        <p:nvSpPr>
          <p:cNvPr id="65539" name="TextBox 6"/>
          <p:cNvSpPr txBox="1">
            <a:spLocks noChangeArrowheads="1"/>
          </p:cNvSpPr>
          <p:nvPr/>
        </p:nvSpPr>
        <p:spPr bwMode="auto">
          <a:xfrm>
            <a:off x="609600" y="1600200"/>
            <a:ext cx="8064500" cy="1754188"/>
          </a:xfrm>
          <a:prstGeom prst="rect">
            <a:avLst/>
          </a:prstGeom>
          <a:noFill/>
          <a:ln>
            <a:noFill/>
          </a:ln>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rgbClr val="FFFFFF"/>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In order to fit inside a cell, the DNA molecule must be compacted.  In </a:t>
            </a:r>
            <a:r>
              <a:rPr lang="en-US" sz="1800" i="1" dirty="0"/>
              <a:t>E. coli</a:t>
            </a:r>
            <a:r>
              <a:rPr lang="en-US" sz="1800" dirty="0"/>
              <a:t>, the DNA double helix is a circular molecule that is twisted into a superhelix by the process of supercoiling.</a:t>
            </a:r>
          </a:p>
          <a:p>
            <a:endParaRPr lang="en-US" sz="1800" dirty="0"/>
          </a:p>
          <a:p>
            <a:r>
              <a:rPr lang="en-US" sz="1800" dirty="0"/>
              <a:t>The relaxed circular DNA and the superhelix form are topological isomers of each other.</a:t>
            </a:r>
          </a:p>
        </p:txBody>
      </p:sp>
      <p:pic>
        <p:nvPicPr>
          <p:cNvPr id="2" name="Picture 1"/>
          <p:cNvPicPr>
            <a:picLocks noChangeAspect="1"/>
          </p:cNvPicPr>
          <p:nvPr/>
        </p:nvPicPr>
        <p:blipFill>
          <a:blip r:embed="rId4"/>
          <a:stretch>
            <a:fillRect/>
          </a:stretch>
        </p:blipFill>
        <p:spPr>
          <a:xfrm>
            <a:off x="1311829" y="119245"/>
            <a:ext cx="6781800" cy="901700"/>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871393282"/>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2" name="Picture 1" descr="figure_04_17.jpg"/>
          <p:cNvPicPr>
            <a:picLocks noChangeAspect="1"/>
          </p:cNvPicPr>
          <p:nvPr/>
        </p:nvPicPr>
        <p:blipFill>
          <a:blip r:embed="rId3"/>
          <a:stretch>
            <a:fillRect/>
          </a:stretch>
        </p:blipFill>
        <p:spPr>
          <a:xfrm>
            <a:off x="304800" y="816864"/>
            <a:ext cx="8534400" cy="5224272"/>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896636167"/>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67586" name="Picture 1"/>
          <p:cNvPicPr>
            <a:picLocks noChangeAspect="1"/>
          </p:cNvPicPr>
          <p:nvPr/>
        </p:nvPicPr>
        <p:blipFill>
          <a:blip r:embed="rId3">
            <a:extLst>
              <a:ext uri="{28A0092B-C50C-407E-A947-70E740481C1C}">
                <a14:useLocalDpi xmlns:a14="http://schemas.microsoft.com/office/drawing/2010/main" xmlns:p="http://schemas.openxmlformats.org/presentationml/2006/main" xmlns:r="http://schemas.openxmlformats.org/officeDocument/2006/relationships" xmlns:a="http://schemas.openxmlformats.org/drawingml/2006/main" xmlns="" val="0"/>
              </a:ext>
            </a:extLst>
          </a:blip>
          <a:srcRect/>
          <a:stretch>
            <a:fillRect/>
          </a:stretch>
        </p:blipFill>
        <p:spPr bwMode="auto">
          <a:xfrm>
            <a:off x="1676400" y="1371600"/>
            <a:ext cx="5575300" cy="317500"/>
          </a:xfrm>
          <a:prstGeom prst="rect">
            <a:avLst/>
          </a:prstGeom>
          <a:noFill/>
          <a:ln>
            <a:noFill/>
          </a:ln>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rgbClr val="FFFFFF"/>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rgbClr val="000000"/>
                </a:solidFill>
                <a:miter lim="800000"/>
                <a:headEnd/>
                <a:tailEnd/>
              </a14:hiddenLine>
            </a:ext>
          </a:extLst>
        </p:spPr>
      </p:pic>
      <p:sp>
        <p:nvSpPr>
          <p:cNvPr id="67587" name="Rectangle 4"/>
          <p:cNvSpPr>
            <a:spLocks noChangeArrowheads="1"/>
          </p:cNvSpPr>
          <p:nvPr/>
        </p:nvSpPr>
        <p:spPr bwMode="auto">
          <a:xfrm>
            <a:off x="1066800" y="2057400"/>
            <a:ext cx="6553200" cy="2032000"/>
          </a:xfrm>
          <a:prstGeom prst="rect">
            <a:avLst/>
          </a:prstGeom>
          <a:noFill/>
          <a:ln>
            <a:noFill/>
          </a:ln>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rgbClr val="FFFFFF"/>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rgbClr val="000000"/>
                </a:solidFill>
                <a:miter lim="800000"/>
                <a:headEnd/>
                <a:tailEnd/>
              </a14:hiddenLine>
            </a:ext>
          </a:extLst>
        </p:spPr>
        <p:txBody>
          <a:bodyPr>
            <a:spAutoFit/>
          </a:bodyPr>
          <a:lstStyle/>
          <a:p>
            <a:r>
              <a:rPr lang="en-US" sz="1800" dirty="0"/>
              <a:t>A common structural motif seen in nucleic acids, most notably RNA, is the stem-loop, which occurs when complementary sequences in the same strand form a double helix.</a:t>
            </a:r>
          </a:p>
          <a:p>
            <a:endParaRPr lang="en-US" sz="1800" dirty="0"/>
          </a:p>
          <a:p>
            <a:r>
              <a:rPr lang="en-US" sz="1800" dirty="0"/>
              <a:t>Non-Watson-Crick base pairs occur frequently in RNA.</a:t>
            </a:r>
          </a:p>
          <a:p>
            <a:endParaRPr lang="en-US" sz="1800" dirty="0"/>
          </a:p>
          <a:p>
            <a:r>
              <a:rPr lang="en-US" sz="1800" dirty="0"/>
              <a:t>More elaborate structures may form, often stabilized by Mg</a:t>
            </a:r>
            <a:r>
              <a:rPr lang="en-US" sz="1800" baseline="30000" dirty="0"/>
              <a:t>2+</a:t>
            </a:r>
            <a:r>
              <a:rPr lang="en-US" sz="1800" dirty="0"/>
              <a:t> ions.</a:t>
            </a:r>
          </a:p>
        </p:txBody>
      </p:sp>
      <p:pic>
        <p:nvPicPr>
          <p:cNvPr id="2" name="Picture 1"/>
          <p:cNvPicPr>
            <a:picLocks noChangeAspect="1"/>
          </p:cNvPicPr>
          <p:nvPr/>
        </p:nvPicPr>
        <p:blipFill>
          <a:blip r:embed="rId4"/>
          <a:stretch>
            <a:fillRect/>
          </a:stretch>
        </p:blipFill>
        <p:spPr>
          <a:xfrm>
            <a:off x="1367855" y="170711"/>
            <a:ext cx="6781800" cy="901700"/>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3128885236"/>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3" name="Picture 2" descr="figure_04_18.jpg"/>
          <p:cNvPicPr>
            <a:picLocks noChangeAspect="1"/>
          </p:cNvPicPr>
          <p:nvPr/>
        </p:nvPicPr>
        <p:blipFill>
          <a:blip r:embed="rId3"/>
          <a:stretch>
            <a:fillRect/>
          </a:stretch>
        </p:blipFill>
        <p:spPr>
          <a:xfrm>
            <a:off x="304800" y="262127"/>
            <a:ext cx="8534400" cy="6333744"/>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215626098"/>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4" name="Picture 3" descr="figure_04_19a.jpg"/>
          <p:cNvPicPr>
            <a:picLocks noChangeAspect="1"/>
          </p:cNvPicPr>
          <p:nvPr/>
        </p:nvPicPr>
        <p:blipFill>
          <a:blip r:embed="rId3"/>
          <a:stretch>
            <a:fillRect/>
          </a:stretch>
        </p:blipFill>
        <p:spPr>
          <a:xfrm>
            <a:off x="60562" y="336131"/>
            <a:ext cx="2680021" cy="5591713"/>
          </a:xfrm>
          <a:prstGeom prst="rect">
            <a:avLst/>
          </a:prstGeom>
        </p:spPr>
      </p:pic>
      <p:pic>
        <p:nvPicPr>
          <p:cNvPr id="5" name="Picture 4" descr="figure_04_19b.jpg"/>
          <p:cNvPicPr>
            <a:picLocks noChangeAspect="1"/>
          </p:cNvPicPr>
          <p:nvPr/>
        </p:nvPicPr>
        <p:blipFill>
          <a:blip r:embed="rId4"/>
          <a:stretch>
            <a:fillRect/>
          </a:stretch>
        </p:blipFill>
        <p:spPr>
          <a:xfrm>
            <a:off x="2740583" y="336131"/>
            <a:ext cx="6403417" cy="5003995"/>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1932973494"/>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73730" name="TextBox 2"/>
          <p:cNvSpPr txBox="1">
            <a:spLocks noChangeArrowheads="1"/>
          </p:cNvSpPr>
          <p:nvPr/>
        </p:nvSpPr>
        <p:spPr bwMode="auto">
          <a:xfrm>
            <a:off x="558800" y="2057400"/>
            <a:ext cx="8585200" cy="2308225"/>
          </a:xfrm>
          <a:prstGeom prst="rect">
            <a:avLst/>
          </a:prstGeom>
          <a:noFill/>
          <a:ln>
            <a:noFill/>
          </a:ln>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rgbClr val="FFFFFF"/>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Because of the base pairing rules, the sequence of one strand determines the sequence of the partner strand.</a:t>
            </a:r>
          </a:p>
          <a:p>
            <a:endParaRPr lang="en-US" sz="1800" dirty="0"/>
          </a:p>
          <a:p>
            <a:r>
              <a:rPr lang="en-US" sz="1800" dirty="0"/>
              <a:t>The two strands can be separated and complementary sequences synthesized to generate two identical daughter strands.</a:t>
            </a:r>
          </a:p>
          <a:p>
            <a:endParaRPr lang="en-US" sz="1800" dirty="0"/>
          </a:p>
          <a:p>
            <a:r>
              <a:rPr lang="en-US" sz="1800" dirty="0"/>
              <a:t>Because the two daughter helices have one parent strand and one newly synthesized strand, the replication process is called semiconservative replication.</a:t>
            </a:r>
          </a:p>
        </p:txBody>
      </p:sp>
      <p:pic>
        <p:nvPicPr>
          <p:cNvPr id="2" name="Picture 1"/>
          <p:cNvPicPr>
            <a:picLocks noChangeAspect="1"/>
          </p:cNvPicPr>
          <p:nvPr/>
        </p:nvPicPr>
        <p:blipFill>
          <a:blip r:embed="rId2"/>
          <a:stretch>
            <a:fillRect/>
          </a:stretch>
        </p:blipFill>
        <p:spPr>
          <a:xfrm>
            <a:off x="1219200" y="438120"/>
            <a:ext cx="6692900" cy="939800"/>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1023382297"/>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74754" name="Picture 3"/>
          <p:cNvPicPr>
            <a:picLocks noChangeAspect="1"/>
          </p:cNvPicPr>
          <p:nvPr/>
        </p:nvPicPr>
        <p:blipFill>
          <a:blip r:embed="rId2">
            <a:extLst>
              <a:ext uri="{28A0092B-C50C-407E-A947-70E740481C1C}">
                <a14:useLocalDpi xmlns:a14="http://schemas.microsoft.com/office/drawing/2010/main" xmlns:p="http://schemas.openxmlformats.org/presentationml/2006/main" xmlns:r="http://schemas.openxmlformats.org/officeDocument/2006/relationships" xmlns:a="http://schemas.openxmlformats.org/drawingml/2006/main" xmlns="" val="0"/>
              </a:ext>
            </a:extLst>
          </a:blip>
          <a:srcRect/>
          <a:stretch>
            <a:fillRect/>
          </a:stretch>
        </p:blipFill>
        <p:spPr bwMode="auto">
          <a:xfrm>
            <a:off x="1295400" y="1447800"/>
            <a:ext cx="5321300" cy="609600"/>
          </a:xfrm>
          <a:prstGeom prst="rect">
            <a:avLst/>
          </a:prstGeom>
          <a:noFill/>
          <a:ln>
            <a:noFill/>
          </a:ln>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rgbClr val="FFFFFF"/>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rgbClr val="000000"/>
                </a:solidFill>
                <a:miter lim="800000"/>
                <a:headEnd/>
                <a:tailEnd/>
              </a14:hiddenLine>
            </a:ext>
          </a:extLst>
        </p:spPr>
      </p:pic>
      <p:sp>
        <p:nvSpPr>
          <p:cNvPr id="74755" name="TextBox 4"/>
          <p:cNvSpPr txBox="1">
            <a:spLocks noChangeArrowheads="1"/>
          </p:cNvSpPr>
          <p:nvPr/>
        </p:nvSpPr>
        <p:spPr bwMode="auto">
          <a:xfrm>
            <a:off x="508000" y="2933700"/>
            <a:ext cx="8128000" cy="2032000"/>
          </a:xfrm>
          <a:prstGeom prst="rect">
            <a:avLst/>
          </a:prstGeom>
          <a:noFill/>
          <a:ln>
            <a:noFill/>
          </a:ln>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rgbClr val="FFFFFF"/>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Meselson and Stahl elegantly demonstrated </a:t>
            </a:r>
            <a:r>
              <a:rPr lang="en-US" sz="1800" dirty="0" smtClean="0"/>
              <a:t>that </a:t>
            </a:r>
            <a:r>
              <a:rPr lang="en-US" sz="1800" dirty="0"/>
              <a:t>replication is semiconservative by growing bacteria in growth media supplemented with </a:t>
            </a:r>
            <a:r>
              <a:rPr lang="en-US" sz="1800" baseline="30000" dirty="0"/>
              <a:t>15</a:t>
            </a:r>
            <a:r>
              <a:rPr lang="en-US" sz="1800" dirty="0"/>
              <a:t>N. The bacteria were then shifted to growth media with </a:t>
            </a:r>
            <a:r>
              <a:rPr lang="en-US" sz="1800" baseline="30000" dirty="0"/>
              <a:t>14</a:t>
            </a:r>
            <a:r>
              <a:rPr lang="en-US" sz="1800" dirty="0"/>
              <a:t>N as the nitrogen source.</a:t>
            </a:r>
          </a:p>
          <a:p>
            <a:endParaRPr lang="en-US" sz="1800" dirty="0"/>
          </a:p>
          <a:p>
            <a:r>
              <a:rPr lang="en-US" sz="1800" dirty="0"/>
              <a:t>Density gradient centrifugation established that upon the shift to </a:t>
            </a:r>
            <a:r>
              <a:rPr lang="en-US" sz="1800" baseline="30000" dirty="0"/>
              <a:t>14</a:t>
            </a:r>
            <a:r>
              <a:rPr lang="en-US" sz="1800" dirty="0"/>
              <a:t>N medium, newly synthesized DNA consisted of DNA with equal parts </a:t>
            </a:r>
            <a:r>
              <a:rPr lang="en-US" sz="1800" baseline="30000" dirty="0"/>
              <a:t>15</a:t>
            </a:r>
            <a:r>
              <a:rPr lang="en-US" sz="1800" dirty="0"/>
              <a:t>N-DNA and </a:t>
            </a:r>
            <a:r>
              <a:rPr lang="en-US" sz="1800" baseline="30000" dirty="0"/>
              <a:t>14</a:t>
            </a:r>
            <a:r>
              <a:rPr lang="en-US" sz="1800" dirty="0"/>
              <a:t>N-DNA, a result consistent with semiconservative replication.</a:t>
            </a:r>
          </a:p>
        </p:txBody>
      </p:sp>
      <p:pic>
        <p:nvPicPr>
          <p:cNvPr id="2" name="Picture 1"/>
          <p:cNvPicPr>
            <a:picLocks noChangeAspect="1"/>
          </p:cNvPicPr>
          <p:nvPr/>
        </p:nvPicPr>
        <p:blipFill>
          <a:blip r:embed="rId3"/>
          <a:stretch>
            <a:fillRect/>
          </a:stretch>
        </p:blipFill>
        <p:spPr>
          <a:xfrm>
            <a:off x="1032445" y="0"/>
            <a:ext cx="6692900" cy="939800"/>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2588888015"/>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3" name="Picture 2" descr="figure_04_20.jpg"/>
          <p:cNvPicPr>
            <a:picLocks noChangeAspect="1"/>
          </p:cNvPicPr>
          <p:nvPr/>
        </p:nvPicPr>
        <p:blipFill>
          <a:blip r:embed="rId3"/>
          <a:stretch>
            <a:fillRect/>
          </a:stretch>
        </p:blipFill>
        <p:spPr>
          <a:xfrm>
            <a:off x="2374392" y="283464"/>
            <a:ext cx="4395216" cy="6291072"/>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398810451"/>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3" name="Picture 2" descr="figure_04_21.jpg"/>
          <p:cNvPicPr>
            <a:picLocks noChangeAspect="1"/>
          </p:cNvPicPr>
          <p:nvPr/>
        </p:nvPicPr>
        <p:blipFill>
          <a:blip r:embed="rId3"/>
          <a:stretch>
            <a:fillRect/>
          </a:stretch>
        </p:blipFill>
        <p:spPr>
          <a:xfrm>
            <a:off x="2743200" y="283464"/>
            <a:ext cx="3657600" cy="6291072"/>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1972300202"/>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3" name="Picture 2" descr="figure_04_22.jpg"/>
          <p:cNvPicPr>
            <a:picLocks noChangeAspect="1"/>
          </p:cNvPicPr>
          <p:nvPr/>
        </p:nvPicPr>
        <p:blipFill>
          <a:blip r:embed="rId3"/>
          <a:stretch>
            <a:fillRect/>
          </a:stretch>
        </p:blipFill>
        <p:spPr>
          <a:xfrm>
            <a:off x="2980944" y="192023"/>
            <a:ext cx="3182112" cy="6473952"/>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3732369949"/>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81922" name="Picture 2"/>
          <p:cNvPicPr>
            <a:picLocks noChangeAspect="1"/>
          </p:cNvPicPr>
          <p:nvPr/>
        </p:nvPicPr>
        <p:blipFill>
          <a:blip r:embed="rId2">
            <a:extLst>
              <a:ext uri="{28A0092B-C50C-407E-A947-70E740481C1C}">
                <a14:useLocalDpi xmlns:a14="http://schemas.microsoft.com/office/drawing/2010/main" xmlns:p="http://schemas.openxmlformats.org/presentationml/2006/main" xmlns:r="http://schemas.openxmlformats.org/officeDocument/2006/relationships" xmlns:a="http://schemas.openxmlformats.org/drawingml/2006/main" xmlns="" val="0"/>
              </a:ext>
            </a:extLst>
          </a:blip>
          <a:srcRect/>
          <a:stretch>
            <a:fillRect/>
          </a:stretch>
        </p:blipFill>
        <p:spPr bwMode="auto">
          <a:xfrm>
            <a:off x="1752600" y="1676400"/>
            <a:ext cx="3911600" cy="406400"/>
          </a:xfrm>
          <a:prstGeom prst="rect">
            <a:avLst/>
          </a:prstGeom>
          <a:noFill/>
          <a:ln>
            <a:noFill/>
          </a:ln>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rgbClr val="FFFFFF"/>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rgbClr val="000000"/>
                </a:solidFill>
                <a:miter lim="800000"/>
                <a:headEnd/>
                <a:tailEnd/>
              </a14:hiddenLine>
            </a:ext>
          </a:extLst>
        </p:spPr>
      </p:pic>
      <p:sp>
        <p:nvSpPr>
          <p:cNvPr id="81923" name="TextBox 3"/>
          <p:cNvSpPr txBox="1">
            <a:spLocks noChangeArrowheads="1"/>
          </p:cNvSpPr>
          <p:nvPr/>
        </p:nvSpPr>
        <p:spPr bwMode="auto">
          <a:xfrm>
            <a:off x="381000" y="2209800"/>
            <a:ext cx="8394700" cy="3416300"/>
          </a:xfrm>
          <a:prstGeom prst="rect">
            <a:avLst/>
          </a:prstGeom>
          <a:noFill/>
          <a:ln>
            <a:noFill/>
          </a:ln>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rgbClr val="FFFFFF"/>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During replication or transcription, the two strands of the DNA double helix must be separated.</a:t>
            </a:r>
          </a:p>
          <a:p>
            <a:endParaRPr lang="en-US" sz="1800" dirty="0"/>
          </a:p>
          <a:p>
            <a:r>
              <a:rPr lang="en-US" sz="1800" dirty="0"/>
              <a:t>In the laboratory, DNA strands can be separated by heating a solution of DNA, a process called denaturation or melting. The temperature at which half of the DNA molecules are denatured is called the melting temperature (</a:t>
            </a:r>
            <a:r>
              <a:rPr lang="en-US" sz="1800" i="1" dirty="0"/>
              <a:t>T</a:t>
            </a:r>
            <a:r>
              <a:rPr lang="en-US" sz="1800" i="1" baseline="-25000" dirty="0"/>
              <a:t>m</a:t>
            </a:r>
            <a:r>
              <a:rPr lang="en-US" sz="1800" dirty="0"/>
              <a:t>).</a:t>
            </a:r>
          </a:p>
          <a:p>
            <a:endParaRPr lang="en-US" sz="1800" dirty="0"/>
          </a:p>
          <a:p>
            <a:r>
              <a:rPr lang="en-US" sz="1800" dirty="0"/>
              <a:t>Melting can be observed because bases stacked in a double helix absorb less ultraviolet </a:t>
            </a:r>
            <a:r>
              <a:rPr lang="en-US" sz="1800" dirty="0" smtClean="0"/>
              <a:t>light than </a:t>
            </a:r>
            <a:r>
              <a:rPr lang="en-US" sz="1800" dirty="0"/>
              <a:t>bases in a single-stranded molecule, a phenomenon called hypochromism.</a:t>
            </a:r>
          </a:p>
          <a:p>
            <a:endParaRPr lang="en-US" sz="1800" dirty="0"/>
          </a:p>
          <a:p>
            <a:r>
              <a:rPr lang="en-US" sz="1800" dirty="0"/>
              <a:t>Upon cooling, the two strands can bind to one another to reform the double helix, a process called reannealing.</a:t>
            </a:r>
          </a:p>
        </p:txBody>
      </p:sp>
      <p:pic>
        <p:nvPicPr>
          <p:cNvPr id="2" name="Picture 1"/>
          <p:cNvPicPr>
            <a:picLocks noChangeAspect="1"/>
          </p:cNvPicPr>
          <p:nvPr/>
        </p:nvPicPr>
        <p:blipFill>
          <a:blip r:embed="rId3"/>
          <a:stretch>
            <a:fillRect/>
          </a:stretch>
        </p:blipFill>
        <p:spPr>
          <a:xfrm>
            <a:off x="1219200" y="344750"/>
            <a:ext cx="6692900" cy="939800"/>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3772734768"/>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4" name="Picture 3" descr="figure_04_23.jpg"/>
          <p:cNvPicPr>
            <a:picLocks noChangeAspect="1"/>
          </p:cNvPicPr>
          <p:nvPr/>
        </p:nvPicPr>
        <p:blipFill>
          <a:blip r:embed="rId3"/>
          <a:stretch>
            <a:fillRect/>
          </a:stretch>
        </p:blipFill>
        <p:spPr>
          <a:xfrm>
            <a:off x="304800" y="569976"/>
            <a:ext cx="8534400" cy="5718048"/>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4020226588"/>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84994" name="TextBox 2"/>
          <p:cNvSpPr txBox="1">
            <a:spLocks noChangeArrowheads="1"/>
          </p:cNvSpPr>
          <p:nvPr/>
        </p:nvSpPr>
        <p:spPr bwMode="auto">
          <a:xfrm>
            <a:off x="914400" y="2362200"/>
            <a:ext cx="7404100" cy="646113"/>
          </a:xfrm>
          <a:prstGeom prst="rect">
            <a:avLst/>
          </a:prstGeom>
          <a:noFill/>
          <a:ln>
            <a:noFill/>
          </a:ln>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rgbClr val="FFFFFF"/>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DNA replication in </a:t>
            </a:r>
            <a:r>
              <a:rPr lang="en-US" sz="1800" i="1" dirty="0"/>
              <a:t>E. coli </a:t>
            </a:r>
            <a:r>
              <a:rPr lang="en-US" sz="1800" dirty="0"/>
              <a:t>requires more than 20 proteins, five of which, called DNA polymerases, catalyze the synthesis of new DNA.</a:t>
            </a:r>
          </a:p>
        </p:txBody>
      </p:sp>
      <p:pic>
        <p:nvPicPr>
          <p:cNvPr id="2" name="Picture 1"/>
          <p:cNvPicPr>
            <a:picLocks noChangeAspect="1"/>
          </p:cNvPicPr>
          <p:nvPr/>
        </p:nvPicPr>
        <p:blipFill>
          <a:blip r:embed="rId2"/>
          <a:stretch>
            <a:fillRect/>
          </a:stretch>
        </p:blipFill>
        <p:spPr>
          <a:xfrm>
            <a:off x="1231900" y="682386"/>
            <a:ext cx="6667500" cy="787400"/>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518096267"/>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86018" name="Picture 2"/>
          <p:cNvPicPr>
            <a:picLocks noChangeAspect="1"/>
          </p:cNvPicPr>
          <p:nvPr/>
        </p:nvPicPr>
        <p:blipFill>
          <a:blip r:embed="rId2">
            <a:extLst>
              <a:ext uri="{28A0092B-C50C-407E-A947-70E740481C1C}">
                <a14:useLocalDpi xmlns:a14="http://schemas.microsoft.com/office/drawing/2010/main" xmlns:p="http://schemas.openxmlformats.org/presentationml/2006/main" xmlns:r="http://schemas.openxmlformats.org/officeDocument/2006/relationships" xmlns:a="http://schemas.openxmlformats.org/drawingml/2006/main" xmlns="" val="0"/>
              </a:ext>
            </a:extLst>
          </a:blip>
          <a:srcRect/>
          <a:stretch>
            <a:fillRect/>
          </a:stretch>
        </p:blipFill>
        <p:spPr bwMode="auto">
          <a:xfrm>
            <a:off x="1371600" y="1600200"/>
            <a:ext cx="5753100" cy="419100"/>
          </a:xfrm>
          <a:prstGeom prst="rect">
            <a:avLst/>
          </a:prstGeom>
          <a:noFill/>
          <a:ln>
            <a:noFill/>
          </a:ln>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rgbClr val="FFFFFF"/>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rgbClr val="000000"/>
                </a:solidFill>
                <a:miter lim="800000"/>
                <a:headEnd/>
                <a:tailEnd/>
              </a14:hiddenLine>
            </a:ext>
          </a:extLst>
        </p:spPr>
      </p:pic>
      <p:sp>
        <p:nvSpPr>
          <p:cNvPr id="86019" name="TextBox 3"/>
          <p:cNvSpPr txBox="1">
            <a:spLocks noChangeArrowheads="1"/>
          </p:cNvSpPr>
          <p:nvPr/>
        </p:nvSpPr>
        <p:spPr bwMode="auto">
          <a:xfrm>
            <a:off x="1752600" y="2133600"/>
            <a:ext cx="4505325" cy="369888"/>
          </a:xfrm>
          <a:prstGeom prst="rect">
            <a:avLst/>
          </a:prstGeom>
          <a:noFill/>
          <a:ln>
            <a:noFill/>
          </a:ln>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rgbClr val="FFFFFF"/>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rgbClr val="000000"/>
                </a:solidFill>
                <a:miter lim="800000"/>
                <a:headEnd/>
                <a:tailEnd/>
              </a14:hiddenLine>
            </a:ext>
          </a:extLst>
        </p:spPr>
        <p:txBody>
          <a:bodyPr wrap="none">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The reaction catalyzed by DNA polymerase is:</a:t>
            </a:r>
          </a:p>
        </p:txBody>
      </p:sp>
      <p:sp>
        <p:nvSpPr>
          <p:cNvPr id="5" name="TextBox 4"/>
          <p:cNvSpPr txBox="1"/>
          <p:nvPr/>
        </p:nvSpPr>
        <p:spPr>
          <a:xfrm>
            <a:off x="381000" y="3505200"/>
            <a:ext cx="8407400" cy="2862263"/>
          </a:xfrm>
          <a:prstGeom prst="rect">
            <a:avLst/>
          </a:prstGeom>
          <a:noFill/>
        </p:spPr>
        <p:txBody>
          <a:bodyPr>
            <a:spAutoFit/>
          </a:bodyPr>
          <a:lstStyle/>
          <a:p>
            <a:pPr>
              <a:defRPr/>
            </a:pPr>
            <a:r>
              <a:rPr lang="en-US" sz="1800" dirty="0"/>
              <a:t>Key characteristics of DNA synthesis are:</a:t>
            </a:r>
          </a:p>
          <a:p>
            <a:pPr>
              <a:defRPr/>
            </a:pPr>
            <a:endParaRPr lang="en-US" sz="1800" dirty="0">
              <a:latin typeface="Times"/>
              <a:cs typeface="Times"/>
            </a:endParaRPr>
          </a:p>
          <a:p>
            <a:pPr marL="342900" indent="-342900">
              <a:buFontTx/>
              <a:buAutoNum type="arabicPeriod"/>
              <a:defRPr/>
            </a:pPr>
            <a:r>
              <a:rPr lang="en-US" sz="1800" dirty="0"/>
              <a:t>Four deoxynucleoside triphosphates and Mg</a:t>
            </a:r>
            <a:r>
              <a:rPr lang="en-US" sz="1800" baseline="30000" dirty="0"/>
              <a:t>2+ </a:t>
            </a:r>
            <a:r>
              <a:rPr lang="en-US" sz="1800" dirty="0"/>
              <a:t>are</a:t>
            </a:r>
            <a:r>
              <a:rPr lang="en-US" sz="1800" baseline="30000" dirty="0"/>
              <a:t> </a:t>
            </a:r>
            <a:r>
              <a:rPr lang="en-US" sz="1800" dirty="0"/>
              <a:t>required.</a:t>
            </a:r>
          </a:p>
          <a:p>
            <a:pPr marL="342900" indent="-342900">
              <a:buFontTx/>
              <a:buAutoNum type="arabicPeriod"/>
              <a:defRPr/>
            </a:pPr>
            <a:endParaRPr lang="en-US" sz="1800" dirty="0"/>
          </a:p>
          <a:p>
            <a:pPr marL="342900" indent="-342900">
              <a:buFontTx/>
              <a:buAutoNum type="arabicPeriod"/>
              <a:defRPr/>
            </a:pPr>
            <a:r>
              <a:rPr lang="en-US" sz="1800" dirty="0"/>
              <a:t> A template strand is used to direct DNA synthesis.</a:t>
            </a:r>
          </a:p>
          <a:p>
            <a:pPr marL="342900" indent="-342900">
              <a:buFontTx/>
              <a:buAutoNum type="arabicPeriod"/>
              <a:defRPr/>
            </a:pPr>
            <a:endParaRPr lang="en-US" sz="1800" dirty="0"/>
          </a:p>
          <a:p>
            <a:pPr marL="342900" indent="-342900">
              <a:buFontTx/>
              <a:buAutoNum type="arabicPeriod"/>
              <a:defRPr/>
            </a:pPr>
            <a:r>
              <a:rPr lang="en-US" sz="1800" dirty="0"/>
              <a:t>A primer from which the new strand grows must be present.</a:t>
            </a:r>
          </a:p>
          <a:p>
            <a:pPr marL="342900" indent="-342900">
              <a:buFontTx/>
              <a:buAutoNum type="arabicPeriod"/>
              <a:defRPr/>
            </a:pPr>
            <a:endParaRPr lang="en-US" sz="1800" dirty="0"/>
          </a:p>
          <a:p>
            <a:pPr marL="342900" indent="-342900">
              <a:buFontTx/>
              <a:buAutoNum type="arabicPeriod"/>
              <a:defRPr/>
            </a:pPr>
            <a:r>
              <a:rPr lang="en-US" sz="1800" dirty="0"/>
              <a:t>Many DNA polymerases have nuclease activity that allows for the removal of mismatched bases.</a:t>
            </a:r>
          </a:p>
        </p:txBody>
      </p:sp>
      <p:pic>
        <p:nvPicPr>
          <p:cNvPr id="2" name="Picture 1"/>
          <p:cNvPicPr>
            <a:picLocks noChangeAspect="1"/>
          </p:cNvPicPr>
          <p:nvPr/>
        </p:nvPicPr>
        <p:blipFill>
          <a:blip r:embed="rId3"/>
          <a:stretch>
            <a:fillRect/>
          </a:stretch>
        </p:blipFill>
        <p:spPr>
          <a:xfrm>
            <a:off x="1082496" y="551667"/>
            <a:ext cx="6667500" cy="787400"/>
          </a:xfrm>
          <a:prstGeom prst="rect">
            <a:avLst/>
          </a:prstGeom>
        </p:spPr>
      </p:pic>
      <p:pic>
        <p:nvPicPr>
          <p:cNvPr id="3" name="Picture 2"/>
          <p:cNvPicPr>
            <a:picLocks noChangeAspect="1"/>
          </p:cNvPicPr>
          <p:nvPr/>
        </p:nvPicPr>
        <p:blipFill>
          <a:blip r:embed="rId4"/>
          <a:stretch>
            <a:fillRect/>
          </a:stretch>
        </p:blipFill>
        <p:spPr>
          <a:xfrm>
            <a:off x="1952625" y="2679700"/>
            <a:ext cx="4305300" cy="495300"/>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3628353452"/>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3" name="Picture 2" descr="figure_04_24.jpg"/>
          <p:cNvPicPr>
            <a:picLocks noChangeAspect="1"/>
          </p:cNvPicPr>
          <p:nvPr/>
        </p:nvPicPr>
        <p:blipFill>
          <a:blip r:embed="rId3"/>
          <a:stretch>
            <a:fillRect/>
          </a:stretch>
        </p:blipFill>
        <p:spPr>
          <a:xfrm>
            <a:off x="304800" y="2404872"/>
            <a:ext cx="8534400" cy="2048256"/>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2086275725"/>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3" name="Picture 2" descr="figure_04_25.jpg"/>
          <p:cNvPicPr>
            <a:picLocks noChangeAspect="1"/>
          </p:cNvPicPr>
          <p:nvPr/>
        </p:nvPicPr>
        <p:blipFill>
          <a:blip r:embed="rId3"/>
          <a:stretch>
            <a:fillRect/>
          </a:stretch>
        </p:blipFill>
        <p:spPr>
          <a:xfrm>
            <a:off x="304800" y="963167"/>
            <a:ext cx="8534400" cy="4931664"/>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534857049"/>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91138" name="Picture 2"/>
          <p:cNvPicPr>
            <a:picLocks noChangeAspect="1"/>
          </p:cNvPicPr>
          <p:nvPr/>
        </p:nvPicPr>
        <p:blipFill>
          <a:blip r:embed="rId2">
            <a:extLst>
              <a:ext uri="{28A0092B-C50C-407E-A947-70E740481C1C}">
                <a14:useLocalDpi xmlns:a14="http://schemas.microsoft.com/office/drawing/2010/main" xmlns:p="http://schemas.openxmlformats.org/presentationml/2006/main" xmlns:r="http://schemas.openxmlformats.org/officeDocument/2006/relationships" xmlns:a="http://schemas.openxmlformats.org/drawingml/2006/main" xmlns="" val="0"/>
              </a:ext>
            </a:extLst>
          </a:blip>
          <a:srcRect/>
          <a:stretch>
            <a:fillRect/>
          </a:stretch>
        </p:blipFill>
        <p:spPr bwMode="auto">
          <a:xfrm>
            <a:off x="1752600" y="1447800"/>
            <a:ext cx="4279900" cy="381000"/>
          </a:xfrm>
          <a:prstGeom prst="rect">
            <a:avLst/>
          </a:prstGeom>
          <a:noFill/>
          <a:ln>
            <a:noFill/>
          </a:ln>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rgbClr val="FFFFFF"/>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rgbClr val="000000"/>
                </a:solidFill>
                <a:miter lim="800000"/>
                <a:headEnd/>
                <a:tailEnd/>
              </a14:hiddenLine>
            </a:ext>
          </a:extLst>
        </p:spPr>
      </p:pic>
      <p:sp>
        <p:nvSpPr>
          <p:cNvPr id="91139" name="TextBox 3"/>
          <p:cNvSpPr txBox="1">
            <a:spLocks noChangeArrowheads="1"/>
          </p:cNvSpPr>
          <p:nvPr/>
        </p:nvSpPr>
        <p:spPr bwMode="auto">
          <a:xfrm>
            <a:off x="765175" y="2241550"/>
            <a:ext cx="7693025" cy="1477963"/>
          </a:xfrm>
          <a:prstGeom prst="rect">
            <a:avLst/>
          </a:prstGeom>
          <a:noFill/>
          <a:ln>
            <a:noFill/>
          </a:ln>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rgbClr val="FFFFFF"/>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Some viruses, such as the tobacco mosaic virus, have RNA genomes that are replicated by RNA-directed RNA polymerases.</a:t>
            </a:r>
          </a:p>
          <a:p>
            <a:endParaRPr lang="en-US" sz="1800" dirty="0"/>
          </a:p>
          <a:p>
            <a:r>
              <a:rPr lang="en-US" sz="1800" dirty="0"/>
              <a:t>Retroviruses, such as HIV-1, have single-stranded RNA genomes that are converted into DNA double helices by the action of reverse transcriptase.</a:t>
            </a:r>
          </a:p>
        </p:txBody>
      </p:sp>
      <p:pic>
        <p:nvPicPr>
          <p:cNvPr id="2" name="Picture 1"/>
          <p:cNvPicPr>
            <a:picLocks noChangeAspect="1"/>
          </p:cNvPicPr>
          <p:nvPr/>
        </p:nvPicPr>
        <p:blipFill>
          <a:blip r:embed="rId3"/>
          <a:stretch>
            <a:fillRect/>
          </a:stretch>
        </p:blipFill>
        <p:spPr>
          <a:xfrm>
            <a:off x="1101171" y="327581"/>
            <a:ext cx="6667500" cy="787400"/>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4202168070"/>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3" name="Picture 2" descr="figure_04_26.jpg"/>
          <p:cNvPicPr>
            <a:picLocks noChangeAspect="1"/>
          </p:cNvPicPr>
          <p:nvPr/>
        </p:nvPicPr>
        <p:blipFill>
          <a:blip r:embed="rId3"/>
          <a:stretch>
            <a:fillRect/>
          </a:stretch>
        </p:blipFill>
        <p:spPr>
          <a:xfrm>
            <a:off x="304800" y="1255776"/>
            <a:ext cx="8534400" cy="4346448"/>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3101092751"/>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94210" name="TextBox 2"/>
          <p:cNvSpPr txBox="1">
            <a:spLocks noChangeArrowheads="1"/>
          </p:cNvSpPr>
          <p:nvPr/>
        </p:nvSpPr>
        <p:spPr bwMode="auto">
          <a:xfrm>
            <a:off x="990600" y="1981200"/>
            <a:ext cx="7321550" cy="923925"/>
          </a:xfrm>
          <a:prstGeom prst="rect">
            <a:avLst/>
          </a:prstGeom>
          <a:noFill/>
          <a:ln>
            <a:noFill/>
          </a:ln>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rgbClr val="FFFFFF"/>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There are many species of RNA that perform a variety of functions. However, the three most abundant classes of RNA are ribosomal RNA (rRNA), messenger RNA (mRNA) and transfer RNA (tRNA).</a:t>
            </a:r>
          </a:p>
        </p:txBody>
      </p:sp>
      <p:pic>
        <p:nvPicPr>
          <p:cNvPr id="2" name="Picture 1"/>
          <p:cNvPicPr>
            <a:picLocks noChangeAspect="1"/>
          </p:cNvPicPr>
          <p:nvPr/>
        </p:nvPicPr>
        <p:blipFill>
          <a:blip r:embed="rId2"/>
          <a:stretch>
            <a:fillRect/>
          </a:stretch>
        </p:blipFill>
        <p:spPr>
          <a:xfrm>
            <a:off x="1371600" y="348424"/>
            <a:ext cx="6388100" cy="914400"/>
          </a:xfrm>
          <a:prstGeom prst="rect">
            <a:avLst/>
          </a:prstGeom>
        </p:spPr>
      </p:pic>
      <p:pic>
        <p:nvPicPr>
          <p:cNvPr id="3" name="Picture 2"/>
          <p:cNvPicPr>
            <a:picLocks noChangeAspect="1"/>
          </p:cNvPicPr>
          <p:nvPr/>
        </p:nvPicPr>
        <p:blipFill>
          <a:blip r:embed="rId3"/>
          <a:stretch>
            <a:fillRect/>
          </a:stretch>
        </p:blipFill>
        <p:spPr>
          <a:xfrm>
            <a:off x="4354521" y="3755266"/>
            <a:ext cx="3759200" cy="2260600"/>
          </a:xfrm>
          <a:prstGeom prst="rect">
            <a:avLst/>
          </a:prstGeom>
        </p:spPr>
      </p:pic>
      <p:pic>
        <p:nvPicPr>
          <p:cNvPr id="4" name="Picture 3"/>
          <p:cNvPicPr>
            <a:picLocks noChangeAspect="1"/>
          </p:cNvPicPr>
          <p:nvPr/>
        </p:nvPicPr>
        <p:blipFill>
          <a:blip r:embed="rId4"/>
          <a:stretch>
            <a:fillRect/>
          </a:stretch>
        </p:blipFill>
        <p:spPr>
          <a:xfrm>
            <a:off x="1484321" y="1478724"/>
            <a:ext cx="5740400" cy="431800"/>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4199398407"/>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3" name="Picture 2" descr="Table 4.3.jpg"/>
          <p:cNvPicPr>
            <a:picLocks noChangeAspect="1"/>
          </p:cNvPicPr>
          <p:nvPr/>
        </p:nvPicPr>
        <p:blipFill>
          <a:blip r:embed="rId3"/>
          <a:stretch>
            <a:fillRect/>
          </a:stretch>
        </p:blipFill>
        <p:spPr>
          <a:xfrm>
            <a:off x="304800" y="1886712"/>
            <a:ext cx="8534400" cy="3084576"/>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3692705046"/>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97282" name="Picture 4"/>
          <p:cNvPicPr>
            <a:picLocks noChangeAspect="1"/>
          </p:cNvPicPr>
          <p:nvPr/>
        </p:nvPicPr>
        <p:blipFill>
          <a:blip r:embed="rId2">
            <a:extLst>
              <a:ext uri="{28A0092B-C50C-407E-A947-70E740481C1C}">
                <a14:useLocalDpi xmlns:a14="http://schemas.microsoft.com/office/drawing/2010/main" xmlns:p="http://schemas.openxmlformats.org/presentationml/2006/main" xmlns:r="http://schemas.openxmlformats.org/officeDocument/2006/relationships" xmlns:a="http://schemas.openxmlformats.org/drawingml/2006/main" xmlns="" val="0"/>
              </a:ext>
            </a:extLst>
          </a:blip>
          <a:srcRect/>
          <a:stretch>
            <a:fillRect/>
          </a:stretch>
        </p:blipFill>
        <p:spPr bwMode="auto">
          <a:xfrm>
            <a:off x="1676400" y="1219200"/>
            <a:ext cx="4914900" cy="330200"/>
          </a:xfrm>
          <a:prstGeom prst="rect">
            <a:avLst/>
          </a:prstGeom>
          <a:noFill/>
          <a:ln>
            <a:noFill/>
          </a:ln>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rgbClr val="FFFFFF"/>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rgbClr val="000000"/>
                </a:solidFill>
                <a:miter lim="800000"/>
                <a:headEnd/>
                <a:tailEnd/>
              </a14:hiddenLine>
            </a:ext>
          </a:extLst>
        </p:spPr>
      </p:pic>
      <p:sp>
        <p:nvSpPr>
          <p:cNvPr id="6" name="TextBox 5"/>
          <p:cNvSpPr txBox="1"/>
          <p:nvPr/>
        </p:nvSpPr>
        <p:spPr>
          <a:xfrm>
            <a:off x="838200" y="1752600"/>
            <a:ext cx="7956550" cy="4062413"/>
          </a:xfrm>
          <a:prstGeom prst="rect">
            <a:avLst/>
          </a:prstGeom>
          <a:noFill/>
        </p:spPr>
        <p:txBody>
          <a:bodyPr>
            <a:spAutoFit/>
          </a:bodyPr>
          <a:lstStyle/>
          <a:p>
            <a:pPr>
              <a:defRPr/>
            </a:pPr>
            <a:r>
              <a:rPr lang="en-US" sz="1800" dirty="0"/>
              <a:t>The synthesis of RNA from a DNA template is called transcription, a process catalyzed by RNA polymerase. RNA polymerase has the following requirements:</a:t>
            </a:r>
          </a:p>
          <a:p>
            <a:pPr>
              <a:defRPr/>
            </a:pPr>
            <a:endParaRPr lang="en-US" sz="1800" dirty="0"/>
          </a:p>
          <a:p>
            <a:pPr marL="342900" indent="-342900">
              <a:buFontTx/>
              <a:buAutoNum type="arabicPeriod"/>
              <a:defRPr/>
            </a:pPr>
            <a:r>
              <a:rPr lang="en-US" sz="1800" dirty="0"/>
              <a:t>A template. The sequence of the newly-synthesized RNA is complementary to the DNA template. The DNA strand that has the same sequence as the RNA product (with T instead of U) is called the coding strand.</a:t>
            </a:r>
          </a:p>
          <a:p>
            <a:pPr marL="342900" indent="-342900">
              <a:buFontTx/>
              <a:buAutoNum type="arabicPeriod"/>
              <a:defRPr/>
            </a:pPr>
            <a:endParaRPr lang="en-US" sz="1800" dirty="0"/>
          </a:p>
          <a:p>
            <a:pPr marL="342900" indent="-342900">
              <a:buFontTx/>
              <a:buAutoNum type="arabicPeriod"/>
              <a:defRPr/>
            </a:pPr>
            <a:r>
              <a:rPr lang="en-US" sz="1800" dirty="0"/>
              <a:t>Activated precursors in the form of the four ribonucleoside triphosphates.</a:t>
            </a:r>
          </a:p>
          <a:p>
            <a:pPr marL="342900" indent="-342900">
              <a:buFontTx/>
              <a:buAutoNum type="arabicPeriod"/>
              <a:defRPr/>
            </a:pPr>
            <a:endParaRPr lang="en-US" sz="1800" dirty="0">
              <a:latin typeface="Times"/>
              <a:cs typeface="Times"/>
            </a:endParaRPr>
          </a:p>
          <a:p>
            <a:pPr marL="342900" indent="-342900">
              <a:buFontTx/>
              <a:buAutoNum type="arabicPeriod"/>
              <a:defRPr/>
            </a:pPr>
            <a:r>
              <a:rPr lang="en-US" sz="1800" dirty="0"/>
              <a:t>Divalent metal ions, usually Mg</a:t>
            </a:r>
            <a:r>
              <a:rPr lang="en-US" sz="1800" baseline="30000" dirty="0"/>
              <a:t>2+</a:t>
            </a:r>
            <a:r>
              <a:rPr lang="en-US" sz="1800" dirty="0"/>
              <a:t> or Mn</a:t>
            </a:r>
            <a:r>
              <a:rPr lang="en-US" sz="1800" baseline="30000" dirty="0"/>
              <a:t>2+</a:t>
            </a:r>
          </a:p>
          <a:p>
            <a:pPr marL="342900" indent="-342900">
              <a:buFontTx/>
              <a:buAutoNum type="arabicPeriod"/>
              <a:defRPr/>
            </a:pPr>
            <a:endParaRPr lang="en-US" sz="1800" dirty="0"/>
          </a:p>
          <a:p>
            <a:pPr>
              <a:defRPr/>
            </a:pPr>
            <a:r>
              <a:rPr lang="en-US" sz="1800" dirty="0"/>
              <a:t>RNA polymerase initiates and elongates the RNA product, with the chain growing in the 5</a:t>
            </a:r>
            <a:r>
              <a:rPr lang="en-US" sz="1800" dirty="0">
                <a:sym typeface="Symbol"/>
              </a:rPr>
              <a:t></a:t>
            </a:r>
            <a:r>
              <a:rPr lang="en-US" sz="1800" dirty="0"/>
              <a:t>  to 3</a:t>
            </a:r>
            <a:r>
              <a:rPr lang="en-US" sz="1800" dirty="0">
                <a:sym typeface="Symbol"/>
              </a:rPr>
              <a:t></a:t>
            </a:r>
            <a:r>
              <a:rPr lang="en-US" sz="1800" dirty="0"/>
              <a:t>  direction. The 3</a:t>
            </a:r>
            <a:r>
              <a:rPr lang="en-US" sz="1800" dirty="0">
                <a:sym typeface="Symbol"/>
              </a:rPr>
              <a:t></a:t>
            </a:r>
            <a:r>
              <a:rPr lang="en-US" sz="1800" dirty="0"/>
              <a:t> OH of the growing chain attacks the inner most phosphoryl (α) group of the incoming ribonucleoside triphosphate.</a:t>
            </a:r>
          </a:p>
        </p:txBody>
      </p:sp>
      <p:pic>
        <p:nvPicPr>
          <p:cNvPr id="2" name="Picture 1"/>
          <p:cNvPicPr>
            <a:picLocks noChangeAspect="1"/>
          </p:cNvPicPr>
          <p:nvPr/>
        </p:nvPicPr>
        <p:blipFill>
          <a:blip r:embed="rId3"/>
          <a:stretch>
            <a:fillRect/>
          </a:stretch>
        </p:blipFill>
        <p:spPr>
          <a:xfrm>
            <a:off x="1295400" y="0"/>
            <a:ext cx="6388100" cy="914400"/>
          </a:xfrm>
          <a:prstGeom prst="rect">
            <a:avLst/>
          </a:prstGeom>
        </p:spPr>
      </p:pic>
      <p:pic>
        <p:nvPicPr>
          <p:cNvPr id="3" name="Picture 2"/>
          <p:cNvPicPr>
            <a:picLocks noChangeAspect="1"/>
          </p:cNvPicPr>
          <p:nvPr/>
        </p:nvPicPr>
        <p:blipFill>
          <a:blip r:embed="rId4"/>
          <a:stretch>
            <a:fillRect/>
          </a:stretch>
        </p:blipFill>
        <p:spPr>
          <a:xfrm>
            <a:off x="838200" y="6008215"/>
            <a:ext cx="7073900" cy="393700"/>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3501716466"/>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3" name="Picture 2" descr="figure_04_27.jpg"/>
          <p:cNvPicPr>
            <a:picLocks noChangeAspect="1"/>
          </p:cNvPicPr>
          <p:nvPr/>
        </p:nvPicPr>
        <p:blipFill>
          <a:blip r:embed="rId3"/>
          <a:stretch>
            <a:fillRect/>
          </a:stretch>
        </p:blipFill>
        <p:spPr>
          <a:xfrm>
            <a:off x="694944" y="192023"/>
            <a:ext cx="7754112" cy="6473952"/>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3959756015"/>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3" name="Picture 2" descr="figure_04_28.jpg"/>
          <p:cNvPicPr>
            <a:picLocks noChangeAspect="1"/>
          </p:cNvPicPr>
          <p:nvPr/>
        </p:nvPicPr>
        <p:blipFill>
          <a:blip r:embed="rId3"/>
          <a:stretch>
            <a:fillRect/>
          </a:stretch>
        </p:blipFill>
        <p:spPr>
          <a:xfrm>
            <a:off x="304800" y="1091183"/>
            <a:ext cx="8534400" cy="4675632"/>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779519383"/>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102402" name="Picture 2"/>
          <p:cNvPicPr>
            <a:picLocks noChangeAspect="1"/>
          </p:cNvPicPr>
          <p:nvPr/>
        </p:nvPicPr>
        <p:blipFill>
          <a:blip r:embed="rId2">
            <a:extLst>
              <a:ext uri="{28A0092B-C50C-407E-A947-70E740481C1C}">
                <a14:useLocalDpi xmlns:a14="http://schemas.microsoft.com/office/drawing/2010/main" xmlns:p="http://schemas.openxmlformats.org/presentationml/2006/main" xmlns:r="http://schemas.openxmlformats.org/officeDocument/2006/relationships" xmlns:a="http://schemas.openxmlformats.org/drawingml/2006/main" xmlns="" val="0"/>
              </a:ext>
            </a:extLst>
          </a:blip>
          <a:srcRect/>
          <a:stretch>
            <a:fillRect/>
          </a:stretch>
        </p:blipFill>
        <p:spPr bwMode="auto">
          <a:xfrm>
            <a:off x="1600200" y="1219200"/>
            <a:ext cx="5334000" cy="342900"/>
          </a:xfrm>
          <a:prstGeom prst="rect">
            <a:avLst/>
          </a:prstGeom>
          <a:noFill/>
          <a:ln>
            <a:noFill/>
          </a:ln>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rgbClr val="FFFFFF"/>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rgbClr val="000000"/>
                </a:solidFill>
                <a:miter lim="800000"/>
                <a:headEnd/>
                <a:tailEnd/>
              </a14:hiddenLine>
            </a:ext>
          </a:extLst>
        </p:spPr>
      </p:pic>
      <p:sp>
        <p:nvSpPr>
          <p:cNvPr id="102403" name="TextBox 3"/>
          <p:cNvSpPr txBox="1">
            <a:spLocks noChangeArrowheads="1"/>
          </p:cNvSpPr>
          <p:nvPr/>
        </p:nvSpPr>
        <p:spPr bwMode="auto">
          <a:xfrm>
            <a:off x="762000" y="2057400"/>
            <a:ext cx="7467600" cy="646113"/>
          </a:xfrm>
          <a:prstGeom prst="rect">
            <a:avLst/>
          </a:prstGeom>
          <a:noFill/>
          <a:ln>
            <a:noFill/>
          </a:ln>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rgbClr val="FFFFFF"/>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Newly synthesized RNA has a base sequence </a:t>
            </a:r>
            <a:r>
              <a:rPr lang="en-US" sz="1800" dirty="0" smtClean="0"/>
              <a:t>complementary </a:t>
            </a:r>
            <a:r>
              <a:rPr lang="en-US" sz="1800" dirty="0"/>
              <a:t>to that of the template strand of the DNA.</a:t>
            </a:r>
          </a:p>
        </p:txBody>
      </p:sp>
      <p:pic>
        <p:nvPicPr>
          <p:cNvPr id="2" name="Picture 1"/>
          <p:cNvPicPr>
            <a:picLocks noChangeAspect="1"/>
          </p:cNvPicPr>
          <p:nvPr/>
        </p:nvPicPr>
        <p:blipFill>
          <a:blip r:embed="rId3"/>
          <a:stretch>
            <a:fillRect/>
          </a:stretch>
        </p:blipFill>
        <p:spPr>
          <a:xfrm>
            <a:off x="1166169" y="170711"/>
            <a:ext cx="6388100" cy="914400"/>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604678804"/>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2" name="Picture 1" descr="table_04_04.jpg"/>
          <p:cNvPicPr>
            <a:picLocks noChangeAspect="1"/>
          </p:cNvPicPr>
          <p:nvPr/>
        </p:nvPicPr>
        <p:blipFill>
          <a:blip r:embed="rId2"/>
          <a:stretch>
            <a:fillRect/>
          </a:stretch>
        </p:blipFill>
        <p:spPr>
          <a:xfrm>
            <a:off x="1088135" y="192023"/>
            <a:ext cx="6967728" cy="6473952"/>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4283847105"/>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4" name="Picture 3" descr="figure_04_29.jpg"/>
          <p:cNvPicPr>
            <a:picLocks noChangeAspect="1"/>
          </p:cNvPicPr>
          <p:nvPr/>
        </p:nvPicPr>
        <p:blipFill>
          <a:blip r:embed="rId3"/>
          <a:stretch>
            <a:fillRect/>
          </a:stretch>
        </p:blipFill>
        <p:spPr>
          <a:xfrm>
            <a:off x="304800" y="2785872"/>
            <a:ext cx="8534400" cy="1286256"/>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776750453"/>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105474" name="Picture 1"/>
          <p:cNvPicPr>
            <a:picLocks noChangeAspect="1"/>
          </p:cNvPicPr>
          <p:nvPr/>
        </p:nvPicPr>
        <p:blipFill>
          <a:blip r:embed="rId3">
            <a:extLst>
              <a:ext uri="{28A0092B-C50C-407E-A947-70E740481C1C}">
                <a14:useLocalDpi xmlns:a14="http://schemas.microsoft.com/office/drawing/2010/main" xmlns:p="http://schemas.openxmlformats.org/presentationml/2006/main" xmlns:r="http://schemas.openxmlformats.org/officeDocument/2006/relationships" xmlns:a="http://schemas.openxmlformats.org/drawingml/2006/main" xmlns="" val="0"/>
              </a:ext>
            </a:extLst>
          </a:blip>
          <a:srcRect/>
          <a:stretch>
            <a:fillRect/>
          </a:stretch>
        </p:blipFill>
        <p:spPr bwMode="auto">
          <a:xfrm>
            <a:off x="1219200" y="1295400"/>
            <a:ext cx="6362700" cy="342900"/>
          </a:xfrm>
          <a:prstGeom prst="rect">
            <a:avLst/>
          </a:prstGeom>
          <a:noFill/>
          <a:ln>
            <a:noFill/>
          </a:ln>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rgbClr val="FFFFFF"/>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rgbClr val="000000"/>
                </a:solidFill>
                <a:miter lim="800000"/>
                <a:headEnd/>
                <a:tailEnd/>
              </a14:hiddenLine>
            </a:ext>
          </a:extLst>
        </p:spPr>
      </p:pic>
      <p:sp>
        <p:nvSpPr>
          <p:cNvPr id="105475" name="TextBox 4"/>
          <p:cNvSpPr txBox="1">
            <a:spLocks noChangeArrowheads="1"/>
          </p:cNvSpPr>
          <p:nvPr/>
        </p:nvSpPr>
        <p:spPr bwMode="auto">
          <a:xfrm>
            <a:off x="762000" y="1752600"/>
            <a:ext cx="8242300" cy="1754188"/>
          </a:xfrm>
          <a:prstGeom prst="rect">
            <a:avLst/>
          </a:prstGeom>
          <a:noFill/>
          <a:ln>
            <a:noFill/>
          </a:ln>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rgbClr val="FFFFFF"/>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Promoters are specific DNA sequences that direct RNA polymerase to the proper initiation site.</a:t>
            </a:r>
          </a:p>
          <a:p>
            <a:endParaRPr lang="en-US" sz="1800" dirty="0"/>
          </a:p>
          <a:p>
            <a:endParaRPr lang="en-US" sz="1800" dirty="0"/>
          </a:p>
          <a:p>
            <a:r>
              <a:rPr lang="en-US" sz="1800" dirty="0"/>
              <a:t>There are often variations in the sequence of a promoter for different genes. The average of such variation is called the consensus sequence.</a:t>
            </a:r>
          </a:p>
        </p:txBody>
      </p:sp>
      <p:pic>
        <p:nvPicPr>
          <p:cNvPr id="2" name="Picture 1"/>
          <p:cNvPicPr>
            <a:picLocks noChangeAspect="1"/>
          </p:cNvPicPr>
          <p:nvPr/>
        </p:nvPicPr>
        <p:blipFill>
          <a:blip r:embed="rId4"/>
          <a:stretch>
            <a:fillRect/>
          </a:stretch>
        </p:blipFill>
        <p:spPr>
          <a:xfrm>
            <a:off x="1371600" y="170710"/>
            <a:ext cx="6388100" cy="914400"/>
          </a:xfrm>
          <a:prstGeom prst="rect">
            <a:avLst/>
          </a:prstGeom>
        </p:spPr>
      </p:pic>
      <p:pic>
        <p:nvPicPr>
          <p:cNvPr id="3" name="Picture 2"/>
          <p:cNvPicPr>
            <a:picLocks noChangeAspect="1"/>
          </p:cNvPicPr>
          <p:nvPr/>
        </p:nvPicPr>
        <p:blipFill>
          <a:blip r:embed="rId5"/>
          <a:stretch>
            <a:fillRect/>
          </a:stretch>
        </p:blipFill>
        <p:spPr>
          <a:xfrm>
            <a:off x="4318652" y="4045818"/>
            <a:ext cx="4241800" cy="2463800"/>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2411687927"/>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3" name="Picture 2" descr="figure_04_30.jpg"/>
          <p:cNvPicPr>
            <a:picLocks noChangeAspect="1"/>
          </p:cNvPicPr>
          <p:nvPr/>
        </p:nvPicPr>
        <p:blipFill>
          <a:blip r:embed="rId3"/>
          <a:stretch>
            <a:fillRect/>
          </a:stretch>
        </p:blipFill>
        <p:spPr>
          <a:xfrm>
            <a:off x="304800" y="883920"/>
            <a:ext cx="8534400" cy="5090160"/>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2273742709"/>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109570" name="Picture 1"/>
          <p:cNvPicPr>
            <a:picLocks noChangeAspect="1"/>
          </p:cNvPicPr>
          <p:nvPr/>
        </p:nvPicPr>
        <p:blipFill>
          <a:blip r:embed="rId3">
            <a:extLst>
              <a:ext uri="{28A0092B-C50C-407E-A947-70E740481C1C}">
                <a14:useLocalDpi xmlns:a14="http://schemas.microsoft.com/office/drawing/2010/main" xmlns:p="http://schemas.openxmlformats.org/presentationml/2006/main" xmlns:r="http://schemas.openxmlformats.org/officeDocument/2006/relationships" xmlns:a="http://schemas.openxmlformats.org/drawingml/2006/main" xmlns="" val="0"/>
              </a:ext>
            </a:extLst>
          </a:blip>
          <a:srcRect/>
          <a:stretch>
            <a:fillRect/>
          </a:stretch>
        </p:blipFill>
        <p:spPr bwMode="auto">
          <a:xfrm>
            <a:off x="1219200" y="1295400"/>
            <a:ext cx="6362700" cy="342900"/>
          </a:xfrm>
          <a:prstGeom prst="rect">
            <a:avLst/>
          </a:prstGeom>
          <a:noFill/>
          <a:ln>
            <a:noFill/>
          </a:ln>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rgbClr val="FFFFFF"/>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rgbClr val="000000"/>
                </a:solidFill>
                <a:miter lim="800000"/>
                <a:headEnd/>
                <a:tailEnd/>
              </a14:hiddenLine>
            </a:ext>
          </a:extLst>
        </p:spPr>
      </p:pic>
      <p:sp>
        <p:nvSpPr>
          <p:cNvPr id="109571" name="TextBox 5"/>
          <p:cNvSpPr txBox="1">
            <a:spLocks noChangeArrowheads="1"/>
          </p:cNvSpPr>
          <p:nvPr/>
        </p:nvSpPr>
        <p:spPr bwMode="auto">
          <a:xfrm>
            <a:off x="762000" y="1981200"/>
            <a:ext cx="7391400" cy="1200150"/>
          </a:xfrm>
          <a:prstGeom prst="rect">
            <a:avLst/>
          </a:prstGeom>
          <a:noFill/>
          <a:ln>
            <a:noFill/>
          </a:ln>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rgbClr val="FFFFFF"/>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Elongation continues until a termination signal is detected.</a:t>
            </a:r>
          </a:p>
          <a:p>
            <a:endParaRPr lang="en-US" sz="1800" dirty="0"/>
          </a:p>
          <a:p>
            <a:r>
              <a:rPr lang="en-US" sz="1800" dirty="0"/>
              <a:t>The simplest stop signal is the transcribed product of a segment of palindromic DNA.</a:t>
            </a:r>
          </a:p>
        </p:txBody>
      </p:sp>
      <p:sp>
        <p:nvSpPr>
          <p:cNvPr id="109572" name="TextBox 6"/>
          <p:cNvSpPr txBox="1">
            <a:spLocks noChangeArrowheads="1"/>
          </p:cNvSpPr>
          <p:nvPr/>
        </p:nvSpPr>
        <p:spPr bwMode="auto">
          <a:xfrm>
            <a:off x="685800" y="3352800"/>
            <a:ext cx="8242300" cy="2032000"/>
          </a:xfrm>
          <a:prstGeom prst="rect">
            <a:avLst/>
          </a:prstGeom>
          <a:noFill/>
          <a:ln>
            <a:noFill/>
          </a:ln>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rgbClr val="FFFFFF"/>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The RNA complement of the DNA stop signal forms a hairpin structure, followed by several uracil residues.</a:t>
            </a:r>
          </a:p>
          <a:p>
            <a:endParaRPr lang="en-US" sz="1800" dirty="0"/>
          </a:p>
          <a:p>
            <a:r>
              <a:rPr lang="en-US" sz="1800" dirty="0"/>
              <a:t>Upon synthesis of the hairpin, the polymerase stalls, the RNA product is released and the DNA double helix reforms.</a:t>
            </a:r>
          </a:p>
          <a:p>
            <a:endParaRPr lang="en-US" sz="1800" dirty="0"/>
          </a:p>
          <a:p>
            <a:r>
              <a:rPr lang="en-US" sz="1800" dirty="0"/>
              <a:t>In other cases, the protein rho is required for transcription termination.</a:t>
            </a:r>
          </a:p>
        </p:txBody>
      </p:sp>
      <p:pic>
        <p:nvPicPr>
          <p:cNvPr id="2" name="Picture 1"/>
          <p:cNvPicPr>
            <a:picLocks noChangeAspect="1"/>
          </p:cNvPicPr>
          <p:nvPr/>
        </p:nvPicPr>
        <p:blipFill>
          <a:blip r:embed="rId4"/>
          <a:stretch>
            <a:fillRect/>
          </a:stretch>
        </p:blipFill>
        <p:spPr>
          <a:xfrm>
            <a:off x="1219200" y="0"/>
            <a:ext cx="6388100" cy="914400"/>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591511885"/>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3" name="Picture 2" descr="figure_04_31.jpg"/>
          <p:cNvPicPr>
            <a:picLocks noChangeAspect="1"/>
          </p:cNvPicPr>
          <p:nvPr/>
        </p:nvPicPr>
        <p:blipFill>
          <a:blip r:embed="rId3"/>
          <a:stretch>
            <a:fillRect/>
          </a:stretch>
        </p:blipFill>
        <p:spPr>
          <a:xfrm>
            <a:off x="2029967" y="192023"/>
            <a:ext cx="5084064" cy="6473952"/>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912500251"/>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113666" name="Picture 1"/>
          <p:cNvPicPr>
            <a:picLocks noChangeAspect="1"/>
          </p:cNvPicPr>
          <p:nvPr/>
        </p:nvPicPr>
        <p:blipFill>
          <a:blip r:embed="rId3">
            <a:extLst>
              <a:ext uri="{28A0092B-C50C-407E-A947-70E740481C1C}">
                <a14:useLocalDpi xmlns:a14="http://schemas.microsoft.com/office/drawing/2010/main" xmlns:p="http://schemas.openxmlformats.org/presentationml/2006/main" xmlns:r="http://schemas.openxmlformats.org/officeDocument/2006/relationships" xmlns:a="http://schemas.openxmlformats.org/drawingml/2006/main" xmlns="" val="0"/>
              </a:ext>
            </a:extLst>
          </a:blip>
          <a:srcRect/>
          <a:stretch>
            <a:fillRect/>
          </a:stretch>
        </p:blipFill>
        <p:spPr bwMode="auto">
          <a:xfrm>
            <a:off x="1219200" y="1295400"/>
            <a:ext cx="6362700" cy="342900"/>
          </a:xfrm>
          <a:prstGeom prst="rect">
            <a:avLst/>
          </a:prstGeom>
          <a:noFill/>
          <a:ln>
            <a:noFill/>
          </a:ln>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rgbClr val="FFFFFF"/>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rgbClr val="000000"/>
                </a:solidFill>
                <a:miter lim="800000"/>
                <a:headEnd/>
                <a:tailEnd/>
              </a14:hiddenLine>
            </a:ext>
          </a:extLst>
        </p:spPr>
      </p:pic>
      <p:sp>
        <p:nvSpPr>
          <p:cNvPr id="113667" name="TextBox 3"/>
          <p:cNvSpPr txBox="1">
            <a:spLocks noChangeArrowheads="1"/>
          </p:cNvSpPr>
          <p:nvPr/>
        </p:nvSpPr>
        <p:spPr bwMode="auto">
          <a:xfrm>
            <a:off x="858838" y="2016125"/>
            <a:ext cx="7675562" cy="646113"/>
          </a:xfrm>
          <a:prstGeom prst="rect">
            <a:avLst/>
          </a:prstGeom>
          <a:noFill/>
          <a:ln>
            <a:noFill/>
          </a:ln>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rgbClr val="FFFFFF"/>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In eukaryotes, the 5</a:t>
            </a:r>
            <a:r>
              <a:rPr lang="en-US" sz="1800" dirty="0">
                <a:sym typeface="Symbol" charset="0"/>
              </a:rPr>
              <a:t></a:t>
            </a:r>
            <a:r>
              <a:rPr lang="en-US" sz="1800" dirty="0"/>
              <a:t>  end of mRNA is modified by the attachment of a cap structure while the 3</a:t>
            </a:r>
            <a:r>
              <a:rPr lang="en-US" sz="1800" dirty="0">
                <a:sym typeface="Symbol" charset="0"/>
              </a:rPr>
              <a:t></a:t>
            </a:r>
            <a:r>
              <a:rPr lang="en-US" sz="1800" dirty="0"/>
              <a:t>  end acquires a </a:t>
            </a:r>
            <a:r>
              <a:rPr lang="en-US" sz="1800" dirty="0" smtClean="0"/>
              <a:t>poly(A) </a:t>
            </a:r>
            <a:r>
              <a:rPr lang="en-US" sz="1800" dirty="0"/>
              <a:t>tail.</a:t>
            </a:r>
          </a:p>
        </p:txBody>
      </p:sp>
      <p:pic>
        <p:nvPicPr>
          <p:cNvPr id="2" name="Picture 1"/>
          <p:cNvPicPr>
            <a:picLocks noChangeAspect="1"/>
          </p:cNvPicPr>
          <p:nvPr/>
        </p:nvPicPr>
        <p:blipFill>
          <a:blip r:embed="rId4"/>
          <a:stretch>
            <a:fillRect/>
          </a:stretch>
        </p:blipFill>
        <p:spPr>
          <a:xfrm>
            <a:off x="1193800" y="0"/>
            <a:ext cx="6388100" cy="914400"/>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2782584263"/>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2" name="Picture 1" descr="figure_04_32.jpg"/>
          <p:cNvPicPr>
            <a:picLocks noChangeAspect="1"/>
          </p:cNvPicPr>
          <p:nvPr/>
        </p:nvPicPr>
        <p:blipFill>
          <a:blip r:embed="rId3"/>
          <a:stretch>
            <a:fillRect/>
          </a:stretch>
        </p:blipFill>
        <p:spPr>
          <a:xfrm>
            <a:off x="304800" y="2151888"/>
            <a:ext cx="8534400" cy="2554224"/>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584038846"/>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115714" name="Picture 1"/>
          <p:cNvPicPr>
            <a:picLocks noChangeAspect="1"/>
          </p:cNvPicPr>
          <p:nvPr/>
        </p:nvPicPr>
        <p:blipFill>
          <a:blip r:embed="rId3">
            <a:extLst>
              <a:ext uri="{28A0092B-C50C-407E-A947-70E740481C1C}">
                <a14:useLocalDpi xmlns:a14="http://schemas.microsoft.com/office/drawing/2010/main" xmlns:p="http://schemas.openxmlformats.org/presentationml/2006/main" xmlns:r="http://schemas.openxmlformats.org/officeDocument/2006/relationships" xmlns:a="http://schemas.openxmlformats.org/drawingml/2006/main" xmlns="" val="0"/>
              </a:ext>
            </a:extLst>
          </a:blip>
          <a:srcRect/>
          <a:stretch>
            <a:fillRect/>
          </a:stretch>
        </p:blipFill>
        <p:spPr bwMode="auto">
          <a:xfrm>
            <a:off x="1600200" y="1524000"/>
            <a:ext cx="5753100" cy="317500"/>
          </a:xfrm>
          <a:prstGeom prst="rect">
            <a:avLst/>
          </a:prstGeom>
          <a:noFill/>
          <a:ln>
            <a:noFill/>
          </a:ln>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rgbClr val="FFFFFF"/>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rgbClr val="000000"/>
                </a:solidFill>
                <a:miter lim="800000"/>
                <a:headEnd/>
                <a:tailEnd/>
              </a14:hiddenLine>
            </a:ext>
          </a:extLst>
        </p:spPr>
      </p:pic>
      <p:sp>
        <p:nvSpPr>
          <p:cNvPr id="115715" name="TextBox 3"/>
          <p:cNvSpPr txBox="1">
            <a:spLocks noChangeArrowheads="1"/>
          </p:cNvSpPr>
          <p:nvPr/>
        </p:nvSpPr>
        <p:spPr bwMode="auto">
          <a:xfrm>
            <a:off x="914400" y="2362200"/>
            <a:ext cx="7905750" cy="1754188"/>
          </a:xfrm>
          <a:prstGeom prst="rect">
            <a:avLst/>
          </a:prstGeom>
          <a:noFill/>
          <a:ln>
            <a:noFill/>
          </a:ln>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rgbClr val="FFFFFF"/>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Transfer RNA molecules react with specific amino acids in a reaction catalyzed by aminoacyl-tRNA synthetases.</a:t>
            </a:r>
          </a:p>
          <a:p>
            <a:endParaRPr lang="en-US" sz="1800" dirty="0"/>
          </a:p>
          <a:p>
            <a:r>
              <a:rPr lang="en-US" sz="1800" dirty="0"/>
              <a:t>Transfer RNA molecules also contain a template recognition site, called the anticodon. The anticodon, which consists of three bases,  recognizes a complementary 3 base sequence in the mRNA called the codon.</a:t>
            </a:r>
          </a:p>
        </p:txBody>
      </p:sp>
      <p:pic>
        <p:nvPicPr>
          <p:cNvPr id="2" name="Picture 1"/>
          <p:cNvPicPr>
            <a:picLocks noChangeAspect="1"/>
          </p:cNvPicPr>
          <p:nvPr/>
        </p:nvPicPr>
        <p:blipFill>
          <a:blip r:embed="rId4"/>
          <a:stretch>
            <a:fillRect/>
          </a:stretch>
        </p:blipFill>
        <p:spPr>
          <a:xfrm>
            <a:off x="1371600" y="0"/>
            <a:ext cx="6388100" cy="914400"/>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3486275022"/>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3" name="Picture 2" descr="figure_04_33.jpg"/>
          <p:cNvPicPr>
            <a:picLocks noChangeAspect="1"/>
          </p:cNvPicPr>
          <p:nvPr/>
        </p:nvPicPr>
        <p:blipFill>
          <a:blip r:embed="rId3"/>
          <a:stretch>
            <a:fillRect/>
          </a:stretch>
        </p:blipFill>
        <p:spPr>
          <a:xfrm>
            <a:off x="3048000" y="118871"/>
            <a:ext cx="3048000" cy="6620256"/>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1100188115"/>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3" name="Picture 2" descr="figure_04_34.jpg"/>
          <p:cNvPicPr>
            <a:picLocks noChangeAspect="1"/>
          </p:cNvPicPr>
          <p:nvPr/>
        </p:nvPicPr>
        <p:blipFill>
          <a:blip r:embed="rId3"/>
          <a:stretch>
            <a:fillRect/>
          </a:stretch>
        </p:blipFill>
        <p:spPr>
          <a:xfrm>
            <a:off x="2118360" y="192023"/>
            <a:ext cx="4907280" cy="6473952"/>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3624737540"/>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3" name="TextBox 2"/>
          <p:cNvSpPr txBox="1"/>
          <p:nvPr/>
        </p:nvSpPr>
        <p:spPr>
          <a:xfrm>
            <a:off x="685800" y="1828800"/>
            <a:ext cx="8001000" cy="4524315"/>
          </a:xfrm>
          <a:prstGeom prst="rect">
            <a:avLst/>
          </a:prstGeom>
          <a:noFill/>
        </p:spPr>
        <p:txBody>
          <a:bodyPr>
            <a:spAutoFit/>
          </a:bodyPr>
          <a:lstStyle/>
          <a:p>
            <a:pPr>
              <a:defRPr/>
            </a:pPr>
            <a:r>
              <a:rPr lang="en-US" sz="1800" dirty="0"/>
              <a:t>Protein synthesis is a process of translation. Nucleic acid sequence information is translated into amino acid sequence information. The genetic code links these two types of information.</a:t>
            </a:r>
          </a:p>
          <a:p>
            <a:pPr>
              <a:defRPr/>
            </a:pPr>
            <a:endParaRPr lang="en-US" sz="1800" dirty="0"/>
          </a:p>
          <a:p>
            <a:pPr>
              <a:defRPr/>
            </a:pPr>
            <a:r>
              <a:rPr lang="en-US" sz="1800" dirty="0"/>
              <a:t>Characteristics of the genetic code are:</a:t>
            </a:r>
          </a:p>
          <a:p>
            <a:pPr>
              <a:defRPr/>
            </a:pPr>
            <a:endParaRPr lang="en-US" sz="1800" dirty="0">
              <a:latin typeface="Times"/>
              <a:cs typeface="Times"/>
            </a:endParaRPr>
          </a:p>
          <a:p>
            <a:pPr marL="342900" indent="-342900">
              <a:buFontTx/>
              <a:buAutoNum type="arabicPeriod"/>
              <a:defRPr/>
            </a:pPr>
            <a:r>
              <a:rPr lang="en-US" sz="1800" dirty="0"/>
              <a:t>Three nucleotides, called a codon, </a:t>
            </a:r>
            <a:r>
              <a:rPr lang="en-US" sz="1800" dirty="0" smtClean="0"/>
              <a:t>encode </a:t>
            </a:r>
            <a:r>
              <a:rPr lang="en-US" sz="1800" dirty="0"/>
              <a:t>an amino acid.</a:t>
            </a:r>
          </a:p>
          <a:p>
            <a:pPr marL="342900" indent="-342900">
              <a:buFontTx/>
              <a:buAutoNum type="arabicPeriod"/>
              <a:defRPr/>
            </a:pPr>
            <a:endParaRPr lang="en-US" sz="1800" dirty="0"/>
          </a:p>
          <a:p>
            <a:pPr marL="342900" indent="-342900">
              <a:buFontTx/>
              <a:buAutoNum type="arabicPeriod"/>
              <a:defRPr/>
            </a:pPr>
            <a:r>
              <a:rPr lang="en-US" sz="1800" dirty="0"/>
              <a:t>The code is nonoverlapping.</a:t>
            </a:r>
          </a:p>
          <a:p>
            <a:pPr marL="342900" indent="-342900">
              <a:buFontTx/>
              <a:buAutoNum type="arabicPeriod"/>
              <a:defRPr/>
            </a:pPr>
            <a:endParaRPr lang="en-US" sz="1800" dirty="0"/>
          </a:p>
          <a:p>
            <a:pPr marL="342900" indent="-342900">
              <a:buFontTx/>
              <a:buAutoNum type="arabicPeriod"/>
              <a:defRPr/>
            </a:pPr>
            <a:r>
              <a:rPr lang="en-US" sz="1800" dirty="0"/>
              <a:t>The code has no punctuation</a:t>
            </a:r>
            <a:r>
              <a:rPr lang="en-US" sz="1800" dirty="0" smtClean="0"/>
              <a:t>.</a:t>
            </a:r>
          </a:p>
          <a:p>
            <a:pPr marL="342900" indent="-342900">
              <a:buFontTx/>
              <a:buAutoNum type="arabicPeriod"/>
              <a:defRPr/>
            </a:pPr>
            <a:endParaRPr lang="en-US" dirty="0"/>
          </a:p>
          <a:p>
            <a:pPr marL="342900" lvl="0" indent="-342900">
              <a:buFontTx/>
              <a:buAutoNum type="arabicPeriod"/>
              <a:defRPr/>
            </a:pPr>
            <a:r>
              <a:rPr lang="en-US" dirty="0"/>
              <a:t>The code has directionality. It is read </a:t>
            </a:r>
            <a:r>
              <a:rPr lang="en-US" dirty="0" smtClean="0"/>
              <a:t>from </a:t>
            </a:r>
            <a:r>
              <a:rPr lang="en-US" dirty="0"/>
              <a:t>the 5</a:t>
            </a:r>
            <a:r>
              <a:rPr lang="en-US" dirty="0">
                <a:sym typeface="Symbol"/>
              </a:rPr>
              <a:t></a:t>
            </a:r>
            <a:r>
              <a:rPr lang="en-US" dirty="0"/>
              <a:t> </a:t>
            </a:r>
            <a:r>
              <a:rPr lang="en-US" dirty="0" smtClean="0"/>
              <a:t>end of </a:t>
            </a:r>
            <a:r>
              <a:rPr lang="en-US" dirty="0"/>
              <a:t>the </a:t>
            </a:r>
            <a:r>
              <a:rPr lang="en-US" dirty="0" smtClean="0"/>
              <a:t>mRNA </a:t>
            </a:r>
            <a:r>
              <a:rPr lang="en-US" dirty="0"/>
              <a:t>to </a:t>
            </a:r>
            <a:r>
              <a:rPr lang="en-US" dirty="0" smtClean="0"/>
              <a:t>the </a:t>
            </a:r>
            <a:r>
              <a:rPr lang="en-US" dirty="0"/>
              <a:t>3</a:t>
            </a:r>
            <a:r>
              <a:rPr lang="en-US" dirty="0">
                <a:sym typeface="Symbol"/>
              </a:rPr>
              <a:t></a:t>
            </a:r>
            <a:r>
              <a:rPr lang="en-US" dirty="0"/>
              <a:t> end.</a:t>
            </a:r>
          </a:p>
          <a:p>
            <a:pPr marL="342900" indent="-342900">
              <a:buFontTx/>
              <a:buAutoNum type="arabicPeriod"/>
              <a:defRPr/>
            </a:pPr>
            <a:endParaRPr lang="en-US" sz="1800" dirty="0" smtClean="0"/>
          </a:p>
          <a:p>
            <a:pPr marL="342900" indent="-342900">
              <a:buFontTx/>
              <a:buAutoNum type="arabicPeriod"/>
              <a:defRPr/>
            </a:pPr>
            <a:r>
              <a:rPr lang="en-US" sz="1800" dirty="0" smtClean="0"/>
              <a:t>The </a:t>
            </a:r>
            <a:r>
              <a:rPr lang="en-US" sz="1800" dirty="0"/>
              <a:t>code is degenerate in that some amino acids are encoded by more than one codon.</a:t>
            </a:r>
          </a:p>
        </p:txBody>
      </p:sp>
      <p:pic>
        <p:nvPicPr>
          <p:cNvPr id="2" name="Picture 1"/>
          <p:cNvPicPr>
            <a:picLocks noChangeAspect="1"/>
          </p:cNvPicPr>
          <p:nvPr/>
        </p:nvPicPr>
        <p:blipFill>
          <a:blip r:embed="rId2"/>
          <a:stretch>
            <a:fillRect/>
          </a:stretch>
        </p:blipFill>
        <p:spPr>
          <a:xfrm>
            <a:off x="1041400" y="506841"/>
            <a:ext cx="7048500" cy="914400"/>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128477802"/>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122882" name="Picture 2"/>
          <p:cNvPicPr>
            <a:picLocks noChangeAspect="1"/>
          </p:cNvPicPr>
          <p:nvPr/>
        </p:nvPicPr>
        <p:blipFill>
          <a:blip r:embed="rId2">
            <a:extLst>
              <a:ext uri="{28A0092B-C50C-407E-A947-70E740481C1C}">
                <a14:useLocalDpi xmlns:a14="http://schemas.microsoft.com/office/drawing/2010/main" xmlns:p="http://schemas.openxmlformats.org/presentationml/2006/main" xmlns:r="http://schemas.openxmlformats.org/officeDocument/2006/relationships" xmlns:a="http://schemas.openxmlformats.org/drawingml/2006/main" xmlns="" val="0"/>
              </a:ext>
            </a:extLst>
          </a:blip>
          <a:srcRect/>
          <a:stretch>
            <a:fillRect/>
          </a:stretch>
        </p:blipFill>
        <p:spPr bwMode="auto">
          <a:xfrm>
            <a:off x="2590800" y="1524000"/>
            <a:ext cx="3365500" cy="393700"/>
          </a:xfrm>
          <a:prstGeom prst="rect">
            <a:avLst/>
          </a:prstGeom>
          <a:noFill/>
          <a:ln>
            <a:noFill/>
          </a:ln>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rgbClr val="FFFFFF"/>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rgbClr val="000000"/>
                </a:solidFill>
                <a:miter lim="800000"/>
                <a:headEnd/>
                <a:tailEnd/>
              </a14:hiddenLine>
            </a:ext>
          </a:extLst>
        </p:spPr>
      </p:pic>
      <p:sp>
        <p:nvSpPr>
          <p:cNvPr id="122883" name="TextBox 4"/>
          <p:cNvSpPr txBox="1">
            <a:spLocks noChangeArrowheads="1"/>
          </p:cNvSpPr>
          <p:nvPr/>
        </p:nvSpPr>
        <p:spPr bwMode="auto">
          <a:xfrm>
            <a:off x="1027113" y="2595563"/>
            <a:ext cx="7735887" cy="1200150"/>
          </a:xfrm>
          <a:prstGeom prst="rect">
            <a:avLst/>
          </a:prstGeom>
          <a:noFill/>
          <a:ln>
            <a:noFill/>
          </a:ln>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rgbClr val="FFFFFF"/>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Most amino acids are encoded by more than one codon, a property called degeneracy.</a:t>
            </a:r>
          </a:p>
          <a:p>
            <a:endParaRPr lang="en-US" sz="1800" dirty="0"/>
          </a:p>
          <a:p>
            <a:r>
              <a:rPr lang="en-US" sz="1800" dirty="0"/>
              <a:t>Degeneracy minimizes the deleterious effects of mutations.</a:t>
            </a:r>
          </a:p>
        </p:txBody>
      </p:sp>
      <p:pic>
        <p:nvPicPr>
          <p:cNvPr id="2" name="Picture 1"/>
          <p:cNvPicPr>
            <a:picLocks noChangeAspect="1"/>
          </p:cNvPicPr>
          <p:nvPr/>
        </p:nvPicPr>
        <p:blipFill>
          <a:blip r:embed="rId3"/>
          <a:stretch>
            <a:fillRect/>
          </a:stretch>
        </p:blipFill>
        <p:spPr>
          <a:xfrm>
            <a:off x="1041400" y="189384"/>
            <a:ext cx="7048500" cy="914400"/>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1705195061"/>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3" name="Picture 2" descr="table_04_05.jpg"/>
          <p:cNvPicPr>
            <a:picLocks noChangeAspect="1"/>
          </p:cNvPicPr>
          <p:nvPr/>
        </p:nvPicPr>
        <p:blipFill>
          <a:blip r:embed="rId3"/>
          <a:stretch>
            <a:fillRect/>
          </a:stretch>
        </p:blipFill>
        <p:spPr>
          <a:xfrm>
            <a:off x="573023" y="192023"/>
            <a:ext cx="7997952" cy="6473952"/>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3795836350"/>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125954" name="Picture 3"/>
          <p:cNvPicPr>
            <a:picLocks noChangeAspect="1"/>
          </p:cNvPicPr>
          <p:nvPr/>
        </p:nvPicPr>
        <p:blipFill>
          <a:blip r:embed="rId2">
            <a:extLst>
              <a:ext uri="{28A0092B-C50C-407E-A947-70E740481C1C}">
                <a14:useLocalDpi xmlns:a14="http://schemas.microsoft.com/office/drawing/2010/main" xmlns:p="http://schemas.openxmlformats.org/presentationml/2006/main" xmlns:r="http://schemas.openxmlformats.org/officeDocument/2006/relationships" xmlns:a="http://schemas.openxmlformats.org/drawingml/2006/main" xmlns="" val="0"/>
              </a:ext>
            </a:extLst>
          </a:blip>
          <a:srcRect/>
          <a:stretch>
            <a:fillRect/>
          </a:stretch>
        </p:blipFill>
        <p:spPr bwMode="auto">
          <a:xfrm>
            <a:off x="1219200" y="1524000"/>
            <a:ext cx="6299200" cy="330200"/>
          </a:xfrm>
          <a:prstGeom prst="rect">
            <a:avLst/>
          </a:prstGeom>
          <a:noFill/>
          <a:ln>
            <a:noFill/>
          </a:ln>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rgbClr val="FFFFFF"/>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rgbClr val="000000"/>
                </a:solidFill>
                <a:miter lim="800000"/>
                <a:headEnd/>
                <a:tailEnd/>
              </a14:hiddenLine>
            </a:ext>
          </a:extLst>
        </p:spPr>
      </p:pic>
      <p:sp>
        <p:nvSpPr>
          <p:cNvPr id="125956" name="TextBox 1"/>
          <p:cNvSpPr txBox="1">
            <a:spLocks noChangeArrowheads="1"/>
          </p:cNvSpPr>
          <p:nvPr/>
        </p:nvSpPr>
        <p:spPr bwMode="auto">
          <a:xfrm>
            <a:off x="466725" y="2241550"/>
            <a:ext cx="7582423" cy="2308324"/>
          </a:xfrm>
          <a:prstGeom prst="rect">
            <a:avLst/>
          </a:prstGeom>
          <a:noFill/>
          <a:ln>
            <a:noFill/>
          </a:ln>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rgbClr val="FFFFFF"/>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rgbClr val="000000"/>
                </a:solidFill>
                <a:miter lim="800000"/>
                <a:headEnd/>
                <a:tailEnd/>
              </a14:hiddenLine>
            </a:ext>
          </a:extLst>
        </p:spPr>
        <p:txBody>
          <a:bodyPr wrap="square">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Messenger RNA is translated on ribosomes. The first codon is almost always AUG, which codes for methionine. In prokaryotes, the AUG is preceded by a purine rich sequence called the Shine-Dalgarno sequence. Formyl-Met-tRNA binds to the initiator codon.</a:t>
            </a:r>
          </a:p>
          <a:p>
            <a:endParaRPr lang="en-US" sz="1800" dirty="0"/>
          </a:p>
          <a:p>
            <a:r>
              <a:rPr lang="en-US" sz="1800" dirty="0"/>
              <a:t>In eukaryotes, the AUG nearest the 5</a:t>
            </a:r>
            <a:r>
              <a:rPr lang="en-US" sz="1800" dirty="0">
                <a:sym typeface="Symbol" charset="0"/>
              </a:rPr>
              <a:t></a:t>
            </a:r>
            <a:r>
              <a:rPr lang="en-US" sz="1800" dirty="0"/>
              <a:t> end is the initiator codon.</a:t>
            </a:r>
          </a:p>
          <a:p>
            <a:endParaRPr lang="en-US" sz="1800" dirty="0"/>
          </a:p>
          <a:p>
            <a:r>
              <a:rPr lang="en-US" sz="1800" dirty="0"/>
              <a:t>Location of the initiator codon establishes the reading frame.</a:t>
            </a:r>
          </a:p>
        </p:txBody>
      </p:sp>
      <p:pic>
        <p:nvPicPr>
          <p:cNvPr id="2" name="Picture 1"/>
          <p:cNvPicPr>
            <a:picLocks noChangeAspect="1"/>
          </p:cNvPicPr>
          <p:nvPr/>
        </p:nvPicPr>
        <p:blipFill>
          <a:blip r:embed="rId3"/>
          <a:stretch>
            <a:fillRect/>
          </a:stretch>
        </p:blipFill>
        <p:spPr>
          <a:xfrm>
            <a:off x="469900" y="432146"/>
            <a:ext cx="7048500" cy="914400"/>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658472972"/>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4" name="Picture 3" descr="figure_04_35.jpg"/>
          <p:cNvPicPr>
            <a:picLocks noChangeAspect="1"/>
          </p:cNvPicPr>
          <p:nvPr/>
        </p:nvPicPr>
        <p:blipFill>
          <a:blip r:embed="rId3"/>
          <a:stretch>
            <a:fillRect/>
          </a:stretch>
        </p:blipFill>
        <p:spPr>
          <a:xfrm>
            <a:off x="304800" y="874776"/>
            <a:ext cx="8534400" cy="5108448"/>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1367087493"/>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129026" name="Picture 1"/>
          <p:cNvPicPr>
            <a:picLocks noChangeAspect="1"/>
          </p:cNvPicPr>
          <p:nvPr/>
        </p:nvPicPr>
        <p:blipFill>
          <a:blip r:embed="rId3">
            <a:extLst>
              <a:ext uri="{28A0092B-C50C-407E-A947-70E740481C1C}">
                <a14:useLocalDpi xmlns:a14="http://schemas.microsoft.com/office/drawing/2010/main" xmlns:p="http://schemas.openxmlformats.org/presentationml/2006/main" xmlns:r="http://schemas.openxmlformats.org/officeDocument/2006/relationships" xmlns:a="http://schemas.openxmlformats.org/drawingml/2006/main" xmlns="" val="0"/>
              </a:ext>
            </a:extLst>
          </a:blip>
          <a:srcRect/>
          <a:stretch>
            <a:fillRect/>
          </a:stretch>
        </p:blipFill>
        <p:spPr bwMode="auto">
          <a:xfrm>
            <a:off x="1905000" y="1600200"/>
            <a:ext cx="4495800" cy="508000"/>
          </a:xfrm>
          <a:prstGeom prst="rect">
            <a:avLst/>
          </a:prstGeom>
          <a:noFill/>
          <a:ln>
            <a:noFill/>
          </a:ln>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rgbClr val="FFFFFF"/>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rgbClr val="000000"/>
                </a:solidFill>
                <a:miter lim="800000"/>
                <a:headEnd/>
                <a:tailEnd/>
              </a14:hiddenLine>
            </a:ext>
          </a:extLst>
        </p:spPr>
      </p:pic>
      <p:sp>
        <p:nvSpPr>
          <p:cNvPr id="129027" name="TextBox 4"/>
          <p:cNvSpPr txBox="1">
            <a:spLocks noChangeArrowheads="1"/>
          </p:cNvSpPr>
          <p:nvPr/>
        </p:nvSpPr>
        <p:spPr bwMode="auto">
          <a:xfrm>
            <a:off x="228600" y="2565400"/>
            <a:ext cx="7937500" cy="2032000"/>
          </a:xfrm>
          <a:prstGeom prst="rect">
            <a:avLst/>
          </a:prstGeom>
          <a:noFill/>
          <a:ln>
            <a:noFill/>
          </a:ln>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rgbClr val="FFFFFF"/>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Most organisms use the same genetic code. However, some organisms have slight modifications.</a:t>
            </a:r>
          </a:p>
          <a:p>
            <a:endParaRPr lang="en-US" sz="1800" dirty="0"/>
          </a:p>
          <a:p>
            <a:r>
              <a:rPr lang="en-US" sz="1800" dirty="0"/>
              <a:t>For instance, in ciliated protozoa, codons that are stop signals in most organisms encode amino acids.</a:t>
            </a:r>
          </a:p>
          <a:p>
            <a:endParaRPr lang="en-US" sz="1800" dirty="0"/>
          </a:p>
          <a:p>
            <a:r>
              <a:rPr lang="en-US" sz="1800" dirty="0"/>
              <a:t>Mitochondria also use variations of the genetic code.</a:t>
            </a:r>
          </a:p>
        </p:txBody>
      </p:sp>
      <p:pic>
        <p:nvPicPr>
          <p:cNvPr id="2" name="Picture 1"/>
          <p:cNvPicPr>
            <a:picLocks noChangeAspect="1"/>
          </p:cNvPicPr>
          <p:nvPr/>
        </p:nvPicPr>
        <p:blipFill>
          <a:blip r:embed="rId4"/>
          <a:stretch>
            <a:fillRect/>
          </a:stretch>
        </p:blipFill>
        <p:spPr>
          <a:xfrm>
            <a:off x="891996" y="320102"/>
            <a:ext cx="7048500" cy="914400"/>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43517898"/>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3" name="Picture 2" descr="table_04_06.jpg"/>
          <p:cNvPicPr>
            <a:picLocks noChangeAspect="1"/>
          </p:cNvPicPr>
          <p:nvPr/>
        </p:nvPicPr>
        <p:blipFill>
          <a:blip r:embed="rId3"/>
          <a:stretch>
            <a:fillRect/>
          </a:stretch>
        </p:blipFill>
        <p:spPr>
          <a:xfrm>
            <a:off x="432816" y="192024"/>
            <a:ext cx="8278368" cy="6473952"/>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1285854464"/>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sp>
        <p:nvSpPr>
          <p:cNvPr id="133122" name="TextBox 2"/>
          <p:cNvSpPr txBox="1">
            <a:spLocks noChangeArrowheads="1"/>
          </p:cNvSpPr>
          <p:nvPr/>
        </p:nvSpPr>
        <p:spPr bwMode="auto">
          <a:xfrm>
            <a:off x="533400" y="1600200"/>
            <a:ext cx="7848600" cy="1754188"/>
          </a:xfrm>
          <a:prstGeom prst="rect">
            <a:avLst/>
          </a:prstGeom>
          <a:noFill/>
          <a:ln>
            <a:noFill/>
          </a:ln>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rgbClr val="FFFFFF"/>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Eukaryotic genes are discontinuous, with coding regions called exons, interrupted by noncoding regions called introns.</a:t>
            </a:r>
          </a:p>
          <a:p>
            <a:endParaRPr lang="en-US" sz="1800" dirty="0"/>
          </a:p>
          <a:p>
            <a:r>
              <a:rPr lang="en-US" sz="1800" dirty="0"/>
              <a:t>Introns were initially detected </a:t>
            </a:r>
            <a:r>
              <a:rPr lang="en-US" sz="1800" dirty="0" smtClean="0"/>
              <a:t>by electron </a:t>
            </a:r>
            <a:r>
              <a:rPr lang="en-US" sz="1800" dirty="0"/>
              <a:t>microscopy studies.</a:t>
            </a:r>
          </a:p>
          <a:p>
            <a:endParaRPr lang="en-US" sz="1800" dirty="0"/>
          </a:p>
          <a:p>
            <a:r>
              <a:rPr lang="en-US" sz="1800" dirty="0"/>
              <a:t>The gene for the β-chain of human hemoglobin has 3 exons and two introns.</a:t>
            </a:r>
          </a:p>
        </p:txBody>
      </p:sp>
      <p:pic>
        <p:nvPicPr>
          <p:cNvPr id="2" name="Picture 1"/>
          <p:cNvPicPr>
            <a:picLocks noChangeAspect="1"/>
          </p:cNvPicPr>
          <p:nvPr/>
        </p:nvPicPr>
        <p:blipFill>
          <a:blip r:embed="rId2"/>
          <a:stretch>
            <a:fillRect/>
          </a:stretch>
        </p:blipFill>
        <p:spPr>
          <a:xfrm>
            <a:off x="1651000" y="326828"/>
            <a:ext cx="5842000" cy="850900"/>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3803732562"/>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3" name="Picture 2" descr="figure_04_36.jpg"/>
          <p:cNvPicPr>
            <a:picLocks noChangeAspect="1"/>
          </p:cNvPicPr>
          <p:nvPr/>
        </p:nvPicPr>
        <p:blipFill>
          <a:blip r:embed="rId3"/>
          <a:stretch>
            <a:fillRect/>
          </a:stretch>
        </p:blipFill>
        <p:spPr>
          <a:xfrm>
            <a:off x="844296" y="192023"/>
            <a:ext cx="7455408" cy="6473952"/>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3026051746"/>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3" name="Picture 2" descr="figure_04_37.jpg"/>
          <p:cNvPicPr>
            <a:picLocks noChangeAspect="1"/>
          </p:cNvPicPr>
          <p:nvPr/>
        </p:nvPicPr>
        <p:blipFill>
          <a:blip r:embed="rId3"/>
          <a:stretch>
            <a:fillRect/>
          </a:stretch>
        </p:blipFill>
        <p:spPr>
          <a:xfrm>
            <a:off x="304800" y="2100072"/>
            <a:ext cx="8534400" cy="2657856"/>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1380616764"/>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138242" name="Picture 2"/>
          <p:cNvPicPr>
            <a:picLocks noChangeAspect="1"/>
          </p:cNvPicPr>
          <p:nvPr/>
        </p:nvPicPr>
        <p:blipFill>
          <a:blip r:embed="rId2">
            <a:extLst>
              <a:ext uri="{28A0092B-C50C-407E-A947-70E740481C1C}">
                <a14:useLocalDpi xmlns:a14="http://schemas.microsoft.com/office/drawing/2010/main" xmlns:p="http://schemas.openxmlformats.org/presentationml/2006/main" xmlns:r="http://schemas.openxmlformats.org/officeDocument/2006/relationships" xmlns:a="http://schemas.openxmlformats.org/drawingml/2006/main" xmlns="" val="0"/>
              </a:ext>
            </a:extLst>
          </a:blip>
          <a:srcRect/>
          <a:stretch>
            <a:fillRect/>
          </a:stretch>
        </p:blipFill>
        <p:spPr bwMode="auto">
          <a:xfrm>
            <a:off x="1752600" y="1600200"/>
            <a:ext cx="4864100" cy="558800"/>
          </a:xfrm>
          <a:prstGeom prst="rect">
            <a:avLst/>
          </a:prstGeom>
          <a:noFill/>
          <a:ln>
            <a:noFill/>
          </a:ln>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rgbClr val="FFFFFF"/>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rgbClr val="000000"/>
                </a:solidFill>
                <a:miter lim="800000"/>
                <a:headEnd/>
                <a:tailEnd/>
              </a14:hiddenLine>
            </a:ext>
          </a:extLst>
        </p:spPr>
      </p:pic>
      <p:sp>
        <p:nvSpPr>
          <p:cNvPr id="138243" name="TextBox 3"/>
          <p:cNvSpPr txBox="1">
            <a:spLocks noChangeArrowheads="1"/>
          </p:cNvSpPr>
          <p:nvPr/>
        </p:nvSpPr>
        <p:spPr bwMode="auto">
          <a:xfrm>
            <a:off x="541338" y="2390775"/>
            <a:ext cx="8145462" cy="1476375"/>
          </a:xfrm>
          <a:prstGeom prst="rect">
            <a:avLst/>
          </a:prstGeom>
          <a:noFill/>
          <a:ln>
            <a:noFill/>
          </a:ln>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rgbClr val="FFFFFF"/>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Pre-messenger RNA contains exons and intron. It is first modified by the addition of a 5</a:t>
            </a:r>
            <a:r>
              <a:rPr lang="en-US" sz="1800" dirty="0">
                <a:sym typeface="Symbol" charset="0"/>
              </a:rPr>
              <a:t></a:t>
            </a:r>
            <a:r>
              <a:rPr lang="en-US" sz="1800" dirty="0"/>
              <a:t> cap and a poly A tail at the 3</a:t>
            </a:r>
            <a:r>
              <a:rPr lang="en-US" sz="1800" dirty="0">
                <a:sym typeface="Symbol" charset="0"/>
              </a:rPr>
              <a:t></a:t>
            </a:r>
            <a:r>
              <a:rPr lang="en-US" sz="1800" dirty="0"/>
              <a:t>  end. The introns are </a:t>
            </a:r>
            <a:r>
              <a:rPr lang="en-US" sz="1800" dirty="0" smtClean="0"/>
              <a:t>spliced </a:t>
            </a:r>
            <a:r>
              <a:rPr lang="en-US" sz="1800" dirty="0"/>
              <a:t>out to generate mature mRNA by large complexes called spliceosomes.</a:t>
            </a:r>
          </a:p>
          <a:p>
            <a:endParaRPr lang="en-US" sz="1800" dirty="0"/>
          </a:p>
          <a:p>
            <a:r>
              <a:rPr lang="en-US" sz="1800" dirty="0"/>
              <a:t>Introns almost always begin with a GU and end with an AG.</a:t>
            </a:r>
          </a:p>
        </p:txBody>
      </p:sp>
      <p:pic>
        <p:nvPicPr>
          <p:cNvPr id="2" name="Picture 1"/>
          <p:cNvPicPr>
            <a:picLocks noChangeAspect="1"/>
          </p:cNvPicPr>
          <p:nvPr/>
        </p:nvPicPr>
        <p:blipFill>
          <a:blip r:embed="rId3"/>
          <a:stretch>
            <a:fillRect/>
          </a:stretch>
        </p:blipFill>
        <p:spPr>
          <a:xfrm>
            <a:off x="1277490" y="345502"/>
            <a:ext cx="5842000" cy="850900"/>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2849253337"/>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3" name="Picture 2" descr="figure_04_38.jpg"/>
          <p:cNvPicPr>
            <a:picLocks noChangeAspect="1"/>
          </p:cNvPicPr>
          <p:nvPr/>
        </p:nvPicPr>
        <p:blipFill>
          <a:blip r:embed="rId3"/>
          <a:stretch>
            <a:fillRect/>
          </a:stretch>
        </p:blipFill>
        <p:spPr>
          <a:xfrm>
            <a:off x="2282951" y="192023"/>
            <a:ext cx="4578096" cy="6473952"/>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1431548947"/>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3" name="Picture 2" descr="figure_04_39.jpg"/>
          <p:cNvPicPr>
            <a:picLocks noChangeAspect="1"/>
          </p:cNvPicPr>
          <p:nvPr/>
        </p:nvPicPr>
        <p:blipFill>
          <a:blip r:embed="rId3"/>
          <a:stretch>
            <a:fillRect/>
          </a:stretch>
        </p:blipFill>
        <p:spPr>
          <a:xfrm>
            <a:off x="304800" y="2243327"/>
            <a:ext cx="8534400" cy="2371344"/>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4087991484"/>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143362" name="Picture 2"/>
          <p:cNvPicPr>
            <a:picLocks noChangeAspect="1"/>
          </p:cNvPicPr>
          <p:nvPr/>
        </p:nvPicPr>
        <p:blipFill>
          <a:blip r:embed="rId2">
            <a:extLst>
              <a:ext uri="{28A0092B-C50C-407E-A947-70E740481C1C}">
                <a14:useLocalDpi xmlns:a14="http://schemas.microsoft.com/office/drawing/2010/main" xmlns:p="http://schemas.openxmlformats.org/presentationml/2006/main" xmlns:r="http://schemas.openxmlformats.org/officeDocument/2006/relationships" xmlns:a="http://schemas.openxmlformats.org/drawingml/2006/main" xmlns="" val="0"/>
              </a:ext>
            </a:extLst>
          </a:blip>
          <a:srcRect/>
          <a:stretch>
            <a:fillRect/>
          </a:stretch>
        </p:blipFill>
        <p:spPr bwMode="auto">
          <a:xfrm>
            <a:off x="1752600" y="1676400"/>
            <a:ext cx="4889500" cy="533400"/>
          </a:xfrm>
          <a:prstGeom prst="rect">
            <a:avLst/>
          </a:prstGeom>
          <a:noFill/>
          <a:ln>
            <a:noFill/>
          </a:ln>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rgbClr val="FFFFFF"/>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rgbClr val="000000"/>
                </a:solidFill>
                <a:miter lim="800000"/>
                <a:headEnd/>
                <a:tailEnd/>
              </a14:hiddenLine>
            </a:ext>
          </a:extLst>
        </p:spPr>
      </p:pic>
      <p:sp>
        <p:nvSpPr>
          <p:cNvPr id="143363" name="TextBox 3"/>
          <p:cNvSpPr txBox="1">
            <a:spLocks noChangeArrowheads="1"/>
          </p:cNvSpPr>
          <p:nvPr/>
        </p:nvSpPr>
        <p:spPr bwMode="auto">
          <a:xfrm>
            <a:off x="933450" y="2651125"/>
            <a:ext cx="7296150" cy="1754188"/>
          </a:xfrm>
          <a:prstGeom prst="rect">
            <a:avLst/>
          </a:prstGeom>
          <a:noFill/>
          <a:ln>
            <a:noFill/>
          </a:ln>
          <a:extLst>
            <a:ext uri="{909E8E84-426E-40DD-AFC4-6F175D3DCCD1}">
              <a14:hiddenFill xmlns:a14="http://schemas.microsoft.com/office/drawing/2010/main" xmlns:p="http://schemas.openxmlformats.org/presentationml/2006/main" xmlns:r="http://schemas.openxmlformats.org/officeDocument/2006/relationships" xmlns:a="http://schemas.openxmlformats.org/drawingml/2006/main" xmlns="">
                <a:solidFill>
                  <a:srgbClr val="FFFFFF"/>
                </a:solidFill>
              </a14:hiddenFill>
            </a:ext>
            <a:ext uri="{91240B29-F687-4F45-9708-019B960494DF}">
              <a14:hiddenLine xmlns:a14="http://schemas.microsoft.com/office/drawing/2010/main" xmlns:p="http://schemas.openxmlformats.org/presentationml/2006/main" xmlns:r="http://schemas.openxmlformats.org/officeDocument/2006/relationships" xmlns:a="http://schemas.openxmlformats.org/drawingml/2006/main" xmlns="" w="9525">
                <a:solidFill>
                  <a:srgbClr val="000000"/>
                </a:solidFill>
                <a:miter lim="800000"/>
                <a:headEnd/>
                <a:tailEnd/>
              </a14:hiddenLine>
            </a:ext>
          </a:extLst>
        </p:spPr>
        <p:txBody>
          <a:bodyPr>
            <a:spAutoFit/>
          </a:bodyPr>
          <a:lstStyle>
            <a:lvl1pPr>
              <a:defRPr sz="2400">
                <a:solidFill>
                  <a:schemeClr val="tx1"/>
                </a:solidFill>
                <a:latin typeface="Times" charset="0"/>
                <a:ea typeface="ＭＳ Ｐゴシック" charset="0"/>
                <a:cs typeface="ＭＳ Ｐゴシック" charset="0"/>
              </a:defRPr>
            </a:lvl1pPr>
            <a:lvl2pPr marL="742950" indent="-285750">
              <a:defRPr sz="2400">
                <a:solidFill>
                  <a:schemeClr val="tx1"/>
                </a:solidFill>
                <a:latin typeface="Times" charset="0"/>
                <a:ea typeface="ＭＳ Ｐゴシック" charset="0"/>
              </a:defRPr>
            </a:lvl2pPr>
            <a:lvl3pPr marL="1143000" indent="-228600">
              <a:defRPr sz="2400">
                <a:solidFill>
                  <a:schemeClr val="tx1"/>
                </a:solidFill>
                <a:latin typeface="Times" charset="0"/>
                <a:ea typeface="ＭＳ Ｐゴシック" charset="0"/>
              </a:defRPr>
            </a:lvl3pPr>
            <a:lvl4pPr marL="1600200" indent="-228600">
              <a:defRPr sz="2400">
                <a:solidFill>
                  <a:schemeClr val="tx1"/>
                </a:solidFill>
                <a:latin typeface="Times" charset="0"/>
                <a:ea typeface="ＭＳ Ｐゴシック" charset="0"/>
              </a:defRPr>
            </a:lvl4pPr>
            <a:lvl5pPr marL="2057400" indent="-228600">
              <a:defRPr sz="2400">
                <a:solidFill>
                  <a:schemeClr val="tx1"/>
                </a:solidFill>
                <a:latin typeface="Times" charset="0"/>
                <a:ea typeface="ＭＳ Ｐゴシック" charset="0"/>
              </a:defRPr>
            </a:lvl5pPr>
            <a:lvl6pPr marL="2514600" indent="-228600" eaLnBrk="0" fontAlgn="base" hangingPunct="0">
              <a:spcBef>
                <a:spcPct val="0"/>
              </a:spcBef>
              <a:spcAft>
                <a:spcPct val="0"/>
              </a:spcAft>
              <a:defRPr sz="2400">
                <a:solidFill>
                  <a:schemeClr val="tx1"/>
                </a:solidFill>
                <a:latin typeface="Times" charset="0"/>
                <a:ea typeface="ＭＳ Ｐゴシック" charset="0"/>
              </a:defRPr>
            </a:lvl6pPr>
            <a:lvl7pPr marL="2971800" indent="-228600" eaLnBrk="0" fontAlgn="base" hangingPunct="0">
              <a:spcBef>
                <a:spcPct val="0"/>
              </a:spcBef>
              <a:spcAft>
                <a:spcPct val="0"/>
              </a:spcAft>
              <a:defRPr sz="2400">
                <a:solidFill>
                  <a:schemeClr val="tx1"/>
                </a:solidFill>
                <a:latin typeface="Times" charset="0"/>
                <a:ea typeface="ＭＳ Ｐゴシック" charset="0"/>
              </a:defRPr>
            </a:lvl7pPr>
            <a:lvl8pPr marL="3429000" indent="-228600" eaLnBrk="0" fontAlgn="base" hangingPunct="0">
              <a:spcBef>
                <a:spcPct val="0"/>
              </a:spcBef>
              <a:spcAft>
                <a:spcPct val="0"/>
              </a:spcAft>
              <a:defRPr sz="2400">
                <a:solidFill>
                  <a:schemeClr val="tx1"/>
                </a:solidFill>
                <a:latin typeface="Times" charset="0"/>
                <a:ea typeface="ＭＳ Ｐゴシック" charset="0"/>
              </a:defRPr>
            </a:lvl8pPr>
            <a:lvl9pPr marL="3886200" indent="-228600" eaLnBrk="0" fontAlgn="base" hangingPunct="0">
              <a:spcBef>
                <a:spcPct val="0"/>
              </a:spcBef>
              <a:spcAft>
                <a:spcPct val="0"/>
              </a:spcAft>
              <a:defRPr sz="2400">
                <a:solidFill>
                  <a:schemeClr val="tx1"/>
                </a:solidFill>
                <a:latin typeface="Times" charset="0"/>
                <a:ea typeface="ＭＳ Ｐゴシック" charset="0"/>
              </a:defRPr>
            </a:lvl9pPr>
          </a:lstStyle>
          <a:p>
            <a:r>
              <a:rPr lang="en-US" sz="1800" dirty="0"/>
              <a:t>Many exons encode discrete structural and functional units of proteins.</a:t>
            </a:r>
          </a:p>
          <a:p>
            <a:endParaRPr lang="en-US" sz="1800" dirty="0"/>
          </a:p>
          <a:p>
            <a:r>
              <a:rPr lang="en-US" sz="1800" dirty="0"/>
              <a:t>Some new proteins have evolved by exon shuffling.</a:t>
            </a:r>
          </a:p>
          <a:p>
            <a:endParaRPr lang="en-US" sz="1800" dirty="0"/>
          </a:p>
          <a:p>
            <a:r>
              <a:rPr lang="en-US" sz="1800" dirty="0"/>
              <a:t>Alternative splicing allows the generation of multiple proteins from a single gene.</a:t>
            </a:r>
          </a:p>
        </p:txBody>
      </p:sp>
      <p:pic>
        <p:nvPicPr>
          <p:cNvPr id="2" name="Picture 1"/>
          <p:cNvPicPr>
            <a:picLocks noChangeAspect="1"/>
          </p:cNvPicPr>
          <p:nvPr/>
        </p:nvPicPr>
        <p:blipFill>
          <a:blip r:embed="rId3"/>
          <a:stretch>
            <a:fillRect/>
          </a:stretch>
        </p:blipFill>
        <p:spPr>
          <a:xfrm>
            <a:off x="1651000" y="569589"/>
            <a:ext cx="5842000" cy="850900"/>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2174834810"/>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3" name="Picture 2" descr="figure_04_40.jpg"/>
          <p:cNvPicPr>
            <a:picLocks noChangeAspect="1"/>
          </p:cNvPicPr>
          <p:nvPr/>
        </p:nvPicPr>
        <p:blipFill>
          <a:blip r:embed="rId3"/>
          <a:stretch>
            <a:fillRect/>
          </a:stretch>
        </p:blipFill>
        <p:spPr>
          <a:xfrm>
            <a:off x="304800" y="743711"/>
            <a:ext cx="8534400" cy="5370576"/>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2994743885"/>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2" name="Picture 1" descr="figure_04_41.jpg"/>
          <p:cNvPicPr>
            <a:picLocks noChangeAspect="1"/>
          </p:cNvPicPr>
          <p:nvPr/>
        </p:nvPicPr>
        <p:blipFill>
          <a:blip r:embed="rId3"/>
          <a:stretch>
            <a:fillRect/>
          </a:stretch>
        </p:blipFill>
        <p:spPr>
          <a:xfrm>
            <a:off x="304800" y="496823"/>
            <a:ext cx="8534400" cy="5864352"/>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2868473632"/>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mc:Ignorable="mv" mc:PreserveAttributes="mv:*">
  <p:cSld>
    <p:spTree>
      <p:nvGrpSpPr>
        <p:cNvPr id="1" name=""/>
        <p:cNvGrpSpPr/>
        <p:nvPr/>
      </p:nvGrpSpPr>
      <p:grpSpPr>
        <a:xfrm>
          <a:off x="0" y="0"/>
          <a:ext cx="0" cy="0"/>
          <a:chOff x="0" y="0"/>
          <a:chExt cx="0" cy="0"/>
        </a:xfrm>
      </p:grpSpPr>
      <p:pic>
        <p:nvPicPr>
          <p:cNvPr id="4" name="Picture 3" descr="figure_04_42.jpg"/>
          <p:cNvPicPr>
            <a:picLocks noChangeAspect="1"/>
          </p:cNvPicPr>
          <p:nvPr/>
        </p:nvPicPr>
        <p:blipFill>
          <a:blip r:embed="rId3"/>
          <a:stretch>
            <a:fillRect/>
          </a:stretch>
        </p:blipFill>
        <p:spPr>
          <a:xfrm>
            <a:off x="304800" y="975360"/>
            <a:ext cx="8534400" cy="4907280"/>
          </a:xfrm>
          <a:prstGeom prst="rect">
            <a:avLst/>
          </a:prstGeom>
        </p:spPr>
      </p:pic>
    </p:spTree>
    <p:extLst>
      <p:ext uri="{BB962C8B-B14F-4D97-AF65-F5344CB8AC3E}">
        <p14:creationId xmlns:p14="http://schemas.microsoft.com/office/powerpoint/2010/main" xmlns:p="http://schemas.openxmlformats.org/presentationml/2006/main" xmlns:r="http://schemas.openxmlformats.org/officeDocument/2006/relationships" xmlns:a="http://schemas.openxmlformats.org/drawingml/2006/main" xmlns="" val="15948425"/>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1551</TotalTime>
  <Words>4431</Words>
  <Application>Microsoft Macintosh PowerPoint</Application>
  <PresentationFormat>On-screen Show (4:3)</PresentationFormat>
  <Paragraphs>252</Paragraphs>
  <Slides>81</Slides>
  <Notes>59</Notes>
  <HiddenSlides>0</HiddenSlides>
  <MMClips>0</MMClips>
  <ScaleCrop>false</ScaleCrop>
  <HeadingPairs>
    <vt:vector size="4" baseType="variant">
      <vt:variant>
        <vt:lpstr>Design Template</vt:lpstr>
      </vt:variant>
      <vt:variant>
        <vt:i4>1</vt:i4>
      </vt:variant>
      <vt:variant>
        <vt:lpstr>Slide Titles</vt:lpstr>
      </vt:variant>
      <vt:variant>
        <vt:i4>81</vt:i4>
      </vt:variant>
    </vt:vector>
  </HeadingPairs>
  <TitlesOfParts>
    <vt:vector size="82"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vector>
  </TitlesOfParts>
  <Company>Carleton College</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John Tymoczko</dc:creator>
  <cp:lastModifiedBy>J</cp:lastModifiedBy>
  <cp:revision>76</cp:revision>
  <dcterms:created xsi:type="dcterms:W3CDTF">2015-07-07T19:13:30Z</dcterms:created>
  <dcterms:modified xsi:type="dcterms:W3CDTF">2015-07-07T19:14:46Z</dcterms:modified>
</cp:coreProperties>
</file>