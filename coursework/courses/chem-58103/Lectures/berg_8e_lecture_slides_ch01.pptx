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11" r:id="rId52"/>
    <p:sldId id="312" r:id="rId53"/>
    <p:sldId id="313" r:id="rId54"/>
    <p:sldId id="314" r:id="rId55"/>
    <p:sldId id="315" r:id="rId56"/>
    <p:sldId id="316" r:id="rId57"/>
    <p:sldId id="317" r:id="rId58"/>
    <p:sldId id="308"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ivp" initials="i" lastIdx="8"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2" d="100"/>
          <a:sy n="72" d="100"/>
        </p:scale>
        <p:origin x="-144" y="2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A7BB6C-5C51-414B-903D-DE25067B214F}" type="datetimeFigureOut">
              <a:rPr lang="en-US" smtClean="0"/>
              <a:t>6/8/2015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DCDAC-7B3A-7D46-A8AA-8684AD4EB5A0}" type="slidenum">
              <a:rPr lang="en-US" smtClean="0"/>
              <a:t>‹#›</a:t>
            </a:fld>
            <a:endParaRPr lang="en-US" dirty="0"/>
          </a:p>
        </p:txBody>
      </p:sp>
    </p:spTree>
    <p:extLst>
      <p:ext uri="{BB962C8B-B14F-4D97-AF65-F5344CB8AC3E}">
        <p14:creationId xmlns:p14="http://schemas.microsoft.com/office/powerpoint/2010/main" val="39056796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5901F07-9875-D746-9E38-7E0DB1AE36B3}" type="slidenum">
              <a:rPr lang="en-US"/>
              <a:pPr>
                <a:defRPr/>
              </a:pPr>
              <a:t>1</a:t>
            </a:fld>
            <a:endParaRPr lang="en-US" dirty="0"/>
          </a:p>
        </p:txBody>
      </p:sp>
      <p:sp>
        <p:nvSpPr>
          <p:cNvPr id="1402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291" name="Rectangle 3"/>
          <p:cNvSpPr>
            <a:spLocks noGrp="1" noChangeArrowheads="1"/>
          </p:cNvSpPr>
          <p:nvPr>
            <p:ph type="body" idx="1"/>
          </p:nvPr>
        </p:nvSpPr>
        <p:spPr/>
        <p:txBody>
          <a:bodyPr/>
          <a:lstStyle/>
          <a:p>
            <a:pPr>
              <a:defRPr/>
            </a:pPr>
            <a:r>
              <a:rPr lang="en-US" dirty="0" smtClean="0"/>
              <a:t>Chemistry in action. Human activities require energy. The interconversion</a:t>
            </a:r>
            <a:r>
              <a:rPr lang="en-US" baseline="0" dirty="0" smtClean="0"/>
              <a:t> </a:t>
            </a:r>
            <a:r>
              <a:rPr lang="en-US" dirty="0" smtClean="0"/>
              <a:t>of different forms of energy requires large biochemical machines</a:t>
            </a:r>
            <a:r>
              <a:rPr lang="en-US" baseline="0" dirty="0" smtClean="0"/>
              <a:t> </a:t>
            </a:r>
            <a:r>
              <a:rPr lang="en-US" dirty="0" smtClean="0"/>
              <a:t>comprising many thousands of atoms such as the complex shown above.</a:t>
            </a:r>
            <a:r>
              <a:rPr lang="en-US" baseline="0" dirty="0" smtClean="0"/>
              <a:t> </a:t>
            </a:r>
            <a:r>
              <a:rPr lang="en-US" dirty="0" smtClean="0"/>
              <a:t>Yet, the functions of these elaborate assemblies depend on simple</a:t>
            </a:r>
            <a:r>
              <a:rPr lang="en-US" baseline="0" dirty="0" smtClean="0"/>
              <a:t> </a:t>
            </a:r>
            <a:r>
              <a:rPr lang="en-US" dirty="0" smtClean="0"/>
              <a:t>chemical processes such as the protonation and deprotonation of the</a:t>
            </a:r>
            <a:r>
              <a:rPr lang="en-US" baseline="0" dirty="0" smtClean="0"/>
              <a:t> </a:t>
            </a:r>
            <a:r>
              <a:rPr lang="en-US" dirty="0" smtClean="0"/>
              <a:t>carboxylic acid groups shown on the right. The photograph is of Nobel</a:t>
            </a:r>
            <a:r>
              <a:rPr lang="en-US" baseline="0" dirty="0" smtClean="0"/>
              <a:t> </a:t>
            </a:r>
            <a:r>
              <a:rPr lang="en-US" dirty="0" smtClean="0"/>
              <a:t>Prize winners Peter Agre, M.D., and Carol Greider, Ph.D., who used</a:t>
            </a:r>
            <a:r>
              <a:rPr lang="en-US" baseline="0" dirty="0" smtClean="0"/>
              <a:t> </a:t>
            </a:r>
            <a:r>
              <a:rPr lang="en-US" dirty="0" smtClean="0"/>
              <a:t>biochemical techniques to study the structure and function of proteins.</a:t>
            </a:r>
            <a:r>
              <a:rPr lang="en-US" baseline="0" dirty="0" smtClean="0"/>
              <a:t> </a:t>
            </a:r>
            <a:r>
              <a:rPr lang="en-US" dirty="0" smtClean="0"/>
              <a:t>[Keith</a:t>
            </a:r>
            <a:r>
              <a:rPr lang="en-US" baseline="0" dirty="0" smtClean="0"/>
              <a:t> Weller for</a:t>
            </a:r>
            <a:r>
              <a:rPr lang="en-US" dirty="0" smtClean="0"/>
              <a:t> Johns Hopkins Medicine.]</a:t>
            </a:r>
            <a:endParaRPr lang="en-US" dirty="0" smtClean="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C7D1C2C-B62E-C542-9339-28392AF24F1F}" type="slidenum">
              <a:rPr lang="en-US"/>
              <a:pPr>
                <a:defRPr/>
              </a:pPr>
              <a:t>2</a:t>
            </a:fld>
            <a:endParaRPr lang="en-US" dirty="0"/>
          </a:p>
        </p:txBody>
      </p:sp>
      <p:sp>
        <p:nvSpPr>
          <p:cNvPr id="1413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13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926ABD1-30C5-9346-A310-0838BD1603A3}" type="slidenum">
              <a:rPr lang="en-US"/>
              <a:pPr>
                <a:defRPr/>
              </a:pPr>
              <a:t>4</a:t>
            </a:fld>
            <a:endParaRPr lang="en-US" dirty="0"/>
          </a:p>
        </p:txBody>
      </p:sp>
      <p:sp>
        <p:nvSpPr>
          <p:cNvPr id="1433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3363" name="Rectangle 3"/>
          <p:cNvSpPr>
            <a:spLocks noGrp="1" noChangeArrowheads="1"/>
          </p:cNvSpPr>
          <p:nvPr>
            <p:ph type="body" idx="1"/>
          </p:nvPr>
        </p:nvSpPr>
        <p:spPr/>
        <p:txBody>
          <a:bodyPr/>
          <a:lstStyle/>
          <a:p>
            <a:pPr>
              <a:defRPr/>
            </a:pPr>
            <a:r>
              <a:rPr lang="en-US" b="1" dirty="0" smtClean="0"/>
              <a:t>FIGURE 1.1 Biological diversity and similarity. </a:t>
            </a:r>
            <a:r>
              <a:rPr lang="en-US" dirty="0" smtClean="0"/>
              <a:t>The shape of a key molecule in gene regulation</a:t>
            </a:r>
          </a:p>
          <a:p>
            <a:pPr>
              <a:defRPr/>
            </a:pPr>
            <a:r>
              <a:rPr lang="en-US" dirty="0" smtClean="0"/>
              <a:t>(the TATA-box-binding protein) is similar in three very different organisms that are separated from</a:t>
            </a:r>
          </a:p>
          <a:p>
            <a:pPr>
              <a:defRPr/>
            </a:pPr>
            <a:r>
              <a:rPr lang="en-US" dirty="0" smtClean="0"/>
              <a:t>one another by billions of years of evolution. [(Left) Eye</a:t>
            </a:r>
            <a:r>
              <a:rPr lang="en-US" baseline="0" dirty="0" smtClean="0"/>
              <a:t> of Science/Science Source</a:t>
            </a:r>
            <a:r>
              <a:rPr lang="en-US" dirty="0" smtClean="0"/>
              <a:t>; (middle)</a:t>
            </a:r>
          </a:p>
          <a:p>
            <a:pPr>
              <a:defRPr/>
            </a:pPr>
            <a:r>
              <a:rPr lang="en-US" dirty="0" smtClean="0"/>
              <a:t>Holt Studios/Photo Researchers; (right) Time Life Pictures/Getty Images.]</a:t>
            </a:r>
            <a:endParaRPr lang="en-US" dirty="0" smtClean="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460268E-30B4-5340-AD76-90C965FD2491}" type="slidenum">
              <a:rPr lang="en-US"/>
              <a:pPr>
                <a:defRPr/>
              </a:pPr>
              <a:t>5</a:t>
            </a:fld>
            <a:endParaRPr lang="en-US" dirty="0"/>
          </a:p>
        </p:txBody>
      </p:sp>
      <p:sp>
        <p:nvSpPr>
          <p:cNvPr id="1423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2339" name="Rectangle 3"/>
          <p:cNvSpPr>
            <a:spLocks noGrp="1" noChangeArrowheads="1"/>
          </p:cNvSpPr>
          <p:nvPr>
            <p:ph type="body" idx="1"/>
          </p:nvPr>
        </p:nvSpPr>
        <p:spPr/>
        <p:txBody>
          <a:bodyPr/>
          <a:lstStyle/>
          <a:p>
            <a:pPr>
              <a:defRPr/>
            </a:pPr>
            <a:r>
              <a:rPr lang="en-US" b="1" dirty="0" smtClean="0"/>
              <a:t>FIGURE 1.2 A possible time line for biochemical evolution.</a:t>
            </a:r>
            <a:r>
              <a:rPr lang="en-US" dirty="0" smtClean="0"/>
              <a:t> Selected key events are indicated.</a:t>
            </a:r>
            <a:r>
              <a:rPr lang="en-US" baseline="0" dirty="0" smtClean="0"/>
              <a:t> </a:t>
            </a:r>
            <a:r>
              <a:rPr lang="en-US" dirty="0" smtClean="0"/>
              <a:t>Note that life on Earth began approximately 3.5 billion years ago, whereas human beings emerged</a:t>
            </a:r>
            <a:r>
              <a:rPr lang="en-US" baseline="0" dirty="0" smtClean="0"/>
              <a:t> </a:t>
            </a:r>
            <a:r>
              <a:rPr lang="en-US" dirty="0" smtClean="0"/>
              <a:t>quite recently.</a:t>
            </a:r>
            <a:endParaRPr lang="en-US" dirty="0" smtClean="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A54F8F3-2FC4-B449-89CC-19DA96A1F996}" type="slidenum">
              <a:rPr lang="en-US"/>
              <a:pPr>
                <a:defRPr/>
              </a:pPr>
              <a:t>6</a:t>
            </a:fld>
            <a:endParaRPr lang="en-US" dirty="0"/>
          </a:p>
        </p:txBody>
      </p:sp>
      <p:sp>
        <p:nvSpPr>
          <p:cNvPr id="1443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438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 The tree of life. </a:t>
            </a:r>
            <a:r>
              <a:rPr lang="en-US" sz="1200" b="0" i="0" u="none" strike="noStrike" kern="1200" baseline="0" dirty="0" smtClean="0">
                <a:solidFill>
                  <a:schemeClr val="tx1"/>
                </a:solidFill>
                <a:latin typeface="+mn-lt"/>
                <a:ea typeface="+mn-ea"/>
                <a:cs typeface="+mn-cs"/>
              </a:rPr>
              <a:t>A possible evolutionary path from a common ancestor approximately 3.5 billion years ago at the bottom of the tree to organisms found in the modern world at the top.</a:t>
            </a:r>
            <a:endParaRPr lang="en-US" dirty="0" smtClean="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9A3E829-ED48-5448-8417-33CD50147199}" type="slidenum">
              <a:rPr lang="en-US"/>
              <a:pPr>
                <a:defRPr/>
              </a:pPr>
              <a:t>7</a:t>
            </a:fld>
            <a:endParaRPr lang="en-US" dirty="0"/>
          </a:p>
        </p:txBody>
      </p:sp>
      <p:sp>
        <p:nvSpPr>
          <p:cNvPr id="1454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541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069CEE0-BC60-774D-A194-9141B12D602F}" type="slidenum">
              <a:rPr lang="en-US"/>
              <a:pPr>
                <a:defRPr/>
              </a:pPr>
              <a:t>8</a:t>
            </a:fld>
            <a:endParaRPr lang="en-US" dirty="0"/>
          </a:p>
        </p:txBody>
      </p:sp>
      <p:sp>
        <p:nvSpPr>
          <p:cNvPr id="1464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6435" name="Rectangle 3"/>
          <p:cNvSpPr>
            <a:spLocks noGrp="1" noChangeArrowheads="1"/>
          </p:cNvSpPr>
          <p:nvPr>
            <p:ph type="body" idx="1"/>
          </p:nvPr>
        </p:nvSpPr>
        <p:spPr/>
        <p:txBody>
          <a:bodyPr/>
          <a:lstStyle/>
          <a:p>
            <a:pPr>
              <a:defRPr/>
            </a:pPr>
            <a:r>
              <a:rPr lang="en-US" b="1" dirty="0" smtClean="0"/>
              <a:t>FIGURE 1.4 Covalent structure of DNA.</a:t>
            </a:r>
            <a:r>
              <a:rPr lang="en-US" b="1" baseline="0" dirty="0" smtClean="0"/>
              <a:t> </a:t>
            </a:r>
            <a:r>
              <a:rPr lang="en-US" dirty="0" smtClean="0"/>
              <a:t>Each unit of the polymeric structure is</a:t>
            </a:r>
            <a:r>
              <a:rPr lang="en-US" baseline="0" dirty="0" smtClean="0"/>
              <a:t> </a:t>
            </a:r>
            <a:r>
              <a:rPr lang="en-US" dirty="0" smtClean="0"/>
              <a:t>composed of a sugar (deoxyribose), a</a:t>
            </a:r>
            <a:r>
              <a:rPr lang="en-US" baseline="0" dirty="0" smtClean="0"/>
              <a:t> </a:t>
            </a:r>
            <a:r>
              <a:rPr lang="en-US" dirty="0" smtClean="0"/>
              <a:t>phosphate, and a variable base that protrudes</a:t>
            </a:r>
            <a:r>
              <a:rPr lang="en-US" baseline="0" dirty="0" smtClean="0"/>
              <a:t> </a:t>
            </a:r>
            <a:r>
              <a:rPr lang="en-US" dirty="0" smtClean="0"/>
              <a:t>from the sugar–phosphate backbone.</a:t>
            </a:r>
            <a:endParaRPr lang="en-US" dirty="0" smtClean="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5A25024-5192-7A4A-AA99-C29B12408C03}" type="slidenum">
              <a:rPr lang="en-US"/>
              <a:pPr>
                <a:defRPr/>
              </a:pPr>
              <a:t>9</a:t>
            </a:fld>
            <a:endParaRPr lang="en-US" dirty="0"/>
          </a:p>
        </p:txBody>
      </p:sp>
      <p:sp>
        <p:nvSpPr>
          <p:cNvPr id="1474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7459"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36C5B03-E981-3149-867A-5AC621D38F42}" type="slidenum">
              <a:rPr lang="en-US"/>
              <a:pPr>
                <a:defRPr/>
              </a:pPr>
              <a:t>10</a:t>
            </a:fld>
            <a:endParaRPr lang="en-US" dirty="0"/>
          </a:p>
        </p:txBody>
      </p:sp>
      <p:sp>
        <p:nvSpPr>
          <p:cNvPr id="1484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8483" name="Rectangle 3"/>
          <p:cNvSpPr>
            <a:spLocks noGrp="1" noChangeArrowheads="1"/>
          </p:cNvSpPr>
          <p:nvPr>
            <p:ph type="body" idx="1"/>
          </p:nvPr>
        </p:nvSpPr>
        <p:spPr/>
        <p:txBody>
          <a:bodyPr/>
          <a:lstStyle/>
          <a:p>
            <a:pPr>
              <a:defRPr/>
            </a:pPr>
            <a:r>
              <a:rPr lang="en-US" b="1" dirty="0" smtClean="0"/>
              <a:t>FIGURE 1.5 The double helix. </a:t>
            </a:r>
            <a:r>
              <a:rPr lang="en-US" dirty="0" smtClean="0"/>
              <a:t>The double-helical structure of DNA proposed by Watson and Crick. The sugar–phosphate backbones of the two chains are shown in red and blue, and the bases are</a:t>
            </a:r>
            <a:r>
              <a:rPr lang="en-US" baseline="0" dirty="0" smtClean="0"/>
              <a:t> </a:t>
            </a:r>
            <a:r>
              <a:rPr lang="en-US" dirty="0" smtClean="0"/>
              <a:t>shown in green, purple, orange, and yellow. The two strands are antiparallel, running in opposite</a:t>
            </a:r>
            <a:r>
              <a:rPr lang="en-US" baseline="0" dirty="0" smtClean="0"/>
              <a:t> </a:t>
            </a:r>
            <a:r>
              <a:rPr lang="en-US" dirty="0" smtClean="0"/>
              <a:t>directions with respect to the axis of the double helix, as indicated by the arrows.</a:t>
            </a:r>
            <a:endParaRPr lang="en-US" dirty="0" smtClean="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1BDF8A0-EC2B-1D4A-B3D1-B28BB1B5D8E1}" type="slidenum">
              <a:rPr lang="en-US"/>
              <a:pPr>
                <a:defRPr/>
              </a:pPr>
              <a:t>11</a:t>
            </a:fld>
            <a:endParaRPr lang="en-US" dirty="0"/>
          </a:p>
        </p:txBody>
      </p:sp>
      <p:sp>
        <p:nvSpPr>
          <p:cNvPr id="1495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9507" name="Rectangle 3"/>
          <p:cNvSpPr>
            <a:spLocks noGrp="1" noChangeArrowheads="1"/>
          </p:cNvSpPr>
          <p:nvPr>
            <p:ph type="body" idx="1"/>
          </p:nvPr>
        </p:nvSpPr>
        <p:spPr/>
        <p:txBody>
          <a:bodyPr/>
          <a:lstStyle/>
          <a:p>
            <a:pPr>
              <a:defRPr/>
            </a:pPr>
            <a:r>
              <a:rPr lang="en-US" b="1" dirty="0" smtClean="0"/>
              <a:t>FIGURE 1.6 Watson–Crick base pairs. </a:t>
            </a:r>
            <a:r>
              <a:rPr lang="en-US" dirty="0" smtClean="0"/>
              <a:t>Adenine pairs with thymine (A–T), and guanine with</a:t>
            </a:r>
            <a:r>
              <a:rPr lang="en-US" baseline="0" dirty="0" smtClean="0"/>
              <a:t> </a:t>
            </a:r>
            <a:r>
              <a:rPr lang="en-US" dirty="0" smtClean="0"/>
              <a:t>cytosine (G–C). The dashed green lines represent hydrogen bonds.</a:t>
            </a:r>
            <a:endParaRPr lang="en-US" dirty="0" smtClean="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6ADF931-763B-1B41-9B8A-85B2CBD4FC9F}" type="slidenum">
              <a:rPr lang="en-US"/>
              <a:pPr>
                <a:defRPr/>
              </a:pPr>
              <a:t>13</a:t>
            </a:fld>
            <a:endParaRPr lang="en-US" dirty="0"/>
          </a:p>
        </p:txBody>
      </p:sp>
      <p:sp>
        <p:nvSpPr>
          <p:cNvPr id="152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2579" name="Rectangle 3"/>
          <p:cNvSpPr>
            <a:spLocks noGrp="1" noChangeArrowheads="1"/>
          </p:cNvSpPr>
          <p:nvPr>
            <p:ph type="body" idx="1"/>
          </p:nvPr>
        </p:nvSpPr>
        <p:spPr/>
        <p:txBody>
          <a:bodyPr/>
          <a:lstStyle/>
          <a:p>
            <a:pPr>
              <a:defRPr/>
            </a:pPr>
            <a:r>
              <a:rPr lang="en-US" b="1" dirty="0" smtClean="0"/>
              <a:t>FIGURE 1.7 DNA replication. </a:t>
            </a:r>
            <a:r>
              <a:rPr lang="en-US" dirty="0" smtClean="0"/>
              <a:t>If a DNA</a:t>
            </a:r>
            <a:r>
              <a:rPr lang="en-US" baseline="0" dirty="0" smtClean="0"/>
              <a:t> </a:t>
            </a:r>
            <a:r>
              <a:rPr lang="en-US" dirty="0" smtClean="0"/>
              <a:t>molecule is separated into two strands, each</a:t>
            </a:r>
            <a:r>
              <a:rPr lang="en-US" baseline="0" dirty="0" smtClean="0"/>
              <a:t> </a:t>
            </a:r>
            <a:r>
              <a:rPr lang="en-US" dirty="0" smtClean="0"/>
              <a:t>strand can act as the template for the</a:t>
            </a:r>
            <a:r>
              <a:rPr lang="en-US" baseline="0" dirty="0" smtClean="0"/>
              <a:t> </a:t>
            </a:r>
            <a:r>
              <a:rPr lang="en-US" dirty="0" smtClean="0"/>
              <a:t>generation of its partner strand.</a:t>
            </a:r>
            <a:endParaRPr lang="en-US" dirty="0" smtClean="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1.8 Formation of a double helix.</a:t>
            </a:r>
            <a:r>
              <a:rPr lang="en-US" b="1" baseline="0" dirty="0" smtClean="0"/>
              <a:t> </a:t>
            </a:r>
            <a:r>
              <a:rPr lang="en-US" dirty="0" smtClean="0"/>
              <a:t>When two DNA strands with appropriate,</a:t>
            </a:r>
            <a:r>
              <a:rPr lang="en-US" baseline="0" dirty="0" smtClean="0"/>
              <a:t> </a:t>
            </a:r>
            <a:r>
              <a:rPr lang="en-US" dirty="0" smtClean="0"/>
              <a:t>complementary sequences are mixed, they</a:t>
            </a:r>
            <a:r>
              <a:rPr lang="en-US" baseline="0" dirty="0" smtClean="0"/>
              <a:t> </a:t>
            </a:r>
            <a:r>
              <a:rPr lang="en-US" dirty="0" smtClean="0"/>
              <a:t>spontaneously assemble to form a</a:t>
            </a:r>
            <a:r>
              <a:rPr lang="en-US" baseline="0" dirty="0" smtClean="0"/>
              <a:t> </a:t>
            </a:r>
            <a:r>
              <a:rPr lang="en-US" dirty="0" smtClean="0"/>
              <a:t>double</a:t>
            </a:r>
            <a:r>
              <a:rPr lang="en-US" baseline="0" dirty="0" smtClean="0"/>
              <a:t> </a:t>
            </a:r>
            <a:r>
              <a:rPr lang="en-US" dirty="0" smtClean="0"/>
              <a:t>helix.</a:t>
            </a:r>
            <a:endParaRPr lang="en-US" dirty="0"/>
          </a:p>
        </p:txBody>
      </p:sp>
      <p:sp>
        <p:nvSpPr>
          <p:cNvPr id="4" name="Slide Number Placeholder 3"/>
          <p:cNvSpPr>
            <a:spLocks noGrp="1"/>
          </p:cNvSpPr>
          <p:nvPr>
            <p:ph type="sldNum" sz="quarter" idx="5"/>
          </p:nvPr>
        </p:nvSpPr>
        <p:spPr/>
        <p:txBody>
          <a:bodyPr/>
          <a:lstStyle/>
          <a:p>
            <a:pPr>
              <a:defRPr/>
            </a:pPr>
            <a:fld id="{0676D35A-711A-A74E-9F39-BDBF76C9F5B1}" type="slidenum">
              <a:rPr lang="en-US" smtClean="0"/>
              <a:pPr>
                <a:defRPr/>
              </a:pPr>
              <a:t>14</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C1E03ED-B862-A148-956B-8F683C455029}" type="slidenum">
              <a:rPr lang="en-US"/>
              <a:pPr>
                <a:defRPr/>
              </a:pPr>
              <a:t>15</a:t>
            </a:fld>
            <a:endParaRPr lang="en-US" dirty="0"/>
          </a:p>
        </p:txBody>
      </p:sp>
      <p:sp>
        <p:nvSpPr>
          <p:cNvPr id="1536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03"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A99292E-E5B2-E44E-941E-89D6F1156B96}" type="slidenum">
              <a:rPr lang="en-US"/>
              <a:pPr>
                <a:defRPr/>
              </a:pPr>
              <a:t>16</a:t>
            </a:fld>
            <a:endParaRPr lang="en-US" dirty="0"/>
          </a:p>
        </p:txBody>
      </p:sp>
      <p:sp>
        <p:nvSpPr>
          <p:cNvPr id="1546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4627"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4BB3B8E-39CC-594C-926B-FE178B1B2458}" type="slidenum">
              <a:rPr lang="en-US"/>
              <a:pPr>
                <a:defRPr/>
              </a:pPr>
              <a:t>18</a:t>
            </a:fld>
            <a:endParaRPr lang="en-US" dirty="0"/>
          </a:p>
        </p:txBody>
      </p:sp>
      <p:sp>
        <p:nvSpPr>
          <p:cNvPr id="1556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565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655B0F9-E8F3-324C-A2BF-466D4E838B84}" type="slidenum">
              <a:rPr lang="en-US"/>
              <a:pPr>
                <a:defRPr/>
              </a:pPr>
              <a:t>19</a:t>
            </a:fld>
            <a:endParaRPr lang="en-US" dirty="0"/>
          </a:p>
        </p:txBody>
      </p:sp>
      <p:sp>
        <p:nvSpPr>
          <p:cNvPr id="1566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675" name="Rectangle 3"/>
          <p:cNvSpPr>
            <a:spLocks noGrp="1" noChangeArrowheads="1"/>
          </p:cNvSpPr>
          <p:nvPr>
            <p:ph type="body" idx="1"/>
          </p:nvPr>
        </p:nvSpPr>
        <p:spPr/>
        <p:txBody>
          <a:bodyPr/>
          <a:lstStyle/>
          <a:p>
            <a:pPr>
              <a:defRPr/>
            </a:pPr>
            <a:r>
              <a:rPr lang="en-US" b="1" dirty="0" smtClean="0"/>
              <a:t>Figure 1.9 Hydrogen bonds</a:t>
            </a:r>
            <a:r>
              <a:rPr lang="en-US" dirty="0" smtClean="0"/>
              <a:t>. Hydrogen</a:t>
            </a:r>
            <a:r>
              <a:rPr lang="en-US" baseline="0" dirty="0" smtClean="0"/>
              <a:t> </a:t>
            </a:r>
            <a:r>
              <a:rPr lang="en-US" dirty="0" smtClean="0"/>
              <a:t>bonds are depicted by dashed green</a:t>
            </a:r>
            <a:r>
              <a:rPr lang="en-US" baseline="0" dirty="0" smtClean="0"/>
              <a:t> </a:t>
            </a:r>
            <a:r>
              <a:rPr lang="en-US" dirty="0" smtClean="0"/>
              <a:t>lines. The positions of the partial charges</a:t>
            </a:r>
            <a:r>
              <a:rPr lang="en-US" baseline="0" dirty="0" smtClean="0"/>
              <a:t> </a:t>
            </a:r>
            <a:r>
              <a:rPr lang="en-US" dirty="0" smtClean="0"/>
              <a:t>(δ</a:t>
            </a:r>
            <a:r>
              <a:rPr lang="en-US" sz="1400" baseline="30000" dirty="0" smtClean="0"/>
              <a:t>+</a:t>
            </a:r>
            <a:r>
              <a:rPr lang="en-US" dirty="0" smtClean="0"/>
              <a:t> and δ</a:t>
            </a:r>
            <a:r>
              <a:rPr lang="en-US" sz="1800" baseline="30000" dirty="0" smtClean="0"/>
              <a:t>-</a:t>
            </a:r>
            <a:r>
              <a:rPr lang="en-US" dirty="0" smtClean="0"/>
              <a:t>) are shown.</a:t>
            </a:r>
            <a:endParaRPr lang="en-US" dirty="0" smtClean="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BFEF296-1573-0247-B723-06FC7266CD8D}" type="slidenum">
              <a:rPr lang="en-US"/>
              <a:pPr>
                <a:defRPr/>
              </a:pPr>
              <a:t>20</a:t>
            </a:fld>
            <a:endParaRPr lang="en-US" dirty="0"/>
          </a:p>
        </p:txBody>
      </p:sp>
      <p:sp>
        <p:nvSpPr>
          <p:cNvPr id="1576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699"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767A8CB-A297-DC43-B114-D0E9512C51A6}" type="slidenum">
              <a:rPr lang="en-US"/>
              <a:pPr>
                <a:defRPr/>
              </a:pPr>
              <a:t>21</a:t>
            </a:fld>
            <a:endParaRPr lang="en-US" dirty="0"/>
          </a:p>
        </p:txBody>
      </p:sp>
      <p:sp>
        <p:nvSpPr>
          <p:cNvPr id="1587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723" name="Rectangle 3"/>
          <p:cNvSpPr>
            <a:spLocks noGrp="1" noChangeArrowheads="1"/>
          </p:cNvSpPr>
          <p:nvPr>
            <p:ph type="body" idx="1"/>
          </p:nvPr>
        </p:nvSpPr>
        <p:spPr/>
        <p:txBody>
          <a:bodyPr/>
          <a:lstStyle/>
          <a:p>
            <a:pPr>
              <a:defRPr/>
            </a:pPr>
            <a:r>
              <a:rPr lang="en-US" b="1" dirty="0" smtClean="0"/>
              <a:t>FIGURE 1.10 Energy of a van der Waals</a:t>
            </a:r>
            <a:r>
              <a:rPr lang="en-US" b="1" baseline="0" dirty="0" smtClean="0"/>
              <a:t> </a:t>
            </a:r>
            <a:r>
              <a:rPr lang="en-US" b="1" dirty="0" smtClean="0"/>
              <a:t>interaction as two atoms approach each</a:t>
            </a:r>
            <a:r>
              <a:rPr lang="en-US" b="1" baseline="0" dirty="0" smtClean="0"/>
              <a:t> </a:t>
            </a:r>
            <a:r>
              <a:rPr lang="en-US" b="1" dirty="0" smtClean="0"/>
              <a:t>other. </a:t>
            </a:r>
            <a:r>
              <a:rPr lang="en-US" dirty="0" smtClean="0"/>
              <a:t>The energy is most favorable at the</a:t>
            </a:r>
            <a:r>
              <a:rPr lang="en-US" baseline="0" dirty="0" smtClean="0"/>
              <a:t> </a:t>
            </a:r>
            <a:r>
              <a:rPr lang="en-US" dirty="0" smtClean="0"/>
              <a:t>van der Waals contact distance. Owing to</a:t>
            </a:r>
            <a:r>
              <a:rPr lang="en-US" baseline="0" dirty="0" smtClean="0"/>
              <a:t> </a:t>
            </a:r>
            <a:r>
              <a:rPr lang="en-US" dirty="0" smtClean="0"/>
              <a:t>electron–electron repulsion, the energy rises</a:t>
            </a:r>
            <a:r>
              <a:rPr lang="en-US" baseline="0" dirty="0" smtClean="0"/>
              <a:t> </a:t>
            </a:r>
            <a:r>
              <a:rPr lang="en-US" dirty="0" smtClean="0"/>
              <a:t>rapidly as the distance between the atoms</a:t>
            </a:r>
            <a:r>
              <a:rPr lang="en-US" baseline="0" dirty="0" smtClean="0"/>
              <a:t> </a:t>
            </a:r>
            <a:r>
              <a:rPr lang="en-US" dirty="0" smtClean="0"/>
              <a:t>becomes shorter than the contact distance.</a:t>
            </a:r>
            <a:endParaRPr lang="en-US" dirty="0" smtClean="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E43E4FE0-6D91-3648-B4D5-E6C27DAFDC83}" type="slidenum">
              <a:rPr lang="en-US" smtClean="0"/>
              <a:pPr>
                <a:defRPr/>
              </a:pPr>
              <a:t>22</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1571A24-65EE-8D48-9F6B-16A6FD4654D6}" type="slidenum">
              <a:rPr lang="en-US"/>
              <a:pPr>
                <a:defRPr/>
              </a:pPr>
              <a:t>23</a:t>
            </a:fld>
            <a:endParaRPr lang="en-US" dirty="0"/>
          </a:p>
        </p:txBody>
      </p:sp>
      <p:sp>
        <p:nvSpPr>
          <p:cNvPr id="1597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747" name="Rectangle 3"/>
          <p:cNvSpPr>
            <a:spLocks noGrp="1" noChangeArrowheads="1"/>
          </p:cNvSpPr>
          <p:nvPr>
            <p:ph type="body" idx="1"/>
          </p:nvPr>
        </p:nvSpPr>
        <p:spPr/>
        <p:txBody>
          <a:bodyPr/>
          <a:lstStyle/>
          <a:p>
            <a:pPr>
              <a:defRPr/>
            </a:pPr>
            <a:r>
              <a:rPr lang="en-US" b="1" dirty="0" smtClean="0"/>
              <a:t>FIGURE 1.11 Structure of ice</a:t>
            </a:r>
            <a:r>
              <a:rPr lang="en-US" dirty="0" smtClean="0"/>
              <a:t>. Hydrogen</a:t>
            </a:r>
            <a:r>
              <a:rPr lang="en-US" baseline="0" dirty="0" smtClean="0"/>
              <a:t> </a:t>
            </a:r>
            <a:r>
              <a:rPr lang="en-US" dirty="0" smtClean="0"/>
              <a:t>bonds (shown as dashed green lines) are</a:t>
            </a:r>
            <a:r>
              <a:rPr lang="en-US" baseline="0" dirty="0" smtClean="0"/>
              <a:t> </a:t>
            </a:r>
            <a:r>
              <a:rPr lang="en-US" dirty="0" smtClean="0"/>
              <a:t>formed between water molecules to produce</a:t>
            </a:r>
            <a:r>
              <a:rPr lang="en-US" baseline="0" dirty="0" smtClean="0"/>
              <a:t> </a:t>
            </a:r>
            <a:r>
              <a:rPr lang="en-US" dirty="0" smtClean="0"/>
              <a:t>a highly ordered and open structure.</a:t>
            </a:r>
          </a:p>
          <a:p>
            <a:pPr>
              <a:defRPr/>
            </a:pPr>
            <a:endParaRPr lang="en-US" dirty="0" smtClean="0"/>
          </a:p>
          <a:p>
            <a:pPr eaLnBrk="1" hangingPunct="1">
              <a:defRPr/>
            </a:pPr>
            <a:endParaRPr lang="en-US" dirty="0" smtClean="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B475D25-3D92-734C-BAC6-1645A2324920}" type="slidenum">
              <a:rPr lang="en-US"/>
              <a:pPr>
                <a:defRPr/>
              </a:pPr>
              <a:t>24</a:t>
            </a:fld>
            <a:endParaRPr lang="en-US" dirty="0"/>
          </a:p>
        </p:txBody>
      </p:sp>
      <p:sp>
        <p:nvSpPr>
          <p:cNvPr id="1607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771" name="Rectangle 3"/>
          <p:cNvSpPr>
            <a:spLocks noGrp="1" noChangeArrowheads="1"/>
          </p:cNvSpPr>
          <p:nvPr>
            <p:ph type="body" idx="1"/>
          </p:nvPr>
        </p:nvSpPr>
        <p:spPr/>
        <p:txBody>
          <a:bodyPr/>
          <a:lstStyle/>
          <a:p>
            <a:pPr>
              <a:defRPr/>
            </a:pPr>
            <a:r>
              <a:rPr lang="en-US" b="1" dirty="0" smtClean="0"/>
              <a:t>FIGURE 1.12 The hydrophobic effect. </a:t>
            </a:r>
            <a:r>
              <a:rPr lang="en-US" dirty="0" smtClean="0"/>
              <a:t>The</a:t>
            </a:r>
            <a:r>
              <a:rPr lang="en-US" baseline="0" dirty="0" smtClean="0"/>
              <a:t> </a:t>
            </a:r>
            <a:r>
              <a:rPr lang="en-US" dirty="0" smtClean="0"/>
              <a:t>aggregation of nonpolar groups in water leads</a:t>
            </a:r>
            <a:r>
              <a:rPr lang="en-US" baseline="0" dirty="0" smtClean="0"/>
              <a:t> </a:t>
            </a:r>
            <a:r>
              <a:rPr lang="en-US" dirty="0" smtClean="0"/>
              <a:t>to the release of water molecules, initially</a:t>
            </a:r>
            <a:r>
              <a:rPr lang="en-US" baseline="0" dirty="0" smtClean="0"/>
              <a:t> </a:t>
            </a:r>
            <a:r>
              <a:rPr lang="en-US" dirty="0" smtClean="0"/>
              <a:t>interacting with the nonpolar surface, into bulk</a:t>
            </a:r>
            <a:r>
              <a:rPr lang="en-US" baseline="0" dirty="0" smtClean="0"/>
              <a:t> </a:t>
            </a:r>
            <a:r>
              <a:rPr lang="en-US" dirty="0" smtClean="0"/>
              <a:t>water. The release of water molecules into</a:t>
            </a:r>
            <a:r>
              <a:rPr lang="en-US" baseline="0" dirty="0" smtClean="0"/>
              <a:t> </a:t>
            </a:r>
            <a:r>
              <a:rPr lang="en-US" dirty="0" smtClean="0"/>
              <a:t>solution makes the aggregation of nonpolar</a:t>
            </a:r>
            <a:r>
              <a:rPr lang="en-US" baseline="0" dirty="0" smtClean="0"/>
              <a:t> </a:t>
            </a:r>
            <a:r>
              <a:rPr lang="en-US" dirty="0" smtClean="0"/>
              <a:t>groups favorable.</a:t>
            </a:r>
            <a:endParaRPr lang="en-US" dirty="0" smtClean="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EC9E59E-2216-6749-BEAF-705D66F4DEE4}" type="slidenum">
              <a:rPr lang="en-US"/>
              <a:pPr>
                <a:defRPr/>
              </a:pPr>
              <a:t>25</a:t>
            </a:fld>
            <a:endParaRPr lang="en-US" dirty="0"/>
          </a:p>
        </p:txBody>
      </p:sp>
      <p:sp>
        <p:nvSpPr>
          <p:cNvPr id="1617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179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299F370-88A7-7A47-89E1-79A4875B6AD8}" type="slidenum">
              <a:rPr lang="en-US"/>
              <a:pPr>
                <a:defRPr/>
              </a:pPr>
              <a:t>26</a:t>
            </a:fld>
            <a:endParaRPr lang="en-US" dirty="0"/>
          </a:p>
        </p:txBody>
      </p:sp>
      <p:sp>
        <p:nvSpPr>
          <p:cNvPr id="1628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2819" name="Rectangle 3"/>
          <p:cNvSpPr>
            <a:spLocks noGrp="1" noChangeArrowheads="1"/>
          </p:cNvSpPr>
          <p:nvPr>
            <p:ph type="body" idx="1"/>
          </p:nvPr>
        </p:nvSpPr>
        <p:spPr/>
        <p:txBody>
          <a:bodyPr/>
          <a:lstStyle/>
          <a:p>
            <a:pPr>
              <a:defRPr/>
            </a:pPr>
            <a:r>
              <a:rPr lang="en-US" b="1" dirty="0" smtClean="0"/>
              <a:t>FIGURE 1.13 Electrostatic interactions in</a:t>
            </a:r>
            <a:r>
              <a:rPr lang="en-US" b="1" baseline="0" dirty="0" smtClean="0"/>
              <a:t> </a:t>
            </a:r>
            <a:r>
              <a:rPr lang="en-US" b="1" dirty="0" smtClean="0"/>
              <a:t>DNA. </a:t>
            </a:r>
            <a:r>
              <a:rPr lang="en-US" dirty="0" smtClean="0"/>
              <a:t>Each unit within the double helix</a:t>
            </a:r>
            <a:r>
              <a:rPr lang="en-US" baseline="0" dirty="0" smtClean="0"/>
              <a:t> </a:t>
            </a:r>
            <a:r>
              <a:rPr lang="en-US" dirty="0" smtClean="0"/>
              <a:t>includes a phosphate group (the phosphorus</a:t>
            </a:r>
            <a:r>
              <a:rPr lang="en-US" baseline="0" dirty="0" smtClean="0"/>
              <a:t> </a:t>
            </a:r>
            <a:r>
              <a:rPr lang="en-US" dirty="0" smtClean="0"/>
              <a:t>atom being shown in purple) that bears a</a:t>
            </a:r>
            <a:r>
              <a:rPr lang="en-US" baseline="0" dirty="0" smtClean="0"/>
              <a:t> </a:t>
            </a:r>
            <a:r>
              <a:rPr lang="en-US" dirty="0" smtClean="0"/>
              <a:t>negative charge. The unfavorable interactions</a:t>
            </a:r>
            <a:r>
              <a:rPr lang="en-US" baseline="0" dirty="0" smtClean="0"/>
              <a:t> </a:t>
            </a:r>
            <a:r>
              <a:rPr lang="en-US" dirty="0" smtClean="0"/>
              <a:t>of one phosphate with several others are</a:t>
            </a:r>
            <a:r>
              <a:rPr lang="en-US" baseline="0" dirty="0" smtClean="0"/>
              <a:t> </a:t>
            </a:r>
            <a:r>
              <a:rPr lang="en-US" dirty="0" smtClean="0"/>
              <a:t>shown by red lines. These repulsive interactions</a:t>
            </a:r>
            <a:r>
              <a:rPr lang="en-US" baseline="0" dirty="0" smtClean="0"/>
              <a:t> </a:t>
            </a:r>
            <a:r>
              <a:rPr lang="en-US" dirty="0" smtClean="0"/>
              <a:t>oppose the formation of a double helix.</a:t>
            </a:r>
            <a:endParaRPr lang="en-US" dirty="0" smtClean="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D66B558E-42E3-B743-89FF-21F39F534D41}" type="slidenum">
              <a:rPr lang="en-US" smtClean="0"/>
              <a:pPr>
                <a:defRPr/>
              </a:pPr>
              <a:t>27</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8ECF77B-327C-1042-8E64-D668861A98CC}" type="slidenum">
              <a:rPr lang="en-US"/>
              <a:pPr>
                <a:defRPr/>
              </a:pPr>
              <a:t>28</a:t>
            </a:fld>
            <a:endParaRPr lang="en-US" dirty="0"/>
          </a:p>
        </p:txBody>
      </p:sp>
      <p:sp>
        <p:nvSpPr>
          <p:cNvPr id="1638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3843" name="Rectangle 3"/>
          <p:cNvSpPr>
            <a:spLocks noGrp="1" noChangeArrowheads="1"/>
          </p:cNvSpPr>
          <p:nvPr>
            <p:ph type="body" idx="1"/>
          </p:nvPr>
        </p:nvSpPr>
        <p:spPr/>
        <p:txBody>
          <a:bodyPr/>
          <a:lstStyle/>
          <a:p>
            <a:pPr>
              <a:defRPr/>
            </a:pPr>
            <a:r>
              <a:rPr lang="en-US" b="1" dirty="0" smtClean="0"/>
              <a:t>FIGURE 1.14 Base stacking. </a:t>
            </a:r>
            <a:r>
              <a:rPr lang="en-US" dirty="0" smtClean="0"/>
              <a:t>In the DNA</a:t>
            </a:r>
            <a:r>
              <a:rPr lang="en-US" baseline="0" dirty="0" smtClean="0"/>
              <a:t> </a:t>
            </a:r>
            <a:r>
              <a:rPr lang="en-US" dirty="0" smtClean="0"/>
              <a:t>double helix, adjacent base pairs are stacked</a:t>
            </a:r>
            <a:r>
              <a:rPr lang="en-US" baseline="0" dirty="0" smtClean="0"/>
              <a:t> </a:t>
            </a:r>
            <a:r>
              <a:rPr lang="en-US" dirty="0" smtClean="0"/>
              <a:t>nearly on top of one another, and so many</a:t>
            </a:r>
            <a:r>
              <a:rPr lang="en-US" baseline="0" dirty="0" smtClean="0"/>
              <a:t> </a:t>
            </a:r>
            <a:r>
              <a:rPr lang="en-US" dirty="0" smtClean="0"/>
              <a:t>atoms in each base pair are separated by their</a:t>
            </a:r>
            <a:r>
              <a:rPr lang="en-US" baseline="0" dirty="0" smtClean="0"/>
              <a:t> </a:t>
            </a:r>
            <a:r>
              <a:rPr lang="en-US" dirty="0" smtClean="0"/>
              <a:t>van der Waals contact distance. The central</a:t>
            </a:r>
            <a:r>
              <a:rPr lang="en-US" baseline="0" dirty="0" smtClean="0"/>
              <a:t> </a:t>
            </a:r>
            <a:r>
              <a:rPr lang="en-US" dirty="0" smtClean="0"/>
              <a:t>base pair is shown in dark blue and the two</a:t>
            </a:r>
            <a:r>
              <a:rPr lang="en-US" baseline="0" dirty="0" smtClean="0"/>
              <a:t> </a:t>
            </a:r>
            <a:r>
              <a:rPr lang="en-US" dirty="0" smtClean="0"/>
              <a:t>adjacent base pairs in light blue. Several van</a:t>
            </a:r>
            <a:r>
              <a:rPr lang="en-US" baseline="0" dirty="0" smtClean="0"/>
              <a:t> </a:t>
            </a:r>
            <a:r>
              <a:rPr lang="en-US" dirty="0" smtClean="0"/>
              <a:t>der Waals contacts are shown in red.</a:t>
            </a:r>
            <a:endParaRPr lang="en-US" dirty="0" smtClean="0">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F228280-402A-EC46-B2C6-3C0C194BFAFC}" type="slidenum">
              <a:rPr lang="en-US"/>
              <a:pPr>
                <a:defRPr/>
              </a:pPr>
              <a:t>29</a:t>
            </a:fld>
            <a:endParaRPr lang="en-US" dirty="0"/>
          </a:p>
        </p:txBody>
      </p:sp>
      <p:sp>
        <p:nvSpPr>
          <p:cNvPr id="1648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4867"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055D6AB-7334-214B-A991-14B5692CCC62}" type="slidenum">
              <a:rPr lang="en-US"/>
              <a:pPr>
                <a:defRPr/>
              </a:pPr>
              <a:t>36</a:t>
            </a:fld>
            <a:endParaRPr lang="en-US" dirty="0"/>
          </a:p>
        </p:txBody>
      </p:sp>
      <p:sp>
        <p:nvSpPr>
          <p:cNvPr id="1658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5891" name="Rectangle 3"/>
          <p:cNvSpPr>
            <a:spLocks noGrp="1" noChangeArrowheads="1"/>
          </p:cNvSpPr>
          <p:nvPr>
            <p:ph type="body" idx="1"/>
          </p:nvPr>
        </p:nvSpPr>
        <p:spPr/>
        <p:txBody>
          <a:bodyPr/>
          <a:lstStyle/>
          <a:p>
            <a:pPr>
              <a:defRPr/>
            </a:pPr>
            <a:r>
              <a:rPr lang="en-US" b="1" dirty="0" smtClean="0"/>
              <a:t>FIGURE 1.15 Double-helix formation and</a:t>
            </a:r>
            <a:r>
              <a:rPr lang="en-US" b="1" baseline="0" dirty="0" smtClean="0"/>
              <a:t> </a:t>
            </a:r>
            <a:r>
              <a:rPr lang="en-US" b="1" dirty="0" smtClean="0"/>
              <a:t>entropy. </a:t>
            </a:r>
            <a:r>
              <a:rPr lang="en-US" dirty="0" smtClean="0"/>
              <a:t>When solutions containing DNA</a:t>
            </a:r>
            <a:r>
              <a:rPr lang="en-US" baseline="0" dirty="0" smtClean="0"/>
              <a:t> </a:t>
            </a:r>
            <a:r>
              <a:rPr lang="en-US" dirty="0" smtClean="0"/>
              <a:t>strands with complementary sequences are</a:t>
            </a:r>
            <a:r>
              <a:rPr lang="en-US" baseline="0" dirty="0" smtClean="0"/>
              <a:t> </a:t>
            </a:r>
            <a:r>
              <a:rPr lang="en-US" dirty="0" smtClean="0"/>
              <a:t>mixed, the strands react to form double</a:t>
            </a:r>
            <a:r>
              <a:rPr lang="en-US" baseline="0" dirty="0" smtClean="0"/>
              <a:t> </a:t>
            </a:r>
            <a:r>
              <a:rPr lang="en-US" dirty="0" smtClean="0"/>
              <a:t>helices. This process results in a loss of</a:t>
            </a:r>
            <a:r>
              <a:rPr lang="en-US" baseline="0" dirty="0" smtClean="0"/>
              <a:t> </a:t>
            </a:r>
            <a:r>
              <a:rPr lang="en-US" dirty="0" smtClean="0"/>
              <a:t>entropy from the system, indicating that heat</a:t>
            </a:r>
            <a:r>
              <a:rPr lang="en-US" baseline="0" dirty="0" smtClean="0"/>
              <a:t> </a:t>
            </a:r>
            <a:r>
              <a:rPr lang="en-US" dirty="0" smtClean="0"/>
              <a:t>must be released to the surroundings to</a:t>
            </a:r>
            <a:r>
              <a:rPr lang="en-US" baseline="0" dirty="0" smtClean="0"/>
              <a:t> </a:t>
            </a:r>
            <a:r>
              <a:rPr lang="en-US" dirty="0" smtClean="0"/>
              <a:t>prevent a violation of the Second Law of</a:t>
            </a:r>
            <a:r>
              <a:rPr lang="en-US" baseline="0" dirty="0" smtClean="0"/>
              <a:t> </a:t>
            </a:r>
            <a:r>
              <a:rPr lang="en-US" dirty="0" smtClean="0"/>
              <a:t>Thermodynamics.</a:t>
            </a:r>
          </a:p>
          <a:p>
            <a:pPr eaLnBrk="1" hangingPunct="1">
              <a:defRPr/>
            </a:pPr>
            <a:endParaRPr lang="en-US" dirty="0" smtClean="0">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FC5865F7-D6BD-A142-9C79-ECA34C39CF9B}" type="slidenum">
              <a:rPr lang="en-US" smtClean="0"/>
              <a:pPr>
                <a:defRPr/>
              </a:pPr>
              <a:t>37</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1.16 DNA denaturation by the</a:t>
            </a:r>
            <a:r>
              <a:rPr lang="en-US" b="1" baseline="0" dirty="0" smtClean="0"/>
              <a:t> </a:t>
            </a:r>
            <a:r>
              <a:rPr lang="en-US" b="1" dirty="0" smtClean="0"/>
              <a:t>addition of a base. </a:t>
            </a:r>
            <a:r>
              <a:rPr lang="en-US" dirty="0" smtClean="0"/>
              <a:t>The addition of a base</a:t>
            </a:r>
            <a:r>
              <a:rPr lang="en-US" baseline="0" dirty="0" smtClean="0"/>
              <a:t> </a:t>
            </a:r>
            <a:r>
              <a:rPr lang="en-US" dirty="0" smtClean="0"/>
              <a:t>to a solution of double-helical DNA initially at</a:t>
            </a:r>
            <a:r>
              <a:rPr lang="en-US" baseline="0" dirty="0" smtClean="0"/>
              <a:t> </a:t>
            </a:r>
            <a:r>
              <a:rPr lang="en-US" dirty="0" smtClean="0"/>
              <a:t>pH 7 causes the double helix to separate into</a:t>
            </a:r>
            <a:r>
              <a:rPr lang="en-US" baseline="0" dirty="0" smtClean="0"/>
              <a:t> </a:t>
            </a:r>
            <a:r>
              <a:rPr lang="en-US" dirty="0" smtClean="0"/>
              <a:t>single strands. The process is half complete at</a:t>
            </a:r>
            <a:r>
              <a:rPr lang="en-US" baseline="0" dirty="0" smtClean="0"/>
              <a:t> </a:t>
            </a:r>
            <a:r>
              <a:rPr lang="en-US" dirty="0" smtClean="0"/>
              <a:t>slightly above pH 9.</a:t>
            </a:r>
            <a:endParaRPr lang="en-US" dirty="0"/>
          </a:p>
        </p:txBody>
      </p:sp>
      <p:sp>
        <p:nvSpPr>
          <p:cNvPr id="4" name="Slide Number Placeholder 3"/>
          <p:cNvSpPr>
            <a:spLocks noGrp="1"/>
          </p:cNvSpPr>
          <p:nvPr>
            <p:ph type="sldNum" sz="quarter" idx="5"/>
          </p:nvPr>
        </p:nvSpPr>
        <p:spPr/>
        <p:txBody>
          <a:bodyPr/>
          <a:lstStyle/>
          <a:p>
            <a:pPr>
              <a:defRPr/>
            </a:pPr>
            <a:fld id="{89D45A12-E598-D744-A51F-36E89C021750}" type="slidenum">
              <a:rPr lang="en-US" smtClean="0"/>
              <a:pPr>
                <a:defRPr/>
              </a:pPr>
              <a:t>40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00095CB-258C-4A4D-AD9E-FF5D81739C07}" type="slidenum">
              <a:rPr lang="en-US"/>
              <a:pPr>
                <a:defRPr/>
              </a:pPr>
              <a:t>41</a:t>
            </a:fld>
            <a:endParaRPr lang="en-US" dirty="0"/>
          </a:p>
        </p:txBody>
      </p:sp>
      <p:sp>
        <p:nvSpPr>
          <p:cNvPr id="1689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8963"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014CC81-5CB5-464D-98E6-25CC4D9C92B9}" type="slidenum">
              <a:rPr lang="en-US"/>
              <a:pPr>
                <a:defRPr/>
              </a:pPr>
              <a:t>42</a:t>
            </a:fld>
            <a:endParaRPr lang="en-US" dirty="0"/>
          </a:p>
        </p:txBody>
      </p:sp>
      <p:sp>
        <p:nvSpPr>
          <p:cNvPr id="1689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8963"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261DE97-26F2-9442-B88D-A57577C50B64}" type="slidenum">
              <a:rPr lang="en-US"/>
              <a:pPr>
                <a:defRPr/>
              </a:pPr>
              <a:t>43</a:t>
            </a:fld>
            <a:endParaRPr lang="en-US" dirty="0"/>
          </a:p>
        </p:txBody>
      </p:sp>
      <p:sp>
        <p:nvSpPr>
          <p:cNvPr id="1689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8963"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4D33B8F-B64A-DD47-9A77-894D9058D24A}" type="slidenum">
              <a:rPr lang="en-US"/>
              <a:pPr>
                <a:defRPr/>
              </a:pPr>
              <a:t>44</a:t>
            </a:fld>
            <a:endParaRPr lang="en-US" dirty="0"/>
          </a:p>
        </p:txBody>
      </p:sp>
      <p:sp>
        <p:nvSpPr>
          <p:cNvPr id="1699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9987"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798D500-DA2B-7B47-BA82-D55C6B8E6C81}" type="slidenum">
              <a:rPr lang="en-US"/>
              <a:pPr>
                <a:defRPr/>
              </a:pPr>
              <a:t>45</a:t>
            </a:fld>
            <a:endParaRPr lang="en-US" dirty="0"/>
          </a:p>
        </p:txBody>
      </p:sp>
      <p:sp>
        <p:nvSpPr>
          <p:cNvPr id="1710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1011" name="Rectangle 3"/>
          <p:cNvSpPr>
            <a:spLocks noGrp="1" noChangeArrowheads="1"/>
          </p:cNvSpPr>
          <p:nvPr>
            <p:ph type="body" idx="1"/>
          </p:nvPr>
        </p:nvSpPr>
        <p:spPr/>
        <p:txBody>
          <a:bodyPr/>
          <a:lstStyle/>
          <a:p>
            <a:pPr>
              <a:defRPr/>
            </a:pPr>
            <a:r>
              <a:rPr lang="en-US" b="1" dirty="0" smtClean="0"/>
              <a:t>FIGURE 1.17 Buffer action. </a:t>
            </a:r>
            <a:r>
              <a:rPr lang="en-US" dirty="0" smtClean="0"/>
              <a:t>The addition of</a:t>
            </a:r>
            <a:r>
              <a:rPr lang="en-US" baseline="0" dirty="0" smtClean="0"/>
              <a:t> </a:t>
            </a:r>
            <a:r>
              <a:rPr lang="en-US" dirty="0" smtClean="0"/>
              <a:t>a strong acid, 1 M HCl, to pure water results</a:t>
            </a:r>
            <a:r>
              <a:rPr lang="en-US" baseline="0" dirty="0" smtClean="0"/>
              <a:t> </a:t>
            </a:r>
            <a:r>
              <a:rPr lang="en-US" dirty="0" smtClean="0"/>
              <a:t>in an immediate drop in pH to near 2. In</a:t>
            </a:r>
            <a:r>
              <a:rPr lang="en-US" baseline="0" dirty="0" smtClean="0"/>
              <a:t> </a:t>
            </a:r>
            <a:r>
              <a:rPr lang="en-US" dirty="0" smtClean="0"/>
              <a:t>contrast, the addition of the acid to a 0.1 M</a:t>
            </a:r>
            <a:r>
              <a:rPr lang="en-US" baseline="0" dirty="0" smtClean="0"/>
              <a:t> </a:t>
            </a:r>
            <a:r>
              <a:rPr lang="en-US" dirty="0" smtClean="0"/>
              <a:t>sodium acetate (Na</a:t>
            </a:r>
            <a:r>
              <a:rPr lang="en-US" baseline="30000" dirty="0" smtClean="0"/>
              <a:t>+</a:t>
            </a:r>
            <a:r>
              <a:rPr lang="en-US" dirty="0" smtClean="0"/>
              <a:t> CH</a:t>
            </a:r>
            <a:r>
              <a:rPr lang="en-US" baseline="-25000" dirty="0" smtClean="0"/>
              <a:t>3</a:t>
            </a:r>
            <a:r>
              <a:rPr lang="en-US" dirty="0" smtClean="0"/>
              <a:t>COO</a:t>
            </a:r>
            <a:r>
              <a:rPr lang="en-US" baseline="30000" dirty="0" smtClean="0"/>
              <a:t>-</a:t>
            </a:r>
            <a:r>
              <a:rPr lang="en-US" dirty="0" smtClean="0"/>
              <a:t>) solution</a:t>
            </a:r>
            <a:r>
              <a:rPr lang="en-US" baseline="0" dirty="0" smtClean="0"/>
              <a:t> </a:t>
            </a:r>
            <a:r>
              <a:rPr lang="en-US" dirty="0" smtClean="0"/>
              <a:t>results in a much more gradual change in pH</a:t>
            </a:r>
            <a:r>
              <a:rPr lang="en-US" baseline="0" dirty="0" smtClean="0"/>
              <a:t> </a:t>
            </a:r>
            <a:r>
              <a:rPr lang="en-US" dirty="0" smtClean="0"/>
              <a:t>until the pH drops below 3.5.</a:t>
            </a:r>
            <a:endParaRPr lang="en-US" dirty="0" smtClean="0">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36F4648-80CB-4849-8E66-459DEA2FB245}" type="slidenum">
              <a:rPr lang="en-US"/>
              <a:pPr>
                <a:defRPr/>
              </a:pPr>
              <a:t>46</a:t>
            </a:fld>
            <a:endParaRPr lang="en-US" dirty="0"/>
          </a:p>
        </p:txBody>
      </p:sp>
      <p:sp>
        <p:nvSpPr>
          <p:cNvPr id="1699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9987"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4BC267B-EE02-9742-91A2-A911A729952D}" type="slidenum">
              <a:rPr lang="en-US"/>
              <a:pPr>
                <a:defRPr/>
              </a:pPr>
              <a:t>48</a:t>
            </a:fld>
            <a:endParaRPr lang="en-US" dirty="0"/>
          </a:p>
        </p:txBody>
      </p:sp>
      <p:sp>
        <p:nvSpPr>
          <p:cNvPr id="1720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2035" name="Rectangle 3"/>
          <p:cNvSpPr>
            <a:spLocks noGrp="1" noChangeArrowheads="1"/>
          </p:cNvSpPr>
          <p:nvPr>
            <p:ph type="body" idx="1"/>
          </p:nvPr>
        </p:nvSpPr>
        <p:spPr/>
        <p:txBody>
          <a:bodyPr/>
          <a:lstStyle/>
          <a:p>
            <a:pPr>
              <a:defRPr/>
            </a:pPr>
            <a:r>
              <a:rPr lang="en-US" b="1" dirty="0" smtClean="0"/>
              <a:t>FIGURE 1.18 Buffer protonation. </a:t>
            </a:r>
            <a:r>
              <a:rPr lang="en-US" dirty="0" smtClean="0"/>
              <a:t>When acid</a:t>
            </a:r>
            <a:r>
              <a:rPr lang="en-US" baseline="0" dirty="0" smtClean="0"/>
              <a:t> </a:t>
            </a:r>
            <a:r>
              <a:rPr lang="en-US" dirty="0" smtClean="0"/>
              <a:t>is added to sodium acetate, the added</a:t>
            </a:r>
            <a:r>
              <a:rPr lang="en-US" baseline="0" dirty="0" smtClean="0"/>
              <a:t> </a:t>
            </a:r>
            <a:r>
              <a:rPr lang="en-US" dirty="0" smtClean="0"/>
              <a:t>hydrogen ions are used to convert acetate ion</a:t>
            </a:r>
            <a:r>
              <a:rPr lang="en-US" baseline="0" dirty="0" smtClean="0"/>
              <a:t> </a:t>
            </a:r>
            <a:r>
              <a:rPr lang="en-US" dirty="0" smtClean="0"/>
              <a:t>into acetic acid. Because the proton concentration does not increase significantly,</a:t>
            </a:r>
            <a:r>
              <a:rPr lang="en-US" baseline="0" dirty="0" smtClean="0"/>
              <a:t> </a:t>
            </a:r>
            <a:r>
              <a:rPr lang="en-US" dirty="0" smtClean="0"/>
              <a:t>the pH remains relatively constant until all of</a:t>
            </a:r>
            <a:r>
              <a:rPr lang="en-US" baseline="0" dirty="0" smtClean="0"/>
              <a:t> </a:t>
            </a:r>
            <a:r>
              <a:rPr lang="en-US" dirty="0" smtClean="0"/>
              <a:t>the acetate has been converted into acetic</a:t>
            </a:r>
            <a:r>
              <a:rPr lang="en-US" baseline="0" dirty="0" smtClean="0"/>
              <a:t> </a:t>
            </a:r>
            <a:r>
              <a:rPr lang="en-US" dirty="0" smtClean="0"/>
              <a:t>acid.</a:t>
            </a:r>
          </a:p>
          <a:p>
            <a:pPr>
              <a:defRPr/>
            </a:pPr>
            <a:endParaRPr lang="en-US"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49C1A0D-1F79-E842-B63F-F066A0F8BC0B}" type="slidenum">
              <a:rPr lang="en-US"/>
              <a:pPr>
                <a:defRPr/>
              </a:pPr>
              <a:t>49</a:t>
            </a:fld>
            <a:endParaRPr lang="en-US" dirty="0"/>
          </a:p>
        </p:txBody>
      </p:sp>
      <p:sp>
        <p:nvSpPr>
          <p:cNvPr id="173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3059"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DF5CBD50-2848-7D46-9EC7-25C7786153D3}" type="slidenum">
              <a:rPr lang="en-US" smtClean="0"/>
              <a:pPr>
                <a:defRPr/>
              </a:pPr>
              <a:t>50</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1.19 Decreasing costs of DNA sequencing. </a:t>
            </a:r>
            <a:r>
              <a:rPr lang="en-US" sz="1200" b="0" i="0" u="none" strike="noStrike" kern="1200" baseline="0" dirty="0" smtClean="0">
                <a:solidFill>
                  <a:schemeClr val="tx1"/>
                </a:solidFill>
                <a:latin typeface="+mn-lt"/>
                <a:ea typeface="+mn-ea"/>
                <a:cs typeface="+mn-cs"/>
              </a:rPr>
              <a:t>Through the Human Genome Project, the cost of DNA sequencing dropped steadily. With the advent of new methods, these costs dropped dramatically and are now approaching $1000 for a complete human genome sequence. [National Human Genome Research Institute. www.genome.gov/sequencingcosts]</a:t>
            </a:r>
            <a:endParaRPr lang="en-US" dirty="0"/>
          </a:p>
        </p:txBody>
      </p:sp>
      <p:sp>
        <p:nvSpPr>
          <p:cNvPr id="4" name="Slide Number Placeholder 3"/>
          <p:cNvSpPr>
            <a:spLocks noGrp="1"/>
          </p:cNvSpPr>
          <p:nvPr>
            <p:ph type="sldNum" sz="quarter" idx="10"/>
          </p:nvPr>
        </p:nvSpPr>
        <p:spPr/>
        <p:txBody>
          <a:bodyPr/>
          <a:lstStyle/>
          <a:p>
            <a:fld id="{D40DCDAC-7B3A-7D46-A8AA-8684AD4EB5A0}" type="slidenum">
              <a:rPr lang="en-US" smtClean="0"/>
              <a:t>51</a:t>
            </a:fld>
            <a:endParaRPr lang="en-US" dirty="0"/>
          </a:p>
        </p:txBody>
      </p:sp>
    </p:spTree>
    <p:extLst>
      <p:ext uri="{BB962C8B-B14F-4D97-AF65-F5344CB8AC3E}">
        <p14:creationId xmlns:p14="http://schemas.microsoft.com/office/powerpoint/2010/main" val="5786121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DF5CBD50-2848-7D46-9EC7-25C7786153D3}" type="slidenum">
              <a:rPr lang="en-US" smtClean="0"/>
              <a:pPr>
                <a:defRPr/>
              </a:pPr>
              <a:t>52</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1.20 The human microbiome. </a:t>
            </a:r>
            <a:r>
              <a:rPr lang="en-US" sz="1200" b="0" i="0" u="none" strike="noStrike" kern="1200" baseline="0" dirty="0" smtClean="0">
                <a:solidFill>
                  <a:schemeClr val="tx1"/>
                </a:solidFill>
                <a:latin typeface="+mn-lt"/>
                <a:ea typeface="+mn-ea"/>
                <a:cs typeface="+mn-cs"/>
              </a:rPr>
              <a:t>Microorganisms cover the human body. Examination of the microbial communities using DNA sequencing methods revealed many previously uncharacterized species. The Venn diagrams represent populations of related species as determined by DNA sequence comparisons. The populations present on different body surfaces are largely distinct. [Adapted from www.nature. com/nature/journal/v486/n7402/fig_tab/ nature11234_F1.html]</a:t>
            </a:r>
            <a:endParaRPr lang="en-US" dirty="0"/>
          </a:p>
        </p:txBody>
      </p:sp>
      <p:sp>
        <p:nvSpPr>
          <p:cNvPr id="4" name="Slide Number Placeholder 3"/>
          <p:cNvSpPr>
            <a:spLocks noGrp="1"/>
          </p:cNvSpPr>
          <p:nvPr>
            <p:ph type="sldNum" sz="quarter" idx="10"/>
          </p:nvPr>
        </p:nvSpPr>
        <p:spPr/>
        <p:txBody>
          <a:bodyPr/>
          <a:lstStyle/>
          <a:p>
            <a:fld id="{D40DCDAC-7B3A-7D46-A8AA-8684AD4EB5A0}" type="slidenum">
              <a:rPr lang="en-US" smtClean="0"/>
              <a:t>53</a:t>
            </a:fld>
            <a:endParaRPr lang="en-US" dirty="0"/>
          </a:p>
        </p:txBody>
      </p:sp>
    </p:spTree>
    <p:extLst>
      <p:ext uri="{BB962C8B-B14F-4D97-AF65-F5344CB8AC3E}">
        <p14:creationId xmlns:p14="http://schemas.microsoft.com/office/powerpoint/2010/main" val="4036491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DF5CBD50-2848-7D46-9EC7-25C7786153D3}" type="slidenum">
              <a:rPr lang="en-US" smtClean="0"/>
              <a:pPr>
                <a:defRPr/>
              </a:pPr>
              <a:t>54</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1.21 Human migrations supported by DNA sequence comparisons. </a:t>
            </a:r>
            <a:r>
              <a:rPr lang="en-US" sz="1200" b="0" i="0" u="none" strike="noStrike" kern="1200" baseline="0" dirty="0" smtClean="0">
                <a:solidFill>
                  <a:schemeClr val="tx1"/>
                </a:solidFill>
                <a:latin typeface="+mn-lt"/>
                <a:ea typeface="+mn-ea"/>
                <a:cs typeface="+mn-cs"/>
              </a:rPr>
              <a:t>Modern human beings originated in Africa, migrated first to Asia, and then to Europe, Australia, and North and South America. [Adapted from S. Oppenheimer, “Out-of-Africa, the peopling of continents and islands: tracing uniparental gene trees across the map.” Philos. Trans. R. Soc. Lond. B. Biol. Sci. 367(1590):770–784]</a:t>
            </a:r>
            <a:endParaRPr lang="en-US" dirty="0"/>
          </a:p>
        </p:txBody>
      </p:sp>
      <p:sp>
        <p:nvSpPr>
          <p:cNvPr id="4" name="Slide Number Placeholder 3"/>
          <p:cNvSpPr>
            <a:spLocks noGrp="1"/>
          </p:cNvSpPr>
          <p:nvPr>
            <p:ph type="sldNum" sz="quarter" idx="10"/>
          </p:nvPr>
        </p:nvSpPr>
        <p:spPr/>
        <p:txBody>
          <a:bodyPr/>
          <a:lstStyle/>
          <a:p>
            <a:fld id="{D40DCDAC-7B3A-7D46-A8AA-8684AD4EB5A0}" type="slidenum">
              <a:rPr lang="en-US" smtClean="0"/>
              <a:t>55</a:t>
            </a:fld>
            <a:endParaRPr lang="en-US" dirty="0"/>
          </a:p>
        </p:txBody>
      </p:sp>
    </p:spTree>
    <p:extLst>
      <p:ext uri="{BB962C8B-B14F-4D97-AF65-F5344CB8AC3E}">
        <p14:creationId xmlns:p14="http://schemas.microsoft.com/office/powerpoint/2010/main" val="25858388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DF5CBD50-2848-7D46-9EC7-25C7786153D3}" type="slidenum">
              <a:rPr lang="en-US" smtClean="0"/>
              <a:pPr>
                <a:defRPr/>
              </a:pPr>
              <a:t>56</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1.22 Nutrition</a:t>
            </a:r>
            <a:r>
              <a:rPr lang="en-US" sz="1200" b="0" i="0" u="none" strike="noStrike" kern="1200" baseline="0" dirty="0" smtClean="0">
                <a:solidFill>
                  <a:schemeClr val="tx1"/>
                </a:solidFill>
                <a:latin typeface="+mn-lt"/>
                <a:ea typeface="+mn-ea"/>
                <a:cs typeface="+mn-cs"/>
              </a:rPr>
              <a:t>. Proper health depends on an appropriate combination of food groups (fruits, vegetables, protein, grains, dairy) (left) to provide an optimal mix of biochemicals (carbohydrates, proteins, fats, vitamins, and minerals) (right). [Adapted from www. choosemyplate.gov]</a:t>
            </a:r>
            <a:endParaRPr lang="en-US" dirty="0"/>
          </a:p>
        </p:txBody>
      </p:sp>
      <p:sp>
        <p:nvSpPr>
          <p:cNvPr id="4" name="Slide Number Placeholder 3"/>
          <p:cNvSpPr>
            <a:spLocks noGrp="1"/>
          </p:cNvSpPr>
          <p:nvPr>
            <p:ph type="sldNum" sz="quarter" idx="10"/>
          </p:nvPr>
        </p:nvSpPr>
        <p:spPr/>
        <p:txBody>
          <a:bodyPr/>
          <a:lstStyle/>
          <a:p>
            <a:fld id="{D40DCDAC-7B3A-7D46-A8AA-8684AD4EB5A0}" type="slidenum">
              <a:rPr lang="en-US" smtClean="0"/>
              <a:t>57</a:t>
            </a:fld>
            <a:endParaRPr lang="en-US" dirty="0"/>
          </a:p>
        </p:txBody>
      </p:sp>
    </p:spTree>
    <p:extLst>
      <p:ext uri="{BB962C8B-B14F-4D97-AF65-F5344CB8AC3E}">
        <p14:creationId xmlns:p14="http://schemas.microsoft.com/office/powerpoint/2010/main" val="24334396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1.19 Protein folding. </a:t>
            </a:r>
            <a:r>
              <a:rPr lang="en-US" dirty="0" smtClean="0"/>
              <a:t>Proteins are linear polymers of amino acids that fold into elaborate</a:t>
            </a:r>
            <a:r>
              <a:rPr lang="en-US" baseline="0" dirty="0" smtClean="0"/>
              <a:t> </a:t>
            </a:r>
            <a:r>
              <a:rPr lang="en-US" dirty="0" smtClean="0"/>
              <a:t>structures. The sequence of amino acids determines the three-dimensional structure. Thus amino</a:t>
            </a:r>
            <a:r>
              <a:rPr lang="en-US" baseline="0" dirty="0" smtClean="0"/>
              <a:t> </a:t>
            </a:r>
            <a:r>
              <a:rPr lang="en-US" dirty="0" smtClean="0"/>
              <a:t>acid sequence 1 gives rise only to a protein with the shape depicted in blue, </a:t>
            </a:r>
            <a:r>
              <a:rPr lang="en-US" i="1" dirty="0" smtClean="0"/>
              <a:t>not </a:t>
            </a:r>
            <a:r>
              <a:rPr lang="en-US" dirty="0" smtClean="0"/>
              <a:t>the shape</a:t>
            </a:r>
            <a:r>
              <a:rPr lang="en-US" baseline="0" dirty="0" smtClean="0"/>
              <a:t> </a:t>
            </a:r>
            <a:r>
              <a:rPr lang="en-US" dirty="0" smtClean="0"/>
              <a:t>depicted in red.</a:t>
            </a:r>
            <a:endParaRPr lang="en-US" dirty="0"/>
          </a:p>
        </p:txBody>
      </p:sp>
      <p:sp>
        <p:nvSpPr>
          <p:cNvPr id="4" name="Slide Number Placeholder 3"/>
          <p:cNvSpPr>
            <a:spLocks noGrp="1"/>
          </p:cNvSpPr>
          <p:nvPr>
            <p:ph type="sldNum" sz="quarter" idx="5"/>
          </p:nvPr>
        </p:nvSpPr>
        <p:spPr/>
        <p:txBody>
          <a:bodyPr/>
          <a:lstStyle/>
          <a:p>
            <a:pPr>
              <a:defRPr/>
            </a:pPr>
            <a:fld id="{DABD792C-025C-8843-B590-532A9DB8ABDB}" type="slidenum">
              <a:rPr lang="en-US" smtClean="0"/>
              <a:pPr>
                <a:defRPr/>
              </a:pPr>
              <a:t>58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4285630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1027574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869831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938706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1248989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3625612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2287197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4182940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1148822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2760476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745F91-5FA9-F04A-B756-81A3260582FA}" type="datetimeFigureOut">
              <a:rPr lang="en-US" smtClean="0"/>
              <a:t>6/8/2015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D6D48D7-CD68-2043-B24D-37312725BBD0}" type="slidenum">
              <a:rPr lang="en-US" smtClean="0"/>
              <a:t>‹#›</a:t>
            </a:fld>
            <a:endParaRPr lang="en-US" dirty="0"/>
          </a:p>
        </p:txBody>
      </p:sp>
    </p:spTree>
    <p:extLst>
      <p:ext uri="{BB962C8B-B14F-4D97-AF65-F5344CB8AC3E}">
        <p14:creationId xmlns:p14="http://schemas.microsoft.com/office/powerpoint/2010/main" val="1862371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745F91-5FA9-F04A-B756-81A3260582FA}" type="datetimeFigureOut">
              <a:rPr lang="en-US" smtClean="0"/>
              <a:t>6/8/2015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6D48D7-CD68-2043-B24D-37312725BBD0}" type="slidenum">
              <a:rPr lang="en-US" smtClean="0"/>
              <a:t>‹#›</a:t>
            </a:fld>
            <a:endParaRPr lang="en-US" dirty="0"/>
          </a:p>
        </p:txBody>
      </p:sp>
    </p:spTree>
    <p:extLst>
      <p:ext uri="{BB962C8B-B14F-4D97-AF65-F5344CB8AC3E}">
        <p14:creationId xmlns:p14="http://schemas.microsoft.com/office/powerpoint/2010/main" val="405860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6.jpe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4.jpe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5.jpe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49.png"/><Relationship Id="rId4" Type="http://schemas.openxmlformats.org/officeDocument/2006/relationships/image" Target="../media/image48.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47.png"/><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54.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56.jpeg"/><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57.jpe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5.png"/><Relationship Id="rId7"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63.png"/><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64.png"/></Relationships>
</file>

<file path=ppt/slides/_rels/slide5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5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57.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72.png"/><Relationship Id="rId4" Type="http://schemas.openxmlformats.org/officeDocument/2006/relationships/image" Target="../media/image8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igure_01_00_02.jpg"/>
          <p:cNvPicPr>
            <a:picLocks noChangeAspect="1"/>
          </p:cNvPicPr>
          <p:nvPr/>
        </p:nvPicPr>
        <p:blipFill>
          <a:blip r:embed="rId3"/>
          <a:stretch>
            <a:fillRect/>
          </a:stretch>
        </p:blipFill>
        <p:spPr>
          <a:xfrm>
            <a:off x="3814668" y="3142063"/>
            <a:ext cx="4891214" cy="3525168"/>
          </a:xfrm>
          <a:prstGeom prst="rect">
            <a:avLst/>
          </a:prstGeom>
        </p:spPr>
      </p:pic>
      <p:pic>
        <p:nvPicPr>
          <p:cNvPr id="5" name="Picture 4" descr="figure_01_00_01.jpg"/>
          <p:cNvPicPr>
            <a:picLocks noChangeAspect="1"/>
          </p:cNvPicPr>
          <p:nvPr/>
        </p:nvPicPr>
        <p:blipFill>
          <a:blip r:embed="rId4"/>
          <a:stretch>
            <a:fillRect/>
          </a:stretch>
        </p:blipFill>
        <p:spPr>
          <a:xfrm>
            <a:off x="609730" y="34835"/>
            <a:ext cx="3737384" cy="3465391"/>
          </a:xfrm>
          <a:prstGeom prst="rect">
            <a:avLst/>
          </a:prstGeom>
        </p:spPr>
      </p:pic>
    </p:spTree>
    <p:extLst>
      <p:ext uri="{BB962C8B-B14F-4D97-AF65-F5344CB8AC3E}">
        <p14:creationId xmlns:p14="http://schemas.microsoft.com/office/powerpoint/2010/main" val="7769430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133600" y="1625600"/>
            <a:ext cx="4864100" cy="3594100"/>
          </a:xfrm>
          <a:prstGeom prst="rect">
            <a:avLst/>
          </a:prstGeom>
        </p:spPr>
      </p:pic>
    </p:spTree>
    <p:extLst>
      <p:ext uri="{BB962C8B-B14F-4D97-AF65-F5344CB8AC3E}">
        <p14:creationId xmlns:p14="http://schemas.microsoft.com/office/powerpoint/2010/main" val="27341507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
          <p:cNvSpPr txBox="1">
            <a:spLocks noChangeArrowheads="1"/>
          </p:cNvSpPr>
          <p:nvPr/>
        </p:nvSpPr>
        <p:spPr bwMode="auto">
          <a:xfrm>
            <a:off x="617538" y="1905000"/>
            <a:ext cx="75358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Biochemistry is the study of the chemistry of life processes.</a:t>
            </a:r>
          </a:p>
          <a:p>
            <a:endParaRPr lang="en-US" sz="1800" dirty="0"/>
          </a:p>
          <a:p>
            <a:r>
              <a:rPr lang="en-US" sz="1800" dirty="0"/>
              <a:t>Two classes of biochemically important molecules are macromolecules and small molecules called metabolites, such as glucose and glycerol.</a:t>
            </a:r>
          </a:p>
          <a:p>
            <a:endParaRPr lang="en-US" dirty="0"/>
          </a:p>
        </p:txBody>
      </p:sp>
      <p:sp>
        <p:nvSpPr>
          <p:cNvPr id="20484" name="TextBox 4"/>
          <p:cNvSpPr txBox="1">
            <a:spLocks noChangeArrowheads="1"/>
          </p:cNvSpPr>
          <p:nvPr/>
        </p:nvSpPr>
        <p:spPr bwMode="auto">
          <a:xfrm>
            <a:off x="685800" y="3581400"/>
            <a:ext cx="42640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Macromolecules, such as proteins, that play similar roles in different organisms have similar structures.</a:t>
            </a:r>
          </a:p>
        </p:txBody>
      </p:sp>
      <p:pic>
        <p:nvPicPr>
          <p:cNvPr id="2" name="Picture 1"/>
          <p:cNvPicPr>
            <a:picLocks noChangeAspect="1"/>
          </p:cNvPicPr>
          <p:nvPr/>
        </p:nvPicPr>
        <p:blipFill>
          <a:blip r:embed="rId2"/>
          <a:stretch>
            <a:fillRect/>
          </a:stretch>
        </p:blipFill>
        <p:spPr>
          <a:xfrm>
            <a:off x="685800" y="600781"/>
            <a:ext cx="7112000" cy="596900"/>
          </a:xfrm>
          <a:prstGeom prst="rect">
            <a:avLst/>
          </a:prstGeom>
        </p:spPr>
      </p:pic>
      <p:pic>
        <p:nvPicPr>
          <p:cNvPr id="8" name="Picture 7" descr="unnumbered_01_p02.jpg"/>
          <p:cNvPicPr>
            <a:picLocks noChangeAspect="1"/>
          </p:cNvPicPr>
          <p:nvPr/>
        </p:nvPicPr>
        <p:blipFill>
          <a:blip r:embed="rId3"/>
          <a:stretch>
            <a:fillRect/>
          </a:stretch>
        </p:blipFill>
        <p:spPr>
          <a:xfrm>
            <a:off x="4635633" y="3921063"/>
            <a:ext cx="4132771" cy="2497374"/>
          </a:xfrm>
          <a:prstGeom prst="rect">
            <a:avLst/>
          </a:prstGeom>
        </p:spPr>
      </p:pic>
    </p:spTree>
    <p:extLst>
      <p:ext uri="{BB962C8B-B14F-4D97-AF65-F5344CB8AC3E}">
        <p14:creationId xmlns:p14="http://schemas.microsoft.com/office/powerpoint/2010/main" val="39088302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01.jpg"/>
          <p:cNvPicPr>
            <a:picLocks noChangeAspect="1"/>
          </p:cNvPicPr>
          <p:nvPr/>
        </p:nvPicPr>
        <p:blipFill>
          <a:blip r:embed="rId3"/>
          <a:stretch>
            <a:fillRect/>
          </a:stretch>
        </p:blipFill>
        <p:spPr>
          <a:xfrm>
            <a:off x="304800" y="670560"/>
            <a:ext cx="8534400" cy="5516880"/>
          </a:xfrm>
          <a:prstGeom prst="rect">
            <a:avLst/>
          </a:prstGeom>
        </p:spPr>
      </p:pic>
    </p:spTree>
    <p:extLst>
      <p:ext uri="{BB962C8B-B14F-4D97-AF65-F5344CB8AC3E}">
        <p14:creationId xmlns:p14="http://schemas.microsoft.com/office/powerpoint/2010/main" val="10772166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p:cNvSpPr txBox="1">
            <a:spLocks noChangeArrowheads="1"/>
          </p:cNvSpPr>
          <p:nvPr/>
        </p:nvSpPr>
        <p:spPr bwMode="auto">
          <a:xfrm>
            <a:off x="762000" y="1447800"/>
            <a:ext cx="82232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Key metabolic processes are common to many organisms. </a:t>
            </a:r>
          </a:p>
          <a:p>
            <a:endParaRPr lang="en-US" sz="1800" dirty="0"/>
          </a:p>
          <a:p>
            <a:r>
              <a:rPr lang="en-US" sz="1800" dirty="0"/>
              <a:t>The fact that different organisms have macromolecules of similar structure and common biochemical processes suggest that all organisms evolved from a common ancestor.</a:t>
            </a:r>
          </a:p>
        </p:txBody>
      </p:sp>
      <p:pic>
        <p:nvPicPr>
          <p:cNvPr id="6" name="Picture 5" descr="figure_01_02.jpg"/>
          <p:cNvPicPr>
            <a:picLocks noChangeAspect="1"/>
          </p:cNvPicPr>
          <p:nvPr/>
        </p:nvPicPr>
        <p:blipFill>
          <a:blip r:embed="rId3"/>
          <a:stretch>
            <a:fillRect/>
          </a:stretch>
        </p:blipFill>
        <p:spPr>
          <a:xfrm>
            <a:off x="304800" y="3177146"/>
            <a:ext cx="8534400" cy="3401568"/>
          </a:xfrm>
          <a:prstGeom prst="rect">
            <a:avLst/>
          </a:prstGeom>
        </p:spPr>
      </p:pic>
      <p:pic>
        <p:nvPicPr>
          <p:cNvPr id="7" name="Picture 6"/>
          <p:cNvPicPr>
            <a:picLocks noChangeAspect="1"/>
          </p:cNvPicPr>
          <p:nvPr/>
        </p:nvPicPr>
        <p:blipFill>
          <a:blip r:embed="rId4"/>
          <a:stretch>
            <a:fillRect/>
          </a:stretch>
        </p:blipFill>
        <p:spPr>
          <a:xfrm>
            <a:off x="685800" y="600781"/>
            <a:ext cx="7112000" cy="596900"/>
          </a:xfrm>
          <a:prstGeom prst="rect">
            <a:avLst/>
          </a:prstGeom>
        </p:spPr>
      </p:pic>
    </p:spTree>
    <p:extLst>
      <p:ext uri="{BB962C8B-B14F-4D97-AF65-F5344CB8AC3E}">
        <p14:creationId xmlns:p14="http://schemas.microsoft.com/office/powerpoint/2010/main" val="12797935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1"/>
          <p:cNvSpPr txBox="1">
            <a:spLocks noChangeArrowheads="1"/>
          </p:cNvSpPr>
          <p:nvPr/>
        </p:nvSpPr>
        <p:spPr bwMode="auto">
          <a:xfrm>
            <a:off x="990600" y="990600"/>
            <a:ext cx="69627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On the basis of biochemical characteristics, all organisms can be placed in one of three domains:</a:t>
            </a:r>
          </a:p>
        </p:txBody>
      </p:sp>
      <p:pic>
        <p:nvPicPr>
          <p:cNvPr id="6" name="Picture 5"/>
          <p:cNvPicPr>
            <a:picLocks noChangeAspect="1"/>
          </p:cNvPicPr>
          <p:nvPr/>
        </p:nvPicPr>
        <p:blipFill>
          <a:blip r:embed="rId3"/>
          <a:stretch>
            <a:fillRect/>
          </a:stretch>
        </p:blipFill>
        <p:spPr>
          <a:xfrm>
            <a:off x="685800" y="302331"/>
            <a:ext cx="7112000" cy="596900"/>
          </a:xfrm>
          <a:prstGeom prst="rect">
            <a:avLst/>
          </a:prstGeom>
        </p:spPr>
      </p:pic>
      <p:pic>
        <p:nvPicPr>
          <p:cNvPr id="7" name="Picture 6" descr="figure_01_03.jpg"/>
          <p:cNvPicPr>
            <a:picLocks noChangeAspect="1"/>
          </p:cNvPicPr>
          <p:nvPr/>
        </p:nvPicPr>
        <p:blipFill>
          <a:blip r:embed="rId4"/>
          <a:stretch>
            <a:fillRect/>
          </a:stretch>
        </p:blipFill>
        <p:spPr>
          <a:xfrm>
            <a:off x="1671443" y="1917687"/>
            <a:ext cx="5329527" cy="4748287"/>
          </a:xfrm>
          <a:prstGeom prst="rect">
            <a:avLst/>
          </a:prstGeom>
        </p:spPr>
      </p:pic>
    </p:spTree>
    <p:extLst>
      <p:ext uri="{BB962C8B-B14F-4D97-AF65-F5344CB8AC3E}">
        <p14:creationId xmlns:p14="http://schemas.microsoft.com/office/powerpoint/2010/main" val="29904861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371600"/>
            <a:ext cx="49403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Box 3"/>
          <p:cNvSpPr txBox="1">
            <a:spLocks noChangeArrowheads="1"/>
          </p:cNvSpPr>
          <p:nvPr/>
        </p:nvSpPr>
        <p:spPr bwMode="auto">
          <a:xfrm>
            <a:off x="819150" y="2355850"/>
            <a:ext cx="80200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DNA is a linear polymer composed of  monomers consisting of deoxyribose sugar, a phosphate and one of four bases.</a:t>
            </a:r>
          </a:p>
        </p:txBody>
      </p:sp>
      <p:pic>
        <p:nvPicPr>
          <p:cNvPr id="2" name="Picture 1"/>
          <p:cNvPicPr>
            <a:picLocks noChangeAspect="1"/>
          </p:cNvPicPr>
          <p:nvPr/>
        </p:nvPicPr>
        <p:blipFill>
          <a:blip r:embed="rId4"/>
          <a:stretch>
            <a:fillRect/>
          </a:stretch>
        </p:blipFill>
        <p:spPr>
          <a:xfrm>
            <a:off x="1438350" y="144599"/>
            <a:ext cx="6515100" cy="838200"/>
          </a:xfrm>
          <a:prstGeom prst="rect">
            <a:avLst/>
          </a:prstGeom>
        </p:spPr>
      </p:pic>
      <p:pic>
        <p:nvPicPr>
          <p:cNvPr id="7" name="Picture 6" descr="unnumbered_01_p04.jpg"/>
          <p:cNvPicPr>
            <a:picLocks noChangeAspect="1"/>
          </p:cNvPicPr>
          <p:nvPr/>
        </p:nvPicPr>
        <p:blipFill>
          <a:blip r:embed="rId5"/>
          <a:stretch>
            <a:fillRect/>
          </a:stretch>
        </p:blipFill>
        <p:spPr>
          <a:xfrm>
            <a:off x="304800" y="3754475"/>
            <a:ext cx="8534400" cy="2572512"/>
          </a:xfrm>
          <a:prstGeom prst="rect">
            <a:avLst/>
          </a:prstGeom>
        </p:spPr>
      </p:pic>
    </p:spTree>
    <p:extLst>
      <p:ext uri="{BB962C8B-B14F-4D97-AF65-F5344CB8AC3E}">
        <p14:creationId xmlns:p14="http://schemas.microsoft.com/office/powerpoint/2010/main" val="12708321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371600"/>
            <a:ext cx="49403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extBox 1"/>
          <p:cNvSpPr txBox="1">
            <a:spLocks noChangeArrowheads="1"/>
          </p:cNvSpPr>
          <p:nvPr/>
        </p:nvSpPr>
        <p:spPr bwMode="auto">
          <a:xfrm>
            <a:off x="457200" y="2286000"/>
            <a:ext cx="807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linked sugar and phosphate compose the backbone of the DNA.</a:t>
            </a:r>
          </a:p>
        </p:txBody>
      </p:sp>
      <p:pic>
        <p:nvPicPr>
          <p:cNvPr id="7" name="Picture 6"/>
          <p:cNvPicPr>
            <a:picLocks noChangeAspect="1"/>
          </p:cNvPicPr>
          <p:nvPr/>
        </p:nvPicPr>
        <p:blipFill>
          <a:blip r:embed="rId4"/>
          <a:stretch>
            <a:fillRect/>
          </a:stretch>
        </p:blipFill>
        <p:spPr>
          <a:xfrm>
            <a:off x="1438350" y="144599"/>
            <a:ext cx="6515100" cy="838200"/>
          </a:xfrm>
          <a:prstGeom prst="rect">
            <a:avLst/>
          </a:prstGeom>
        </p:spPr>
      </p:pic>
      <p:pic>
        <p:nvPicPr>
          <p:cNvPr id="8" name="Picture 7" descr="figure_01_04.jpg"/>
          <p:cNvPicPr>
            <a:picLocks noChangeAspect="1"/>
          </p:cNvPicPr>
          <p:nvPr/>
        </p:nvPicPr>
        <p:blipFill>
          <a:blip r:embed="rId5"/>
          <a:stretch>
            <a:fillRect/>
          </a:stretch>
        </p:blipFill>
        <p:spPr>
          <a:xfrm>
            <a:off x="304800" y="2811416"/>
            <a:ext cx="8534400" cy="3084576"/>
          </a:xfrm>
          <a:prstGeom prst="rect">
            <a:avLst/>
          </a:prstGeom>
        </p:spPr>
      </p:pic>
    </p:spTree>
    <p:extLst>
      <p:ext uri="{BB962C8B-B14F-4D97-AF65-F5344CB8AC3E}">
        <p14:creationId xmlns:p14="http://schemas.microsoft.com/office/powerpoint/2010/main" val="5049046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95400"/>
            <a:ext cx="65659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Box 3"/>
          <p:cNvSpPr txBox="1">
            <a:spLocks noChangeArrowheads="1"/>
          </p:cNvSpPr>
          <p:nvPr/>
        </p:nvSpPr>
        <p:spPr bwMode="auto">
          <a:xfrm>
            <a:off x="819150" y="2306638"/>
            <a:ext cx="74866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two strands of a DNA double helix are formed by hydrogen bonds between specific base pairs in the different strands: </a:t>
            </a:r>
          </a:p>
          <a:p>
            <a:endParaRPr lang="en-US" sz="1800" dirty="0"/>
          </a:p>
          <a:p>
            <a:pPr algn="ctr"/>
            <a:r>
              <a:rPr lang="en-US" sz="1800" dirty="0"/>
              <a:t>A binds to T </a:t>
            </a:r>
          </a:p>
          <a:p>
            <a:pPr algn="ctr"/>
            <a:r>
              <a:rPr lang="en-US" sz="1800" dirty="0"/>
              <a:t>G binds to C</a:t>
            </a:r>
          </a:p>
        </p:txBody>
      </p:sp>
      <p:pic>
        <p:nvPicPr>
          <p:cNvPr id="5" name="Picture 4"/>
          <p:cNvPicPr>
            <a:picLocks noChangeAspect="1"/>
          </p:cNvPicPr>
          <p:nvPr/>
        </p:nvPicPr>
        <p:blipFill>
          <a:blip r:embed="rId4"/>
          <a:stretch>
            <a:fillRect/>
          </a:stretch>
        </p:blipFill>
        <p:spPr>
          <a:xfrm>
            <a:off x="1438350" y="144599"/>
            <a:ext cx="6515100" cy="838200"/>
          </a:xfrm>
          <a:prstGeom prst="rect">
            <a:avLst/>
          </a:prstGeom>
        </p:spPr>
      </p:pic>
    </p:spTree>
    <p:extLst>
      <p:ext uri="{BB962C8B-B14F-4D97-AF65-F5344CB8AC3E}">
        <p14:creationId xmlns:p14="http://schemas.microsoft.com/office/powerpoint/2010/main" val="14818167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05.jpg"/>
          <p:cNvPicPr>
            <a:picLocks noChangeAspect="1"/>
          </p:cNvPicPr>
          <p:nvPr/>
        </p:nvPicPr>
        <p:blipFill>
          <a:blip r:embed="rId3"/>
          <a:stretch>
            <a:fillRect/>
          </a:stretch>
        </p:blipFill>
        <p:spPr>
          <a:xfrm>
            <a:off x="304800" y="1908047"/>
            <a:ext cx="8534400" cy="3041904"/>
          </a:xfrm>
          <a:prstGeom prst="rect">
            <a:avLst/>
          </a:prstGeom>
        </p:spPr>
      </p:pic>
    </p:spTree>
    <p:extLst>
      <p:ext uri="{BB962C8B-B14F-4D97-AF65-F5344CB8AC3E}">
        <p14:creationId xmlns:p14="http://schemas.microsoft.com/office/powerpoint/2010/main" val="27928635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06.jpg"/>
          <p:cNvPicPr>
            <a:picLocks noChangeAspect="1"/>
          </p:cNvPicPr>
          <p:nvPr/>
        </p:nvPicPr>
        <p:blipFill>
          <a:blip r:embed="rId3"/>
          <a:stretch>
            <a:fillRect/>
          </a:stretch>
        </p:blipFill>
        <p:spPr>
          <a:xfrm>
            <a:off x="304800" y="1691639"/>
            <a:ext cx="8534400" cy="3474720"/>
          </a:xfrm>
          <a:prstGeom prst="rect">
            <a:avLst/>
          </a:prstGeom>
        </p:spPr>
      </p:pic>
    </p:spTree>
    <p:extLst>
      <p:ext uri="{BB962C8B-B14F-4D97-AF65-F5344CB8AC3E}">
        <p14:creationId xmlns:p14="http://schemas.microsoft.com/office/powerpoint/2010/main" val="22292333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371600"/>
            <a:ext cx="70612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Box 3"/>
          <p:cNvSpPr txBox="1">
            <a:spLocks noChangeArrowheads="1"/>
          </p:cNvSpPr>
          <p:nvPr/>
        </p:nvSpPr>
        <p:spPr bwMode="auto">
          <a:xfrm>
            <a:off x="381000" y="2286000"/>
            <a:ext cx="7924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Because of specific-base pairing, each strand can serve as a template for a new partner, allowing the generation of two identical daughter double helices from one parent strand.</a:t>
            </a:r>
          </a:p>
        </p:txBody>
      </p:sp>
      <p:pic>
        <p:nvPicPr>
          <p:cNvPr id="5" name="Picture 4"/>
          <p:cNvPicPr>
            <a:picLocks noChangeAspect="1"/>
          </p:cNvPicPr>
          <p:nvPr/>
        </p:nvPicPr>
        <p:blipFill>
          <a:blip r:embed="rId3"/>
          <a:stretch>
            <a:fillRect/>
          </a:stretch>
        </p:blipFill>
        <p:spPr>
          <a:xfrm>
            <a:off x="1438350" y="144599"/>
            <a:ext cx="6515100" cy="838200"/>
          </a:xfrm>
          <a:prstGeom prst="rect">
            <a:avLst/>
          </a:prstGeom>
        </p:spPr>
      </p:pic>
    </p:spTree>
    <p:extLst>
      <p:ext uri="{BB962C8B-B14F-4D97-AF65-F5344CB8AC3E}">
        <p14:creationId xmlns:p14="http://schemas.microsoft.com/office/powerpoint/2010/main" val="31351670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07.jpg"/>
          <p:cNvPicPr>
            <a:picLocks noChangeAspect="1"/>
          </p:cNvPicPr>
          <p:nvPr/>
        </p:nvPicPr>
        <p:blipFill>
          <a:blip r:embed="rId3"/>
          <a:stretch>
            <a:fillRect/>
          </a:stretch>
        </p:blipFill>
        <p:spPr>
          <a:xfrm>
            <a:off x="615696" y="192023"/>
            <a:ext cx="7912608" cy="6473952"/>
          </a:xfrm>
          <a:prstGeom prst="rect">
            <a:avLst/>
          </a:prstGeom>
        </p:spPr>
      </p:pic>
    </p:spTree>
    <p:extLst>
      <p:ext uri="{BB962C8B-B14F-4D97-AF65-F5344CB8AC3E}">
        <p14:creationId xmlns:p14="http://schemas.microsoft.com/office/powerpoint/2010/main" val="17449375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47800"/>
            <a:ext cx="61468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TextBox 3"/>
          <p:cNvSpPr txBox="1">
            <a:spLocks noChangeArrowheads="1"/>
          </p:cNvSpPr>
          <p:nvPr/>
        </p:nvSpPr>
        <p:spPr bwMode="auto">
          <a:xfrm>
            <a:off x="838200" y="2209800"/>
            <a:ext cx="75819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structure of the  DNA double helix illustrates key chemical principles fundamental to living systems.</a:t>
            </a:r>
          </a:p>
        </p:txBody>
      </p:sp>
      <p:pic>
        <p:nvPicPr>
          <p:cNvPr id="2" name="Picture 1"/>
          <p:cNvPicPr>
            <a:picLocks noChangeAspect="1"/>
          </p:cNvPicPr>
          <p:nvPr/>
        </p:nvPicPr>
        <p:blipFill>
          <a:blip r:embed="rId4"/>
          <a:stretch>
            <a:fillRect/>
          </a:stretch>
        </p:blipFill>
        <p:spPr>
          <a:xfrm>
            <a:off x="1295400" y="323681"/>
            <a:ext cx="6286500" cy="825500"/>
          </a:xfrm>
          <a:prstGeom prst="rect">
            <a:avLst/>
          </a:prstGeom>
        </p:spPr>
      </p:pic>
      <p:pic>
        <p:nvPicPr>
          <p:cNvPr id="7" name="Picture 6" descr="figure_01_08.jpg"/>
          <p:cNvPicPr>
            <a:picLocks noChangeAspect="1"/>
          </p:cNvPicPr>
          <p:nvPr/>
        </p:nvPicPr>
        <p:blipFill>
          <a:blip r:embed="rId5"/>
          <a:stretch>
            <a:fillRect/>
          </a:stretch>
        </p:blipFill>
        <p:spPr>
          <a:xfrm>
            <a:off x="967136" y="3067554"/>
            <a:ext cx="6484513" cy="3492373"/>
          </a:xfrm>
          <a:prstGeom prst="rect">
            <a:avLst/>
          </a:prstGeom>
        </p:spPr>
      </p:pic>
    </p:spTree>
    <p:extLst>
      <p:ext uri="{BB962C8B-B14F-4D97-AF65-F5344CB8AC3E}">
        <p14:creationId xmlns:p14="http://schemas.microsoft.com/office/powerpoint/2010/main" val="9243401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4478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Box 3"/>
          <p:cNvSpPr txBox="1">
            <a:spLocks noChangeArrowheads="1"/>
          </p:cNvSpPr>
          <p:nvPr/>
        </p:nvSpPr>
        <p:spPr bwMode="auto">
          <a:xfrm>
            <a:off x="1069975" y="2422525"/>
            <a:ext cx="69310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Covalent bonds, formed by electron sharing between two adjacent atoms, are the strongest bonds.</a:t>
            </a:r>
          </a:p>
          <a:p>
            <a:endParaRPr lang="en-US" sz="1800" dirty="0"/>
          </a:p>
          <a:p>
            <a:r>
              <a:rPr lang="en-US" sz="1800" dirty="0"/>
              <a:t>A typical C-C covalent bond has a distance of 1.54 Å and a bond energy of 355 kJ mol</a:t>
            </a:r>
            <a:r>
              <a:rPr lang="en-US" sz="1800" baseline="30000" dirty="0"/>
              <a:t>-1</a:t>
            </a:r>
            <a:r>
              <a:rPr lang="en-US" sz="1800" dirty="0"/>
              <a:t> (85 kcal mol</a:t>
            </a:r>
            <a:r>
              <a:rPr lang="en-US" sz="1800" baseline="30000" dirty="0"/>
              <a:t>-1</a:t>
            </a:r>
            <a:r>
              <a:rPr lang="en-US" sz="1800" dirty="0"/>
              <a:t>).</a:t>
            </a:r>
          </a:p>
          <a:p>
            <a:endParaRPr lang="en-US" sz="1800" dirty="0"/>
          </a:p>
          <a:p>
            <a:r>
              <a:rPr lang="en-US" sz="1800" dirty="0"/>
              <a:t>Some molecules exhibit multiple covalent structures called resonance structures.</a:t>
            </a:r>
          </a:p>
        </p:txBody>
      </p:sp>
      <p:pic>
        <p:nvPicPr>
          <p:cNvPr id="2" name="Picture 1"/>
          <p:cNvPicPr>
            <a:picLocks noChangeAspect="1"/>
          </p:cNvPicPr>
          <p:nvPr/>
        </p:nvPicPr>
        <p:blipFill>
          <a:blip r:embed="rId4"/>
          <a:stretch>
            <a:fillRect/>
          </a:stretch>
        </p:blipFill>
        <p:spPr>
          <a:xfrm>
            <a:off x="1069975" y="405081"/>
            <a:ext cx="6286500" cy="825500"/>
          </a:xfrm>
          <a:prstGeom prst="rect">
            <a:avLst/>
          </a:prstGeom>
        </p:spPr>
      </p:pic>
    </p:spTree>
    <p:extLst>
      <p:ext uri="{BB962C8B-B14F-4D97-AF65-F5344CB8AC3E}">
        <p14:creationId xmlns:p14="http://schemas.microsoft.com/office/powerpoint/2010/main" val="11805176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unnumbered_01_p07a.jpg"/>
          <p:cNvPicPr>
            <a:picLocks noChangeAspect="1"/>
          </p:cNvPicPr>
          <p:nvPr/>
        </p:nvPicPr>
        <p:blipFill>
          <a:blip r:embed="rId3"/>
          <a:stretch>
            <a:fillRect/>
          </a:stretch>
        </p:blipFill>
        <p:spPr>
          <a:xfrm>
            <a:off x="1194461" y="2057400"/>
            <a:ext cx="5930948" cy="2274942"/>
          </a:xfrm>
          <a:prstGeom prst="rect">
            <a:avLst/>
          </a:prstGeom>
        </p:spPr>
      </p:pic>
      <p:sp>
        <p:nvSpPr>
          <p:cNvPr id="45059" name="TextBox 2"/>
          <p:cNvSpPr txBox="1">
            <a:spLocks noChangeArrowheads="1"/>
          </p:cNvSpPr>
          <p:nvPr/>
        </p:nvSpPr>
        <p:spPr bwMode="auto">
          <a:xfrm>
            <a:off x="1698550" y="4933296"/>
            <a:ext cx="3165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Resonance structures of adenine</a:t>
            </a:r>
          </a:p>
        </p:txBody>
      </p:sp>
      <p:sp>
        <p:nvSpPr>
          <p:cNvPr id="45061" name="TextBox 3"/>
          <p:cNvSpPr txBox="1">
            <a:spLocks noChangeArrowheads="1"/>
          </p:cNvSpPr>
          <p:nvPr/>
        </p:nvSpPr>
        <p:spPr bwMode="auto">
          <a:xfrm>
            <a:off x="609600" y="2057400"/>
            <a:ext cx="162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Covalent</a:t>
            </a:r>
            <a:r>
              <a:rPr lang="en-US" sz="1600" i="1" dirty="0"/>
              <a:t> bonds</a:t>
            </a:r>
          </a:p>
        </p:txBody>
      </p:sp>
      <p:pic>
        <p:nvPicPr>
          <p:cNvPr id="45062"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2192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5"/>
          <a:stretch>
            <a:fillRect/>
          </a:stretch>
        </p:blipFill>
        <p:spPr>
          <a:xfrm>
            <a:off x="1194461" y="144600"/>
            <a:ext cx="6286500" cy="825500"/>
          </a:xfrm>
          <a:prstGeom prst="rect">
            <a:avLst/>
          </a:prstGeom>
        </p:spPr>
      </p:pic>
      <p:pic>
        <p:nvPicPr>
          <p:cNvPr id="3" name="Picture 2"/>
          <p:cNvPicPr>
            <a:picLocks noChangeAspect="1"/>
          </p:cNvPicPr>
          <p:nvPr/>
        </p:nvPicPr>
        <p:blipFill>
          <a:blip r:embed="rId6"/>
          <a:stretch>
            <a:fillRect/>
          </a:stretch>
        </p:blipFill>
        <p:spPr>
          <a:xfrm>
            <a:off x="5127909" y="3983222"/>
            <a:ext cx="3533757" cy="2639924"/>
          </a:xfrm>
          <a:prstGeom prst="rect">
            <a:avLst/>
          </a:prstGeom>
        </p:spPr>
      </p:pic>
    </p:spTree>
    <p:extLst>
      <p:ext uri="{BB962C8B-B14F-4D97-AF65-F5344CB8AC3E}">
        <p14:creationId xmlns:p14="http://schemas.microsoft.com/office/powerpoint/2010/main" val="23241162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192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TextBox 3"/>
          <p:cNvSpPr txBox="1">
            <a:spLocks noChangeArrowheads="1"/>
          </p:cNvSpPr>
          <p:nvPr/>
        </p:nvSpPr>
        <p:spPr bwMode="auto">
          <a:xfrm>
            <a:off x="33338" y="2057400"/>
            <a:ext cx="888206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Noncovalent bonds</a:t>
            </a:r>
          </a:p>
          <a:p>
            <a:r>
              <a:rPr lang="en-US" sz="1800" dirty="0"/>
              <a:t>	</a:t>
            </a:r>
            <a:r>
              <a:rPr lang="en-US" sz="1800" b="1" dirty="0" smtClean="0"/>
              <a:t>Ionic </a:t>
            </a:r>
            <a:r>
              <a:rPr lang="en-US" sz="1800" b="1" dirty="0"/>
              <a:t>interactions.</a:t>
            </a:r>
          </a:p>
          <a:p>
            <a:endParaRPr lang="en-US" sz="1800" dirty="0"/>
          </a:p>
          <a:p>
            <a:r>
              <a:rPr lang="en-US" sz="1800" dirty="0" smtClean="0"/>
              <a:t>Ionic interactions, also called electrostatic interactions, </a:t>
            </a:r>
            <a:r>
              <a:rPr lang="en-US" sz="1800" dirty="0"/>
              <a:t>occur between  oppositely charged molecules.</a:t>
            </a:r>
          </a:p>
          <a:p>
            <a:endParaRPr lang="en-US" sz="1800" dirty="0"/>
          </a:p>
          <a:p>
            <a:r>
              <a:rPr lang="en-US" sz="1800" dirty="0"/>
              <a:t>Electrostatic interactions in water have a bond distance of  ≈3 Å and a bond energy, given by </a:t>
            </a:r>
            <a:r>
              <a:rPr lang="en-US" sz="1800" dirty="0" smtClean="0"/>
              <a:t>Coulomb energy,  </a:t>
            </a:r>
            <a:r>
              <a:rPr lang="en-US" sz="1800" dirty="0"/>
              <a:t>of 5.86 kJ mol</a:t>
            </a:r>
            <a:r>
              <a:rPr lang="en-US" sz="1800" baseline="30000" dirty="0"/>
              <a:t>-1</a:t>
            </a:r>
            <a:r>
              <a:rPr lang="en-US" sz="1800" dirty="0"/>
              <a:t> (1.4 kcal mol</a:t>
            </a:r>
            <a:r>
              <a:rPr lang="en-US" sz="1800" baseline="30000" dirty="0"/>
              <a:t>-1</a:t>
            </a:r>
            <a:r>
              <a:rPr lang="en-US" sz="1800" dirty="0"/>
              <a:t>)</a:t>
            </a:r>
          </a:p>
        </p:txBody>
      </p:sp>
      <p:pic>
        <p:nvPicPr>
          <p:cNvPr id="4710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251450"/>
            <a:ext cx="27432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4"/>
          <a:stretch>
            <a:fillRect/>
          </a:stretch>
        </p:blipFill>
        <p:spPr>
          <a:xfrm>
            <a:off x="1276350" y="0"/>
            <a:ext cx="6286500" cy="825500"/>
          </a:xfrm>
          <a:prstGeom prst="rect">
            <a:avLst/>
          </a:prstGeom>
        </p:spPr>
      </p:pic>
      <p:pic>
        <p:nvPicPr>
          <p:cNvPr id="8" name="Picture 7" descr="unnumbered_01_p07b.jpg"/>
          <p:cNvPicPr>
            <a:picLocks noChangeAspect="1"/>
          </p:cNvPicPr>
          <p:nvPr/>
        </p:nvPicPr>
        <p:blipFill>
          <a:blip r:embed="rId5"/>
          <a:stretch>
            <a:fillRect/>
          </a:stretch>
        </p:blipFill>
        <p:spPr>
          <a:xfrm>
            <a:off x="4700758" y="4672102"/>
            <a:ext cx="3667844" cy="1530015"/>
          </a:xfrm>
          <a:prstGeom prst="rect">
            <a:avLst/>
          </a:prstGeom>
        </p:spPr>
      </p:pic>
    </p:spTree>
    <p:extLst>
      <p:ext uri="{BB962C8B-B14F-4D97-AF65-F5344CB8AC3E}">
        <p14:creationId xmlns:p14="http://schemas.microsoft.com/office/powerpoint/2010/main" val="39035169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TextBox 6"/>
          <p:cNvSpPr txBox="1">
            <a:spLocks noChangeArrowheads="1"/>
          </p:cNvSpPr>
          <p:nvPr/>
        </p:nvSpPr>
        <p:spPr bwMode="auto">
          <a:xfrm>
            <a:off x="33338" y="2057400"/>
            <a:ext cx="88820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Noncovalent bonds</a:t>
            </a:r>
          </a:p>
          <a:p>
            <a:r>
              <a:rPr lang="en-US" sz="1800" dirty="0"/>
              <a:t>	</a:t>
            </a:r>
            <a:r>
              <a:rPr lang="en-US" sz="1800" b="1" dirty="0"/>
              <a:t>Hydrogen bonds.</a:t>
            </a:r>
          </a:p>
          <a:p>
            <a:endParaRPr lang="en-US" sz="1800" dirty="0"/>
          </a:p>
          <a:p>
            <a:r>
              <a:rPr lang="en-US" sz="1800" dirty="0"/>
              <a:t>Hydrogen bonds occur between  an electronegative atom and a hydrogen covalently bonded to another electronegative atom.</a:t>
            </a:r>
          </a:p>
          <a:p>
            <a:endParaRPr lang="en-US" sz="1800" dirty="0"/>
          </a:p>
          <a:p>
            <a:r>
              <a:rPr lang="en-US" sz="1800" dirty="0"/>
              <a:t>Hydrogen bonds vary in bond distance from 1.5 Å to 2.6 Å with bond energies from 4-20  kJ mol</a:t>
            </a:r>
            <a:r>
              <a:rPr lang="en-US" sz="1800" baseline="30000" dirty="0"/>
              <a:t>-1</a:t>
            </a:r>
            <a:r>
              <a:rPr lang="en-US" sz="1800" dirty="0"/>
              <a:t> (1-5 kcal mol</a:t>
            </a:r>
            <a:r>
              <a:rPr lang="en-US" sz="1800" baseline="30000" dirty="0"/>
              <a:t>-1</a:t>
            </a:r>
            <a:r>
              <a:rPr lang="en-US" sz="1800" dirty="0"/>
              <a:t>)</a:t>
            </a:r>
          </a:p>
        </p:txBody>
      </p:sp>
      <p:pic>
        <p:nvPicPr>
          <p:cNvPr id="2" name="Picture 1"/>
          <p:cNvPicPr>
            <a:picLocks noChangeAspect="1"/>
          </p:cNvPicPr>
          <p:nvPr/>
        </p:nvPicPr>
        <p:blipFill>
          <a:blip r:embed="rId4"/>
          <a:stretch>
            <a:fillRect/>
          </a:stretch>
        </p:blipFill>
        <p:spPr>
          <a:xfrm>
            <a:off x="1409700" y="393700"/>
            <a:ext cx="6286500" cy="825500"/>
          </a:xfrm>
          <a:prstGeom prst="rect">
            <a:avLst/>
          </a:prstGeom>
        </p:spPr>
      </p:pic>
      <p:pic>
        <p:nvPicPr>
          <p:cNvPr id="7" name="Picture 6" descr="unnumbered_01_p08a.jpg"/>
          <p:cNvPicPr>
            <a:picLocks noChangeAspect="1"/>
          </p:cNvPicPr>
          <p:nvPr/>
        </p:nvPicPr>
        <p:blipFill>
          <a:blip r:embed="rId5"/>
          <a:stretch>
            <a:fillRect/>
          </a:stretch>
        </p:blipFill>
        <p:spPr>
          <a:xfrm>
            <a:off x="4759750" y="4359237"/>
            <a:ext cx="3543727" cy="2164205"/>
          </a:xfrm>
          <a:prstGeom prst="rect">
            <a:avLst/>
          </a:prstGeom>
        </p:spPr>
      </p:pic>
    </p:spTree>
    <p:extLst>
      <p:ext uri="{BB962C8B-B14F-4D97-AF65-F5344CB8AC3E}">
        <p14:creationId xmlns:p14="http://schemas.microsoft.com/office/powerpoint/2010/main" val="26891447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09.jpg"/>
          <p:cNvPicPr>
            <a:picLocks noChangeAspect="1"/>
          </p:cNvPicPr>
          <p:nvPr/>
        </p:nvPicPr>
        <p:blipFill>
          <a:blip r:embed="rId3"/>
          <a:stretch>
            <a:fillRect/>
          </a:stretch>
        </p:blipFill>
        <p:spPr>
          <a:xfrm>
            <a:off x="1103376" y="192023"/>
            <a:ext cx="6937248" cy="6473952"/>
          </a:xfrm>
          <a:prstGeom prst="rect">
            <a:avLst/>
          </a:prstGeom>
        </p:spPr>
      </p:pic>
    </p:spTree>
    <p:extLst>
      <p:ext uri="{BB962C8B-B14F-4D97-AF65-F5344CB8AC3E}">
        <p14:creationId xmlns:p14="http://schemas.microsoft.com/office/powerpoint/2010/main" val="42791183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TextBox 4"/>
          <p:cNvSpPr txBox="1">
            <a:spLocks noChangeArrowheads="1"/>
          </p:cNvSpPr>
          <p:nvPr/>
        </p:nvSpPr>
        <p:spPr bwMode="auto">
          <a:xfrm>
            <a:off x="258763" y="2057400"/>
            <a:ext cx="88804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Noncovalent bonds</a:t>
            </a:r>
          </a:p>
          <a:p>
            <a:r>
              <a:rPr lang="en-US" sz="1800" dirty="0"/>
              <a:t>	</a:t>
            </a:r>
            <a:r>
              <a:rPr lang="en-US" sz="1800" b="1" dirty="0"/>
              <a:t>van der Waal interactions.</a:t>
            </a:r>
          </a:p>
          <a:p>
            <a:endParaRPr lang="en-US" sz="1800" dirty="0"/>
          </a:p>
          <a:p>
            <a:r>
              <a:rPr lang="en-US" sz="1800" dirty="0"/>
              <a:t>Van der Waals interactions occur between two molecules sufficiently close (the van der Walls contact distance)  such that transient electronic asymmetries in one molecule induce complementary interaction in the partner  molecule.</a:t>
            </a:r>
          </a:p>
          <a:p>
            <a:endParaRPr lang="en-US" sz="1800" dirty="0"/>
          </a:p>
          <a:p>
            <a:r>
              <a:rPr lang="en-US" sz="1800" dirty="0"/>
              <a:t>Van der Waals interactions  have bond energies from 2-4  kJ mol</a:t>
            </a:r>
            <a:r>
              <a:rPr lang="en-US" sz="1800" baseline="30000" dirty="0"/>
              <a:t>-1</a:t>
            </a:r>
            <a:r>
              <a:rPr lang="en-US" sz="1800" dirty="0"/>
              <a:t> ( 0.5-1.0  kcal mol</a:t>
            </a:r>
            <a:r>
              <a:rPr lang="en-US" sz="1800" baseline="30000" dirty="0"/>
              <a:t>-1</a:t>
            </a:r>
            <a:r>
              <a:rPr lang="en-US" sz="1800" dirty="0"/>
              <a:t>)</a:t>
            </a:r>
          </a:p>
        </p:txBody>
      </p:sp>
      <p:pic>
        <p:nvPicPr>
          <p:cNvPr id="2" name="Picture 1"/>
          <p:cNvPicPr>
            <a:picLocks noChangeAspect="1"/>
          </p:cNvPicPr>
          <p:nvPr/>
        </p:nvPicPr>
        <p:blipFill>
          <a:blip r:embed="rId4"/>
          <a:stretch>
            <a:fillRect/>
          </a:stretch>
        </p:blipFill>
        <p:spPr>
          <a:xfrm>
            <a:off x="1178180" y="144599"/>
            <a:ext cx="6286500" cy="825500"/>
          </a:xfrm>
          <a:prstGeom prst="rect">
            <a:avLst/>
          </a:prstGeom>
        </p:spPr>
      </p:pic>
    </p:spTree>
    <p:extLst>
      <p:ext uri="{BB962C8B-B14F-4D97-AF65-F5344CB8AC3E}">
        <p14:creationId xmlns:p14="http://schemas.microsoft.com/office/powerpoint/2010/main" val="34199702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10.jpg"/>
          <p:cNvPicPr>
            <a:picLocks noChangeAspect="1"/>
          </p:cNvPicPr>
          <p:nvPr/>
        </p:nvPicPr>
        <p:blipFill>
          <a:blip r:embed="rId3"/>
          <a:stretch>
            <a:fillRect/>
          </a:stretch>
        </p:blipFill>
        <p:spPr>
          <a:xfrm>
            <a:off x="1051559" y="192023"/>
            <a:ext cx="7040880" cy="6473952"/>
          </a:xfrm>
          <a:prstGeom prst="rect">
            <a:avLst/>
          </a:prstGeom>
        </p:spPr>
      </p:pic>
    </p:spTree>
    <p:extLst>
      <p:ext uri="{BB962C8B-B14F-4D97-AF65-F5344CB8AC3E}">
        <p14:creationId xmlns:p14="http://schemas.microsoft.com/office/powerpoint/2010/main" val="31853061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TextBox 3"/>
          <p:cNvSpPr txBox="1">
            <a:spLocks noChangeArrowheads="1"/>
          </p:cNvSpPr>
          <p:nvPr/>
        </p:nvSpPr>
        <p:spPr bwMode="auto">
          <a:xfrm>
            <a:off x="381000" y="2209800"/>
            <a:ext cx="77724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Properties of water.</a:t>
            </a:r>
          </a:p>
          <a:p>
            <a:endParaRPr lang="en-US" sz="1800" i="1" dirty="0"/>
          </a:p>
          <a:p>
            <a:r>
              <a:rPr lang="en-US" sz="1800" dirty="0" smtClean="0"/>
              <a:t>Water </a:t>
            </a:r>
            <a:r>
              <a:rPr lang="en-US" sz="1800" dirty="0"/>
              <a:t>is a polar molecule. The charges on the molecule are not evenly distributed.</a:t>
            </a:r>
          </a:p>
        </p:txBody>
      </p:sp>
      <p:pic>
        <p:nvPicPr>
          <p:cNvPr id="2" name="Picture 1"/>
          <p:cNvPicPr>
            <a:picLocks noChangeAspect="1"/>
          </p:cNvPicPr>
          <p:nvPr/>
        </p:nvPicPr>
        <p:blipFill>
          <a:blip r:embed="rId4"/>
          <a:stretch>
            <a:fillRect/>
          </a:stretch>
        </p:blipFill>
        <p:spPr>
          <a:xfrm>
            <a:off x="1064211" y="160879"/>
            <a:ext cx="6286500" cy="825500"/>
          </a:xfrm>
          <a:prstGeom prst="rect">
            <a:avLst/>
          </a:prstGeom>
        </p:spPr>
      </p:pic>
      <p:pic>
        <p:nvPicPr>
          <p:cNvPr id="7" name="Picture 6" descr="unnumbered_01_p08b.jpg"/>
          <p:cNvPicPr>
            <a:picLocks noChangeAspect="1"/>
          </p:cNvPicPr>
          <p:nvPr/>
        </p:nvPicPr>
        <p:blipFill>
          <a:blip r:embed="rId5"/>
          <a:stretch>
            <a:fillRect/>
          </a:stretch>
        </p:blipFill>
        <p:spPr>
          <a:xfrm>
            <a:off x="4285276" y="3798381"/>
            <a:ext cx="3562323" cy="2689553"/>
          </a:xfrm>
          <a:prstGeom prst="rect">
            <a:avLst/>
          </a:prstGeom>
        </p:spPr>
      </p:pic>
    </p:spTree>
    <p:extLst>
      <p:ext uri="{BB962C8B-B14F-4D97-AF65-F5344CB8AC3E}">
        <p14:creationId xmlns:p14="http://schemas.microsoft.com/office/powerpoint/2010/main" val="28688817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TextBox 4"/>
          <p:cNvSpPr txBox="1">
            <a:spLocks noChangeArrowheads="1"/>
          </p:cNvSpPr>
          <p:nvPr/>
        </p:nvSpPr>
        <p:spPr bwMode="auto">
          <a:xfrm>
            <a:off x="457200" y="1981200"/>
            <a:ext cx="38862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Properties of water.</a:t>
            </a:r>
          </a:p>
          <a:p>
            <a:endParaRPr lang="en-US" sz="1800" dirty="0"/>
          </a:p>
          <a:p>
            <a:r>
              <a:rPr lang="en-US" sz="1800" dirty="0" smtClean="0"/>
              <a:t>Water </a:t>
            </a:r>
            <a:r>
              <a:rPr lang="en-US" sz="1800" dirty="0"/>
              <a:t>is highly cohesive. Water molecules interact with one another through hydrogen bonds.</a:t>
            </a:r>
          </a:p>
        </p:txBody>
      </p:sp>
      <p:pic>
        <p:nvPicPr>
          <p:cNvPr id="2" name="Picture 1"/>
          <p:cNvPicPr>
            <a:picLocks noChangeAspect="1"/>
          </p:cNvPicPr>
          <p:nvPr/>
        </p:nvPicPr>
        <p:blipFill>
          <a:blip r:embed="rId4"/>
          <a:stretch>
            <a:fillRect/>
          </a:stretch>
        </p:blipFill>
        <p:spPr>
          <a:xfrm>
            <a:off x="1064210" y="352637"/>
            <a:ext cx="6286500" cy="825500"/>
          </a:xfrm>
          <a:prstGeom prst="rect">
            <a:avLst/>
          </a:prstGeom>
        </p:spPr>
      </p:pic>
      <p:pic>
        <p:nvPicPr>
          <p:cNvPr id="7" name="Picture 6" descr="figure_01_11.jpg"/>
          <p:cNvPicPr>
            <a:picLocks noChangeAspect="1"/>
          </p:cNvPicPr>
          <p:nvPr/>
        </p:nvPicPr>
        <p:blipFill>
          <a:blip r:embed="rId5"/>
          <a:stretch>
            <a:fillRect/>
          </a:stretch>
        </p:blipFill>
        <p:spPr>
          <a:xfrm>
            <a:off x="4037769" y="2555158"/>
            <a:ext cx="4471231" cy="4061975"/>
          </a:xfrm>
          <a:prstGeom prst="rect">
            <a:avLst/>
          </a:prstGeom>
        </p:spPr>
      </p:pic>
    </p:spTree>
    <p:extLst>
      <p:ext uri="{BB962C8B-B14F-4D97-AF65-F5344CB8AC3E}">
        <p14:creationId xmlns:p14="http://schemas.microsoft.com/office/powerpoint/2010/main" val="29192197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7823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TextBox 1"/>
          <p:cNvSpPr txBox="1">
            <a:spLocks noChangeArrowheads="1"/>
          </p:cNvSpPr>
          <p:nvPr/>
        </p:nvSpPr>
        <p:spPr bwMode="auto">
          <a:xfrm>
            <a:off x="457200" y="2057400"/>
            <a:ext cx="7396163"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i="1" dirty="0"/>
              <a:t>The hydrophobic effect.</a:t>
            </a:r>
          </a:p>
          <a:p>
            <a:endParaRPr lang="en-US" sz="1800" dirty="0"/>
          </a:p>
          <a:p>
            <a:r>
              <a:rPr lang="en-US" sz="1800" dirty="0" smtClean="0"/>
              <a:t>Nonpolar </a:t>
            </a:r>
            <a:r>
              <a:rPr lang="en-US" sz="1800" dirty="0"/>
              <a:t>molecules in water can be driven together by the hydrophobic effect which is powered by the increase in entropy of water. The associated interactions are called hydrophobic interaction.</a:t>
            </a:r>
          </a:p>
        </p:txBody>
      </p:sp>
      <p:pic>
        <p:nvPicPr>
          <p:cNvPr id="2" name="Picture 1"/>
          <p:cNvPicPr>
            <a:picLocks noChangeAspect="1"/>
          </p:cNvPicPr>
          <p:nvPr/>
        </p:nvPicPr>
        <p:blipFill>
          <a:blip r:embed="rId4"/>
          <a:stretch>
            <a:fillRect/>
          </a:stretch>
        </p:blipFill>
        <p:spPr>
          <a:xfrm>
            <a:off x="1257300" y="97860"/>
            <a:ext cx="6286500" cy="825500"/>
          </a:xfrm>
          <a:prstGeom prst="rect">
            <a:avLst/>
          </a:prstGeom>
        </p:spPr>
      </p:pic>
      <p:pic>
        <p:nvPicPr>
          <p:cNvPr id="7" name="Picture 6" descr="figure_01_12.jpg"/>
          <p:cNvPicPr>
            <a:picLocks noChangeAspect="1"/>
          </p:cNvPicPr>
          <p:nvPr/>
        </p:nvPicPr>
        <p:blipFill>
          <a:blip r:embed="rId5"/>
          <a:stretch>
            <a:fillRect/>
          </a:stretch>
        </p:blipFill>
        <p:spPr>
          <a:xfrm>
            <a:off x="1417694" y="3814553"/>
            <a:ext cx="6321700" cy="3043447"/>
          </a:xfrm>
          <a:prstGeom prst="rect">
            <a:avLst/>
          </a:prstGeom>
        </p:spPr>
      </p:pic>
    </p:spTree>
    <p:extLst>
      <p:ext uri="{BB962C8B-B14F-4D97-AF65-F5344CB8AC3E}">
        <p14:creationId xmlns:p14="http://schemas.microsoft.com/office/powerpoint/2010/main" val="28372483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47800"/>
            <a:ext cx="6553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TextBox 3"/>
          <p:cNvSpPr txBox="1">
            <a:spLocks noChangeArrowheads="1"/>
          </p:cNvSpPr>
          <p:nvPr/>
        </p:nvSpPr>
        <p:spPr bwMode="auto">
          <a:xfrm>
            <a:off x="838200" y="2438400"/>
            <a:ext cx="757237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When a double helix forms, charge repulsion occurs between the negatively charged phosphates of the backbone.</a:t>
            </a:r>
          </a:p>
          <a:p>
            <a:endParaRPr lang="en-US" sz="1800" dirty="0"/>
          </a:p>
          <a:p>
            <a:r>
              <a:rPr lang="en-US" sz="1800" dirty="0"/>
              <a:t>These repulsive forces are reduced by the high dielectric constant of water and interaction of positively charged ions with the phosphate groups.</a:t>
            </a:r>
          </a:p>
        </p:txBody>
      </p:sp>
      <p:pic>
        <p:nvPicPr>
          <p:cNvPr id="2" name="Picture 1"/>
          <p:cNvPicPr>
            <a:picLocks noChangeAspect="1"/>
          </p:cNvPicPr>
          <p:nvPr/>
        </p:nvPicPr>
        <p:blipFill>
          <a:blip r:embed="rId4"/>
          <a:stretch>
            <a:fillRect/>
          </a:stretch>
        </p:blipFill>
        <p:spPr>
          <a:xfrm>
            <a:off x="1143000" y="177160"/>
            <a:ext cx="6286500" cy="825500"/>
          </a:xfrm>
          <a:prstGeom prst="rect">
            <a:avLst/>
          </a:prstGeom>
        </p:spPr>
      </p:pic>
    </p:spTree>
    <p:extLst>
      <p:ext uri="{BB962C8B-B14F-4D97-AF65-F5344CB8AC3E}">
        <p14:creationId xmlns:p14="http://schemas.microsoft.com/office/powerpoint/2010/main" val="360872156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13.jpg"/>
          <p:cNvPicPr>
            <a:picLocks noChangeAspect="1"/>
          </p:cNvPicPr>
          <p:nvPr/>
        </p:nvPicPr>
        <p:blipFill>
          <a:blip r:embed="rId3"/>
          <a:stretch>
            <a:fillRect/>
          </a:stretch>
        </p:blipFill>
        <p:spPr>
          <a:xfrm>
            <a:off x="2243327" y="192023"/>
            <a:ext cx="4657344" cy="6473952"/>
          </a:xfrm>
          <a:prstGeom prst="rect">
            <a:avLst/>
          </a:prstGeom>
        </p:spPr>
      </p:pic>
    </p:spTree>
    <p:extLst>
      <p:ext uri="{BB962C8B-B14F-4D97-AF65-F5344CB8AC3E}">
        <p14:creationId xmlns:p14="http://schemas.microsoft.com/office/powerpoint/2010/main" val="13832897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47800"/>
            <a:ext cx="6553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extBox 3"/>
          <p:cNvSpPr txBox="1">
            <a:spLocks noChangeArrowheads="1"/>
          </p:cNvSpPr>
          <p:nvPr/>
        </p:nvSpPr>
        <p:spPr bwMode="auto">
          <a:xfrm>
            <a:off x="838200" y="2133600"/>
            <a:ext cx="78438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Hydrogen bonds </a:t>
            </a:r>
            <a:r>
              <a:rPr lang="en-US" sz="1800" dirty="0" smtClean="0"/>
              <a:t>form </a:t>
            </a:r>
            <a:r>
              <a:rPr lang="en-US" sz="1800" dirty="0"/>
              <a:t>between bases, which are in the hydrophobic interior away from the disrupting effects of water.</a:t>
            </a:r>
          </a:p>
        </p:txBody>
      </p:sp>
      <p:pic>
        <p:nvPicPr>
          <p:cNvPr id="2" name="Picture 1"/>
          <p:cNvPicPr>
            <a:picLocks noChangeAspect="1"/>
          </p:cNvPicPr>
          <p:nvPr/>
        </p:nvPicPr>
        <p:blipFill>
          <a:blip r:embed="rId4"/>
          <a:stretch>
            <a:fillRect/>
          </a:stretch>
        </p:blipFill>
        <p:spPr>
          <a:xfrm>
            <a:off x="1143000" y="258560"/>
            <a:ext cx="6286500" cy="825500"/>
          </a:xfrm>
          <a:prstGeom prst="rect">
            <a:avLst/>
          </a:prstGeom>
        </p:spPr>
      </p:pic>
      <p:pic>
        <p:nvPicPr>
          <p:cNvPr id="7" name="Picture 6" descr="unnumbered_01_p10.jpg"/>
          <p:cNvPicPr>
            <a:picLocks noChangeAspect="1"/>
          </p:cNvPicPr>
          <p:nvPr/>
        </p:nvPicPr>
        <p:blipFill>
          <a:blip r:embed="rId5"/>
          <a:stretch>
            <a:fillRect/>
          </a:stretch>
        </p:blipFill>
        <p:spPr>
          <a:xfrm>
            <a:off x="304800" y="3172162"/>
            <a:ext cx="8534400" cy="3541776"/>
          </a:xfrm>
          <a:prstGeom prst="rect">
            <a:avLst/>
          </a:prstGeom>
        </p:spPr>
      </p:pic>
    </p:spTree>
    <p:extLst>
      <p:ext uri="{BB962C8B-B14F-4D97-AF65-F5344CB8AC3E}">
        <p14:creationId xmlns:p14="http://schemas.microsoft.com/office/powerpoint/2010/main" val="19848866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Box 1"/>
          <p:cNvSpPr txBox="1">
            <a:spLocks noChangeArrowheads="1"/>
          </p:cNvSpPr>
          <p:nvPr/>
        </p:nvSpPr>
        <p:spPr bwMode="auto">
          <a:xfrm>
            <a:off x="152400" y="2090060"/>
            <a:ext cx="85931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the interior of the helix, bases are stacked and interact with one another through van der Waals interactions.</a:t>
            </a:r>
          </a:p>
        </p:txBody>
      </p:sp>
      <p:pic>
        <p:nvPicPr>
          <p:cNvPr id="2" name="Picture 1"/>
          <p:cNvPicPr>
            <a:picLocks noChangeAspect="1"/>
          </p:cNvPicPr>
          <p:nvPr/>
        </p:nvPicPr>
        <p:blipFill>
          <a:blip r:embed="rId3"/>
          <a:stretch>
            <a:fillRect/>
          </a:stretch>
        </p:blipFill>
        <p:spPr>
          <a:xfrm>
            <a:off x="1422400" y="193439"/>
            <a:ext cx="6286500" cy="825500"/>
          </a:xfrm>
          <a:prstGeom prst="rect">
            <a:avLst/>
          </a:prstGeom>
        </p:spPr>
      </p:pic>
      <p:pic>
        <p:nvPicPr>
          <p:cNvPr id="6" name="Picture 5" descr="figure_01_14.jpg"/>
          <p:cNvPicPr>
            <a:picLocks noChangeAspect="1"/>
          </p:cNvPicPr>
          <p:nvPr/>
        </p:nvPicPr>
        <p:blipFill>
          <a:blip r:embed="rId4"/>
          <a:stretch>
            <a:fillRect/>
          </a:stretch>
        </p:blipFill>
        <p:spPr>
          <a:xfrm>
            <a:off x="2844717" y="2736173"/>
            <a:ext cx="3618969" cy="3929801"/>
          </a:xfrm>
          <a:prstGeom prst="rect">
            <a:avLst/>
          </a:prstGeom>
        </p:spPr>
      </p:pic>
      <p:pic>
        <p:nvPicPr>
          <p:cNvPr id="7" name="Picture 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447800"/>
            <a:ext cx="6553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0004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371600"/>
            <a:ext cx="78105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TextBox 3"/>
          <p:cNvSpPr txBox="1">
            <a:spLocks noChangeArrowheads="1"/>
          </p:cNvSpPr>
          <p:nvPr/>
        </p:nvSpPr>
        <p:spPr bwMode="auto">
          <a:xfrm>
            <a:off x="685800" y="2286000"/>
            <a:ext cx="74422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First Law of Thermodynamics states the the total energy of a system and its environment is constant.</a:t>
            </a:r>
          </a:p>
          <a:p>
            <a:endParaRPr lang="en-US" sz="1800" dirty="0"/>
          </a:p>
          <a:p>
            <a:r>
              <a:rPr lang="en-US" sz="1800" dirty="0"/>
              <a:t>The Second Law of Thermodynamics states the total entropy of a system plus that of its </a:t>
            </a:r>
            <a:r>
              <a:rPr lang="en-US" sz="1800" dirty="0" smtClean="0"/>
              <a:t>surroundings </a:t>
            </a:r>
            <a:r>
              <a:rPr lang="en-US" sz="1800" dirty="0"/>
              <a:t>always increases.</a:t>
            </a:r>
          </a:p>
          <a:p>
            <a:endParaRPr lang="en-US" sz="1800" dirty="0"/>
          </a:p>
          <a:p>
            <a:r>
              <a:rPr lang="en-US" sz="1800" dirty="0"/>
              <a:t>Entropy can decrease locally in the system if there is a corresponding increase in entropy in the surroundings.</a:t>
            </a:r>
          </a:p>
          <a:p>
            <a:endParaRPr lang="en-US" sz="1800" dirty="0"/>
          </a:p>
        </p:txBody>
      </p:sp>
      <p:pic>
        <p:nvPicPr>
          <p:cNvPr id="2" name="Picture 1"/>
          <p:cNvPicPr>
            <a:picLocks noChangeAspect="1"/>
          </p:cNvPicPr>
          <p:nvPr/>
        </p:nvPicPr>
        <p:blipFill>
          <a:blip r:embed="rId4"/>
          <a:stretch>
            <a:fillRect/>
          </a:stretch>
        </p:blipFill>
        <p:spPr>
          <a:xfrm>
            <a:off x="1161899" y="339961"/>
            <a:ext cx="6286500" cy="825500"/>
          </a:xfrm>
          <a:prstGeom prst="rect">
            <a:avLst/>
          </a:prstGeom>
        </p:spPr>
      </p:pic>
    </p:spTree>
    <p:extLst>
      <p:ext uri="{BB962C8B-B14F-4D97-AF65-F5344CB8AC3E}">
        <p14:creationId xmlns:p14="http://schemas.microsoft.com/office/powerpoint/2010/main" val="2814173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8105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TextBox 3"/>
          <p:cNvSpPr txBox="1">
            <a:spLocks noChangeArrowheads="1"/>
          </p:cNvSpPr>
          <p:nvPr/>
        </p:nvSpPr>
        <p:spPr bwMode="auto">
          <a:xfrm>
            <a:off x="1003300" y="2206625"/>
            <a:ext cx="73787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change in entropy (ΔS) of the surroundings is  proportional to the heat (enthalpy) transferred from the system to the surroundings (ΔH) and inversely proportional the the temperature (T, in kelvins (K)).</a:t>
            </a:r>
          </a:p>
        </p:txBody>
      </p:sp>
      <p:pic>
        <p:nvPicPr>
          <p:cNvPr id="2" name="Picture 1"/>
          <p:cNvPicPr>
            <a:picLocks noChangeAspect="1"/>
          </p:cNvPicPr>
          <p:nvPr/>
        </p:nvPicPr>
        <p:blipFill>
          <a:blip r:embed="rId3"/>
          <a:stretch>
            <a:fillRect/>
          </a:stretch>
        </p:blipFill>
        <p:spPr>
          <a:xfrm>
            <a:off x="1194461" y="0"/>
            <a:ext cx="6286500" cy="825500"/>
          </a:xfrm>
          <a:prstGeom prst="rect">
            <a:avLst/>
          </a:prstGeom>
        </p:spPr>
      </p:pic>
      <p:pic>
        <p:nvPicPr>
          <p:cNvPr id="3" name="Picture 2"/>
          <p:cNvPicPr>
            <a:picLocks noChangeAspect="1"/>
          </p:cNvPicPr>
          <p:nvPr/>
        </p:nvPicPr>
        <p:blipFill>
          <a:blip r:embed="rId4"/>
          <a:stretch>
            <a:fillRect/>
          </a:stretch>
        </p:blipFill>
        <p:spPr>
          <a:xfrm>
            <a:off x="1943099" y="4293400"/>
            <a:ext cx="5537861" cy="414671"/>
          </a:xfrm>
          <a:prstGeom prst="rect">
            <a:avLst/>
          </a:prstGeom>
        </p:spPr>
      </p:pic>
    </p:spTree>
    <p:extLst>
      <p:ext uri="{BB962C8B-B14F-4D97-AF65-F5344CB8AC3E}">
        <p14:creationId xmlns:p14="http://schemas.microsoft.com/office/powerpoint/2010/main" val="1452855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95400"/>
            <a:ext cx="78105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1"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438400"/>
            <a:ext cx="60198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2"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114800"/>
            <a:ext cx="58801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3" name="TextBox 8"/>
          <p:cNvSpPr txBox="1">
            <a:spLocks noChangeArrowheads="1"/>
          </p:cNvSpPr>
          <p:nvPr/>
        </p:nvSpPr>
        <p:spPr bwMode="auto">
          <a:xfrm>
            <a:off x="381000" y="1905000"/>
            <a:ext cx="6134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total entropy change is described by the following equation.</a:t>
            </a:r>
          </a:p>
        </p:txBody>
      </p:sp>
      <p:sp>
        <p:nvSpPr>
          <p:cNvPr id="73734" name="TextBox 9"/>
          <p:cNvSpPr txBox="1">
            <a:spLocks noChangeArrowheads="1"/>
          </p:cNvSpPr>
          <p:nvPr/>
        </p:nvSpPr>
        <p:spPr bwMode="auto">
          <a:xfrm>
            <a:off x="838200" y="3200400"/>
            <a:ext cx="4378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Substituting equation 1 into equation 2 yields</a:t>
            </a:r>
          </a:p>
        </p:txBody>
      </p:sp>
      <p:sp>
        <p:nvSpPr>
          <p:cNvPr id="73735" name="TextBox 10"/>
          <p:cNvSpPr txBox="1">
            <a:spLocks noChangeArrowheads="1"/>
          </p:cNvSpPr>
          <p:nvPr/>
        </p:nvSpPr>
        <p:spPr bwMode="auto">
          <a:xfrm>
            <a:off x="801688" y="4929188"/>
            <a:ext cx="25096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Multiplying </a:t>
            </a:r>
            <a:r>
              <a:rPr lang="en-US" sz="1800" dirty="0" smtClean="0"/>
              <a:t>by −T </a:t>
            </a:r>
            <a:r>
              <a:rPr lang="en-US" sz="1800" dirty="0"/>
              <a:t>yields</a:t>
            </a:r>
          </a:p>
        </p:txBody>
      </p:sp>
      <p:pic>
        <p:nvPicPr>
          <p:cNvPr id="73736" name="Picture 1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5562600"/>
            <a:ext cx="4076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6"/>
          <a:stretch>
            <a:fillRect/>
          </a:stretch>
        </p:blipFill>
        <p:spPr>
          <a:xfrm>
            <a:off x="1096774" y="160879"/>
            <a:ext cx="6286500" cy="825500"/>
          </a:xfrm>
          <a:prstGeom prst="rect">
            <a:avLst/>
          </a:prstGeom>
        </p:spPr>
      </p:pic>
    </p:spTree>
    <p:extLst>
      <p:ext uri="{BB962C8B-B14F-4D97-AF65-F5344CB8AC3E}">
        <p14:creationId xmlns:p14="http://schemas.microsoft.com/office/powerpoint/2010/main" val="4881433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8105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5" name="TextBox 3"/>
          <p:cNvSpPr txBox="1">
            <a:spLocks noChangeArrowheads="1"/>
          </p:cNvSpPr>
          <p:nvPr/>
        </p:nvSpPr>
        <p:spPr bwMode="auto">
          <a:xfrm>
            <a:off x="901700" y="2908300"/>
            <a:ext cx="7632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term –TΔS</a:t>
            </a:r>
            <a:r>
              <a:rPr lang="en-US" sz="1800" baseline="-25000" dirty="0"/>
              <a:t>total</a:t>
            </a:r>
            <a:r>
              <a:rPr lang="en-US" sz="1800" dirty="0"/>
              <a:t> is the free energy or Gibb’s free energy.</a:t>
            </a:r>
          </a:p>
        </p:txBody>
      </p:sp>
      <p:pic>
        <p:nvPicPr>
          <p:cNvPr id="7475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810000"/>
            <a:ext cx="58801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828800"/>
            <a:ext cx="60325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5"/>
          <a:stretch>
            <a:fillRect/>
          </a:stretch>
        </p:blipFill>
        <p:spPr>
          <a:xfrm>
            <a:off x="1193800" y="242280"/>
            <a:ext cx="6286500" cy="825500"/>
          </a:xfrm>
          <a:prstGeom prst="rect">
            <a:avLst/>
          </a:prstGeom>
        </p:spPr>
      </p:pic>
    </p:spTree>
    <p:extLst>
      <p:ext uri="{BB962C8B-B14F-4D97-AF65-F5344CB8AC3E}">
        <p14:creationId xmlns:p14="http://schemas.microsoft.com/office/powerpoint/2010/main" val="15466615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8105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TextBox 5"/>
          <p:cNvSpPr txBox="1">
            <a:spLocks noChangeArrowheads="1"/>
          </p:cNvSpPr>
          <p:nvPr/>
        </p:nvSpPr>
        <p:spPr bwMode="auto">
          <a:xfrm>
            <a:off x="1019175" y="2289175"/>
            <a:ext cx="7667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Second Law states </a:t>
            </a:r>
            <a:r>
              <a:rPr lang="en-US" sz="1800" dirty="0" smtClean="0"/>
              <a:t>that </a:t>
            </a:r>
            <a:r>
              <a:rPr lang="en-US" sz="1800" dirty="0"/>
              <a:t>a biochemical reaction can occur only if the entropy of the Universe increases. This is possible only if </a:t>
            </a:r>
          </a:p>
        </p:txBody>
      </p:sp>
      <p:pic>
        <p:nvPicPr>
          <p:cNvPr id="7578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581400"/>
            <a:ext cx="54864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2" name="TextBox 8"/>
          <p:cNvSpPr txBox="1">
            <a:spLocks noChangeArrowheads="1"/>
          </p:cNvSpPr>
          <p:nvPr/>
        </p:nvSpPr>
        <p:spPr bwMode="auto">
          <a:xfrm>
            <a:off x="3994150" y="4178300"/>
            <a:ext cx="439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dirty="0"/>
              <a:t>or</a:t>
            </a:r>
          </a:p>
        </p:txBody>
      </p:sp>
      <p:pic>
        <p:nvPicPr>
          <p:cNvPr id="2" name="Picture 1"/>
          <p:cNvPicPr>
            <a:picLocks noChangeAspect="1"/>
          </p:cNvPicPr>
          <p:nvPr/>
        </p:nvPicPr>
        <p:blipFill>
          <a:blip r:embed="rId4"/>
          <a:stretch>
            <a:fillRect/>
          </a:stretch>
        </p:blipFill>
        <p:spPr>
          <a:xfrm>
            <a:off x="1372403" y="193439"/>
            <a:ext cx="6286500" cy="825500"/>
          </a:xfrm>
          <a:prstGeom prst="rect">
            <a:avLst/>
          </a:prstGeom>
        </p:spPr>
      </p:pic>
      <p:sp>
        <p:nvSpPr>
          <p:cNvPr id="3" name="Rectangle 2"/>
          <p:cNvSpPr/>
          <p:nvPr/>
        </p:nvSpPr>
        <p:spPr>
          <a:xfrm>
            <a:off x="3350369" y="4867320"/>
            <a:ext cx="1941983" cy="369332"/>
          </a:xfrm>
          <a:prstGeom prst="rect">
            <a:avLst/>
          </a:prstGeom>
        </p:spPr>
        <p:txBody>
          <a:bodyPr wrap="none">
            <a:spAutoFit/>
          </a:bodyPr>
          <a:lstStyle/>
          <a:p>
            <a:r>
              <a:rPr lang="en-US" dirty="0">
                <a:latin typeface="Times"/>
                <a:cs typeface="Times"/>
              </a:rPr>
              <a:t> </a:t>
            </a:r>
            <a:r>
              <a:rPr lang="en-US" dirty="0" err="1">
                <a:latin typeface="Times"/>
                <a:cs typeface="Times"/>
              </a:rPr>
              <a:t>T</a:t>
            </a:r>
            <a:r>
              <a:rPr lang="en-US" dirty="0" err="1">
                <a:latin typeface="Times"/>
                <a:cs typeface="Times"/>
                <a:sym typeface="Symbol"/>
              </a:rPr>
              <a:t></a:t>
            </a:r>
            <a:r>
              <a:rPr lang="en-US" dirty="0" err="1">
                <a:latin typeface="Times"/>
                <a:cs typeface="Times"/>
              </a:rPr>
              <a:t>S</a:t>
            </a:r>
            <a:r>
              <a:rPr lang="en-US" baseline="-25000" dirty="0" err="1">
                <a:latin typeface="Times"/>
                <a:cs typeface="Times"/>
              </a:rPr>
              <a:t>system</a:t>
            </a:r>
            <a:r>
              <a:rPr lang="en-US" dirty="0">
                <a:latin typeface="Times"/>
                <a:cs typeface="Times"/>
              </a:rPr>
              <a:t>&gt;</a:t>
            </a:r>
            <a:r>
              <a:rPr lang="en-US" dirty="0">
                <a:latin typeface="Times"/>
                <a:cs typeface="Times"/>
                <a:sym typeface="Symbol"/>
              </a:rPr>
              <a:t></a:t>
            </a:r>
            <a:r>
              <a:rPr lang="en-US" dirty="0" err="1">
                <a:latin typeface="Times"/>
                <a:cs typeface="Times"/>
              </a:rPr>
              <a:t>H</a:t>
            </a:r>
            <a:r>
              <a:rPr lang="en-US" baseline="-25000" dirty="0" err="1">
                <a:latin typeface="Times"/>
                <a:cs typeface="Times"/>
              </a:rPr>
              <a:t>system</a:t>
            </a:r>
            <a:endParaRPr lang="en-US" dirty="0">
              <a:latin typeface="Times"/>
              <a:cs typeface="Times"/>
            </a:endParaRPr>
          </a:p>
        </p:txBody>
      </p:sp>
    </p:spTree>
    <p:extLst>
      <p:ext uri="{BB962C8B-B14F-4D97-AF65-F5344CB8AC3E}">
        <p14:creationId xmlns:p14="http://schemas.microsoft.com/office/powerpoint/2010/main" val="13615348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8105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TextBox 3"/>
          <p:cNvSpPr txBox="1">
            <a:spLocks noChangeArrowheads="1"/>
          </p:cNvSpPr>
          <p:nvPr/>
        </p:nvSpPr>
        <p:spPr bwMode="auto">
          <a:xfrm>
            <a:off x="919163" y="2273300"/>
            <a:ext cx="4262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other words, entropy will increase only if </a:t>
            </a:r>
          </a:p>
        </p:txBody>
      </p:sp>
      <p:pic>
        <p:nvPicPr>
          <p:cNvPr id="76804"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895600"/>
            <a:ext cx="5918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5" name="TextBox 9"/>
          <p:cNvSpPr txBox="1">
            <a:spLocks noChangeArrowheads="1"/>
          </p:cNvSpPr>
          <p:nvPr/>
        </p:nvSpPr>
        <p:spPr bwMode="auto">
          <a:xfrm>
            <a:off x="868363" y="3910013"/>
            <a:ext cx="78184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biochemical reaction will occur only if the ΔG is negative, and ΔG is negative only if the entropy of the Universe increases.</a:t>
            </a:r>
          </a:p>
        </p:txBody>
      </p:sp>
      <p:pic>
        <p:nvPicPr>
          <p:cNvPr id="2" name="Picture 1"/>
          <p:cNvPicPr>
            <a:picLocks noChangeAspect="1"/>
          </p:cNvPicPr>
          <p:nvPr/>
        </p:nvPicPr>
        <p:blipFill>
          <a:blip r:embed="rId4"/>
          <a:stretch>
            <a:fillRect/>
          </a:stretch>
        </p:blipFill>
        <p:spPr>
          <a:xfrm>
            <a:off x="1259587" y="291120"/>
            <a:ext cx="6286500" cy="825500"/>
          </a:xfrm>
          <a:prstGeom prst="rect">
            <a:avLst/>
          </a:prstGeom>
        </p:spPr>
      </p:pic>
    </p:spTree>
    <p:extLst>
      <p:ext uri="{BB962C8B-B14F-4D97-AF65-F5344CB8AC3E}">
        <p14:creationId xmlns:p14="http://schemas.microsoft.com/office/powerpoint/2010/main" val="28832145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95400"/>
            <a:ext cx="60198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TextBox 3"/>
          <p:cNvSpPr txBox="1">
            <a:spLocks noChangeArrowheads="1"/>
          </p:cNvSpPr>
          <p:nvPr/>
        </p:nvSpPr>
        <p:spPr bwMode="auto">
          <a:xfrm>
            <a:off x="985838" y="2540000"/>
            <a:ext cx="7700962"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spontaneous formation of a double helix from two strands of DNA appears to violate the Second Law of Thermodynamics since the entropy of the DNA molecules is reduced.</a:t>
            </a:r>
          </a:p>
          <a:p>
            <a:endParaRPr lang="en-US" sz="1800" dirty="0"/>
          </a:p>
          <a:p>
            <a:r>
              <a:rPr lang="en-US" sz="1800" dirty="0"/>
              <a:t>However, the heat released by helix formation increases the entropy of the surroundings.</a:t>
            </a:r>
          </a:p>
        </p:txBody>
      </p:sp>
      <p:pic>
        <p:nvPicPr>
          <p:cNvPr id="2" name="Picture 1"/>
          <p:cNvPicPr>
            <a:picLocks noChangeAspect="1"/>
          </p:cNvPicPr>
          <p:nvPr/>
        </p:nvPicPr>
        <p:blipFill>
          <a:blip r:embed="rId3"/>
          <a:stretch>
            <a:fillRect/>
          </a:stretch>
        </p:blipFill>
        <p:spPr>
          <a:xfrm>
            <a:off x="1028700" y="209720"/>
            <a:ext cx="6286500" cy="825500"/>
          </a:xfrm>
          <a:prstGeom prst="rect">
            <a:avLst/>
          </a:prstGeom>
        </p:spPr>
      </p:pic>
    </p:spTree>
    <p:extLst>
      <p:ext uri="{BB962C8B-B14F-4D97-AF65-F5344CB8AC3E}">
        <p14:creationId xmlns:p14="http://schemas.microsoft.com/office/powerpoint/2010/main" val="9155095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 1.15.jpg"/>
          <p:cNvPicPr>
            <a:picLocks noChangeAspect="1"/>
          </p:cNvPicPr>
          <p:nvPr/>
        </p:nvPicPr>
        <p:blipFill>
          <a:blip r:embed="rId3"/>
          <a:stretch>
            <a:fillRect/>
          </a:stretch>
        </p:blipFill>
        <p:spPr>
          <a:xfrm>
            <a:off x="2894076" y="216408"/>
            <a:ext cx="3355848" cy="6425184"/>
          </a:xfrm>
          <a:prstGeom prst="rect">
            <a:avLst/>
          </a:prstGeom>
        </p:spPr>
      </p:pic>
    </p:spTree>
    <p:extLst>
      <p:ext uri="{BB962C8B-B14F-4D97-AF65-F5344CB8AC3E}">
        <p14:creationId xmlns:p14="http://schemas.microsoft.com/office/powerpoint/2010/main" val="23639164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143000"/>
            <a:ext cx="4775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TextBox 3"/>
          <p:cNvSpPr txBox="1">
            <a:spLocks noChangeArrowheads="1"/>
          </p:cNvSpPr>
          <p:nvPr/>
        </p:nvSpPr>
        <p:spPr bwMode="auto">
          <a:xfrm>
            <a:off x="1143000" y="2133600"/>
            <a:ext cx="61245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Acid-base reactions involve the addition or removal of a H</a:t>
            </a:r>
            <a:r>
              <a:rPr lang="en-US" sz="1800" baseline="30000" dirty="0"/>
              <a:t>+</a:t>
            </a:r>
            <a:r>
              <a:rPr lang="en-US" sz="1800" dirty="0"/>
              <a:t> ion.</a:t>
            </a:r>
          </a:p>
          <a:p>
            <a:r>
              <a:rPr lang="en-US" sz="1800" dirty="0"/>
              <a:t>Such reactions are important in biochemistry.</a:t>
            </a:r>
          </a:p>
          <a:p>
            <a:endParaRPr lang="en-US" sz="1800" dirty="0"/>
          </a:p>
          <a:p>
            <a:r>
              <a:rPr lang="en-US" sz="1800" dirty="0"/>
              <a:t>pH is a measure of the H</a:t>
            </a:r>
            <a:r>
              <a:rPr lang="en-US" sz="1800" baseline="30000" dirty="0"/>
              <a:t>+</a:t>
            </a:r>
            <a:r>
              <a:rPr lang="en-US" sz="1800" dirty="0"/>
              <a:t> concentration and is defined by</a:t>
            </a:r>
          </a:p>
        </p:txBody>
      </p:sp>
      <p:pic>
        <p:nvPicPr>
          <p:cNvPr id="80900"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733800"/>
            <a:ext cx="22225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TextBox 5"/>
          <p:cNvSpPr txBox="1">
            <a:spLocks noChangeArrowheads="1"/>
          </p:cNvSpPr>
          <p:nvPr/>
        </p:nvSpPr>
        <p:spPr bwMode="auto">
          <a:xfrm>
            <a:off x="1185863" y="4746625"/>
            <a:ext cx="55737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H</a:t>
            </a:r>
            <a:r>
              <a:rPr lang="en-US" sz="1800" baseline="30000" dirty="0"/>
              <a:t>+</a:t>
            </a:r>
            <a:r>
              <a:rPr lang="en-US" sz="1800" dirty="0"/>
              <a:t> and OH</a:t>
            </a:r>
            <a:r>
              <a:rPr lang="en-US" sz="1800" baseline="30000" dirty="0"/>
              <a:t>-</a:t>
            </a:r>
            <a:r>
              <a:rPr lang="en-US" sz="1800" dirty="0"/>
              <a:t> ions are formed upon the dissociation of H</a:t>
            </a:r>
            <a:r>
              <a:rPr lang="en-US" sz="1800" baseline="-25000" dirty="0"/>
              <a:t>2</a:t>
            </a:r>
            <a:r>
              <a:rPr lang="en-US" sz="1800" dirty="0"/>
              <a:t>O.</a:t>
            </a:r>
          </a:p>
        </p:txBody>
      </p:sp>
      <p:pic>
        <p:nvPicPr>
          <p:cNvPr id="80902"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5562600"/>
            <a:ext cx="2921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6"/>
          <a:stretch>
            <a:fillRect/>
          </a:stretch>
        </p:blipFill>
        <p:spPr>
          <a:xfrm>
            <a:off x="1143000" y="232425"/>
            <a:ext cx="6286500" cy="825500"/>
          </a:xfrm>
          <a:prstGeom prst="rect">
            <a:avLst/>
          </a:prstGeom>
        </p:spPr>
      </p:pic>
    </p:spTree>
    <p:extLst>
      <p:ext uri="{BB962C8B-B14F-4D97-AF65-F5344CB8AC3E}">
        <p14:creationId xmlns:p14="http://schemas.microsoft.com/office/powerpoint/2010/main" val="26876200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extBox 1"/>
          <p:cNvSpPr txBox="1">
            <a:spLocks noChangeArrowheads="1"/>
          </p:cNvSpPr>
          <p:nvPr/>
        </p:nvSpPr>
        <p:spPr bwMode="auto">
          <a:xfrm>
            <a:off x="609600" y="2286000"/>
            <a:ext cx="6635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equilibrium constant K</a:t>
            </a:r>
            <a:r>
              <a:rPr lang="en-US" sz="1800" baseline="-25000" dirty="0"/>
              <a:t>eq</a:t>
            </a:r>
            <a:r>
              <a:rPr lang="en-US" sz="1800" dirty="0"/>
              <a:t> for the dissociation of water is given by </a:t>
            </a:r>
          </a:p>
        </p:txBody>
      </p:sp>
      <p:pic>
        <p:nvPicPr>
          <p:cNvPr id="8294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25775" y="3122613"/>
            <a:ext cx="2387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3"/>
          <p:cNvSpPr txBox="1">
            <a:spLocks noChangeArrowheads="1"/>
          </p:cNvSpPr>
          <p:nvPr/>
        </p:nvSpPr>
        <p:spPr bwMode="auto">
          <a:xfrm>
            <a:off x="2238375" y="3490913"/>
            <a:ext cx="3932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K</a:t>
            </a:r>
            <a:r>
              <a:rPr lang="en-US" sz="1800" baseline="-25000" dirty="0"/>
              <a:t>w</a:t>
            </a:r>
            <a:r>
              <a:rPr lang="en-US" sz="1800" dirty="0"/>
              <a:t>, the ion constant of water is given by </a:t>
            </a:r>
          </a:p>
        </p:txBody>
      </p:sp>
      <p:pic>
        <p:nvPicPr>
          <p:cNvPr id="8294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70250" y="3860800"/>
            <a:ext cx="20320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TextBox 5"/>
          <p:cNvSpPr txBox="1">
            <a:spLocks noChangeArrowheads="1"/>
          </p:cNvSpPr>
          <p:nvPr/>
        </p:nvSpPr>
        <p:spPr bwMode="auto">
          <a:xfrm>
            <a:off x="3025775" y="4508500"/>
            <a:ext cx="2444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This can be simplified to</a:t>
            </a:r>
          </a:p>
        </p:txBody>
      </p:sp>
      <p:pic>
        <p:nvPicPr>
          <p:cNvPr id="82950"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33750" y="4940300"/>
            <a:ext cx="1816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2"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1143000"/>
            <a:ext cx="4775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6"/>
          <a:stretch>
            <a:fillRect/>
          </a:stretch>
        </p:blipFill>
        <p:spPr>
          <a:xfrm>
            <a:off x="1308431" y="210507"/>
            <a:ext cx="6286500" cy="825500"/>
          </a:xfrm>
          <a:prstGeom prst="rect">
            <a:avLst/>
          </a:prstGeom>
        </p:spPr>
      </p:pic>
    </p:spTree>
    <p:extLst>
      <p:ext uri="{BB962C8B-B14F-4D97-AF65-F5344CB8AC3E}">
        <p14:creationId xmlns:p14="http://schemas.microsoft.com/office/powerpoint/2010/main" val="198814010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69"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948927"/>
            <a:ext cx="1816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558527"/>
            <a:ext cx="345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2"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143000"/>
            <a:ext cx="4775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TextBox 5"/>
          <p:cNvSpPr txBox="1">
            <a:spLocks noChangeArrowheads="1"/>
          </p:cNvSpPr>
          <p:nvPr/>
        </p:nvSpPr>
        <p:spPr bwMode="auto">
          <a:xfrm>
            <a:off x="2514600" y="3124200"/>
            <a:ext cx="3236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From this, we can calculate</a:t>
            </a:r>
          </a:p>
        </p:txBody>
      </p:sp>
      <p:pic>
        <p:nvPicPr>
          <p:cNvPr id="83974" name="Pictur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3657600"/>
            <a:ext cx="63119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TextBox 7"/>
          <p:cNvSpPr txBox="1">
            <a:spLocks noChangeArrowheads="1"/>
          </p:cNvSpPr>
          <p:nvPr/>
        </p:nvSpPr>
        <p:spPr bwMode="auto">
          <a:xfrm>
            <a:off x="2389188" y="4578350"/>
            <a:ext cx="285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At pH 7, [H</a:t>
            </a:r>
            <a:r>
              <a:rPr lang="en-US" sz="1800" baseline="30000" dirty="0"/>
              <a:t>+</a:t>
            </a:r>
            <a:r>
              <a:rPr lang="en-US" sz="1800" dirty="0"/>
              <a:t>] = [OH</a:t>
            </a:r>
            <a:r>
              <a:rPr lang="en-US" sz="1800" baseline="30000" dirty="0"/>
              <a:t>-</a:t>
            </a:r>
            <a:r>
              <a:rPr lang="en-US" sz="1800" dirty="0"/>
              <a:t>] = 10</a:t>
            </a:r>
            <a:r>
              <a:rPr lang="en-US" sz="1800" baseline="30000" dirty="0"/>
              <a:t>-7</a:t>
            </a:r>
          </a:p>
        </p:txBody>
      </p:sp>
      <p:pic>
        <p:nvPicPr>
          <p:cNvPr id="2" name="Picture 1"/>
          <p:cNvPicPr>
            <a:picLocks noChangeAspect="1"/>
          </p:cNvPicPr>
          <p:nvPr/>
        </p:nvPicPr>
        <p:blipFill>
          <a:blip r:embed="rId6"/>
          <a:stretch>
            <a:fillRect/>
          </a:stretch>
        </p:blipFill>
        <p:spPr>
          <a:xfrm>
            <a:off x="1320800" y="317500"/>
            <a:ext cx="6286500" cy="825500"/>
          </a:xfrm>
          <a:prstGeom prst="rect">
            <a:avLst/>
          </a:prstGeom>
        </p:spPr>
      </p:pic>
    </p:spTree>
    <p:extLst>
      <p:ext uri="{BB962C8B-B14F-4D97-AF65-F5344CB8AC3E}">
        <p14:creationId xmlns:p14="http://schemas.microsoft.com/office/powerpoint/2010/main" val="27297649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71600"/>
            <a:ext cx="5664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Box 3"/>
          <p:cNvSpPr txBox="1">
            <a:spLocks noChangeArrowheads="1"/>
          </p:cNvSpPr>
          <p:nvPr/>
        </p:nvSpPr>
        <p:spPr bwMode="auto">
          <a:xfrm>
            <a:off x="773113" y="1828800"/>
            <a:ext cx="8370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As base is added to a solution of double helical DNA, the helix is disrupted or denatured.</a:t>
            </a:r>
          </a:p>
        </p:txBody>
      </p:sp>
      <p:pic>
        <p:nvPicPr>
          <p:cNvPr id="2" name="Picture 1"/>
          <p:cNvPicPr>
            <a:picLocks noChangeAspect="1"/>
          </p:cNvPicPr>
          <p:nvPr/>
        </p:nvPicPr>
        <p:blipFill>
          <a:blip r:embed="rId4"/>
          <a:stretch>
            <a:fillRect/>
          </a:stretch>
        </p:blipFill>
        <p:spPr>
          <a:xfrm>
            <a:off x="1422400" y="177160"/>
            <a:ext cx="6286500" cy="825500"/>
          </a:xfrm>
          <a:prstGeom prst="rect">
            <a:avLst/>
          </a:prstGeom>
        </p:spPr>
      </p:pic>
      <p:pic>
        <p:nvPicPr>
          <p:cNvPr id="7" name="Picture 6" descr="figure_01_16.jpg"/>
          <p:cNvPicPr>
            <a:picLocks noChangeAspect="1"/>
          </p:cNvPicPr>
          <p:nvPr/>
        </p:nvPicPr>
        <p:blipFill>
          <a:blip r:embed="rId5"/>
          <a:stretch>
            <a:fillRect/>
          </a:stretch>
        </p:blipFill>
        <p:spPr>
          <a:xfrm>
            <a:off x="2186046" y="2508035"/>
            <a:ext cx="4424173" cy="4157939"/>
          </a:xfrm>
          <a:prstGeom prst="rect">
            <a:avLst/>
          </a:prstGeom>
        </p:spPr>
      </p:pic>
    </p:spTree>
    <p:extLst>
      <p:ext uri="{BB962C8B-B14F-4D97-AF65-F5344CB8AC3E}">
        <p14:creationId xmlns:p14="http://schemas.microsoft.com/office/powerpoint/2010/main" val="39926236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71600"/>
            <a:ext cx="5664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TextBox 1"/>
          <p:cNvSpPr txBox="1">
            <a:spLocks noChangeArrowheads="1"/>
          </p:cNvSpPr>
          <p:nvPr/>
        </p:nvSpPr>
        <p:spPr bwMode="auto">
          <a:xfrm>
            <a:off x="701675" y="2239963"/>
            <a:ext cx="768032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chemical basis of the denaturation is the disruption of base-pairing. For example, the loss of a proton by the base </a:t>
            </a:r>
            <a:r>
              <a:rPr lang="en-US" sz="1800" dirty="0" smtClean="0"/>
              <a:t>guanine prevents base pairing with cytosine.</a:t>
            </a:r>
            <a:endParaRPr lang="en-US" sz="1800" dirty="0"/>
          </a:p>
        </p:txBody>
      </p:sp>
      <p:pic>
        <p:nvPicPr>
          <p:cNvPr id="2" name="Picture 1"/>
          <p:cNvPicPr>
            <a:picLocks noChangeAspect="1"/>
          </p:cNvPicPr>
          <p:nvPr/>
        </p:nvPicPr>
        <p:blipFill>
          <a:blip r:embed="rId4"/>
          <a:stretch>
            <a:fillRect/>
          </a:stretch>
        </p:blipFill>
        <p:spPr>
          <a:xfrm>
            <a:off x="1143000" y="193439"/>
            <a:ext cx="6286500" cy="825500"/>
          </a:xfrm>
          <a:prstGeom prst="rect">
            <a:avLst/>
          </a:prstGeom>
        </p:spPr>
      </p:pic>
      <p:pic>
        <p:nvPicPr>
          <p:cNvPr id="7" name="Picture 6" descr="unnumbered_01_p14.jpg"/>
          <p:cNvPicPr>
            <a:picLocks noChangeAspect="1"/>
          </p:cNvPicPr>
          <p:nvPr/>
        </p:nvPicPr>
        <p:blipFill>
          <a:blip r:embed="rId5"/>
          <a:stretch>
            <a:fillRect/>
          </a:stretch>
        </p:blipFill>
        <p:spPr>
          <a:xfrm>
            <a:off x="467614" y="3430080"/>
            <a:ext cx="8077200" cy="3103953"/>
          </a:xfrm>
          <a:prstGeom prst="rect">
            <a:avLst/>
          </a:prstGeom>
        </p:spPr>
      </p:pic>
    </p:spTree>
    <p:extLst>
      <p:ext uri="{BB962C8B-B14F-4D97-AF65-F5344CB8AC3E}">
        <p14:creationId xmlns:p14="http://schemas.microsoft.com/office/powerpoint/2010/main" val="363822789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71600"/>
            <a:ext cx="5664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TextBox 1"/>
          <p:cNvSpPr txBox="1">
            <a:spLocks noChangeArrowheads="1"/>
          </p:cNvSpPr>
          <p:nvPr/>
        </p:nvSpPr>
        <p:spPr bwMode="auto">
          <a:xfrm>
            <a:off x="838200" y="1752600"/>
            <a:ext cx="7680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More generally, proton removal from any molecule HA is described by</a:t>
            </a:r>
          </a:p>
        </p:txBody>
      </p:sp>
      <p:pic>
        <p:nvPicPr>
          <p:cNvPr id="89092"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362200"/>
            <a:ext cx="29210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3" name="TextBox 6"/>
          <p:cNvSpPr txBox="1">
            <a:spLocks noChangeArrowheads="1"/>
          </p:cNvSpPr>
          <p:nvPr/>
        </p:nvSpPr>
        <p:spPr bwMode="auto">
          <a:xfrm>
            <a:off x="1447800" y="2819400"/>
            <a:ext cx="5857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pK</a:t>
            </a:r>
            <a:r>
              <a:rPr lang="en-US" sz="1800" baseline="-25000" dirty="0"/>
              <a:t>a</a:t>
            </a:r>
            <a:r>
              <a:rPr lang="en-US" sz="1800" dirty="0"/>
              <a:t> value indicates the susceptibility of proton removal. </a:t>
            </a:r>
          </a:p>
        </p:txBody>
      </p:sp>
      <p:pic>
        <p:nvPicPr>
          <p:cNvPr id="89094" name="Picture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3429000"/>
            <a:ext cx="2209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5" name="TextBox 9"/>
          <p:cNvSpPr txBox="1">
            <a:spLocks noChangeArrowheads="1"/>
          </p:cNvSpPr>
          <p:nvPr/>
        </p:nvSpPr>
        <p:spPr bwMode="auto">
          <a:xfrm>
            <a:off x="3048000" y="3962400"/>
            <a:ext cx="16843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When pH = pK</a:t>
            </a:r>
            <a:r>
              <a:rPr lang="en-US" sz="1800" baseline="-25000" dirty="0"/>
              <a:t>a</a:t>
            </a:r>
          </a:p>
        </p:txBody>
      </p:sp>
      <p:pic>
        <p:nvPicPr>
          <p:cNvPr id="89096" name="Picture 10"/>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4419600"/>
            <a:ext cx="45085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7" name="Picture 1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819400" y="5410200"/>
            <a:ext cx="31750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8" name="TextBox 12"/>
          <p:cNvSpPr txBox="1">
            <a:spLocks noChangeArrowheads="1"/>
          </p:cNvSpPr>
          <p:nvPr/>
        </p:nvSpPr>
        <p:spPr bwMode="auto">
          <a:xfrm>
            <a:off x="3962400" y="5105400"/>
            <a:ext cx="517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and</a:t>
            </a:r>
          </a:p>
        </p:txBody>
      </p:sp>
      <p:pic>
        <p:nvPicPr>
          <p:cNvPr id="2" name="Picture 1"/>
          <p:cNvPicPr>
            <a:picLocks noChangeAspect="1"/>
          </p:cNvPicPr>
          <p:nvPr/>
        </p:nvPicPr>
        <p:blipFill>
          <a:blip r:embed="rId8"/>
          <a:stretch>
            <a:fillRect/>
          </a:stretch>
        </p:blipFill>
        <p:spPr>
          <a:xfrm>
            <a:off x="1219200" y="274840"/>
            <a:ext cx="6286500" cy="825500"/>
          </a:xfrm>
          <a:prstGeom prst="rect">
            <a:avLst/>
          </a:prstGeom>
        </p:spPr>
      </p:pic>
    </p:spTree>
    <p:extLst>
      <p:ext uri="{BB962C8B-B14F-4D97-AF65-F5344CB8AC3E}">
        <p14:creationId xmlns:p14="http://schemas.microsoft.com/office/powerpoint/2010/main" val="16648781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71600"/>
            <a:ext cx="5664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TextBox 5"/>
          <p:cNvSpPr txBox="1">
            <a:spLocks noChangeArrowheads="1"/>
          </p:cNvSpPr>
          <p:nvPr/>
        </p:nvSpPr>
        <p:spPr bwMode="auto">
          <a:xfrm>
            <a:off x="2895600" y="1905000"/>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Dividing by H</a:t>
            </a:r>
            <a:r>
              <a:rPr lang="en-US" sz="1800" baseline="30000" dirty="0"/>
              <a:t>+</a:t>
            </a:r>
            <a:r>
              <a:rPr lang="en-US" sz="1800" dirty="0"/>
              <a:t> yields</a:t>
            </a:r>
          </a:p>
        </p:txBody>
      </p:sp>
      <p:pic>
        <p:nvPicPr>
          <p:cNvPr id="91140"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743200"/>
            <a:ext cx="2146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1" name="TextBox 9"/>
          <p:cNvSpPr txBox="1">
            <a:spLocks noChangeArrowheads="1"/>
          </p:cNvSpPr>
          <p:nvPr/>
        </p:nvSpPr>
        <p:spPr bwMode="auto">
          <a:xfrm>
            <a:off x="3124200" y="2743200"/>
            <a:ext cx="376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or</a:t>
            </a:r>
          </a:p>
        </p:txBody>
      </p:sp>
      <p:pic>
        <p:nvPicPr>
          <p:cNvPr id="91142" name="Picture 10"/>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2667000"/>
            <a:ext cx="17907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3" name="TextBox 11"/>
          <p:cNvSpPr txBox="1">
            <a:spLocks noChangeArrowheads="1"/>
          </p:cNvSpPr>
          <p:nvPr/>
        </p:nvSpPr>
        <p:spPr bwMode="auto">
          <a:xfrm>
            <a:off x="868363" y="3709988"/>
            <a:ext cx="7666037"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Thus, when the pH is equal to the p</a:t>
            </a:r>
            <a:r>
              <a:rPr lang="en-US" sz="1800" i="1" dirty="0"/>
              <a:t>K</a:t>
            </a:r>
            <a:r>
              <a:rPr lang="en-US" sz="1800" baseline="-25000" dirty="0"/>
              <a:t>a</a:t>
            </a:r>
            <a:r>
              <a:rPr lang="en-US" sz="1800" dirty="0"/>
              <a:t>, the concentration of the protonated form of HA (the acid) is equal to the deprotonated form </a:t>
            </a:r>
            <a:r>
              <a:rPr lang="en-US" sz="1800" dirty="0" smtClean="0"/>
              <a:t>A</a:t>
            </a:r>
            <a:r>
              <a:rPr lang="en-US" sz="1800" baseline="30000" dirty="0" smtClean="0"/>
              <a:t>-</a:t>
            </a:r>
            <a:r>
              <a:rPr lang="en-US" sz="1800" dirty="0" smtClean="0"/>
              <a:t> </a:t>
            </a:r>
            <a:r>
              <a:rPr lang="en-US" sz="1800" dirty="0"/>
              <a:t>(the base).</a:t>
            </a:r>
          </a:p>
          <a:p>
            <a:endParaRPr lang="en-US" sz="1800" dirty="0"/>
          </a:p>
          <a:p>
            <a:r>
              <a:rPr lang="en-US" sz="1800" dirty="0"/>
              <a:t>The N-1 proton of guanine has a p</a:t>
            </a:r>
            <a:r>
              <a:rPr lang="en-US" sz="1800" i="1" dirty="0"/>
              <a:t>K</a:t>
            </a:r>
            <a:r>
              <a:rPr lang="en-US" sz="1800" baseline="-25000" dirty="0"/>
              <a:t>a</a:t>
            </a:r>
            <a:r>
              <a:rPr lang="en-US" sz="1800" dirty="0"/>
              <a:t> of 9.7. When the pH is </a:t>
            </a:r>
            <a:r>
              <a:rPr lang="en-US" sz="1800" dirty="0" smtClean="0"/>
              <a:t>near </a:t>
            </a:r>
            <a:r>
              <a:rPr lang="en-US" sz="1800" dirty="0"/>
              <a:t>or exceeds this value, the proton is lost, base pairing is disrupted and the helix is denatured.</a:t>
            </a:r>
          </a:p>
        </p:txBody>
      </p:sp>
      <p:pic>
        <p:nvPicPr>
          <p:cNvPr id="2" name="Picture 1"/>
          <p:cNvPicPr>
            <a:picLocks noChangeAspect="1"/>
          </p:cNvPicPr>
          <p:nvPr/>
        </p:nvPicPr>
        <p:blipFill>
          <a:blip r:embed="rId6"/>
          <a:stretch>
            <a:fillRect/>
          </a:stretch>
        </p:blipFill>
        <p:spPr>
          <a:xfrm>
            <a:off x="1219200" y="209720"/>
            <a:ext cx="6286500" cy="825500"/>
          </a:xfrm>
          <a:prstGeom prst="rect">
            <a:avLst/>
          </a:prstGeom>
        </p:spPr>
      </p:pic>
    </p:spTree>
    <p:extLst>
      <p:ext uri="{BB962C8B-B14F-4D97-AF65-F5344CB8AC3E}">
        <p14:creationId xmlns:p14="http://schemas.microsoft.com/office/powerpoint/2010/main" val="181440554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447800"/>
            <a:ext cx="6184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7" name="Rectangle 3"/>
          <p:cNvSpPr>
            <a:spLocks noChangeArrowheads="1"/>
          </p:cNvSpPr>
          <p:nvPr/>
        </p:nvSpPr>
        <p:spPr bwMode="auto">
          <a:xfrm>
            <a:off x="2286000" y="2274888"/>
            <a:ext cx="45720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800" dirty="0"/>
              <a:t>An acid-base conjugate pair resists changes in the pH of a solution.</a:t>
            </a:r>
          </a:p>
          <a:p>
            <a:endParaRPr lang="en-US" sz="1800" dirty="0"/>
          </a:p>
          <a:p>
            <a:r>
              <a:rPr lang="en-US" sz="1800" dirty="0"/>
              <a:t>In other words, it acts as a buffer. A buffer is most effective at a pH near its p</a:t>
            </a:r>
            <a:r>
              <a:rPr lang="en-US" sz="1800" i="1" dirty="0"/>
              <a:t>K</a:t>
            </a:r>
            <a:r>
              <a:rPr lang="en-US" sz="1800" baseline="-25000" dirty="0"/>
              <a:t>a</a:t>
            </a:r>
            <a:r>
              <a:rPr lang="en-US" sz="1800" dirty="0"/>
              <a:t>. </a:t>
            </a:r>
          </a:p>
        </p:txBody>
      </p:sp>
      <p:pic>
        <p:nvPicPr>
          <p:cNvPr id="2" name="Picture 1"/>
          <p:cNvPicPr>
            <a:picLocks noChangeAspect="1"/>
          </p:cNvPicPr>
          <p:nvPr/>
        </p:nvPicPr>
        <p:blipFill>
          <a:blip r:embed="rId4"/>
          <a:stretch>
            <a:fillRect/>
          </a:stretch>
        </p:blipFill>
        <p:spPr>
          <a:xfrm>
            <a:off x="1270000" y="307400"/>
            <a:ext cx="6286500" cy="825500"/>
          </a:xfrm>
          <a:prstGeom prst="rect">
            <a:avLst/>
          </a:prstGeom>
        </p:spPr>
      </p:pic>
    </p:spTree>
    <p:extLst>
      <p:ext uri="{BB962C8B-B14F-4D97-AF65-F5344CB8AC3E}">
        <p14:creationId xmlns:p14="http://schemas.microsoft.com/office/powerpoint/2010/main" val="19895269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17.jpg"/>
          <p:cNvPicPr>
            <a:picLocks noChangeAspect="1"/>
          </p:cNvPicPr>
          <p:nvPr/>
        </p:nvPicPr>
        <p:blipFill>
          <a:blip r:embed="rId3"/>
          <a:stretch>
            <a:fillRect/>
          </a:stretch>
        </p:blipFill>
        <p:spPr>
          <a:xfrm>
            <a:off x="2078735" y="192023"/>
            <a:ext cx="4986528" cy="6473952"/>
          </a:xfrm>
          <a:prstGeom prst="rect">
            <a:avLst/>
          </a:prstGeom>
        </p:spPr>
      </p:pic>
    </p:spTree>
    <p:extLst>
      <p:ext uri="{BB962C8B-B14F-4D97-AF65-F5344CB8AC3E}">
        <p14:creationId xmlns:p14="http://schemas.microsoft.com/office/powerpoint/2010/main" val="161979796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447800"/>
            <a:ext cx="6184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TextBox 4"/>
          <p:cNvSpPr txBox="1">
            <a:spLocks noChangeArrowheads="1"/>
          </p:cNvSpPr>
          <p:nvPr/>
        </p:nvSpPr>
        <p:spPr bwMode="auto">
          <a:xfrm>
            <a:off x="1295400" y="2286000"/>
            <a:ext cx="5997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We can understand the effects of a buffer in quantitative terms.</a:t>
            </a:r>
          </a:p>
        </p:txBody>
      </p:sp>
      <p:sp>
        <p:nvSpPr>
          <p:cNvPr id="97284" name="TextBox 5"/>
          <p:cNvSpPr txBox="1">
            <a:spLocks noChangeArrowheads="1"/>
          </p:cNvSpPr>
          <p:nvPr/>
        </p:nvSpPr>
        <p:spPr bwMode="auto">
          <a:xfrm>
            <a:off x="1752600" y="2819400"/>
            <a:ext cx="4792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ionization reaction of a weak acid is given by</a:t>
            </a:r>
          </a:p>
        </p:txBody>
      </p:sp>
      <p:pic>
        <p:nvPicPr>
          <p:cNvPr id="97285"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3276600"/>
            <a:ext cx="24526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6" name="TextBox 7"/>
          <p:cNvSpPr txBox="1">
            <a:spLocks noChangeArrowheads="1"/>
          </p:cNvSpPr>
          <p:nvPr/>
        </p:nvSpPr>
        <p:spPr bwMode="auto">
          <a:xfrm>
            <a:off x="1828800" y="3810000"/>
            <a:ext cx="42560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equilibrium constant for this reaction is</a:t>
            </a:r>
          </a:p>
        </p:txBody>
      </p:sp>
      <p:pic>
        <p:nvPicPr>
          <p:cNvPr id="97287" name="Picture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4267200"/>
            <a:ext cx="2717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8" name="TextBox 10"/>
          <p:cNvSpPr txBox="1">
            <a:spLocks noChangeArrowheads="1"/>
          </p:cNvSpPr>
          <p:nvPr/>
        </p:nvSpPr>
        <p:spPr bwMode="auto">
          <a:xfrm>
            <a:off x="2122488" y="4879975"/>
            <a:ext cx="4052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Taking the logarithms of both sides yields</a:t>
            </a:r>
          </a:p>
        </p:txBody>
      </p:sp>
      <p:pic>
        <p:nvPicPr>
          <p:cNvPr id="97289" name="Picture 1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638800"/>
            <a:ext cx="48006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7"/>
          <a:stretch>
            <a:fillRect/>
          </a:stretch>
        </p:blipFill>
        <p:spPr>
          <a:xfrm>
            <a:off x="1006475" y="258560"/>
            <a:ext cx="6286500" cy="825500"/>
          </a:xfrm>
          <a:prstGeom prst="rect">
            <a:avLst/>
          </a:prstGeom>
        </p:spPr>
      </p:pic>
    </p:spTree>
    <p:extLst>
      <p:ext uri="{BB962C8B-B14F-4D97-AF65-F5344CB8AC3E}">
        <p14:creationId xmlns:p14="http://schemas.microsoft.com/office/powerpoint/2010/main" val="17832631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447800"/>
            <a:ext cx="6184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1" name="TextBox 3"/>
          <p:cNvSpPr txBox="1">
            <a:spLocks noChangeArrowheads="1"/>
          </p:cNvSpPr>
          <p:nvPr/>
        </p:nvSpPr>
        <p:spPr bwMode="auto">
          <a:xfrm>
            <a:off x="381000" y="2209800"/>
            <a:ext cx="7947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Substituting p</a:t>
            </a:r>
            <a:r>
              <a:rPr lang="en-US" sz="1800" i="1" dirty="0"/>
              <a:t>K</a:t>
            </a:r>
            <a:r>
              <a:rPr lang="en-US" sz="1800" baseline="-25000" dirty="0"/>
              <a:t>a</a:t>
            </a:r>
            <a:r>
              <a:rPr lang="en-US" sz="1800" dirty="0"/>
              <a:t> and pH and rearranging yield the Henderson-Hasselbalch equation</a:t>
            </a:r>
          </a:p>
        </p:txBody>
      </p:sp>
      <p:pic>
        <p:nvPicPr>
          <p:cNvPr id="99332"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048000"/>
            <a:ext cx="35052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3" name="TextBox 5"/>
          <p:cNvSpPr txBox="1">
            <a:spLocks noChangeArrowheads="1"/>
          </p:cNvSpPr>
          <p:nvPr/>
        </p:nvSpPr>
        <p:spPr bwMode="auto">
          <a:xfrm>
            <a:off x="635000" y="4094163"/>
            <a:ext cx="8509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Consideration of this equation reveals </a:t>
            </a:r>
            <a:r>
              <a:rPr lang="en-US" sz="1800" dirty="0" smtClean="0"/>
              <a:t>that </a:t>
            </a:r>
            <a:r>
              <a:rPr lang="en-US" sz="1800" dirty="0"/>
              <a:t>weak acids are most effective as buffers at pH near their p</a:t>
            </a:r>
            <a:r>
              <a:rPr lang="en-US" sz="1800" i="1" dirty="0"/>
              <a:t>K</a:t>
            </a:r>
            <a:r>
              <a:rPr lang="en-US" sz="1800" baseline="-25000" dirty="0"/>
              <a:t>a</a:t>
            </a:r>
            <a:r>
              <a:rPr lang="en-US" sz="1800" dirty="0"/>
              <a:t>.</a:t>
            </a:r>
          </a:p>
        </p:txBody>
      </p:sp>
      <p:pic>
        <p:nvPicPr>
          <p:cNvPr id="2" name="Picture 1"/>
          <p:cNvPicPr>
            <a:picLocks noChangeAspect="1"/>
          </p:cNvPicPr>
          <p:nvPr/>
        </p:nvPicPr>
        <p:blipFill>
          <a:blip r:embed="rId4"/>
          <a:stretch>
            <a:fillRect/>
          </a:stretch>
        </p:blipFill>
        <p:spPr>
          <a:xfrm>
            <a:off x="1047930" y="0"/>
            <a:ext cx="6286500" cy="825500"/>
          </a:xfrm>
          <a:prstGeom prst="rect">
            <a:avLst/>
          </a:prstGeom>
        </p:spPr>
      </p:pic>
    </p:spTree>
    <p:extLst>
      <p:ext uri="{BB962C8B-B14F-4D97-AF65-F5344CB8AC3E}">
        <p14:creationId xmlns:p14="http://schemas.microsoft.com/office/powerpoint/2010/main" val="13487038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18.jpg"/>
          <p:cNvPicPr>
            <a:picLocks noChangeAspect="1"/>
          </p:cNvPicPr>
          <p:nvPr/>
        </p:nvPicPr>
        <p:blipFill>
          <a:blip r:embed="rId3"/>
          <a:stretch>
            <a:fillRect/>
          </a:stretch>
        </p:blipFill>
        <p:spPr>
          <a:xfrm>
            <a:off x="1670304" y="192023"/>
            <a:ext cx="5803392" cy="6473952"/>
          </a:xfrm>
          <a:prstGeom prst="rect">
            <a:avLst/>
          </a:prstGeom>
        </p:spPr>
      </p:pic>
    </p:spTree>
    <p:extLst>
      <p:ext uri="{BB962C8B-B14F-4D97-AF65-F5344CB8AC3E}">
        <p14:creationId xmlns:p14="http://schemas.microsoft.com/office/powerpoint/2010/main" val="33168191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descr="unnumbered_01_p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352800"/>
            <a:ext cx="8531225" cy="201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02403"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447800"/>
            <a:ext cx="6184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TextBox 1"/>
          <p:cNvSpPr txBox="1">
            <a:spLocks noChangeArrowheads="1"/>
          </p:cNvSpPr>
          <p:nvPr/>
        </p:nvSpPr>
        <p:spPr bwMode="auto">
          <a:xfrm>
            <a:off x="301625" y="2286000"/>
            <a:ext cx="8926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Physiological pH is typically 7.4. Phosphoric acid is an important buffer in biological systems.</a:t>
            </a:r>
          </a:p>
        </p:txBody>
      </p:sp>
      <p:pic>
        <p:nvPicPr>
          <p:cNvPr id="2" name="Picture 1"/>
          <p:cNvPicPr>
            <a:picLocks noChangeAspect="1"/>
          </p:cNvPicPr>
          <p:nvPr/>
        </p:nvPicPr>
        <p:blipFill>
          <a:blip r:embed="rId5"/>
          <a:stretch>
            <a:fillRect/>
          </a:stretch>
        </p:blipFill>
        <p:spPr>
          <a:xfrm>
            <a:off x="1270000" y="128319"/>
            <a:ext cx="6286500" cy="825500"/>
          </a:xfrm>
          <a:prstGeom prst="rect">
            <a:avLst/>
          </a:prstGeom>
        </p:spPr>
      </p:pic>
    </p:spTree>
    <p:extLst>
      <p:ext uri="{BB962C8B-B14F-4D97-AF65-F5344CB8AC3E}">
        <p14:creationId xmlns:p14="http://schemas.microsoft.com/office/powerpoint/2010/main" val="20756421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26999" y="187900"/>
            <a:ext cx="5956300" cy="901700"/>
          </a:xfrm>
          <a:prstGeom prst="rect">
            <a:avLst/>
          </a:prstGeom>
        </p:spPr>
      </p:pic>
      <p:pic>
        <p:nvPicPr>
          <p:cNvPr id="3" name="Picture 2"/>
          <p:cNvPicPr>
            <a:picLocks noChangeAspect="1"/>
          </p:cNvPicPr>
          <p:nvPr/>
        </p:nvPicPr>
        <p:blipFill>
          <a:blip r:embed="rId4"/>
          <a:stretch>
            <a:fillRect/>
          </a:stretch>
        </p:blipFill>
        <p:spPr>
          <a:xfrm>
            <a:off x="1465404" y="1512468"/>
            <a:ext cx="5334000" cy="596900"/>
          </a:xfrm>
          <a:prstGeom prst="rect">
            <a:avLst/>
          </a:prstGeom>
        </p:spPr>
      </p:pic>
      <p:sp>
        <p:nvSpPr>
          <p:cNvPr id="4" name="TextBox 3"/>
          <p:cNvSpPr txBox="1"/>
          <p:nvPr/>
        </p:nvSpPr>
        <p:spPr>
          <a:xfrm>
            <a:off x="569846" y="2523417"/>
            <a:ext cx="8574154" cy="1754327"/>
          </a:xfrm>
          <a:prstGeom prst="rect">
            <a:avLst/>
          </a:prstGeom>
          <a:noFill/>
        </p:spPr>
        <p:txBody>
          <a:bodyPr wrap="square" rtlCol="0">
            <a:spAutoFit/>
          </a:bodyPr>
          <a:lstStyle/>
          <a:p>
            <a:r>
              <a:rPr lang="en-US" dirty="0" smtClean="0"/>
              <a:t>Sequencing of the human genome was a landmark in human history. Since the initial sequencing of the human genome, sequence determination has become much cheaper and faster, transforming many fields of biological research.</a:t>
            </a:r>
          </a:p>
          <a:p>
            <a:endParaRPr lang="en-US" dirty="0"/>
          </a:p>
          <a:p>
            <a:r>
              <a:rPr lang="en-US" dirty="0" smtClean="0"/>
              <a:t>Identifying sequence variation among individuals may be used to understand the predisposition to various diseases.</a:t>
            </a:r>
            <a:endParaRPr lang="en-US" dirty="0"/>
          </a:p>
        </p:txBody>
      </p:sp>
    </p:spTree>
    <p:extLst>
      <p:ext uri="{BB962C8B-B14F-4D97-AF65-F5344CB8AC3E}">
        <p14:creationId xmlns:p14="http://schemas.microsoft.com/office/powerpoint/2010/main" val="185260983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1_19.jpg"/>
          <p:cNvPicPr>
            <a:picLocks noChangeAspect="1"/>
          </p:cNvPicPr>
          <p:nvPr/>
        </p:nvPicPr>
        <p:blipFill>
          <a:blip r:embed="rId3"/>
          <a:stretch>
            <a:fillRect/>
          </a:stretch>
        </p:blipFill>
        <p:spPr>
          <a:xfrm>
            <a:off x="304800" y="691895"/>
            <a:ext cx="8534400" cy="5474208"/>
          </a:xfrm>
          <a:prstGeom prst="rect">
            <a:avLst/>
          </a:prstGeom>
        </p:spPr>
      </p:pic>
    </p:spTree>
    <p:extLst>
      <p:ext uri="{BB962C8B-B14F-4D97-AF65-F5344CB8AC3E}">
        <p14:creationId xmlns:p14="http://schemas.microsoft.com/office/powerpoint/2010/main" val="296806334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26999" y="187900"/>
            <a:ext cx="5956300" cy="901700"/>
          </a:xfrm>
          <a:prstGeom prst="rect">
            <a:avLst/>
          </a:prstGeom>
        </p:spPr>
      </p:pic>
      <p:pic>
        <p:nvPicPr>
          <p:cNvPr id="3" name="Picture 2"/>
          <p:cNvPicPr>
            <a:picLocks noChangeAspect="1"/>
          </p:cNvPicPr>
          <p:nvPr/>
        </p:nvPicPr>
        <p:blipFill>
          <a:blip r:embed="rId4"/>
          <a:stretch>
            <a:fillRect/>
          </a:stretch>
        </p:blipFill>
        <p:spPr>
          <a:xfrm>
            <a:off x="1465404" y="1512468"/>
            <a:ext cx="5334000" cy="596900"/>
          </a:xfrm>
          <a:prstGeom prst="rect">
            <a:avLst/>
          </a:prstGeom>
        </p:spPr>
      </p:pic>
      <p:sp>
        <p:nvSpPr>
          <p:cNvPr id="4" name="TextBox 3"/>
          <p:cNvSpPr txBox="1"/>
          <p:nvPr/>
        </p:nvSpPr>
        <p:spPr>
          <a:xfrm>
            <a:off x="569846" y="2523417"/>
            <a:ext cx="8574154" cy="1754327"/>
          </a:xfrm>
          <a:prstGeom prst="rect">
            <a:avLst/>
          </a:prstGeom>
          <a:noFill/>
        </p:spPr>
        <p:txBody>
          <a:bodyPr wrap="square" rtlCol="0">
            <a:spAutoFit/>
          </a:bodyPr>
          <a:lstStyle/>
          <a:p>
            <a:r>
              <a:rPr lang="en-US" dirty="0" smtClean="0"/>
              <a:t>Complex bacterial communities, in total called the microbiome, live in and on human bodies. Indeed, there are 10 fold more microbial cells than there are human cells in a individual.</a:t>
            </a:r>
          </a:p>
          <a:p>
            <a:endParaRPr lang="en-US" dirty="0"/>
          </a:p>
          <a:p>
            <a:r>
              <a:rPr lang="en-US" dirty="0" smtClean="0"/>
              <a:t>The microbiome appears to play a roles in maintaining health and in the occurrence of disease.</a:t>
            </a:r>
            <a:endParaRPr lang="en-US" dirty="0"/>
          </a:p>
        </p:txBody>
      </p:sp>
    </p:spTree>
    <p:extLst>
      <p:ext uri="{BB962C8B-B14F-4D97-AF65-F5344CB8AC3E}">
        <p14:creationId xmlns:p14="http://schemas.microsoft.com/office/powerpoint/2010/main" val="34959491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ure_01_20.jpg"/>
          <p:cNvPicPr>
            <a:picLocks noChangeAspect="1"/>
          </p:cNvPicPr>
          <p:nvPr/>
        </p:nvPicPr>
        <p:blipFill>
          <a:blip r:embed="rId3"/>
          <a:stretch>
            <a:fillRect/>
          </a:stretch>
        </p:blipFill>
        <p:spPr>
          <a:xfrm>
            <a:off x="816864" y="192023"/>
            <a:ext cx="7510272" cy="6473952"/>
          </a:xfrm>
          <a:prstGeom prst="rect">
            <a:avLst/>
          </a:prstGeom>
        </p:spPr>
      </p:pic>
    </p:spTree>
    <p:extLst>
      <p:ext uri="{BB962C8B-B14F-4D97-AF65-F5344CB8AC3E}">
        <p14:creationId xmlns:p14="http://schemas.microsoft.com/office/powerpoint/2010/main" val="17099375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26999" y="187900"/>
            <a:ext cx="5956300" cy="901700"/>
          </a:xfrm>
          <a:prstGeom prst="rect">
            <a:avLst/>
          </a:prstGeom>
        </p:spPr>
      </p:pic>
      <p:pic>
        <p:nvPicPr>
          <p:cNvPr id="3" name="Picture 2"/>
          <p:cNvPicPr>
            <a:picLocks noChangeAspect="1"/>
          </p:cNvPicPr>
          <p:nvPr/>
        </p:nvPicPr>
        <p:blipFill>
          <a:blip r:embed="rId4"/>
          <a:stretch>
            <a:fillRect/>
          </a:stretch>
        </p:blipFill>
        <p:spPr>
          <a:xfrm>
            <a:off x="1465404" y="1512468"/>
            <a:ext cx="5334000" cy="596900"/>
          </a:xfrm>
          <a:prstGeom prst="rect">
            <a:avLst/>
          </a:prstGeom>
        </p:spPr>
      </p:pic>
      <p:sp>
        <p:nvSpPr>
          <p:cNvPr id="4" name="TextBox 3"/>
          <p:cNvSpPr txBox="1"/>
          <p:nvPr/>
        </p:nvSpPr>
        <p:spPr>
          <a:xfrm>
            <a:off x="569846" y="2523417"/>
            <a:ext cx="8574154" cy="1200329"/>
          </a:xfrm>
          <a:prstGeom prst="rect">
            <a:avLst/>
          </a:prstGeom>
          <a:noFill/>
        </p:spPr>
        <p:txBody>
          <a:bodyPr wrap="square" rtlCol="0">
            <a:spAutoFit/>
          </a:bodyPr>
          <a:lstStyle/>
          <a:p>
            <a:r>
              <a:rPr lang="en-US" dirty="0" smtClean="0"/>
              <a:t>In addition to facilitating our understanding of health and disease, sequencing studies can be used to understand other aspects of human culture, such as migrations.</a:t>
            </a:r>
          </a:p>
          <a:p>
            <a:endParaRPr lang="en-US" dirty="0"/>
          </a:p>
          <a:p>
            <a:r>
              <a:rPr lang="en-US" dirty="0" smtClean="0"/>
              <a:t>Comparative genomics amply demonstrates the unity of life.</a:t>
            </a:r>
            <a:endParaRPr lang="en-US" dirty="0"/>
          </a:p>
        </p:txBody>
      </p:sp>
    </p:spTree>
    <p:extLst>
      <p:ext uri="{BB962C8B-B14F-4D97-AF65-F5344CB8AC3E}">
        <p14:creationId xmlns:p14="http://schemas.microsoft.com/office/powerpoint/2010/main" val="108619515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1_21.jpg"/>
          <p:cNvPicPr>
            <a:picLocks noChangeAspect="1"/>
          </p:cNvPicPr>
          <p:nvPr/>
        </p:nvPicPr>
        <p:blipFill>
          <a:blip r:embed="rId3"/>
          <a:stretch>
            <a:fillRect/>
          </a:stretch>
        </p:blipFill>
        <p:spPr>
          <a:xfrm>
            <a:off x="304800" y="1082039"/>
            <a:ext cx="8534400" cy="4693920"/>
          </a:xfrm>
          <a:prstGeom prst="rect">
            <a:avLst/>
          </a:prstGeom>
        </p:spPr>
      </p:pic>
    </p:spTree>
    <p:extLst>
      <p:ext uri="{BB962C8B-B14F-4D97-AF65-F5344CB8AC3E}">
        <p14:creationId xmlns:p14="http://schemas.microsoft.com/office/powerpoint/2010/main" val="24099733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26999" y="187900"/>
            <a:ext cx="5956300" cy="901700"/>
          </a:xfrm>
          <a:prstGeom prst="rect">
            <a:avLst/>
          </a:prstGeom>
        </p:spPr>
      </p:pic>
      <p:pic>
        <p:nvPicPr>
          <p:cNvPr id="5" name="Picture 4"/>
          <p:cNvPicPr>
            <a:picLocks noChangeAspect="1"/>
          </p:cNvPicPr>
          <p:nvPr/>
        </p:nvPicPr>
        <p:blipFill>
          <a:blip r:embed="rId4"/>
          <a:stretch>
            <a:fillRect/>
          </a:stretch>
        </p:blipFill>
        <p:spPr>
          <a:xfrm>
            <a:off x="1503174" y="1545368"/>
            <a:ext cx="5486400" cy="368300"/>
          </a:xfrm>
          <a:prstGeom prst="rect">
            <a:avLst/>
          </a:prstGeom>
        </p:spPr>
      </p:pic>
      <p:sp>
        <p:nvSpPr>
          <p:cNvPr id="6" name="TextBox 5"/>
          <p:cNvSpPr txBox="1"/>
          <p:nvPr/>
        </p:nvSpPr>
        <p:spPr>
          <a:xfrm>
            <a:off x="586129" y="2360617"/>
            <a:ext cx="8222070" cy="1477328"/>
          </a:xfrm>
          <a:prstGeom prst="rect">
            <a:avLst/>
          </a:prstGeom>
          <a:noFill/>
        </p:spPr>
        <p:txBody>
          <a:bodyPr wrap="square" rtlCol="0">
            <a:spAutoFit/>
          </a:bodyPr>
          <a:lstStyle/>
          <a:p>
            <a:r>
              <a:rPr lang="en-US" dirty="0" smtClean="0"/>
              <a:t>Important environmental factors that influence human biochemistry include diet and exercise.</a:t>
            </a:r>
          </a:p>
          <a:p>
            <a:endParaRPr lang="en-US" dirty="0"/>
          </a:p>
          <a:p>
            <a:r>
              <a:rPr lang="en-US" dirty="0" smtClean="0"/>
              <a:t>Inappropriate use of environmental resources, such as poor nutrition, can result in pathological conditions.</a:t>
            </a:r>
            <a:endParaRPr lang="en-US" dirty="0"/>
          </a:p>
        </p:txBody>
      </p:sp>
    </p:spTree>
    <p:extLst>
      <p:ext uri="{BB962C8B-B14F-4D97-AF65-F5344CB8AC3E}">
        <p14:creationId xmlns:p14="http://schemas.microsoft.com/office/powerpoint/2010/main" val="293466955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igure_01_22.jpg"/>
          <p:cNvPicPr>
            <a:picLocks noChangeAspect="1"/>
          </p:cNvPicPr>
          <p:nvPr/>
        </p:nvPicPr>
        <p:blipFill>
          <a:blip r:embed="rId3"/>
          <a:stretch>
            <a:fillRect/>
          </a:stretch>
        </p:blipFill>
        <p:spPr>
          <a:xfrm>
            <a:off x="304800" y="798576"/>
            <a:ext cx="8534400" cy="5260848"/>
          </a:xfrm>
          <a:prstGeom prst="rect">
            <a:avLst/>
          </a:prstGeom>
        </p:spPr>
      </p:pic>
    </p:spTree>
    <p:extLst>
      <p:ext uri="{BB962C8B-B14F-4D97-AF65-F5344CB8AC3E}">
        <p14:creationId xmlns:p14="http://schemas.microsoft.com/office/powerpoint/2010/main" val="14880672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0200"/>
            <a:ext cx="7073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figure_01_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286000"/>
            <a:ext cx="6629400" cy="415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 name="Picture 1"/>
          <p:cNvPicPr>
            <a:picLocks noChangeAspect="1"/>
          </p:cNvPicPr>
          <p:nvPr/>
        </p:nvPicPr>
        <p:blipFill>
          <a:blip r:embed="rId5"/>
          <a:stretch>
            <a:fillRect/>
          </a:stretch>
        </p:blipFill>
        <p:spPr>
          <a:xfrm>
            <a:off x="1278155" y="415821"/>
            <a:ext cx="5956300" cy="901700"/>
          </a:xfrm>
          <a:prstGeom prst="rect">
            <a:avLst/>
          </a:prstGeom>
        </p:spPr>
      </p:pic>
    </p:spTree>
    <p:extLst>
      <p:ext uri="{BB962C8B-B14F-4D97-AF65-F5344CB8AC3E}">
        <p14:creationId xmlns:p14="http://schemas.microsoft.com/office/powerpoint/2010/main" val="20423655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1002</TotalTime>
  <Words>2497</Words>
  <Application>Microsoft Office PowerPoint</Application>
  <PresentationFormat>On-screen Show (4:3)</PresentationFormat>
  <Paragraphs>189</Paragraphs>
  <Slides>58</Slides>
  <Notes>46</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Carleton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Tymoczko</dc:creator>
  <cp:lastModifiedBy>ivp</cp:lastModifiedBy>
  <cp:revision>59</cp:revision>
  <dcterms:created xsi:type="dcterms:W3CDTF">2015-05-20T13:49:30Z</dcterms:created>
  <dcterms:modified xsi:type="dcterms:W3CDTF">2015-06-08T18:58:47Z</dcterms:modified>
</cp:coreProperties>
</file>