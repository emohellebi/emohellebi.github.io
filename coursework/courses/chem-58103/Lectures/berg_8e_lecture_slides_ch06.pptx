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7"/>
  </p:notesMasterIdLst>
  <p:sldIdLst>
    <p:sldId id="258"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302" r:id="rId24"/>
    <p:sldId id="30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303" r:id="rId39"/>
    <p:sldId id="304" r:id="rId40"/>
    <p:sldId id="295" r:id="rId41"/>
    <p:sldId id="296" r:id="rId42"/>
    <p:sldId id="297" r:id="rId43"/>
    <p:sldId id="298" r:id="rId44"/>
    <p:sldId id="299" r:id="rId45"/>
    <p:sldId id="300" r:id="rId4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04" autoAdjust="0"/>
    <p:restoredTop sz="94660"/>
  </p:normalViewPr>
  <p:slideViewPr>
    <p:cSldViewPr snapToGrid="0" snapToObjects="1">
      <p:cViewPr>
        <p:scale>
          <a:sx n="70" d="100"/>
          <a:sy n="70" d="100"/>
        </p:scale>
        <p:origin x="-156" y="24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3C6E80B-6CB8-5D45-9387-C3348F0B1900}" type="datetimeFigureOut">
              <a:rPr lang="en-US" smtClean="0"/>
              <a:t>6/10/2015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640597F-94F9-874F-9257-EEEB97B45BBF}" type="slidenum">
              <a:rPr lang="en-US" smtClean="0"/>
              <a:t>‹#›</a:t>
            </a:fld>
            <a:endParaRPr lang="en-US" dirty="0"/>
          </a:p>
        </p:txBody>
      </p:sp>
    </p:spTree>
    <p:extLst>
      <p:ext uri="{BB962C8B-B14F-4D97-AF65-F5344CB8AC3E}">
        <p14:creationId xmlns:p14="http://schemas.microsoft.com/office/powerpoint/2010/main" val="63826701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A3D7AE79-E2EB-0145-9262-58B5B32F7923}" type="slidenum">
              <a:rPr lang="en-US"/>
              <a:pPr>
                <a:defRPr/>
              </a:pPr>
              <a:t>1</a:t>
            </a:fld>
            <a:endParaRPr lang="en-US" dirty="0"/>
          </a:p>
        </p:txBody>
      </p:sp>
      <p:sp>
        <p:nvSpPr>
          <p:cNvPr id="14029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0291" name="Rectangle 3"/>
          <p:cNvSpPr>
            <a:spLocks noGrp="1" noChangeArrowheads="1"/>
          </p:cNvSpPr>
          <p:nvPr>
            <p:ph type="body" idx="1"/>
          </p:nvPr>
        </p:nvSpPr>
        <p:spPr/>
        <p:txBody>
          <a:bodyPr/>
          <a:lstStyle/>
          <a:p>
            <a:r>
              <a:rPr lang="en-US" sz="1200" b="0" i="0" u="none" strike="noStrike" kern="1200" baseline="0" dirty="0" smtClean="0">
                <a:solidFill>
                  <a:schemeClr val="tx1"/>
                </a:solidFill>
                <a:latin typeface="+mn-lt"/>
                <a:ea typeface="+mn-ea"/>
                <a:cs typeface="+mn-cs"/>
              </a:rPr>
              <a:t>Evolutionary relationships are manifest in protein sequences. The close kinship between human beings and chimpanzees, hinted at by the mutual interest shown by Jane Goodall and a chimpanzee in the photograph, is revealed in the amino acid sequences of myoglobin. The human sequence (red) differs from the chimpanzee sequence (blue) in only one amino acid in a protein chain of 153 residues. [(Left) Kennan Ward/Corbis.]</a:t>
            </a:r>
            <a:endParaRPr lang="en-US" dirty="0" smtClean="0">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B755230C-1B9D-3A4E-811F-5A4121F14A45}" type="slidenum">
              <a:rPr lang="en-US"/>
              <a:pPr>
                <a:defRPr/>
              </a:pPr>
              <a:t>2</a:t>
            </a:fld>
            <a:endParaRPr lang="en-US" dirty="0"/>
          </a:p>
        </p:txBody>
      </p:sp>
      <p:sp>
        <p:nvSpPr>
          <p:cNvPr id="14131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1315" name="Rectangle 3"/>
          <p:cNvSpPr>
            <a:spLocks noGrp="1" noChangeArrowheads="1"/>
          </p:cNvSpPr>
          <p:nvPr>
            <p:ph type="body" idx="1"/>
          </p:nvPr>
        </p:nvSpPr>
        <p:spPr/>
        <p:txBody>
          <a:bodyPr/>
          <a:lstStyle/>
          <a:p>
            <a:pPr eaLnBrk="1" hangingPunct="1">
              <a:defRPr/>
            </a:pPr>
            <a:endParaRPr lang="en-US" dirty="0" smtClean="0">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F3EA228E-D862-9542-8B7F-77B3AAE77788}" type="slidenum">
              <a:rPr lang="en-US"/>
              <a:pPr>
                <a:defRPr/>
              </a:pPr>
              <a:t>4</a:t>
            </a:fld>
            <a:endParaRPr lang="en-US" dirty="0"/>
          </a:p>
        </p:txBody>
      </p:sp>
      <p:sp>
        <p:nvSpPr>
          <p:cNvPr id="14233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2339" name="Rectangle 3"/>
          <p:cNvSpPr>
            <a:spLocks noGrp="1" noChangeArrowheads="1"/>
          </p:cNvSpPr>
          <p:nvPr>
            <p:ph type="body" idx="1"/>
          </p:nvPr>
        </p:nvSpPr>
        <p:spPr/>
        <p:txBody>
          <a:bodyPr/>
          <a:lstStyle/>
          <a:p>
            <a:r>
              <a:rPr lang="en-US" sz="1200" b="1" i="0" u="none" strike="noStrike" kern="1200" baseline="0" dirty="0" smtClean="0">
                <a:solidFill>
                  <a:schemeClr val="tx1"/>
                </a:solidFill>
                <a:latin typeface="+mn-lt"/>
                <a:ea typeface="+mn-ea"/>
                <a:cs typeface="+mn-cs"/>
              </a:rPr>
              <a:t>Figure 6.1 Structures of ribonucleases from cows and human beings</a:t>
            </a:r>
            <a:r>
              <a:rPr lang="en-US" sz="1200" b="0" i="0" u="none" strike="noStrike" kern="1200" baseline="0" dirty="0" smtClean="0">
                <a:solidFill>
                  <a:schemeClr val="tx1"/>
                </a:solidFill>
                <a:latin typeface="+mn-lt"/>
                <a:ea typeface="+mn-ea"/>
                <a:cs typeface="+mn-cs"/>
              </a:rPr>
              <a:t>. Structural similarity often follows functional similarity. [Drawn from 8RAT.pdb. and 2RNF.pdb.]</a:t>
            </a:r>
            <a:endParaRPr lang="en-US" dirty="0" smtClean="0">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94129B7E-86CA-874C-80E2-94F33213C5E2}" type="slidenum">
              <a:rPr lang="en-US"/>
              <a:pPr>
                <a:defRPr/>
              </a:pPr>
              <a:t>5</a:t>
            </a:fld>
            <a:endParaRPr lang="en-US" dirty="0"/>
          </a:p>
        </p:txBody>
      </p:sp>
      <p:sp>
        <p:nvSpPr>
          <p:cNvPr id="14336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3363" name="Rectangle 3"/>
          <p:cNvSpPr>
            <a:spLocks noGrp="1" noChangeArrowheads="1"/>
          </p:cNvSpPr>
          <p:nvPr>
            <p:ph type="body" idx="1"/>
          </p:nvPr>
        </p:nvSpPr>
        <p:spPr/>
        <p:txBody>
          <a:bodyPr/>
          <a:lstStyle/>
          <a:p>
            <a:r>
              <a:rPr lang="en-US" sz="1200" b="1" i="0" u="none" strike="noStrike" kern="1200" baseline="0" dirty="0" smtClean="0">
                <a:solidFill>
                  <a:schemeClr val="tx1"/>
                </a:solidFill>
                <a:latin typeface="+mn-lt"/>
                <a:ea typeface="+mn-ea"/>
                <a:cs typeface="+mn-cs"/>
              </a:rPr>
              <a:t>FIGURE 6.2 Structure of angiogenin</a:t>
            </a:r>
            <a:r>
              <a:rPr lang="en-US" sz="1200" b="0" i="0" u="none" strike="noStrike" kern="1200" baseline="0" dirty="0" smtClean="0">
                <a:solidFill>
                  <a:schemeClr val="tx1"/>
                </a:solidFill>
                <a:latin typeface="+mn-lt"/>
                <a:ea typeface="+mn-ea"/>
                <a:cs typeface="+mn-cs"/>
              </a:rPr>
              <a:t>. The protein angiogenin, identified on the basis of its ability to stimulate blood-vessel growth, is highly similar in three-dimensional structure to ribonuclease. [Drawn from 2ANG.pdb.]</a:t>
            </a:r>
            <a:endParaRPr lang="en-US" dirty="0" smtClean="0">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7C32FCD-37FD-334E-A689-217878B101EE}" type="slidenum">
              <a:rPr lang="en-US"/>
              <a:pPr>
                <a:defRPr/>
              </a:pPr>
              <a:t>7</a:t>
            </a:fld>
            <a:endParaRPr lang="en-US" dirty="0"/>
          </a:p>
        </p:txBody>
      </p:sp>
      <p:sp>
        <p:nvSpPr>
          <p:cNvPr id="14438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4387" name="Rectangle 3"/>
          <p:cNvSpPr>
            <a:spLocks noGrp="1" noChangeArrowheads="1"/>
          </p:cNvSpPr>
          <p:nvPr>
            <p:ph type="body" idx="1"/>
          </p:nvPr>
        </p:nvSpPr>
        <p:spPr/>
        <p:txBody>
          <a:bodyPr/>
          <a:lstStyle/>
          <a:p>
            <a:r>
              <a:rPr lang="en-US" sz="1200" b="1" i="0" u="none" strike="noStrike" kern="1200" baseline="0" dirty="0" smtClean="0">
                <a:solidFill>
                  <a:schemeClr val="tx1"/>
                </a:solidFill>
                <a:latin typeface="+mn-lt"/>
                <a:ea typeface="+mn-ea"/>
                <a:cs typeface="+mn-cs"/>
              </a:rPr>
              <a:t>FIGURE 6.3 Two classes of homologs. </a:t>
            </a:r>
            <a:r>
              <a:rPr lang="en-US" sz="1200" b="0" i="0" u="none" strike="noStrike" kern="1200" baseline="0" dirty="0" smtClean="0">
                <a:solidFill>
                  <a:schemeClr val="tx1"/>
                </a:solidFill>
                <a:latin typeface="+mn-lt"/>
                <a:ea typeface="+mn-ea"/>
                <a:cs typeface="+mn-cs"/>
              </a:rPr>
              <a:t>Homologs that perform identical or very similar functions in different species are called orthologs, whereas homologs that perform different functions within one species are called paralogs.</a:t>
            </a:r>
            <a:endParaRPr lang="en-US" dirty="0" smtClean="0">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80148F6E-A785-BF4B-834A-16FBD8AFE99C}" type="slidenum">
              <a:rPr lang="en-US"/>
              <a:pPr>
                <a:defRPr/>
              </a:pPr>
              <a:t>8</a:t>
            </a:fld>
            <a:endParaRPr lang="en-US" dirty="0"/>
          </a:p>
        </p:txBody>
      </p:sp>
      <p:sp>
        <p:nvSpPr>
          <p:cNvPr id="14541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5411" name="Rectangle 3"/>
          <p:cNvSpPr>
            <a:spLocks noGrp="1" noChangeArrowheads="1"/>
          </p:cNvSpPr>
          <p:nvPr>
            <p:ph type="body" idx="1"/>
          </p:nvPr>
        </p:nvSpPr>
        <p:spPr/>
        <p:txBody>
          <a:bodyPr/>
          <a:lstStyle/>
          <a:p>
            <a:r>
              <a:rPr lang="en-US" sz="1200" b="1" i="0" u="none" strike="noStrike" kern="1200" baseline="0" dirty="0" smtClean="0">
                <a:solidFill>
                  <a:schemeClr val="tx1"/>
                </a:solidFill>
                <a:latin typeface="+mn-lt"/>
                <a:ea typeface="+mn-ea"/>
                <a:cs typeface="+mn-cs"/>
              </a:rPr>
              <a:t>FIGURE 6.4 Amino acid sequences of human hemoglobin (α chain) and human myoglobin</a:t>
            </a:r>
            <a:r>
              <a:rPr lang="en-US" sz="1200" b="0" i="0" u="none" strike="noStrike" kern="1200" baseline="0" dirty="0" smtClean="0">
                <a:solidFill>
                  <a:schemeClr val="tx1"/>
                </a:solidFill>
                <a:latin typeface="+mn-lt"/>
                <a:ea typeface="+mn-ea"/>
                <a:cs typeface="+mn-cs"/>
              </a:rPr>
              <a:t>. α-Hemoglobin is composed of 141 amino acids; myoglobin consists of 153 amino acids. (One-letter abbreviations designating amino acids are used; see Table 2.2.)</a:t>
            </a:r>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8BC11638-6351-C143-A4D9-063D28E09ED2}" type="slidenum">
              <a:rPr lang="en-US"/>
              <a:pPr>
                <a:defRPr/>
              </a:pPr>
              <a:t>10</a:t>
            </a:fld>
            <a:endParaRPr lang="en-US" dirty="0"/>
          </a:p>
        </p:txBody>
      </p:sp>
      <p:sp>
        <p:nvSpPr>
          <p:cNvPr id="14643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6435" name="Rectangle 3"/>
          <p:cNvSpPr>
            <a:spLocks noGrp="1" noChangeArrowheads="1"/>
          </p:cNvSpPr>
          <p:nvPr>
            <p:ph type="body" idx="1"/>
          </p:nvPr>
        </p:nvSpPr>
        <p:spPr/>
        <p:txBody>
          <a:bodyPr/>
          <a:lstStyle/>
          <a:p>
            <a:r>
              <a:rPr lang="en-US" sz="1200" b="1" i="0" u="none" strike="noStrike" kern="1200" baseline="0" dirty="0" smtClean="0">
                <a:solidFill>
                  <a:schemeClr val="tx1"/>
                </a:solidFill>
                <a:latin typeface="+mn-lt"/>
                <a:ea typeface="+mn-ea"/>
                <a:cs typeface="+mn-cs"/>
              </a:rPr>
              <a:t>FIGURE 6.5 Comparing the amino acid sequences of α-hemoglobin and myoglobin</a:t>
            </a:r>
            <a:r>
              <a:rPr lang="en-US" sz="1200" b="0" i="0" u="none" strike="noStrike" kern="1200" baseline="0" dirty="0" smtClean="0">
                <a:solidFill>
                  <a:schemeClr val="tx1"/>
                </a:solidFill>
                <a:latin typeface="+mn-lt"/>
                <a:ea typeface="+mn-ea"/>
                <a:cs typeface="+mn-cs"/>
              </a:rPr>
              <a:t>. (A) A comparison is made by sliding the sequences of the two proteins past each other, one amino acid at a time, and counting the number of amino acid identities between the proteins. (B) The two alignments with the largest number of matches are shown above the graph, which plots the matches as a function of alignment.</a:t>
            </a:r>
            <a:endParaRPr lang="en-US" dirty="0" smtClean="0">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C381F22D-A4D3-6A4A-8230-43BBC4B84CE6}" type="slidenum">
              <a:rPr lang="en-US"/>
              <a:pPr>
                <a:defRPr/>
              </a:pPr>
              <a:t>12</a:t>
            </a:fld>
            <a:endParaRPr lang="en-US" dirty="0"/>
          </a:p>
        </p:txBody>
      </p:sp>
      <p:sp>
        <p:nvSpPr>
          <p:cNvPr id="14745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7459" name="Rectangle 3"/>
          <p:cNvSpPr>
            <a:spLocks noGrp="1" noChangeArrowheads="1"/>
          </p:cNvSpPr>
          <p:nvPr>
            <p:ph type="body" idx="1"/>
          </p:nvPr>
        </p:nvSpPr>
        <p:spPr/>
        <p:txBody>
          <a:bodyPr/>
          <a:lstStyle/>
          <a:p>
            <a:r>
              <a:rPr lang="en-US" sz="1200" b="1" i="0" u="none" strike="noStrike" kern="1200" baseline="0" dirty="0" smtClean="0">
                <a:solidFill>
                  <a:schemeClr val="tx1"/>
                </a:solidFill>
                <a:latin typeface="+mn-lt"/>
                <a:ea typeface="+mn-ea"/>
                <a:cs typeface="+mn-cs"/>
              </a:rPr>
              <a:t>FIGURE 6.6 Alignment with gap insertion. </a:t>
            </a:r>
            <a:r>
              <a:rPr lang="en-US" sz="1200" b="0" i="0" u="none" strike="noStrike" kern="1200" baseline="0" dirty="0" smtClean="0">
                <a:solidFill>
                  <a:schemeClr val="tx1"/>
                </a:solidFill>
                <a:latin typeface="+mn-lt"/>
                <a:ea typeface="+mn-ea"/>
                <a:cs typeface="+mn-cs"/>
              </a:rPr>
              <a:t>The alignment of α-hemoglobin and myoglobin after a gap has been inserted into the hemoglobin </a:t>
            </a:r>
            <a:r>
              <a:rPr lang="el-GR" sz="1200" b="0" i="0" u="none" strike="noStrike" kern="1200" baseline="0" dirty="0" smtClean="0">
                <a:solidFill>
                  <a:schemeClr val="tx1"/>
                </a:solidFill>
                <a:latin typeface="+mn-lt"/>
                <a:ea typeface="+mn-ea"/>
                <a:cs typeface="+mn-cs"/>
              </a:rPr>
              <a:t>α</a:t>
            </a:r>
            <a:r>
              <a:rPr lang="en-US" sz="1200" b="0" i="0" u="none" strike="noStrike" kern="1200" baseline="0" dirty="0" smtClean="0">
                <a:solidFill>
                  <a:schemeClr val="tx1"/>
                </a:solidFill>
                <a:latin typeface="+mn-lt"/>
                <a:ea typeface="+mn-ea"/>
                <a:cs typeface="+mn-cs"/>
              </a:rPr>
              <a:t> sequence.</a:t>
            </a:r>
            <a:endParaRPr lang="en-US" dirty="0" smtClean="0">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FBAB79C9-5955-A849-A911-FE7C3A7256E9}" type="slidenum">
              <a:rPr lang="en-US"/>
              <a:pPr>
                <a:defRPr/>
              </a:pPr>
              <a:t>14</a:t>
            </a:fld>
            <a:endParaRPr lang="en-US" dirty="0"/>
          </a:p>
        </p:txBody>
      </p:sp>
      <p:sp>
        <p:nvSpPr>
          <p:cNvPr id="14848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8483" name="Rectangle 3"/>
          <p:cNvSpPr>
            <a:spLocks noGrp="1" noChangeArrowheads="1"/>
          </p:cNvSpPr>
          <p:nvPr>
            <p:ph type="body" idx="1"/>
          </p:nvPr>
        </p:nvSpPr>
        <p:spPr/>
        <p:txBody>
          <a:bodyPr/>
          <a:lstStyle/>
          <a:p>
            <a:r>
              <a:rPr lang="en-US" sz="1200" b="1" i="0" u="none" strike="noStrike" kern="1200" baseline="0" dirty="0" smtClean="0">
                <a:solidFill>
                  <a:schemeClr val="tx1"/>
                </a:solidFill>
                <a:latin typeface="+mn-lt"/>
                <a:ea typeface="+mn-ea"/>
                <a:cs typeface="+mn-cs"/>
              </a:rPr>
              <a:t>FIGURE 6.7 The generation of a shuffled sequence.</a:t>
            </a:r>
            <a:endParaRPr lang="en-US" b="1" dirty="0" smtClean="0">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57FBF82B-0BF7-7B4B-8605-02C86EBE7EAD}" type="slidenum">
              <a:rPr lang="en-US"/>
              <a:pPr>
                <a:defRPr/>
              </a:pPr>
              <a:t>15</a:t>
            </a:fld>
            <a:endParaRPr lang="en-US" dirty="0"/>
          </a:p>
        </p:txBody>
      </p:sp>
      <p:sp>
        <p:nvSpPr>
          <p:cNvPr id="14950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9507" name="Rectangle 3"/>
          <p:cNvSpPr>
            <a:spLocks noGrp="1" noChangeArrowheads="1"/>
          </p:cNvSpPr>
          <p:nvPr>
            <p:ph type="body" idx="1"/>
          </p:nvPr>
        </p:nvSpPr>
        <p:spPr/>
        <p:txBody>
          <a:bodyPr/>
          <a:lstStyle/>
          <a:p>
            <a:r>
              <a:rPr lang="en-US" sz="1200" b="1" i="0" u="none" strike="noStrike" kern="1200" baseline="0" dirty="0" smtClean="0">
                <a:solidFill>
                  <a:schemeClr val="tx1"/>
                </a:solidFill>
                <a:latin typeface="+mn-lt"/>
                <a:ea typeface="+mn-ea"/>
                <a:cs typeface="+mn-cs"/>
              </a:rPr>
              <a:t>FIGURE 6.8 Statistical comparison of alignment scores. </a:t>
            </a:r>
            <a:r>
              <a:rPr lang="en-US" sz="1200" b="0" i="0" u="none" strike="noStrike" kern="1200" baseline="0" dirty="0" smtClean="0">
                <a:solidFill>
                  <a:schemeClr val="tx1"/>
                </a:solidFill>
                <a:latin typeface="+mn-lt"/>
                <a:ea typeface="+mn-ea"/>
                <a:cs typeface="+mn-cs"/>
              </a:rPr>
              <a:t>Alignment scores are calculated for many shuffled sequences, and the number of sequences generating a particular score is plotted against the score. The resulting plot is a distribution of alignment scores occurring by chance. The alignment score for unshuffled α-hemoglobin and myoglobin (shown in red) is substantially greater than any of these scores, strongly suggesting that the sequence similarity is significant.</a:t>
            </a:r>
            <a:endParaRPr lang="en-US" dirty="0" smtClean="0">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21BDA573-3458-164C-8A28-820D9AF1C015}" type="slidenum">
              <a:rPr lang="en-US"/>
              <a:pPr>
                <a:defRPr/>
              </a:pPr>
              <a:t>18</a:t>
            </a:fld>
            <a:endParaRPr lang="en-US" dirty="0"/>
          </a:p>
        </p:txBody>
      </p:sp>
      <p:sp>
        <p:nvSpPr>
          <p:cNvPr id="15053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0531" name="Rectangle 3"/>
          <p:cNvSpPr>
            <a:spLocks noGrp="1" noChangeArrowheads="1"/>
          </p:cNvSpPr>
          <p:nvPr>
            <p:ph type="body" idx="1"/>
          </p:nvPr>
        </p:nvSpPr>
        <p:spPr/>
        <p:txBody>
          <a:bodyPr/>
          <a:lstStyle/>
          <a:p>
            <a:r>
              <a:rPr lang="en-US" sz="1200" b="1" i="0" u="none" strike="noStrike" kern="1200" baseline="0" dirty="0" smtClean="0">
                <a:solidFill>
                  <a:schemeClr val="tx1"/>
                </a:solidFill>
                <a:latin typeface="+mn-lt"/>
                <a:ea typeface="+mn-ea"/>
                <a:cs typeface="+mn-cs"/>
              </a:rPr>
              <a:t>FIGURE 6.9 A graphic view of the Blosum-62. </a:t>
            </a:r>
            <a:r>
              <a:rPr lang="en-US" sz="1200" b="0" i="0" u="none" strike="noStrike" kern="1200" baseline="0" dirty="0" smtClean="0">
                <a:solidFill>
                  <a:schemeClr val="tx1"/>
                </a:solidFill>
                <a:latin typeface="+mn-lt"/>
                <a:ea typeface="+mn-ea"/>
                <a:cs typeface="+mn-cs"/>
              </a:rPr>
              <a:t>This substitution matrix was derived by examining substitutions within aligned sequence blocks in related proteins. Amino acids are classified into four groups (charged, red; polar, green; large and hydrophobic, blue; other, black). Substitutions that require the change of only a single nucleotide are shaded. Identities are boxed. To find the score for a substitution of, for instance, a Y for an H, you find the Y in the column having H at the top and check the number at the left. In this case, the resulting score is 2.</a:t>
            </a:r>
            <a:endParaRPr lang="en-US" dirty="0" smtClean="0">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4D3CF5CF-678D-ED46-A3EA-5B7BC590FD82}" type="slidenum">
              <a:rPr lang="en-US"/>
              <a:pPr>
                <a:defRPr/>
              </a:pPr>
              <a:t>19</a:t>
            </a:fld>
            <a:endParaRPr lang="en-US" dirty="0"/>
          </a:p>
        </p:txBody>
      </p:sp>
      <p:sp>
        <p:nvSpPr>
          <p:cNvPr id="15155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1555" name="Rectangle 3"/>
          <p:cNvSpPr>
            <a:spLocks noGrp="1" noChangeArrowheads="1"/>
          </p:cNvSpPr>
          <p:nvPr>
            <p:ph type="body" idx="1"/>
          </p:nvPr>
        </p:nvSpPr>
        <p:spPr/>
        <p:txBody>
          <a:bodyPr/>
          <a:lstStyle/>
          <a:p>
            <a:r>
              <a:rPr lang="en-US" sz="1200" b="1" i="0" u="none" strike="noStrike" kern="1200" baseline="0" dirty="0" smtClean="0">
                <a:solidFill>
                  <a:schemeClr val="tx1"/>
                </a:solidFill>
                <a:latin typeface="+mn-lt"/>
                <a:ea typeface="+mn-ea"/>
                <a:cs typeface="+mn-cs"/>
              </a:rPr>
              <a:t>FIGURE 6.10 Scoring of conservative and nonconservative substitutions. </a:t>
            </a:r>
            <a:r>
              <a:rPr lang="en-US" sz="1200" b="0" i="0" u="none" strike="noStrike" kern="1200" baseline="0" dirty="0" smtClean="0">
                <a:solidFill>
                  <a:schemeClr val="tx1"/>
                </a:solidFill>
                <a:latin typeface="+mn-lt"/>
                <a:ea typeface="+mn-ea"/>
                <a:cs typeface="+mn-cs"/>
              </a:rPr>
              <a:t>The Blosum-62 indicates that a conservative substitution (lysine for arginine) receives a positive score, whereas a nonconservative substitution (lysine for tryptophan) is scored negatively. The matrix is depicted as an abbreviated form of Figure 6.9.</a:t>
            </a:r>
            <a:endParaRPr lang="en-US" dirty="0" smtClean="0">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6D0D2622-21D5-684B-84EA-6FF73CA0D56E}" type="slidenum">
              <a:rPr lang="en-US"/>
              <a:pPr>
                <a:defRPr/>
              </a:pPr>
              <a:t>20</a:t>
            </a:fld>
            <a:endParaRPr lang="en-US" dirty="0"/>
          </a:p>
        </p:txBody>
      </p:sp>
      <p:sp>
        <p:nvSpPr>
          <p:cNvPr id="15257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2579" name="Rectangle 3"/>
          <p:cNvSpPr>
            <a:spLocks noGrp="1" noChangeArrowheads="1"/>
          </p:cNvSpPr>
          <p:nvPr>
            <p:ph type="body" idx="1"/>
          </p:nvPr>
        </p:nvSpPr>
        <p:spPr/>
        <p:txBody>
          <a:bodyPr/>
          <a:lstStyle/>
          <a:p>
            <a:r>
              <a:rPr lang="en-US" sz="1200" b="1" i="0" u="none" strike="noStrike" kern="1200" baseline="0" dirty="0" smtClean="0">
                <a:solidFill>
                  <a:schemeClr val="tx1"/>
                </a:solidFill>
                <a:latin typeface="+mn-lt"/>
                <a:ea typeface="+mn-ea"/>
                <a:cs typeface="+mn-cs"/>
              </a:rPr>
              <a:t>FIGURE 6.11 Alignment with conservative substitutions noted. </a:t>
            </a:r>
            <a:r>
              <a:rPr lang="en-US" sz="1200" b="0" i="0" u="none" strike="noStrike" kern="1200" baseline="0" dirty="0" smtClean="0">
                <a:solidFill>
                  <a:schemeClr val="tx1"/>
                </a:solidFill>
                <a:latin typeface="+mn-lt"/>
                <a:ea typeface="+mn-ea"/>
                <a:cs typeface="+mn-cs"/>
              </a:rPr>
              <a:t>The alignment of α-hemoglobin and myoglobin with conservative substitutions indicated by yellow shading and identities by orange.</a:t>
            </a:r>
            <a:endParaRPr lang="en-US" dirty="0" smtClean="0">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A885CE3A-E497-C74B-804D-CB80C2B04766}" type="slidenum">
              <a:rPr lang="en-US"/>
              <a:pPr>
                <a:defRPr/>
              </a:pPr>
              <a:t>21</a:t>
            </a:fld>
            <a:endParaRPr lang="en-US" dirty="0"/>
          </a:p>
        </p:txBody>
      </p:sp>
      <p:sp>
        <p:nvSpPr>
          <p:cNvPr id="15360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3603" name="Rectangle 3"/>
          <p:cNvSpPr>
            <a:spLocks noGrp="1" noChangeArrowheads="1"/>
          </p:cNvSpPr>
          <p:nvPr>
            <p:ph type="body" idx="1"/>
          </p:nvPr>
        </p:nvSpPr>
        <p:spPr/>
        <p:txBody>
          <a:bodyPr/>
          <a:lstStyle/>
          <a:p>
            <a:r>
              <a:rPr lang="en-US" sz="1200" b="1" i="0" u="none" strike="noStrike" kern="1200" baseline="0" dirty="0" smtClean="0">
                <a:solidFill>
                  <a:schemeClr val="tx1"/>
                </a:solidFill>
                <a:latin typeface="+mn-lt"/>
                <a:ea typeface="+mn-ea"/>
                <a:cs typeface="+mn-cs"/>
              </a:rPr>
              <a:t>FIGURE 6.12 Alignment of identities only versus the Blosum-62. </a:t>
            </a:r>
            <a:r>
              <a:rPr lang="en-US" sz="1200" b="0" i="0" u="none" strike="noStrike" kern="1200" baseline="0" dirty="0" smtClean="0">
                <a:solidFill>
                  <a:schemeClr val="tx1"/>
                </a:solidFill>
                <a:latin typeface="+mn-lt"/>
                <a:ea typeface="+mn-ea"/>
                <a:cs typeface="+mn-cs"/>
              </a:rPr>
              <a:t>Repeated shuffling and scoring reveal the significance of sequence alignment for human myoglobin versus lupine leghemoglobin with the use of either (A) the simple, identity-based scoring system or (B) the Blosum-62. The scores for the alignment of the authentic sequences are shown in red. Accounting for amino acid similarity in addition to identity reveals a greater separation between the authentic alignment and the population of shuffled alignments.</a:t>
            </a:r>
            <a:endParaRPr lang="en-US" dirty="0" smtClean="0">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F0E09BCA-3E77-1F4E-92A1-3A3AC9FB4DA4}" type="slidenum">
              <a:rPr lang="en-US"/>
              <a:pPr>
                <a:defRPr/>
              </a:pPr>
              <a:t>22</a:t>
            </a:fld>
            <a:endParaRPr lang="en-US" dirty="0"/>
          </a:p>
        </p:txBody>
      </p:sp>
      <p:sp>
        <p:nvSpPr>
          <p:cNvPr id="15667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6675" name="Rectangle 3"/>
          <p:cNvSpPr>
            <a:spLocks noGrp="1" noChangeArrowheads="1"/>
          </p:cNvSpPr>
          <p:nvPr>
            <p:ph type="body" idx="1"/>
          </p:nvPr>
        </p:nvSpPr>
        <p:spPr/>
        <p:txBody>
          <a:bodyPr/>
          <a:lstStyle/>
          <a:p>
            <a:r>
              <a:rPr lang="en-US" sz="1200" b="1" i="0" u="none" strike="noStrike" kern="1200" baseline="0" dirty="0" smtClean="0">
                <a:solidFill>
                  <a:schemeClr val="tx1"/>
                </a:solidFill>
                <a:latin typeface="+mn-lt"/>
                <a:ea typeface="+mn-ea"/>
                <a:cs typeface="+mn-cs"/>
              </a:rPr>
              <a:t>FIGURE 6.13 Alignment of human myoglobin and lupine leghemoglobin. </a:t>
            </a:r>
            <a:r>
              <a:rPr lang="en-US" sz="1200" b="0" i="0" u="none" strike="noStrike" kern="1200" baseline="0" dirty="0" smtClean="0">
                <a:solidFill>
                  <a:schemeClr val="tx1"/>
                </a:solidFill>
                <a:latin typeface="+mn-lt"/>
                <a:ea typeface="+mn-ea"/>
                <a:cs typeface="+mn-cs"/>
              </a:rPr>
              <a:t>The use of Blosum-62 yields the alignment shown between human myoglobin and lupine leghemoglobin, illustrating identities (orange boxes) and conservative substitutions (yellow). These sequences are 23% identical.</a:t>
            </a:r>
            <a:endParaRPr lang="en-US" dirty="0" smtClean="0">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6.14 BLAST search results. </a:t>
            </a:r>
            <a:r>
              <a:rPr lang="en-US" sz="1200" b="0" i="0" u="none" strike="noStrike" kern="1200" baseline="0" dirty="0" smtClean="0">
                <a:solidFill>
                  <a:schemeClr val="tx1"/>
                </a:solidFill>
                <a:latin typeface="+mn-lt"/>
                <a:ea typeface="+mn-ea"/>
                <a:cs typeface="+mn-cs"/>
              </a:rPr>
              <a:t>Part of the results from a BLAST search of the nonredundant (nr) protein sequence database using the sequence of ribose 5-phosphate isomerase (also called phosphopentose isomerase, Chapter 20) from </a:t>
            </a:r>
            <a:r>
              <a:rPr lang="en-US" sz="1200" b="0" i="1" u="none" strike="noStrike" kern="1200" baseline="0" dirty="0" smtClean="0">
                <a:solidFill>
                  <a:schemeClr val="tx1"/>
                </a:solidFill>
                <a:latin typeface="+mn-lt"/>
                <a:ea typeface="+mn-ea"/>
                <a:cs typeface="+mn-cs"/>
              </a:rPr>
              <a:t>E. coli </a:t>
            </a:r>
            <a:r>
              <a:rPr lang="en-US" sz="1200" b="0" i="0" u="none" strike="noStrike" kern="1200" baseline="0" dirty="0" smtClean="0">
                <a:solidFill>
                  <a:schemeClr val="tx1"/>
                </a:solidFill>
                <a:latin typeface="+mn-lt"/>
                <a:ea typeface="+mn-ea"/>
                <a:cs typeface="+mn-cs"/>
              </a:rPr>
              <a:t>as a query. Among the thousands of sequences found is the orthologous sequence from humans, and the alignment between these sequences is shown (highlighted in yellow). The number of sequences with this level of similarity expected to be in the database by chance is 2 x 10</a:t>
            </a:r>
            <a:r>
              <a:rPr lang="en-US" sz="1200" b="0" i="0" u="none" strike="noStrike" kern="1200" baseline="30000" dirty="0" smtClean="0">
                <a:solidFill>
                  <a:schemeClr val="tx1"/>
                </a:solidFill>
                <a:latin typeface="+mn-lt"/>
                <a:ea typeface="+mn-ea"/>
                <a:cs typeface="+mn-cs"/>
              </a:rPr>
              <a:t>-27 </a:t>
            </a:r>
            <a:r>
              <a:rPr lang="en-US" sz="1200" b="0" i="0" u="none" strike="noStrike" kern="1200" baseline="0" dirty="0" smtClean="0">
                <a:solidFill>
                  <a:schemeClr val="tx1"/>
                </a:solidFill>
                <a:latin typeface="+mn-lt"/>
                <a:ea typeface="+mn-ea"/>
                <a:cs typeface="+mn-cs"/>
              </a:rPr>
              <a:t>as shown by the E value (highlighted in red). Because this value is much less than 1, the observed sequence alignment is highly significant.</a:t>
            </a:r>
            <a:endParaRPr lang="en-US" dirty="0"/>
          </a:p>
        </p:txBody>
      </p:sp>
      <p:sp>
        <p:nvSpPr>
          <p:cNvPr id="4" name="Slide Number Placeholder 3"/>
          <p:cNvSpPr>
            <a:spLocks noGrp="1"/>
          </p:cNvSpPr>
          <p:nvPr>
            <p:ph type="sldNum" sz="quarter" idx="10"/>
          </p:nvPr>
        </p:nvSpPr>
        <p:spPr/>
        <p:txBody>
          <a:bodyPr/>
          <a:lstStyle/>
          <a:p>
            <a:fld id="{4640597F-94F9-874F-9257-EEEB97B45BBF}" type="slidenum">
              <a:rPr lang="en-US" smtClean="0"/>
              <a:t>24</a:t>
            </a:fld>
            <a:endParaRPr lang="en-US" dirty="0"/>
          </a:p>
        </p:txBody>
      </p:sp>
    </p:spTree>
    <p:extLst>
      <p:ext uri="{BB962C8B-B14F-4D97-AF65-F5344CB8AC3E}">
        <p14:creationId xmlns:p14="http://schemas.microsoft.com/office/powerpoint/2010/main" val="11048091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A3050621-0650-1944-8155-6056A845DCA3}" type="slidenum">
              <a:rPr lang="en-US"/>
              <a:pPr>
                <a:defRPr/>
              </a:pPr>
              <a:t>26</a:t>
            </a:fld>
            <a:endParaRPr lang="en-US" dirty="0"/>
          </a:p>
        </p:txBody>
      </p:sp>
      <p:sp>
        <p:nvSpPr>
          <p:cNvPr id="15872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8723" name="Rectangle 3"/>
          <p:cNvSpPr>
            <a:spLocks noGrp="1" noChangeArrowheads="1"/>
          </p:cNvSpPr>
          <p:nvPr>
            <p:ph type="body" idx="1"/>
          </p:nvPr>
        </p:nvSpPr>
        <p:spPr/>
        <p:txBody>
          <a:bodyPr/>
          <a:lstStyle/>
          <a:p>
            <a:r>
              <a:rPr lang="en-US" sz="1200" b="1" i="0" u="none" strike="noStrike" kern="1200" baseline="0" dirty="0" smtClean="0">
                <a:solidFill>
                  <a:schemeClr val="tx1"/>
                </a:solidFill>
                <a:latin typeface="+mn-lt"/>
                <a:ea typeface="+mn-ea"/>
                <a:cs typeface="+mn-cs"/>
              </a:rPr>
              <a:t>FIGURE 6.15 Conservation of three-dimensional structure</a:t>
            </a:r>
            <a:r>
              <a:rPr lang="en-US" sz="1200" b="0" i="0" u="none" strike="noStrike" kern="1200" baseline="0" dirty="0" smtClean="0">
                <a:solidFill>
                  <a:schemeClr val="tx1"/>
                </a:solidFill>
                <a:latin typeface="+mn-lt"/>
                <a:ea typeface="+mn-ea"/>
                <a:cs typeface="+mn-cs"/>
              </a:rPr>
              <a:t>. The tertiary structures of human hemoglobin (α chain), human myoglobin, and lupine leghemoglobin are conserved. Each heme group contains an iron atom to which oxygen binds. [Drawn from 1HBB.pdb, 1MBD.pdb, and 1GDJ.pdb.]</a:t>
            </a:r>
            <a:endParaRPr lang="en-US" dirty="0" smtClean="0">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2266D1DF-353D-F040-B9C6-026D7193236A}" type="slidenum">
              <a:rPr lang="en-US"/>
              <a:pPr>
                <a:defRPr/>
              </a:pPr>
              <a:t>27</a:t>
            </a:fld>
            <a:endParaRPr lang="en-US" dirty="0"/>
          </a:p>
        </p:txBody>
      </p:sp>
      <p:sp>
        <p:nvSpPr>
          <p:cNvPr id="15974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9747" name="Rectangle 3"/>
          <p:cNvSpPr>
            <a:spLocks noGrp="1" noChangeArrowheads="1"/>
          </p:cNvSpPr>
          <p:nvPr>
            <p:ph type="body" idx="1"/>
          </p:nvPr>
        </p:nvSpPr>
        <p:spPr/>
        <p:txBody>
          <a:bodyPr/>
          <a:lstStyle/>
          <a:p>
            <a:r>
              <a:rPr lang="en-US" sz="1200" b="1" i="0" u="none" strike="noStrike" kern="1200" baseline="0" dirty="0" smtClean="0">
                <a:solidFill>
                  <a:schemeClr val="tx1"/>
                </a:solidFill>
                <a:latin typeface="+mn-lt"/>
                <a:ea typeface="+mn-ea"/>
                <a:cs typeface="+mn-cs"/>
              </a:rPr>
              <a:t>FIGURE 6.16 Structures of actin and a large fragment of heat shock protein 70 (Hsp70)</a:t>
            </a:r>
            <a:r>
              <a:rPr lang="en-US" sz="1200" b="0" i="0" u="none" strike="noStrike" kern="1200" baseline="0" dirty="0" smtClean="0">
                <a:solidFill>
                  <a:schemeClr val="tx1"/>
                </a:solidFill>
                <a:latin typeface="+mn-lt"/>
                <a:ea typeface="+mn-ea"/>
                <a:cs typeface="+mn-cs"/>
              </a:rPr>
              <a:t>. A comparison of the identically colored elements of secondary structure reveals the overall similarity in structure despite the difference in biochemical activities. [Drawn from Actin Hsp70 1ATN.pdb and 1ATR.pdb.]</a:t>
            </a:r>
            <a:endParaRPr lang="en-US" dirty="0" smtClean="0">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1BA22781-6BD6-504E-94A3-45DDF85E26AA}" type="slidenum">
              <a:rPr lang="en-US"/>
              <a:pPr>
                <a:defRPr/>
              </a:pPr>
              <a:t>30</a:t>
            </a:fld>
            <a:endParaRPr lang="en-US" dirty="0"/>
          </a:p>
        </p:txBody>
      </p:sp>
      <p:sp>
        <p:nvSpPr>
          <p:cNvPr id="16077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60771" name="Rectangle 3"/>
          <p:cNvSpPr>
            <a:spLocks noGrp="1" noChangeArrowheads="1"/>
          </p:cNvSpPr>
          <p:nvPr>
            <p:ph type="body" idx="1"/>
          </p:nvPr>
        </p:nvSpPr>
        <p:spPr/>
        <p:txBody>
          <a:bodyPr/>
          <a:lstStyle/>
          <a:p>
            <a:r>
              <a:rPr lang="en-US" sz="1200" b="1" i="0" u="none" strike="noStrike" kern="1200" baseline="0" dirty="0" smtClean="0">
                <a:solidFill>
                  <a:schemeClr val="tx1"/>
                </a:solidFill>
                <a:latin typeface="+mn-lt"/>
                <a:ea typeface="+mn-ea"/>
                <a:cs typeface="+mn-cs"/>
              </a:rPr>
              <a:t>FIGURE 6.17 Sequence alignment of internal repeats. </a:t>
            </a:r>
            <a:r>
              <a:rPr lang="en-US" sz="1200" b="0" i="0" u="none" strike="noStrike" kern="1200" baseline="0" dirty="0" smtClean="0">
                <a:solidFill>
                  <a:schemeClr val="tx1"/>
                </a:solidFill>
                <a:latin typeface="+mn-lt"/>
                <a:ea typeface="+mn-ea"/>
                <a:cs typeface="+mn-cs"/>
              </a:rPr>
              <a:t>(A) The primary structure of the TATA-box-binding protein. (B) An alignment of the sequences of the two repeats of the TATA-box-binding protein. The amino-terminal repeat is shown in red and the carboxyl-terminal repeat in blue. (C) Structure of the TATA-box-binding protein. The amino-terminal domain is shown in red and the carboxyl-terminal domain in blue. [Drawn from 1VOK.pdb.]</a:t>
            </a:r>
            <a:endParaRPr lang="en-US" dirty="0" smtClean="0">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A2F9F46C-DDAD-3D4D-AAAB-FBEA69E6D410}" type="slidenum">
              <a:rPr lang="en-US"/>
              <a:pPr>
                <a:defRPr/>
              </a:pPr>
              <a:t>31</a:t>
            </a:fld>
            <a:endParaRPr lang="en-US" dirty="0"/>
          </a:p>
        </p:txBody>
      </p:sp>
      <p:sp>
        <p:nvSpPr>
          <p:cNvPr id="16179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61795" name="Rectangle 3"/>
          <p:cNvSpPr>
            <a:spLocks noGrp="1" noChangeArrowheads="1"/>
          </p:cNvSpPr>
          <p:nvPr>
            <p:ph type="body" idx="1"/>
          </p:nvPr>
        </p:nvSpPr>
        <p:spPr/>
        <p:txBody>
          <a:bodyPr/>
          <a:lstStyle/>
          <a:p>
            <a:pPr eaLnBrk="1" hangingPunct="1">
              <a:defRPr/>
            </a:pPr>
            <a:endParaRPr lang="en-US" dirty="0" smtClean="0">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E4D5A5AF-93C0-B841-950E-2F9B5B641FBE}" type="slidenum">
              <a:rPr lang="en-US"/>
              <a:pPr>
                <a:defRPr/>
              </a:pPr>
              <a:t>32</a:t>
            </a:fld>
            <a:endParaRPr lang="en-US" dirty="0"/>
          </a:p>
        </p:txBody>
      </p:sp>
      <p:sp>
        <p:nvSpPr>
          <p:cNvPr id="16281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62819" name="Rectangle 3"/>
          <p:cNvSpPr>
            <a:spLocks noGrp="1" noChangeArrowheads="1"/>
          </p:cNvSpPr>
          <p:nvPr>
            <p:ph type="body" idx="1"/>
          </p:nvPr>
        </p:nvSpPr>
        <p:spPr/>
        <p:txBody>
          <a:bodyPr/>
          <a:lstStyle/>
          <a:p>
            <a:r>
              <a:rPr lang="en-US" sz="1200" b="1" i="0" u="none" strike="noStrike" kern="1200" baseline="0" dirty="0" smtClean="0">
                <a:solidFill>
                  <a:schemeClr val="tx1"/>
                </a:solidFill>
                <a:latin typeface="+mn-lt"/>
                <a:ea typeface="+mn-ea"/>
                <a:cs typeface="+mn-cs"/>
              </a:rPr>
              <a:t>FIGURE 6.18 Convergent evolution of protease active sites. </a:t>
            </a:r>
            <a:r>
              <a:rPr lang="en-US" sz="1200" b="0" i="0" u="none" strike="noStrike" kern="1200" baseline="0" dirty="0" smtClean="0">
                <a:solidFill>
                  <a:schemeClr val="tx1"/>
                </a:solidFill>
                <a:latin typeface="+mn-lt"/>
                <a:ea typeface="+mn-ea"/>
                <a:cs typeface="+mn-cs"/>
              </a:rPr>
              <a:t>The relative positions of the three key residues shown are nearly identical in the active sites of the serine proteases chymotrypsin and subtilisin.</a:t>
            </a:r>
            <a:endParaRPr lang="en-US" dirty="0" smtClean="0">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118BD342-C642-1F4B-A71B-8CE4D678889A}" type="slidenum">
              <a:rPr lang="en-US"/>
              <a:pPr>
                <a:defRPr/>
              </a:pPr>
              <a:t>33</a:t>
            </a:fld>
            <a:endParaRPr lang="en-US" dirty="0"/>
          </a:p>
        </p:txBody>
      </p:sp>
      <p:sp>
        <p:nvSpPr>
          <p:cNvPr id="16384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63843" name="Rectangle 3"/>
          <p:cNvSpPr>
            <a:spLocks noGrp="1" noChangeArrowheads="1"/>
          </p:cNvSpPr>
          <p:nvPr>
            <p:ph type="body" idx="1"/>
          </p:nvPr>
        </p:nvSpPr>
        <p:spPr/>
        <p:txBody>
          <a:bodyPr/>
          <a:lstStyle/>
          <a:p>
            <a:r>
              <a:rPr lang="en-US" sz="1200" b="1" i="0" u="none" strike="noStrike" kern="1200" baseline="0" dirty="0" smtClean="0">
                <a:solidFill>
                  <a:schemeClr val="tx1"/>
                </a:solidFill>
                <a:latin typeface="+mn-lt"/>
                <a:ea typeface="+mn-ea"/>
                <a:cs typeface="+mn-cs"/>
              </a:rPr>
              <a:t>FIGURE 6.19 Structures of mammalian chymotrypsin and bacterial subtilisin. </a:t>
            </a:r>
            <a:r>
              <a:rPr lang="en-US" sz="1200" b="0" i="0" u="none" strike="noStrike" kern="1200" baseline="0" dirty="0" smtClean="0">
                <a:solidFill>
                  <a:schemeClr val="tx1"/>
                </a:solidFill>
                <a:latin typeface="+mn-lt"/>
                <a:ea typeface="+mn-ea"/>
                <a:cs typeface="+mn-cs"/>
              </a:rPr>
              <a:t>The overall structures are quite dissimilar, in stark contrast with the active sites, shown at the top of each structure. The β strands are shown in yellow and the α helices in blue. [Drawn from 1GCT.pdb. and 1SUP.pdb.]</a:t>
            </a:r>
            <a:endParaRPr lang="en-US" dirty="0" smtClean="0">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7D085A73-BC13-A746-8EFC-D4705BBEC871}" type="slidenum">
              <a:rPr lang="en-US"/>
              <a:pPr>
                <a:defRPr/>
              </a:pPr>
              <a:t>34</a:t>
            </a:fld>
            <a:endParaRPr lang="en-US" dirty="0"/>
          </a:p>
        </p:txBody>
      </p:sp>
      <p:sp>
        <p:nvSpPr>
          <p:cNvPr id="16486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64867" name="Rectangle 3"/>
          <p:cNvSpPr>
            <a:spLocks noGrp="1" noChangeArrowheads="1"/>
          </p:cNvSpPr>
          <p:nvPr>
            <p:ph type="body" idx="1"/>
          </p:nvPr>
        </p:nvSpPr>
        <p:spPr/>
        <p:txBody>
          <a:bodyPr/>
          <a:lstStyle/>
          <a:p>
            <a:r>
              <a:rPr lang="en-US" sz="1200" b="1" i="0" u="none" strike="noStrike" kern="1200" baseline="0" dirty="0" smtClean="0">
                <a:solidFill>
                  <a:schemeClr val="tx1"/>
                </a:solidFill>
                <a:latin typeface="+mn-lt"/>
                <a:ea typeface="+mn-ea"/>
                <a:cs typeface="+mn-cs"/>
              </a:rPr>
              <a:t>FIGURE 6.20 Comparison of RNA sequences. </a:t>
            </a:r>
            <a:r>
              <a:rPr lang="en-US" sz="1200" b="0" i="0" u="none" strike="noStrike" kern="1200" baseline="0" dirty="0" smtClean="0">
                <a:solidFill>
                  <a:schemeClr val="tx1"/>
                </a:solidFill>
                <a:latin typeface="+mn-lt"/>
                <a:ea typeface="+mn-ea"/>
                <a:cs typeface="+mn-cs"/>
              </a:rPr>
              <a:t>(A) A comparison of sequences in a part of ribosomal RNA taken from a variety of species. (B) The implied secondary structure. Green lines indicate positions at which Watson–Crick base-pairing is completely conserved in the sequences shown, whereas dots indicate positions at which Watson–Crick base-pairing is conserved in most cases.</a:t>
            </a:r>
            <a:endParaRPr lang="en-US" dirty="0" smtClean="0">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F216EC8C-9042-8F49-AA9D-F7E7FA5813B6}" type="slidenum">
              <a:rPr lang="en-US"/>
              <a:pPr>
                <a:defRPr/>
              </a:pPr>
              <a:t>35</a:t>
            </a:fld>
            <a:endParaRPr lang="en-US" dirty="0"/>
          </a:p>
        </p:txBody>
      </p:sp>
      <p:sp>
        <p:nvSpPr>
          <p:cNvPr id="16589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65891" name="Rectangle 3"/>
          <p:cNvSpPr>
            <a:spLocks noGrp="1" noChangeArrowheads="1"/>
          </p:cNvSpPr>
          <p:nvPr>
            <p:ph type="body" idx="1"/>
          </p:nvPr>
        </p:nvSpPr>
        <p:spPr/>
        <p:txBody>
          <a:bodyPr/>
          <a:lstStyle/>
          <a:p>
            <a:pPr eaLnBrk="1" hangingPunct="1">
              <a:defRPr/>
            </a:pPr>
            <a:endParaRPr lang="en-US" dirty="0" smtClean="0">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E4C8004F-9BF8-2C40-99D2-9596CAAE79F7}" type="slidenum">
              <a:rPr lang="en-US"/>
              <a:pPr>
                <a:defRPr/>
              </a:pPr>
              <a:t>36</a:t>
            </a:fld>
            <a:endParaRPr lang="en-US" dirty="0"/>
          </a:p>
        </p:txBody>
      </p:sp>
      <p:sp>
        <p:nvSpPr>
          <p:cNvPr id="16691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66915" name="Rectangle 3"/>
          <p:cNvSpPr>
            <a:spLocks noGrp="1" noChangeArrowheads="1"/>
          </p:cNvSpPr>
          <p:nvPr>
            <p:ph type="body" idx="1"/>
          </p:nvPr>
        </p:nvSpPr>
        <p:spPr/>
        <p:txBody>
          <a:bodyPr/>
          <a:lstStyle/>
          <a:p>
            <a:r>
              <a:rPr lang="en-US" sz="1200" b="1" i="0" u="none" strike="noStrike" kern="1200" baseline="0" dirty="0" smtClean="0">
                <a:solidFill>
                  <a:schemeClr val="tx1"/>
                </a:solidFill>
                <a:latin typeface="+mn-lt"/>
                <a:ea typeface="+mn-ea"/>
                <a:cs typeface="+mn-cs"/>
              </a:rPr>
              <a:t>FIGURE 6.21 An evolutionary tree for globins. </a:t>
            </a:r>
            <a:r>
              <a:rPr lang="en-US" sz="1200" b="0" i="0" u="none" strike="noStrike" kern="1200" baseline="0" dirty="0" smtClean="0">
                <a:solidFill>
                  <a:schemeClr val="tx1"/>
                </a:solidFill>
                <a:latin typeface="+mn-lt"/>
                <a:ea typeface="+mn-ea"/>
                <a:cs typeface="+mn-cs"/>
              </a:rPr>
              <a:t>The branching structure was deduced by sequence comparison, whereas the results of fossil studies provided the overall time scale showing when divergence occurred.</a:t>
            </a:r>
            <a:endParaRPr lang="en-US" dirty="0" smtClean="0">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B5D48C9A-3756-C847-A636-B2459718EFE2}" type="slidenum">
              <a:rPr lang="en-US"/>
              <a:pPr>
                <a:defRPr/>
              </a:pPr>
              <a:t>37</a:t>
            </a:fld>
            <a:endParaRPr lang="en-US" dirty="0"/>
          </a:p>
        </p:txBody>
      </p:sp>
      <p:sp>
        <p:nvSpPr>
          <p:cNvPr id="16793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67939" name="Rectangle 3"/>
          <p:cNvSpPr>
            <a:spLocks noGrp="1" noChangeArrowheads="1"/>
          </p:cNvSpPr>
          <p:nvPr>
            <p:ph type="body" idx="1"/>
          </p:nvPr>
        </p:nvSpPr>
        <p:spPr/>
        <p:txBody>
          <a:bodyPr/>
          <a:lstStyle/>
          <a:p>
            <a:r>
              <a:rPr lang="en-US" sz="1200" b="1" i="0" u="none" strike="noStrike" kern="1200" baseline="0" dirty="0" smtClean="0">
                <a:solidFill>
                  <a:schemeClr val="tx1"/>
                </a:solidFill>
                <a:latin typeface="+mn-lt"/>
                <a:ea typeface="+mn-ea"/>
                <a:cs typeface="+mn-cs"/>
              </a:rPr>
              <a:t>FIGURE 6.22 The lamprey</a:t>
            </a:r>
            <a:r>
              <a:rPr lang="en-US" sz="1200" b="0" i="0" u="none" strike="noStrike" kern="1200" baseline="0" dirty="0" smtClean="0">
                <a:solidFill>
                  <a:schemeClr val="tx1"/>
                </a:solidFill>
                <a:latin typeface="+mn-lt"/>
                <a:ea typeface="+mn-ea"/>
                <a:cs typeface="+mn-cs"/>
              </a:rPr>
              <a:t>. A jawless fish whose ancestors diverged from bony fish approximately 400 million years ago, the lamprey has hemoglobin molecules that contain only a single type of polypeptide chain. [Brent P. Kent.]</a:t>
            </a:r>
            <a:endParaRPr lang="en-US" dirty="0" smtClean="0">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6.23 Evidence of horizontal gene transfer. </a:t>
            </a:r>
            <a:r>
              <a:rPr lang="en-US" sz="1200" b="0" i="0" u="none" strike="noStrike" kern="1200" baseline="0" dirty="0" smtClean="0">
                <a:solidFill>
                  <a:schemeClr val="tx1"/>
                </a:solidFill>
                <a:latin typeface="+mn-lt"/>
                <a:ea typeface="+mn-ea"/>
                <a:cs typeface="+mn-cs"/>
              </a:rPr>
              <a:t>(A) The unicellular red alga </a:t>
            </a:r>
            <a:r>
              <a:rPr lang="en-US" sz="1200" b="0" i="1" u="none" strike="noStrike" kern="1200" baseline="0" dirty="0" smtClean="0">
                <a:solidFill>
                  <a:schemeClr val="tx1"/>
                </a:solidFill>
                <a:latin typeface="+mn-lt"/>
                <a:ea typeface="+mn-ea"/>
                <a:cs typeface="+mn-cs"/>
              </a:rPr>
              <a:t>Galdieria sulphuraria</a:t>
            </a:r>
            <a:r>
              <a:rPr lang="en-US" sz="1200" b="0" i="0" u="none" strike="noStrike" kern="1200" baseline="0" dirty="0" smtClean="0">
                <a:solidFill>
                  <a:schemeClr val="tx1"/>
                </a:solidFill>
                <a:latin typeface="+mn-lt"/>
                <a:ea typeface="+mn-ea"/>
                <a:cs typeface="+mn-cs"/>
              </a:rPr>
              <a:t> belongs to the order Cyanidiales, clearly within the eukaryotic branch of the evolutionary tree. (B) Within the completely sequenced </a:t>
            </a:r>
            <a:r>
              <a:rPr lang="en-US" sz="1200" b="0" i="1" u="none" strike="noStrike" kern="1200" baseline="0" dirty="0" smtClean="0">
                <a:solidFill>
                  <a:schemeClr val="tx1"/>
                </a:solidFill>
                <a:latin typeface="+mn-lt"/>
                <a:ea typeface="+mn-ea"/>
                <a:cs typeface="+mn-cs"/>
              </a:rPr>
              <a:t>G. sulphuraria </a:t>
            </a:r>
            <a:r>
              <a:rPr lang="en-US" sz="1200" b="0" i="0" u="none" strike="noStrike" kern="1200" baseline="0" dirty="0" smtClean="0">
                <a:solidFill>
                  <a:schemeClr val="tx1"/>
                </a:solidFill>
                <a:latin typeface="+mn-lt"/>
                <a:ea typeface="+mn-ea"/>
                <a:cs typeface="+mn-cs"/>
              </a:rPr>
              <a:t>genome, two ORFs encode proteins involved in transport of arsenate ions across membranes. Alignment of these ORFs against orthologs from a variety of species reveals that these pumps are most closely related to their bacterial counterparts, suggesting that a horizontal gene transfer event occurred during the evolution of this species. [(A) Information from Dr. Gerald Schönknecht; (B) Information from G. Schönknecht et al. </a:t>
            </a:r>
            <a:r>
              <a:rPr lang="en-US" sz="1200" b="0" i="1" u="none" strike="noStrike" kern="1200" baseline="0" dirty="0" smtClean="0">
                <a:solidFill>
                  <a:schemeClr val="tx1"/>
                </a:solidFill>
                <a:latin typeface="+mn-lt"/>
                <a:ea typeface="+mn-ea"/>
                <a:cs typeface="+mn-cs"/>
              </a:rPr>
              <a:t>Science </a:t>
            </a:r>
            <a:r>
              <a:rPr lang="en-US" sz="1200" b="0" i="0" u="none" strike="noStrike" kern="1200" baseline="0" dirty="0" smtClean="0">
                <a:solidFill>
                  <a:schemeClr val="tx1"/>
                </a:solidFill>
                <a:latin typeface="+mn-lt"/>
                <a:ea typeface="+mn-ea"/>
                <a:cs typeface="+mn-cs"/>
              </a:rPr>
              <a:t>339:1207–1210, 2013, Fig. 3.]</a:t>
            </a:r>
            <a:endParaRPr lang="en-US" dirty="0"/>
          </a:p>
        </p:txBody>
      </p:sp>
      <p:sp>
        <p:nvSpPr>
          <p:cNvPr id="4" name="Slide Number Placeholder 3"/>
          <p:cNvSpPr>
            <a:spLocks noGrp="1"/>
          </p:cNvSpPr>
          <p:nvPr>
            <p:ph type="sldNum" sz="quarter" idx="10"/>
          </p:nvPr>
        </p:nvSpPr>
        <p:spPr/>
        <p:txBody>
          <a:bodyPr/>
          <a:lstStyle/>
          <a:p>
            <a:fld id="{4640597F-94F9-874F-9257-EEEB97B45BBF}" type="slidenum">
              <a:rPr lang="en-US" smtClean="0"/>
              <a:t>39</a:t>
            </a:fld>
            <a:endParaRPr lang="en-US" dirty="0"/>
          </a:p>
        </p:txBody>
      </p:sp>
    </p:spTree>
    <p:extLst>
      <p:ext uri="{BB962C8B-B14F-4D97-AF65-F5344CB8AC3E}">
        <p14:creationId xmlns:p14="http://schemas.microsoft.com/office/powerpoint/2010/main" val="23260891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7FA2CF56-AF58-9B49-84F4-3DAD200A96C1}" type="slidenum">
              <a:rPr lang="en-US"/>
              <a:pPr>
                <a:defRPr/>
              </a:pPr>
              <a:t>41</a:t>
            </a:fld>
            <a:endParaRPr lang="en-US" dirty="0"/>
          </a:p>
        </p:txBody>
      </p:sp>
      <p:sp>
        <p:nvSpPr>
          <p:cNvPr id="16896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68963" name="Rectangle 3"/>
          <p:cNvSpPr>
            <a:spLocks noGrp="1" noChangeArrowheads="1"/>
          </p:cNvSpPr>
          <p:nvPr>
            <p:ph type="body" idx="1"/>
          </p:nvPr>
        </p:nvSpPr>
        <p:spPr/>
        <p:txBody>
          <a:bodyPr/>
          <a:lstStyle/>
          <a:p>
            <a:r>
              <a:rPr lang="en-US" sz="1200" b="1" i="0" u="none" strike="noStrike" kern="1200" baseline="0" dirty="0" smtClean="0">
                <a:solidFill>
                  <a:schemeClr val="tx1"/>
                </a:solidFill>
                <a:latin typeface="+mn-lt"/>
                <a:ea typeface="+mn-ea"/>
                <a:cs typeface="+mn-cs"/>
              </a:rPr>
              <a:t>FIGURE 6.24 Placing Neanderthals and Denisovans on an evolutionary tree. </a:t>
            </a:r>
            <a:r>
              <a:rPr lang="en-US" sz="1200" b="0" i="0" u="none" strike="noStrike" kern="1200" baseline="0" dirty="0" smtClean="0">
                <a:solidFill>
                  <a:schemeClr val="tx1"/>
                </a:solidFill>
                <a:latin typeface="+mn-lt"/>
                <a:ea typeface="+mn-ea"/>
                <a:cs typeface="+mn-cs"/>
              </a:rPr>
              <a:t>Comparison of DNA sequences revealed that neither Neanderthals nor the Denisovans are on the line of direct descent leading to Homo sapiens but, instead, branched off earlier and then became extinct.</a:t>
            </a:r>
            <a:endParaRPr lang="en-US" dirty="0" smtClean="0">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590DB806-7A99-6147-8965-ACB92F2D6853}" type="slidenum">
              <a:rPr lang="en-US"/>
              <a:pPr>
                <a:defRPr/>
              </a:pPr>
              <a:t>43</a:t>
            </a:fld>
            <a:endParaRPr lang="en-US" dirty="0"/>
          </a:p>
        </p:txBody>
      </p:sp>
      <p:sp>
        <p:nvSpPr>
          <p:cNvPr id="16998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69987" name="Rectangle 3"/>
          <p:cNvSpPr>
            <a:spLocks noGrp="1" noChangeArrowheads="1"/>
          </p:cNvSpPr>
          <p:nvPr>
            <p:ph type="body" idx="1"/>
          </p:nvPr>
        </p:nvSpPr>
        <p:spPr/>
        <p:txBody>
          <a:bodyPr/>
          <a:lstStyle/>
          <a:p>
            <a:r>
              <a:rPr lang="en-US" sz="1200" b="1" i="0" u="none" strike="noStrike" kern="1200" baseline="0" dirty="0" smtClean="0">
                <a:solidFill>
                  <a:schemeClr val="tx1"/>
                </a:solidFill>
                <a:latin typeface="+mn-lt"/>
                <a:ea typeface="+mn-ea"/>
                <a:cs typeface="+mn-cs"/>
              </a:rPr>
              <a:t>FIGURE 6.25 Evolution in the laboratory. </a:t>
            </a:r>
            <a:r>
              <a:rPr lang="en-US" sz="1200" b="0" i="0" u="none" strike="noStrike" kern="1200" baseline="0" dirty="0" smtClean="0">
                <a:solidFill>
                  <a:schemeClr val="tx1"/>
                </a:solidFill>
                <a:latin typeface="+mn-lt"/>
                <a:ea typeface="+mn-ea"/>
                <a:cs typeface="+mn-cs"/>
              </a:rPr>
              <a:t>A collection of RNA molecules of random sequences is synthesized by combinatorial chemistry. This collection is selected for the ability to bind ATP by passing the RNA through an ATP affinity column (Section 3.1). The ATP-binding RNA molecules are released from the column by washing with excess ATP and then replicated. The process of selection and replication is then repeated several times. The final RNA products with significant ATP-binding ability are isolated and characterized.</a:t>
            </a:r>
            <a:endParaRPr lang="en-US" dirty="0" smtClean="0">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EADC9D4E-A793-494E-8B79-AEF019DD146D}" type="slidenum">
              <a:rPr lang="en-US"/>
              <a:pPr>
                <a:defRPr/>
              </a:pPr>
              <a:t>44</a:t>
            </a:fld>
            <a:endParaRPr lang="en-US" dirty="0"/>
          </a:p>
        </p:txBody>
      </p:sp>
      <p:sp>
        <p:nvSpPr>
          <p:cNvPr id="17101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71011" name="Rectangle 3"/>
          <p:cNvSpPr>
            <a:spLocks noGrp="1" noChangeArrowheads="1"/>
          </p:cNvSpPr>
          <p:nvPr>
            <p:ph type="body" idx="1"/>
          </p:nvPr>
        </p:nvSpPr>
        <p:spPr/>
        <p:txBody>
          <a:bodyPr/>
          <a:lstStyle/>
          <a:p>
            <a:r>
              <a:rPr lang="en-US" sz="1200" b="1" i="0" u="none" strike="noStrike" kern="1200" baseline="0" dirty="0" smtClean="0">
                <a:solidFill>
                  <a:schemeClr val="tx1"/>
                </a:solidFill>
                <a:latin typeface="+mn-lt"/>
                <a:ea typeface="+mn-ea"/>
                <a:cs typeface="+mn-cs"/>
              </a:rPr>
              <a:t>FIGURE 6.26 A conserved secondary structure. </a:t>
            </a:r>
            <a:r>
              <a:rPr lang="en-US" sz="1200" b="0" i="0" u="none" strike="noStrike" kern="1200" baseline="0" dirty="0" smtClean="0">
                <a:solidFill>
                  <a:schemeClr val="tx1"/>
                </a:solidFill>
                <a:latin typeface="+mn-lt"/>
                <a:ea typeface="+mn-ea"/>
                <a:cs typeface="+mn-cs"/>
              </a:rPr>
              <a:t>The secondary structure shown is common to RNA molecules selected for ATP binding.</a:t>
            </a:r>
            <a:endParaRPr lang="en-US" dirty="0" smtClean="0">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481E2EC6-C873-294A-8B0B-FFF6A3F9A178}" type="slidenum">
              <a:rPr lang="en-US"/>
              <a:pPr>
                <a:defRPr/>
              </a:pPr>
              <a:t>45</a:t>
            </a:fld>
            <a:endParaRPr lang="en-US" dirty="0"/>
          </a:p>
        </p:txBody>
      </p:sp>
      <p:sp>
        <p:nvSpPr>
          <p:cNvPr id="17203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72035" name="Rectangle 3"/>
          <p:cNvSpPr>
            <a:spLocks noGrp="1" noChangeArrowheads="1"/>
          </p:cNvSpPr>
          <p:nvPr>
            <p:ph type="body" idx="1"/>
          </p:nvPr>
        </p:nvSpPr>
        <p:spPr/>
        <p:txBody>
          <a:bodyPr/>
          <a:lstStyle/>
          <a:p>
            <a:r>
              <a:rPr lang="en-US" sz="1200" b="1" i="0" u="none" strike="noStrike" kern="1200" baseline="0" dirty="0" smtClean="0">
                <a:solidFill>
                  <a:schemeClr val="tx1"/>
                </a:solidFill>
                <a:latin typeface="+mn-lt"/>
                <a:ea typeface="+mn-ea"/>
                <a:cs typeface="+mn-cs"/>
              </a:rPr>
              <a:t>FIGURE 6.27 An evolved ATP-binding RNA molecule</a:t>
            </a:r>
            <a:r>
              <a:rPr lang="en-US" sz="1200" b="0" i="0" u="none" strike="noStrike" kern="1200" baseline="0" dirty="0" smtClean="0">
                <a:solidFill>
                  <a:schemeClr val="tx1"/>
                </a:solidFill>
                <a:latin typeface="+mn-lt"/>
                <a:ea typeface="+mn-ea"/>
                <a:cs typeface="+mn-cs"/>
              </a:rPr>
              <a:t>. (A) The Watson–Crick base-pairing pattern of an RNA molecule selected to bind adenosine nucleotides. (B) The NMR structure of this RNA molecule reveals the deep pocket into which the ATP molecule is bound. (C) In this surface representation, the ATP molecule has been removed to enable visualization of the pocket. [Drawn from 1RAW.pdb.]</a:t>
            </a:r>
            <a:endParaRPr lang="en-US" dirty="0" smtClean="0">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761F190-E59D-BF48-9762-528D858858FB}" type="datetimeFigureOut">
              <a:rPr lang="en-US" smtClean="0"/>
              <a:t>6/10/2015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F8C1303-727A-2946-8F80-13DCDCF869A0}" type="slidenum">
              <a:rPr lang="en-US" smtClean="0"/>
              <a:t>‹#›</a:t>
            </a:fld>
            <a:endParaRPr lang="en-US" dirty="0"/>
          </a:p>
        </p:txBody>
      </p:sp>
    </p:spTree>
    <p:extLst>
      <p:ext uri="{BB962C8B-B14F-4D97-AF65-F5344CB8AC3E}">
        <p14:creationId xmlns:p14="http://schemas.microsoft.com/office/powerpoint/2010/main" val="19154434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761F190-E59D-BF48-9762-528D858858FB}" type="datetimeFigureOut">
              <a:rPr lang="en-US" smtClean="0"/>
              <a:t>6/10/2015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F8C1303-727A-2946-8F80-13DCDCF869A0}" type="slidenum">
              <a:rPr lang="en-US" smtClean="0"/>
              <a:t>‹#›</a:t>
            </a:fld>
            <a:endParaRPr lang="en-US" dirty="0"/>
          </a:p>
        </p:txBody>
      </p:sp>
    </p:spTree>
    <p:extLst>
      <p:ext uri="{BB962C8B-B14F-4D97-AF65-F5344CB8AC3E}">
        <p14:creationId xmlns:p14="http://schemas.microsoft.com/office/powerpoint/2010/main" val="7659390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761F190-E59D-BF48-9762-528D858858FB}" type="datetimeFigureOut">
              <a:rPr lang="en-US" smtClean="0"/>
              <a:t>6/10/2015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F8C1303-727A-2946-8F80-13DCDCF869A0}" type="slidenum">
              <a:rPr lang="en-US" smtClean="0"/>
              <a:t>‹#›</a:t>
            </a:fld>
            <a:endParaRPr lang="en-US" dirty="0"/>
          </a:p>
        </p:txBody>
      </p:sp>
    </p:spTree>
    <p:extLst>
      <p:ext uri="{BB962C8B-B14F-4D97-AF65-F5344CB8AC3E}">
        <p14:creationId xmlns:p14="http://schemas.microsoft.com/office/powerpoint/2010/main" val="6562474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761F190-E59D-BF48-9762-528D858858FB}" type="datetimeFigureOut">
              <a:rPr lang="en-US" smtClean="0"/>
              <a:t>6/10/2015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F8C1303-727A-2946-8F80-13DCDCF869A0}" type="slidenum">
              <a:rPr lang="en-US" smtClean="0"/>
              <a:t>‹#›</a:t>
            </a:fld>
            <a:endParaRPr lang="en-US" dirty="0"/>
          </a:p>
        </p:txBody>
      </p:sp>
    </p:spTree>
    <p:extLst>
      <p:ext uri="{BB962C8B-B14F-4D97-AF65-F5344CB8AC3E}">
        <p14:creationId xmlns:p14="http://schemas.microsoft.com/office/powerpoint/2010/main" val="3044266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761F190-E59D-BF48-9762-528D858858FB}" type="datetimeFigureOut">
              <a:rPr lang="en-US" smtClean="0"/>
              <a:t>6/10/2015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F8C1303-727A-2946-8F80-13DCDCF869A0}" type="slidenum">
              <a:rPr lang="en-US" smtClean="0"/>
              <a:t>‹#›</a:t>
            </a:fld>
            <a:endParaRPr lang="en-US" dirty="0"/>
          </a:p>
        </p:txBody>
      </p:sp>
    </p:spTree>
    <p:extLst>
      <p:ext uri="{BB962C8B-B14F-4D97-AF65-F5344CB8AC3E}">
        <p14:creationId xmlns:p14="http://schemas.microsoft.com/office/powerpoint/2010/main" val="529929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761F190-E59D-BF48-9762-528D858858FB}" type="datetimeFigureOut">
              <a:rPr lang="en-US" smtClean="0"/>
              <a:t>6/10/2015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9F8C1303-727A-2946-8F80-13DCDCF869A0}" type="slidenum">
              <a:rPr lang="en-US" smtClean="0"/>
              <a:t>‹#›</a:t>
            </a:fld>
            <a:endParaRPr lang="en-US" dirty="0"/>
          </a:p>
        </p:txBody>
      </p:sp>
    </p:spTree>
    <p:extLst>
      <p:ext uri="{BB962C8B-B14F-4D97-AF65-F5344CB8AC3E}">
        <p14:creationId xmlns:p14="http://schemas.microsoft.com/office/powerpoint/2010/main" val="18681344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61F190-E59D-BF48-9762-528D858858FB}" type="datetimeFigureOut">
              <a:rPr lang="en-US" smtClean="0"/>
              <a:t>6/10/2015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F8C1303-727A-2946-8F80-13DCDCF869A0}" type="slidenum">
              <a:rPr lang="en-US" smtClean="0"/>
              <a:t>‹#›</a:t>
            </a:fld>
            <a:endParaRPr lang="en-US" dirty="0"/>
          </a:p>
        </p:txBody>
      </p:sp>
    </p:spTree>
    <p:extLst>
      <p:ext uri="{BB962C8B-B14F-4D97-AF65-F5344CB8AC3E}">
        <p14:creationId xmlns:p14="http://schemas.microsoft.com/office/powerpoint/2010/main" val="1339929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761F190-E59D-BF48-9762-528D858858FB}" type="datetimeFigureOut">
              <a:rPr lang="en-US" smtClean="0"/>
              <a:t>6/10/2015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F8C1303-727A-2946-8F80-13DCDCF869A0}" type="slidenum">
              <a:rPr lang="en-US" smtClean="0"/>
              <a:t>‹#›</a:t>
            </a:fld>
            <a:endParaRPr lang="en-US" dirty="0"/>
          </a:p>
        </p:txBody>
      </p:sp>
    </p:spTree>
    <p:extLst>
      <p:ext uri="{BB962C8B-B14F-4D97-AF65-F5344CB8AC3E}">
        <p14:creationId xmlns:p14="http://schemas.microsoft.com/office/powerpoint/2010/main" val="34376325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761F190-E59D-BF48-9762-528D858858FB}" type="datetimeFigureOut">
              <a:rPr lang="en-US" smtClean="0"/>
              <a:t>6/10/2015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F8C1303-727A-2946-8F80-13DCDCF869A0}" type="slidenum">
              <a:rPr lang="en-US" smtClean="0"/>
              <a:t>‹#›</a:t>
            </a:fld>
            <a:endParaRPr lang="en-US" dirty="0"/>
          </a:p>
        </p:txBody>
      </p:sp>
    </p:spTree>
    <p:extLst>
      <p:ext uri="{BB962C8B-B14F-4D97-AF65-F5344CB8AC3E}">
        <p14:creationId xmlns:p14="http://schemas.microsoft.com/office/powerpoint/2010/main" val="32113815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761F190-E59D-BF48-9762-528D858858FB}" type="datetimeFigureOut">
              <a:rPr lang="en-US" smtClean="0"/>
              <a:t>6/10/2015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F8C1303-727A-2946-8F80-13DCDCF869A0}" type="slidenum">
              <a:rPr lang="en-US" smtClean="0"/>
              <a:t>‹#›</a:t>
            </a:fld>
            <a:endParaRPr lang="en-US" dirty="0"/>
          </a:p>
        </p:txBody>
      </p:sp>
    </p:spTree>
    <p:extLst>
      <p:ext uri="{BB962C8B-B14F-4D97-AF65-F5344CB8AC3E}">
        <p14:creationId xmlns:p14="http://schemas.microsoft.com/office/powerpoint/2010/main" val="15590558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761F190-E59D-BF48-9762-528D858858FB}" type="datetimeFigureOut">
              <a:rPr lang="en-US" smtClean="0"/>
              <a:t>6/10/2015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F8C1303-727A-2946-8F80-13DCDCF869A0}" type="slidenum">
              <a:rPr lang="en-US" smtClean="0"/>
              <a:t>‹#›</a:t>
            </a:fld>
            <a:endParaRPr lang="en-US" dirty="0"/>
          </a:p>
        </p:txBody>
      </p:sp>
    </p:spTree>
    <p:extLst>
      <p:ext uri="{BB962C8B-B14F-4D97-AF65-F5344CB8AC3E}">
        <p14:creationId xmlns:p14="http://schemas.microsoft.com/office/powerpoint/2010/main" val="36086898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61F190-E59D-BF48-9762-528D858858FB}" type="datetimeFigureOut">
              <a:rPr lang="en-US" smtClean="0"/>
              <a:t>6/10/2015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8C1303-727A-2946-8F80-13DCDCF869A0}" type="slidenum">
              <a:rPr lang="en-US" smtClean="0"/>
              <a:t>‹#›</a:t>
            </a:fld>
            <a:endParaRPr lang="en-US" dirty="0"/>
          </a:p>
        </p:txBody>
      </p:sp>
    </p:spTree>
    <p:extLst>
      <p:ext uri="{BB962C8B-B14F-4D97-AF65-F5344CB8AC3E}">
        <p14:creationId xmlns:p14="http://schemas.microsoft.com/office/powerpoint/2010/main" val="29392996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3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34.jpeg"/><Relationship Id="rId4" Type="http://schemas.openxmlformats.org/officeDocument/2006/relationships/image" Target="../media/image24.png"/></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igure_06_00_01.jpg"/>
          <p:cNvPicPr>
            <a:picLocks noChangeAspect="1"/>
          </p:cNvPicPr>
          <p:nvPr/>
        </p:nvPicPr>
        <p:blipFill>
          <a:blip r:embed="rId3"/>
          <a:stretch>
            <a:fillRect/>
          </a:stretch>
        </p:blipFill>
        <p:spPr>
          <a:xfrm>
            <a:off x="429094" y="0"/>
            <a:ext cx="7689370" cy="4690516"/>
          </a:xfrm>
          <a:prstGeom prst="rect">
            <a:avLst/>
          </a:prstGeom>
        </p:spPr>
      </p:pic>
      <p:pic>
        <p:nvPicPr>
          <p:cNvPr id="5" name="Picture 4" descr="figure_06_00_02.jpg"/>
          <p:cNvPicPr>
            <a:picLocks noChangeAspect="1"/>
          </p:cNvPicPr>
          <p:nvPr/>
        </p:nvPicPr>
        <p:blipFill>
          <a:blip r:embed="rId4"/>
          <a:stretch>
            <a:fillRect/>
          </a:stretch>
        </p:blipFill>
        <p:spPr>
          <a:xfrm>
            <a:off x="304800" y="4796102"/>
            <a:ext cx="8534400" cy="1487424"/>
          </a:xfrm>
          <a:prstGeom prst="rect">
            <a:avLst/>
          </a:prstGeom>
        </p:spPr>
      </p:pic>
    </p:spTree>
    <p:extLst>
      <p:ext uri="{BB962C8B-B14F-4D97-AF65-F5344CB8AC3E}">
        <p14:creationId xmlns:p14="http://schemas.microsoft.com/office/powerpoint/2010/main" val="382231958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2514600" y="1016000"/>
            <a:ext cx="4102100" cy="4826000"/>
          </a:xfrm>
          <a:prstGeom prst="rect">
            <a:avLst/>
          </a:prstGeom>
        </p:spPr>
      </p:pic>
    </p:spTree>
    <p:extLst>
      <p:ext uri="{BB962C8B-B14F-4D97-AF65-F5344CB8AC3E}">
        <p14:creationId xmlns:p14="http://schemas.microsoft.com/office/powerpoint/2010/main" val="358947378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extBox 1"/>
          <p:cNvSpPr txBox="1">
            <a:spLocks noChangeArrowheads="1"/>
          </p:cNvSpPr>
          <p:nvPr/>
        </p:nvSpPr>
        <p:spPr bwMode="auto">
          <a:xfrm>
            <a:off x="381000" y="1371600"/>
            <a:ext cx="8153400"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Structural comparisons permit the establishment of evolutionary relationships.</a:t>
            </a:r>
          </a:p>
          <a:p>
            <a:endParaRPr lang="en-US" sz="1800" dirty="0"/>
          </a:p>
          <a:p>
            <a:r>
              <a:rPr lang="en-US" sz="1800" dirty="0"/>
              <a:t>Angiogenin, a signal molecule that stimulates blood vessel growth, is structurally similar to ribonuclease, an enzyme that degrades RNA.</a:t>
            </a:r>
          </a:p>
          <a:p>
            <a:endParaRPr lang="en-US" sz="1800" dirty="0"/>
          </a:p>
          <a:p>
            <a:r>
              <a:rPr lang="en-US" sz="1800" dirty="0"/>
              <a:t>Evolutionary relatedness is also evident in amino acid and nucleotide sequence comparisons.</a:t>
            </a:r>
          </a:p>
        </p:txBody>
      </p:sp>
    </p:spTree>
    <p:extLst>
      <p:ext uri="{BB962C8B-B14F-4D97-AF65-F5344CB8AC3E}">
        <p14:creationId xmlns:p14="http://schemas.microsoft.com/office/powerpoint/2010/main" val="123545629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6_01.jpg"/>
          <p:cNvPicPr>
            <a:picLocks noChangeAspect="1"/>
          </p:cNvPicPr>
          <p:nvPr/>
        </p:nvPicPr>
        <p:blipFill>
          <a:blip r:embed="rId3"/>
          <a:stretch>
            <a:fillRect/>
          </a:stretch>
        </p:blipFill>
        <p:spPr>
          <a:xfrm>
            <a:off x="304800" y="1164335"/>
            <a:ext cx="8534400" cy="4529328"/>
          </a:xfrm>
          <a:prstGeom prst="rect">
            <a:avLst/>
          </a:prstGeom>
        </p:spPr>
      </p:pic>
    </p:spTree>
    <p:extLst>
      <p:ext uri="{BB962C8B-B14F-4D97-AF65-F5344CB8AC3E}">
        <p14:creationId xmlns:p14="http://schemas.microsoft.com/office/powerpoint/2010/main" val="52607885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6_02.jpg"/>
          <p:cNvPicPr>
            <a:picLocks noChangeAspect="1"/>
          </p:cNvPicPr>
          <p:nvPr/>
        </p:nvPicPr>
        <p:blipFill>
          <a:blip r:embed="rId3"/>
          <a:stretch>
            <a:fillRect/>
          </a:stretch>
        </p:blipFill>
        <p:spPr>
          <a:xfrm>
            <a:off x="1636776" y="192023"/>
            <a:ext cx="5870448" cy="6473952"/>
          </a:xfrm>
          <a:prstGeom prst="rect">
            <a:avLst/>
          </a:prstGeom>
        </p:spPr>
      </p:pic>
    </p:spTree>
    <p:extLst>
      <p:ext uri="{BB962C8B-B14F-4D97-AF65-F5344CB8AC3E}">
        <p14:creationId xmlns:p14="http://schemas.microsoft.com/office/powerpoint/2010/main" val="411968098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Box 3"/>
          <p:cNvSpPr txBox="1">
            <a:spLocks noChangeArrowheads="1"/>
          </p:cNvSpPr>
          <p:nvPr/>
        </p:nvSpPr>
        <p:spPr bwMode="auto">
          <a:xfrm>
            <a:off x="152400" y="1676400"/>
            <a:ext cx="899160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Homologs are two molecules that are derived from a common ancestor.</a:t>
            </a:r>
          </a:p>
          <a:p>
            <a:endParaRPr lang="en-US" sz="1800" dirty="0"/>
          </a:p>
          <a:p>
            <a:r>
              <a:rPr lang="en-US" sz="1800" dirty="0"/>
              <a:t>Paralogs are homologs present within one species and may have different functions.</a:t>
            </a:r>
          </a:p>
          <a:p>
            <a:endParaRPr lang="en-US" sz="1800" dirty="0"/>
          </a:p>
          <a:p>
            <a:r>
              <a:rPr lang="en-US" sz="1800" dirty="0"/>
              <a:t>Orthologs are homologs that are present in different species and that have similar functions.</a:t>
            </a:r>
          </a:p>
        </p:txBody>
      </p:sp>
      <p:pic>
        <p:nvPicPr>
          <p:cNvPr id="2" name="Picture 1"/>
          <p:cNvPicPr>
            <a:picLocks noChangeAspect="1"/>
          </p:cNvPicPr>
          <p:nvPr/>
        </p:nvPicPr>
        <p:blipFill>
          <a:blip r:embed="rId2"/>
          <a:stretch>
            <a:fillRect/>
          </a:stretch>
        </p:blipFill>
        <p:spPr>
          <a:xfrm>
            <a:off x="732452" y="438832"/>
            <a:ext cx="7048500" cy="660400"/>
          </a:xfrm>
          <a:prstGeom prst="rect">
            <a:avLst/>
          </a:prstGeom>
        </p:spPr>
      </p:pic>
    </p:spTree>
    <p:extLst>
      <p:ext uri="{BB962C8B-B14F-4D97-AF65-F5344CB8AC3E}">
        <p14:creationId xmlns:p14="http://schemas.microsoft.com/office/powerpoint/2010/main" val="298093695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6_03.jpg"/>
          <p:cNvPicPr>
            <a:picLocks noChangeAspect="1"/>
          </p:cNvPicPr>
          <p:nvPr/>
        </p:nvPicPr>
        <p:blipFill>
          <a:blip r:embed="rId3"/>
          <a:stretch>
            <a:fillRect/>
          </a:stretch>
        </p:blipFill>
        <p:spPr>
          <a:xfrm>
            <a:off x="560832" y="192023"/>
            <a:ext cx="8022336" cy="6473952"/>
          </a:xfrm>
          <a:prstGeom prst="rect">
            <a:avLst/>
          </a:prstGeom>
        </p:spPr>
      </p:pic>
    </p:spTree>
    <p:extLst>
      <p:ext uri="{BB962C8B-B14F-4D97-AF65-F5344CB8AC3E}">
        <p14:creationId xmlns:p14="http://schemas.microsoft.com/office/powerpoint/2010/main" val="276533743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TextBox 4"/>
          <p:cNvSpPr txBox="1">
            <a:spLocks noChangeArrowheads="1"/>
          </p:cNvSpPr>
          <p:nvPr/>
        </p:nvSpPr>
        <p:spPr bwMode="auto">
          <a:xfrm>
            <a:off x="579438" y="1143000"/>
            <a:ext cx="854710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Sequence comparisons must rule out the possibility that the similarities are due to chance.</a:t>
            </a:r>
          </a:p>
          <a:p>
            <a:endParaRPr lang="en-US" sz="1800" dirty="0"/>
          </a:p>
          <a:p>
            <a:r>
              <a:rPr lang="en-US" sz="1800" dirty="0"/>
              <a:t>Sequences are </a:t>
            </a:r>
            <a:r>
              <a:rPr lang="en-US" sz="1800" dirty="0" smtClean="0"/>
              <a:t>systematically </a:t>
            </a:r>
            <a:r>
              <a:rPr lang="en-US" sz="1800" dirty="0"/>
              <a:t>aligned to search for similarities, a process called sequence alignment.</a:t>
            </a:r>
          </a:p>
          <a:p>
            <a:endParaRPr lang="en-US" sz="1800" dirty="0"/>
          </a:p>
          <a:p>
            <a:r>
              <a:rPr lang="en-US" sz="1800" dirty="0"/>
              <a:t>The similarity of α-hemoglobin and myoglobin can be compared.</a:t>
            </a:r>
          </a:p>
        </p:txBody>
      </p:sp>
      <p:pic>
        <p:nvPicPr>
          <p:cNvPr id="5" name="Picture 4" descr="figure_06_04.jpg"/>
          <p:cNvPicPr>
            <a:picLocks noChangeAspect="1"/>
          </p:cNvPicPr>
          <p:nvPr/>
        </p:nvPicPr>
        <p:blipFill>
          <a:blip r:embed="rId3"/>
          <a:stretch>
            <a:fillRect/>
          </a:stretch>
        </p:blipFill>
        <p:spPr>
          <a:xfrm>
            <a:off x="457200" y="3067722"/>
            <a:ext cx="8139776" cy="3517546"/>
          </a:xfrm>
          <a:prstGeom prst="rect">
            <a:avLst/>
          </a:prstGeom>
        </p:spPr>
      </p:pic>
      <p:pic>
        <p:nvPicPr>
          <p:cNvPr id="2" name="Picture 1"/>
          <p:cNvPicPr>
            <a:picLocks noChangeAspect="1"/>
          </p:cNvPicPr>
          <p:nvPr/>
        </p:nvPicPr>
        <p:blipFill>
          <a:blip r:embed="rId4"/>
          <a:stretch>
            <a:fillRect/>
          </a:stretch>
        </p:blipFill>
        <p:spPr>
          <a:xfrm>
            <a:off x="1435100" y="0"/>
            <a:ext cx="6261100" cy="876300"/>
          </a:xfrm>
          <a:prstGeom prst="rect">
            <a:avLst/>
          </a:prstGeom>
        </p:spPr>
      </p:pic>
    </p:spTree>
    <p:extLst>
      <p:ext uri="{BB962C8B-B14F-4D97-AF65-F5344CB8AC3E}">
        <p14:creationId xmlns:p14="http://schemas.microsoft.com/office/powerpoint/2010/main" val="77145408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Box 4"/>
          <p:cNvSpPr txBox="1">
            <a:spLocks noChangeArrowheads="1"/>
          </p:cNvSpPr>
          <p:nvPr/>
        </p:nvSpPr>
        <p:spPr bwMode="auto">
          <a:xfrm>
            <a:off x="152400" y="1447800"/>
            <a:ext cx="8763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Sequence identities can be established by sliding one sequence past the other and counting the number of matches.</a:t>
            </a:r>
          </a:p>
        </p:txBody>
      </p:sp>
      <p:pic>
        <p:nvPicPr>
          <p:cNvPr id="2" name="Picture 1"/>
          <p:cNvPicPr>
            <a:picLocks noChangeAspect="1"/>
          </p:cNvPicPr>
          <p:nvPr/>
        </p:nvPicPr>
        <p:blipFill>
          <a:blip r:embed="rId2"/>
          <a:stretch>
            <a:fillRect/>
          </a:stretch>
        </p:blipFill>
        <p:spPr>
          <a:xfrm>
            <a:off x="1143316" y="290209"/>
            <a:ext cx="6261100" cy="876300"/>
          </a:xfrm>
          <a:prstGeom prst="rect">
            <a:avLst/>
          </a:prstGeom>
        </p:spPr>
      </p:pic>
    </p:spTree>
    <p:extLst>
      <p:ext uri="{BB962C8B-B14F-4D97-AF65-F5344CB8AC3E}">
        <p14:creationId xmlns:p14="http://schemas.microsoft.com/office/powerpoint/2010/main" val="416223505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 6.5.jpg"/>
          <p:cNvPicPr>
            <a:picLocks noChangeAspect="1"/>
          </p:cNvPicPr>
          <p:nvPr/>
        </p:nvPicPr>
        <p:blipFill>
          <a:blip r:embed="rId3"/>
          <a:stretch>
            <a:fillRect/>
          </a:stretch>
        </p:blipFill>
        <p:spPr>
          <a:xfrm>
            <a:off x="1531620" y="225552"/>
            <a:ext cx="6080760" cy="6406896"/>
          </a:xfrm>
          <a:prstGeom prst="rect">
            <a:avLst/>
          </a:prstGeom>
        </p:spPr>
      </p:pic>
    </p:spTree>
    <p:extLst>
      <p:ext uri="{BB962C8B-B14F-4D97-AF65-F5344CB8AC3E}">
        <p14:creationId xmlns:p14="http://schemas.microsoft.com/office/powerpoint/2010/main" val="210625491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Box 2"/>
          <p:cNvSpPr txBox="1">
            <a:spLocks noChangeArrowheads="1"/>
          </p:cNvSpPr>
          <p:nvPr/>
        </p:nvSpPr>
        <p:spPr bwMode="auto">
          <a:xfrm>
            <a:off x="304800" y="1828800"/>
            <a:ext cx="9144000"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dirty="0"/>
              <a:t>Searching for sequence identities sometimes yields multiple alignments that display a large number of matches.</a:t>
            </a:r>
          </a:p>
          <a:p>
            <a:endParaRPr lang="en-US" dirty="0"/>
          </a:p>
          <a:p>
            <a:r>
              <a:rPr lang="en-US" dirty="0"/>
              <a:t>Introduction of a gap into one of the sequences may allow identities found in the different alignments to be represented in one alignment.</a:t>
            </a:r>
          </a:p>
          <a:p>
            <a:endParaRPr lang="en-US" dirty="0"/>
          </a:p>
          <a:p>
            <a:r>
              <a:rPr lang="en-US" dirty="0"/>
              <a:t>However, the use of gaps may generate artificial similarities.</a:t>
            </a:r>
          </a:p>
          <a:p>
            <a:endParaRPr lang="en-US" dirty="0"/>
          </a:p>
          <a:p>
            <a:r>
              <a:rPr lang="en-US" dirty="0"/>
              <a:t>Scoring systems facilitate the use of gaps. For instance, 10 points are assigned for a match and 25 points are deducted for a gap.</a:t>
            </a:r>
          </a:p>
          <a:p>
            <a:endParaRPr lang="en-US" dirty="0"/>
          </a:p>
          <a:p>
            <a:r>
              <a:rPr lang="en-US" dirty="0"/>
              <a:t>Myoglobin and α-hemoglobin are 25.9% identical with a score of 355.</a:t>
            </a:r>
          </a:p>
        </p:txBody>
      </p:sp>
      <p:pic>
        <p:nvPicPr>
          <p:cNvPr id="2" name="Picture 1"/>
          <p:cNvPicPr>
            <a:picLocks noChangeAspect="1"/>
          </p:cNvPicPr>
          <p:nvPr/>
        </p:nvPicPr>
        <p:blipFill>
          <a:blip r:embed="rId2"/>
          <a:stretch>
            <a:fillRect/>
          </a:stretch>
        </p:blipFill>
        <p:spPr>
          <a:xfrm>
            <a:off x="1143316" y="376015"/>
            <a:ext cx="6261100" cy="876300"/>
          </a:xfrm>
          <a:prstGeom prst="rect">
            <a:avLst/>
          </a:prstGeom>
        </p:spPr>
      </p:pic>
    </p:spTree>
    <p:extLst>
      <p:ext uri="{BB962C8B-B14F-4D97-AF65-F5344CB8AC3E}">
        <p14:creationId xmlns:p14="http://schemas.microsoft.com/office/powerpoint/2010/main" val="189346560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6_06.jpg"/>
          <p:cNvPicPr>
            <a:picLocks noChangeAspect="1"/>
          </p:cNvPicPr>
          <p:nvPr/>
        </p:nvPicPr>
        <p:blipFill>
          <a:blip r:embed="rId3"/>
          <a:stretch>
            <a:fillRect/>
          </a:stretch>
        </p:blipFill>
        <p:spPr>
          <a:xfrm>
            <a:off x="304800" y="1993391"/>
            <a:ext cx="8534400" cy="2871216"/>
          </a:xfrm>
          <a:prstGeom prst="rect">
            <a:avLst/>
          </a:prstGeom>
        </p:spPr>
      </p:pic>
    </p:spTree>
    <p:extLst>
      <p:ext uri="{BB962C8B-B14F-4D97-AF65-F5344CB8AC3E}">
        <p14:creationId xmlns:p14="http://schemas.microsoft.com/office/powerpoint/2010/main" val="365154689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371600"/>
            <a:ext cx="83947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7" name="TextBox 3"/>
          <p:cNvSpPr txBox="1">
            <a:spLocks noChangeArrowheads="1"/>
          </p:cNvSpPr>
          <p:nvPr/>
        </p:nvSpPr>
        <p:spPr bwMode="auto">
          <a:xfrm>
            <a:off x="304800" y="2438400"/>
            <a:ext cx="8340725"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The significance of an alignment can be assessed by randomly rearranging the sequence of one of the sequences being compared.</a:t>
            </a:r>
          </a:p>
          <a:p>
            <a:endParaRPr lang="en-US" sz="1800" dirty="0"/>
          </a:p>
          <a:p>
            <a:r>
              <a:rPr lang="en-US" sz="1800" dirty="0"/>
              <a:t>The “shuffled” sequences are used in the sequence alignment process and the alignment scores determined.</a:t>
            </a:r>
          </a:p>
          <a:p>
            <a:endParaRPr lang="en-US" sz="1800" dirty="0"/>
          </a:p>
          <a:p>
            <a:r>
              <a:rPr lang="en-US" sz="1800" dirty="0"/>
              <a:t>If the original score is not sufficiently different from the randomized score, the original alignment could be a result of chance.</a:t>
            </a:r>
          </a:p>
        </p:txBody>
      </p:sp>
      <p:pic>
        <p:nvPicPr>
          <p:cNvPr id="2" name="Picture 1"/>
          <p:cNvPicPr>
            <a:picLocks noChangeAspect="1"/>
          </p:cNvPicPr>
          <p:nvPr/>
        </p:nvPicPr>
        <p:blipFill>
          <a:blip r:embed="rId3"/>
          <a:stretch>
            <a:fillRect/>
          </a:stretch>
        </p:blipFill>
        <p:spPr>
          <a:xfrm>
            <a:off x="1074661" y="290210"/>
            <a:ext cx="6261100" cy="876300"/>
          </a:xfrm>
          <a:prstGeom prst="rect">
            <a:avLst/>
          </a:prstGeom>
        </p:spPr>
      </p:pic>
    </p:spTree>
    <p:extLst>
      <p:ext uri="{BB962C8B-B14F-4D97-AF65-F5344CB8AC3E}">
        <p14:creationId xmlns:p14="http://schemas.microsoft.com/office/powerpoint/2010/main" val="194936495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6_07.jpg"/>
          <p:cNvPicPr>
            <a:picLocks noChangeAspect="1"/>
          </p:cNvPicPr>
          <p:nvPr/>
        </p:nvPicPr>
        <p:blipFill>
          <a:blip r:embed="rId3"/>
          <a:stretch>
            <a:fillRect/>
          </a:stretch>
        </p:blipFill>
        <p:spPr>
          <a:xfrm>
            <a:off x="304800" y="1636776"/>
            <a:ext cx="8534400" cy="3584448"/>
          </a:xfrm>
          <a:prstGeom prst="rect">
            <a:avLst/>
          </a:prstGeom>
        </p:spPr>
      </p:pic>
    </p:spTree>
    <p:extLst>
      <p:ext uri="{BB962C8B-B14F-4D97-AF65-F5344CB8AC3E}">
        <p14:creationId xmlns:p14="http://schemas.microsoft.com/office/powerpoint/2010/main" val="382697000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6_08.jpg"/>
          <p:cNvPicPr>
            <a:picLocks noChangeAspect="1"/>
          </p:cNvPicPr>
          <p:nvPr/>
        </p:nvPicPr>
        <p:blipFill>
          <a:blip r:embed="rId3"/>
          <a:stretch>
            <a:fillRect/>
          </a:stretch>
        </p:blipFill>
        <p:spPr>
          <a:xfrm>
            <a:off x="515111" y="192023"/>
            <a:ext cx="8113776" cy="6473952"/>
          </a:xfrm>
          <a:prstGeom prst="rect">
            <a:avLst/>
          </a:prstGeom>
        </p:spPr>
      </p:pic>
    </p:spTree>
    <p:extLst>
      <p:ext uri="{BB962C8B-B14F-4D97-AF65-F5344CB8AC3E}">
        <p14:creationId xmlns:p14="http://schemas.microsoft.com/office/powerpoint/2010/main" val="56876803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295400"/>
            <a:ext cx="61595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7" name="TextBox 4"/>
          <p:cNvSpPr txBox="1">
            <a:spLocks noChangeArrowheads="1"/>
          </p:cNvSpPr>
          <p:nvPr/>
        </p:nvSpPr>
        <p:spPr bwMode="auto">
          <a:xfrm>
            <a:off x="709613" y="2316163"/>
            <a:ext cx="7748587"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A more sensitive scoring system takes into account the degree of similarity of amino acids.  </a:t>
            </a:r>
          </a:p>
          <a:p>
            <a:endParaRPr lang="en-US" sz="1800" dirty="0"/>
          </a:p>
          <a:p>
            <a:r>
              <a:rPr lang="en-US" sz="1800" dirty="0"/>
              <a:t>A conservative substitution replaces one amino acid with a similar one.</a:t>
            </a:r>
          </a:p>
          <a:p>
            <a:endParaRPr lang="en-US" sz="1800" dirty="0"/>
          </a:p>
          <a:p>
            <a:r>
              <a:rPr lang="en-US" sz="1800" dirty="0"/>
              <a:t>A </a:t>
            </a:r>
            <a:r>
              <a:rPr lang="en-US" sz="1800" dirty="0" err="1" smtClean="0"/>
              <a:t>nonconservative</a:t>
            </a:r>
            <a:r>
              <a:rPr lang="en-US" sz="1800" dirty="0" smtClean="0"/>
              <a:t> </a:t>
            </a:r>
            <a:r>
              <a:rPr lang="en-US" sz="1800" dirty="0"/>
              <a:t>substitution replaces an amino acid with one with different chemical properties.</a:t>
            </a:r>
          </a:p>
          <a:p>
            <a:endParaRPr lang="en-US" sz="1800" dirty="0"/>
          </a:p>
          <a:p>
            <a:r>
              <a:rPr lang="en-US" sz="1800" dirty="0"/>
              <a:t>Amino acids substitutions can also </a:t>
            </a:r>
            <a:r>
              <a:rPr lang="en-US" sz="1800" dirty="0" smtClean="0"/>
              <a:t>be classified </a:t>
            </a:r>
            <a:r>
              <a:rPr lang="en-US" sz="1800" dirty="0"/>
              <a:t>by the fewest number of nucleotide changes to achieve the amino acid substitution.</a:t>
            </a:r>
          </a:p>
        </p:txBody>
      </p:sp>
      <p:pic>
        <p:nvPicPr>
          <p:cNvPr id="2" name="Picture 1"/>
          <p:cNvPicPr>
            <a:picLocks noChangeAspect="1"/>
          </p:cNvPicPr>
          <p:nvPr/>
        </p:nvPicPr>
        <p:blipFill>
          <a:blip r:embed="rId3"/>
          <a:stretch>
            <a:fillRect/>
          </a:stretch>
        </p:blipFill>
        <p:spPr>
          <a:xfrm>
            <a:off x="1219200" y="238726"/>
            <a:ext cx="6261100" cy="876300"/>
          </a:xfrm>
          <a:prstGeom prst="rect">
            <a:avLst/>
          </a:prstGeom>
        </p:spPr>
      </p:pic>
    </p:spTree>
    <p:extLst>
      <p:ext uri="{BB962C8B-B14F-4D97-AF65-F5344CB8AC3E}">
        <p14:creationId xmlns:p14="http://schemas.microsoft.com/office/powerpoint/2010/main" val="348676665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Box 4"/>
          <p:cNvSpPr txBox="1">
            <a:spLocks noChangeArrowheads="1"/>
          </p:cNvSpPr>
          <p:nvPr/>
        </p:nvSpPr>
        <p:spPr bwMode="auto">
          <a:xfrm>
            <a:off x="228600" y="2209800"/>
            <a:ext cx="86106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A substitution matrix, such as Blosum-62, is a scoring system that awards points for substitutions that are commonly found in nature and subtracts points for substitutions that only rarely occur.</a:t>
            </a:r>
          </a:p>
          <a:p>
            <a:endParaRPr lang="en-US" sz="1800" dirty="0"/>
          </a:p>
          <a:p>
            <a:r>
              <a:rPr lang="en-US" sz="1800" dirty="0"/>
              <a:t>The substitution matrix shows that many of the </a:t>
            </a:r>
            <a:r>
              <a:rPr lang="en-US" sz="1800" dirty="0" smtClean="0"/>
              <a:t>differences </a:t>
            </a:r>
            <a:r>
              <a:rPr lang="en-US" sz="1800" dirty="0"/>
              <a:t>between α-hemoglobin and myoglobin are conservative.</a:t>
            </a:r>
          </a:p>
          <a:p>
            <a:endParaRPr lang="en-US" sz="1800" dirty="0"/>
          </a:p>
          <a:p>
            <a:r>
              <a:rPr lang="en-US" sz="1800" dirty="0"/>
              <a:t>Substitution matrices can reveal homologies not identified by sequence alignments only.</a:t>
            </a:r>
          </a:p>
        </p:txBody>
      </p:sp>
      <p:pic>
        <p:nvPicPr>
          <p:cNvPr id="43011"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295400"/>
            <a:ext cx="61595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p:cNvPicPr>
            <a:picLocks noChangeAspect="1"/>
          </p:cNvPicPr>
          <p:nvPr/>
        </p:nvPicPr>
        <p:blipFill>
          <a:blip r:embed="rId3"/>
          <a:stretch>
            <a:fillRect/>
          </a:stretch>
        </p:blipFill>
        <p:spPr>
          <a:xfrm>
            <a:off x="1117600" y="152920"/>
            <a:ext cx="6261100" cy="876300"/>
          </a:xfrm>
          <a:prstGeom prst="rect">
            <a:avLst/>
          </a:prstGeom>
        </p:spPr>
      </p:pic>
    </p:spTree>
    <p:extLst>
      <p:ext uri="{BB962C8B-B14F-4D97-AF65-F5344CB8AC3E}">
        <p14:creationId xmlns:p14="http://schemas.microsoft.com/office/powerpoint/2010/main" val="286607226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 6.9.jpg"/>
          <p:cNvPicPr>
            <a:picLocks noChangeAspect="1"/>
          </p:cNvPicPr>
          <p:nvPr/>
        </p:nvPicPr>
        <p:blipFill>
          <a:blip r:embed="rId3"/>
          <a:stretch>
            <a:fillRect/>
          </a:stretch>
        </p:blipFill>
        <p:spPr>
          <a:xfrm>
            <a:off x="973836" y="225552"/>
            <a:ext cx="7196328" cy="6406896"/>
          </a:xfrm>
          <a:prstGeom prst="rect">
            <a:avLst/>
          </a:prstGeom>
        </p:spPr>
      </p:pic>
    </p:spTree>
    <p:extLst>
      <p:ext uri="{BB962C8B-B14F-4D97-AF65-F5344CB8AC3E}">
        <p14:creationId xmlns:p14="http://schemas.microsoft.com/office/powerpoint/2010/main" val="411039336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6_10.jpg"/>
          <p:cNvPicPr>
            <a:picLocks noChangeAspect="1"/>
          </p:cNvPicPr>
          <p:nvPr/>
        </p:nvPicPr>
        <p:blipFill>
          <a:blip r:embed="rId3"/>
          <a:stretch>
            <a:fillRect/>
          </a:stretch>
        </p:blipFill>
        <p:spPr>
          <a:xfrm>
            <a:off x="304800" y="984504"/>
            <a:ext cx="8534400" cy="4888992"/>
          </a:xfrm>
          <a:prstGeom prst="rect">
            <a:avLst/>
          </a:prstGeom>
        </p:spPr>
      </p:pic>
    </p:spTree>
    <p:extLst>
      <p:ext uri="{BB962C8B-B14F-4D97-AF65-F5344CB8AC3E}">
        <p14:creationId xmlns:p14="http://schemas.microsoft.com/office/powerpoint/2010/main" val="428336026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6_11.jpg"/>
          <p:cNvPicPr>
            <a:picLocks noChangeAspect="1"/>
          </p:cNvPicPr>
          <p:nvPr/>
        </p:nvPicPr>
        <p:blipFill>
          <a:blip r:embed="rId3"/>
          <a:stretch>
            <a:fillRect/>
          </a:stretch>
        </p:blipFill>
        <p:spPr>
          <a:xfrm>
            <a:off x="304800" y="2008632"/>
            <a:ext cx="8534400" cy="2840736"/>
          </a:xfrm>
          <a:prstGeom prst="rect">
            <a:avLst/>
          </a:prstGeom>
        </p:spPr>
      </p:pic>
    </p:spTree>
    <p:extLst>
      <p:ext uri="{BB962C8B-B14F-4D97-AF65-F5344CB8AC3E}">
        <p14:creationId xmlns:p14="http://schemas.microsoft.com/office/powerpoint/2010/main" val="187149729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6_12.jpg"/>
          <p:cNvPicPr>
            <a:picLocks noChangeAspect="1"/>
          </p:cNvPicPr>
          <p:nvPr/>
        </p:nvPicPr>
        <p:blipFill>
          <a:blip r:embed="rId3"/>
          <a:stretch>
            <a:fillRect/>
          </a:stretch>
        </p:blipFill>
        <p:spPr>
          <a:xfrm>
            <a:off x="304800" y="1143000"/>
            <a:ext cx="8534400" cy="3895344"/>
          </a:xfrm>
          <a:prstGeom prst="rect">
            <a:avLst/>
          </a:prstGeom>
        </p:spPr>
      </p:pic>
    </p:spTree>
    <p:extLst>
      <p:ext uri="{BB962C8B-B14F-4D97-AF65-F5344CB8AC3E}">
        <p14:creationId xmlns:p14="http://schemas.microsoft.com/office/powerpoint/2010/main" val="410745875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6_13.jpg"/>
          <p:cNvPicPr>
            <a:picLocks noChangeAspect="1"/>
          </p:cNvPicPr>
          <p:nvPr/>
        </p:nvPicPr>
        <p:blipFill>
          <a:blip r:embed="rId3"/>
          <a:stretch>
            <a:fillRect/>
          </a:stretch>
        </p:blipFill>
        <p:spPr>
          <a:xfrm>
            <a:off x="304800" y="2090927"/>
            <a:ext cx="8534400" cy="2676144"/>
          </a:xfrm>
          <a:prstGeom prst="rect">
            <a:avLst/>
          </a:prstGeom>
        </p:spPr>
      </p:pic>
    </p:spTree>
    <p:extLst>
      <p:ext uri="{BB962C8B-B14F-4D97-AF65-F5344CB8AC3E}">
        <p14:creationId xmlns:p14="http://schemas.microsoft.com/office/powerpoint/2010/main" val="119922047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340353" y="1290375"/>
            <a:ext cx="6210300" cy="317500"/>
          </a:xfrm>
          <a:prstGeom prst="rect">
            <a:avLst/>
          </a:prstGeom>
        </p:spPr>
      </p:pic>
      <p:pic>
        <p:nvPicPr>
          <p:cNvPr id="3" name="Picture 2"/>
          <p:cNvPicPr>
            <a:picLocks noChangeAspect="1"/>
          </p:cNvPicPr>
          <p:nvPr/>
        </p:nvPicPr>
        <p:blipFill>
          <a:blip r:embed="rId3"/>
          <a:stretch>
            <a:fillRect/>
          </a:stretch>
        </p:blipFill>
        <p:spPr>
          <a:xfrm>
            <a:off x="1289553" y="152920"/>
            <a:ext cx="6261100" cy="876300"/>
          </a:xfrm>
          <a:prstGeom prst="rect">
            <a:avLst/>
          </a:prstGeom>
        </p:spPr>
      </p:pic>
      <p:sp>
        <p:nvSpPr>
          <p:cNvPr id="4" name="TextBox 3"/>
          <p:cNvSpPr txBox="1"/>
          <p:nvPr/>
        </p:nvSpPr>
        <p:spPr>
          <a:xfrm>
            <a:off x="755206" y="2179457"/>
            <a:ext cx="7655043" cy="1754327"/>
          </a:xfrm>
          <a:prstGeom prst="rect">
            <a:avLst/>
          </a:prstGeom>
          <a:noFill/>
        </p:spPr>
        <p:txBody>
          <a:bodyPr wrap="square" rtlCol="0">
            <a:spAutoFit/>
          </a:bodyPr>
          <a:lstStyle/>
          <a:p>
            <a:r>
              <a:rPr lang="en-US" dirty="0" smtClean="0"/>
              <a:t>In order to detect sequence similarities between proteins, BLAST searches are performed. BLAST stands for Basic Local Alignment Search Tool.</a:t>
            </a:r>
          </a:p>
          <a:p>
            <a:endParaRPr lang="en-US" dirty="0"/>
          </a:p>
          <a:p>
            <a:r>
              <a:rPr lang="en-US" dirty="0" smtClean="0"/>
              <a:t>The sequence under investigation is entered into the database, and a BLAST search yields a list of sequence alignments accompanied by an estimate that the alignments occurred by chance.</a:t>
            </a:r>
          </a:p>
        </p:txBody>
      </p:sp>
    </p:spTree>
    <p:extLst>
      <p:ext uri="{BB962C8B-B14F-4D97-AF65-F5344CB8AC3E}">
        <p14:creationId xmlns:p14="http://schemas.microsoft.com/office/powerpoint/2010/main" val="339115954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igure_06_14.jpg"/>
          <p:cNvPicPr>
            <a:picLocks noChangeAspect="1"/>
          </p:cNvPicPr>
          <p:nvPr/>
        </p:nvPicPr>
        <p:blipFill>
          <a:blip r:embed="rId3"/>
          <a:stretch>
            <a:fillRect/>
          </a:stretch>
        </p:blipFill>
        <p:spPr>
          <a:xfrm>
            <a:off x="1581911" y="283464"/>
            <a:ext cx="5980176" cy="6291072"/>
          </a:xfrm>
          <a:prstGeom prst="rect">
            <a:avLst/>
          </a:prstGeom>
        </p:spPr>
      </p:pic>
    </p:spTree>
    <p:extLst>
      <p:ext uri="{BB962C8B-B14F-4D97-AF65-F5344CB8AC3E}">
        <p14:creationId xmlns:p14="http://schemas.microsoft.com/office/powerpoint/2010/main" val="279910722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1371600"/>
            <a:ext cx="57531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47" name="TextBox 3"/>
          <p:cNvSpPr txBox="1">
            <a:spLocks noChangeArrowheads="1"/>
          </p:cNvSpPr>
          <p:nvPr/>
        </p:nvSpPr>
        <p:spPr bwMode="auto">
          <a:xfrm>
            <a:off x="304800" y="2057400"/>
            <a:ext cx="8839200"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Tertiary structure is more closely associated with function than </a:t>
            </a:r>
            <a:r>
              <a:rPr lang="en-US" sz="1800" dirty="0" smtClean="0"/>
              <a:t>is primary </a:t>
            </a:r>
            <a:r>
              <a:rPr lang="en-US" sz="1800" dirty="0"/>
              <a:t>structure.</a:t>
            </a:r>
          </a:p>
          <a:p>
            <a:endParaRPr lang="en-US" sz="1800" dirty="0"/>
          </a:p>
          <a:p>
            <a:r>
              <a:rPr lang="en-US" sz="1800" dirty="0"/>
              <a:t>Plant leghemoglobin shows little sequence homology with other globins but is remarkably similar in structure.</a:t>
            </a:r>
          </a:p>
          <a:p>
            <a:endParaRPr lang="en-US" sz="1800" dirty="0"/>
          </a:p>
          <a:p>
            <a:r>
              <a:rPr lang="en-US" sz="1800" dirty="0"/>
              <a:t>On the basis of </a:t>
            </a:r>
            <a:r>
              <a:rPr lang="en-US" sz="1800" dirty="0" smtClean="0"/>
              <a:t>three-dimensional </a:t>
            </a:r>
            <a:r>
              <a:rPr lang="en-US" sz="1800" dirty="0"/>
              <a:t>structure, actin and </a:t>
            </a:r>
            <a:r>
              <a:rPr lang="en-US" sz="1800" dirty="0" smtClean="0"/>
              <a:t>Hsp70</a:t>
            </a:r>
            <a:r>
              <a:rPr lang="en-US" sz="1800" dirty="0"/>
              <a:t>, proteins with different biological functions, are paralogs.</a:t>
            </a:r>
          </a:p>
        </p:txBody>
      </p:sp>
      <p:pic>
        <p:nvPicPr>
          <p:cNvPr id="2" name="Picture 1"/>
          <p:cNvPicPr>
            <a:picLocks noChangeAspect="1"/>
          </p:cNvPicPr>
          <p:nvPr/>
        </p:nvPicPr>
        <p:blipFill>
          <a:blip r:embed="rId3"/>
          <a:stretch>
            <a:fillRect/>
          </a:stretch>
        </p:blipFill>
        <p:spPr>
          <a:xfrm>
            <a:off x="1407311" y="0"/>
            <a:ext cx="6604000" cy="1206500"/>
          </a:xfrm>
          <a:prstGeom prst="rect">
            <a:avLst/>
          </a:prstGeom>
        </p:spPr>
      </p:pic>
    </p:spTree>
    <p:extLst>
      <p:ext uri="{BB962C8B-B14F-4D97-AF65-F5344CB8AC3E}">
        <p14:creationId xmlns:p14="http://schemas.microsoft.com/office/powerpoint/2010/main" val="15204173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6_15.jpg"/>
          <p:cNvPicPr>
            <a:picLocks noChangeAspect="1"/>
          </p:cNvPicPr>
          <p:nvPr/>
        </p:nvPicPr>
        <p:blipFill>
          <a:blip r:embed="rId3"/>
          <a:stretch>
            <a:fillRect/>
          </a:stretch>
        </p:blipFill>
        <p:spPr>
          <a:xfrm>
            <a:off x="304800" y="1386839"/>
            <a:ext cx="8534400" cy="4084320"/>
          </a:xfrm>
          <a:prstGeom prst="rect">
            <a:avLst/>
          </a:prstGeom>
        </p:spPr>
      </p:pic>
    </p:spTree>
    <p:extLst>
      <p:ext uri="{BB962C8B-B14F-4D97-AF65-F5344CB8AC3E}">
        <p14:creationId xmlns:p14="http://schemas.microsoft.com/office/powerpoint/2010/main" val="174149787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6_16.jpg"/>
          <p:cNvPicPr>
            <a:picLocks noChangeAspect="1"/>
          </p:cNvPicPr>
          <p:nvPr/>
        </p:nvPicPr>
        <p:blipFill>
          <a:blip r:embed="rId3"/>
          <a:stretch>
            <a:fillRect/>
          </a:stretch>
        </p:blipFill>
        <p:spPr>
          <a:xfrm>
            <a:off x="304800" y="737616"/>
            <a:ext cx="8534400" cy="5382768"/>
          </a:xfrm>
          <a:prstGeom prst="rect">
            <a:avLst/>
          </a:prstGeom>
        </p:spPr>
      </p:pic>
    </p:spTree>
    <p:extLst>
      <p:ext uri="{BB962C8B-B14F-4D97-AF65-F5344CB8AC3E}">
        <p14:creationId xmlns:p14="http://schemas.microsoft.com/office/powerpoint/2010/main" val="111684463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6"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84225" y="1741588"/>
            <a:ext cx="7150100"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67" name="TextBox 3"/>
          <p:cNvSpPr txBox="1">
            <a:spLocks noChangeArrowheads="1"/>
          </p:cNvSpPr>
          <p:nvPr/>
        </p:nvSpPr>
        <p:spPr bwMode="auto">
          <a:xfrm>
            <a:off x="784225" y="2725738"/>
            <a:ext cx="775017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smtClean="0"/>
              <a:t>A sequence template, </a:t>
            </a:r>
            <a:r>
              <a:rPr lang="en-US" sz="1800" dirty="0"/>
              <a:t>a map of conserved sequences that are structurally and functionally important and are common to a particular family of proteins, allows the detection of homologies that may not be apparent with other techniques.</a:t>
            </a:r>
          </a:p>
        </p:txBody>
      </p:sp>
      <p:pic>
        <p:nvPicPr>
          <p:cNvPr id="2" name="Picture 1"/>
          <p:cNvPicPr>
            <a:picLocks noChangeAspect="1"/>
          </p:cNvPicPr>
          <p:nvPr/>
        </p:nvPicPr>
        <p:blipFill>
          <a:blip r:embed="rId3"/>
          <a:stretch>
            <a:fillRect/>
          </a:stretch>
        </p:blipFill>
        <p:spPr>
          <a:xfrm>
            <a:off x="1270000" y="151895"/>
            <a:ext cx="6604000" cy="1206500"/>
          </a:xfrm>
          <a:prstGeom prst="rect">
            <a:avLst/>
          </a:prstGeom>
        </p:spPr>
      </p:pic>
    </p:spTree>
    <p:extLst>
      <p:ext uri="{BB962C8B-B14F-4D97-AF65-F5344CB8AC3E}">
        <p14:creationId xmlns:p14="http://schemas.microsoft.com/office/powerpoint/2010/main" val="185635799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0"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1371600"/>
            <a:ext cx="561340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1" name="TextBox 5"/>
          <p:cNvSpPr txBox="1">
            <a:spLocks noChangeArrowheads="1"/>
          </p:cNvSpPr>
          <p:nvPr/>
        </p:nvSpPr>
        <p:spPr bwMode="auto">
          <a:xfrm>
            <a:off x="635000" y="2559050"/>
            <a:ext cx="82804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Many proteins have domains that are similar to one another.</a:t>
            </a:r>
          </a:p>
          <a:p>
            <a:endParaRPr lang="en-US" sz="1800" dirty="0"/>
          </a:p>
          <a:p>
            <a:r>
              <a:rPr lang="en-US" sz="1800" dirty="0"/>
              <a:t>Such repeats are detected by performing sequence alignments with the protein itself.</a:t>
            </a:r>
          </a:p>
        </p:txBody>
      </p:sp>
      <p:pic>
        <p:nvPicPr>
          <p:cNvPr id="2" name="Picture 1"/>
          <p:cNvPicPr>
            <a:picLocks noChangeAspect="1"/>
          </p:cNvPicPr>
          <p:nvPr/>
        </p:nvPicPr>
        <p:blipFill>
          <a:blip r:embed="rId3"/>
          <a:stretch>
            <a:fillRect/>
          </a:stretch>
        </p:blipFill>
        <p:spPr>
          <a:xfrm>
            <a:off x="1270000" y="0"/>
            <a:ext cx="6604000" cy="1206500"/>
          </a:xfrm>
          <a:prstGeom prst="rect">
            <a:avLst/>
          </a:prstGeom>
        </p:spPr>
      </p:pic>
    </p:spTree>
    <p:extLst>
      <p:ext uri="{BB962C8B-B14F-4D97-AF65-F5344CB8AC3E}">
        <p14:creationId xmlns:p14="http://schemas.microsoft.com/office/powerpoint/2010/main" val="364210279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igure_06_17.jpg"/>
          <p:cNvPicPr>
            <a:picLocks noChangeAspect="1"/>
          </p:cNvPicPr>
          <p:nvPr/>
        </p:nvPicPr>
        <p:blipFill>
          <a:blip r:embed="rId3"/>
          <a:stretch>
            <a:fillRect/>
          </a:stretch>
        </p:blipFill>
        <p:spPr>
          <a:xfrm>
            <a:off x="664464" y="192023"/>
            <a:ext cx="7815072" cy="6473952"/>
          </a:xfrm>
          <a:prstGeom prst="rect">
            <a:avLst/>
          </a:prstGeom>
        </p:spPr>
      </p:pic>
    </p:spTree>
    <p:extLst>
      <p:ext uri="{BB962C8B-B14F-4D97-AF65-F5344CB8AC3E}">
        <p14:creationId xmlns:p14="http://schemas.microsoft.com/office/powerpoint/2010/main" val="288536253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2"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1219200"/>
            <a:ext cx="5194300"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3" name="TextBox 3"/>
          <p:cNvSpPr txBox="1">
            <a:spLocks noChangeArrowheads="1"/>
          </p:cNvSpPr>
          <p:nvPr/>
        </p:nvSpPr>
        <p:spPr bwMode="auto">
          <a:xfrm>
            <a:off x="304800" y="1981200"/>
            <a:ext cx="8382000" cy="258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Proteins derived from a common ancestor are a result of divergent evolution. </a:t>
            </a:r>
          </a:p>
          <a:p>
            <a:endParaRPr lang="en-US" sz="1800" dirty="0"/>
          </a:p>
          <a:p>
            <a:r>
              <a:rPr lang="en-US" sz="1800" dirty="0"/>
              <a:t>Some proteins have common structural and functional features but do not share a common ancestor, a result of convergent evolution.</a:t>
            </a:r>
          </a:p>
          <a:p>
            <a:endParaRPr lang="en-US" sz="1800" dirty="0"/>
          </a:p>
          <a:p>
            <a:r>
              <a:rPr lang="en-US" sz="1800" dirty="0"/>
              <a:t>Convergent evolution is an example of proteins from different evolutionary pathways arriving at the same solution to a biochemical problem.</a:t>
            </a:r>
          </a:p>
          <a:p>
            <a:endParaRPr lang="en-US" sz="1800" dirty="0"/>
          </a:p>
          <a:p>
            <a:r>
              <a:rPr lang="en-US" sz="1800" dirty="0"/>
              <a:t>Serine proteases are examples of convergent evolution.</a:t>
            </a:r>
          </a:p>
        </p:txBody>
      </p:sp>
      <p:pic>
        <p:nvPicPr>
          <p:cNvPr id="2" name="Picture 1"/>
          <p:cNvPicPr>
            <a:picLocks noChangeAspect="1"/>
          </p:cNvPicPr>
          <p:nvPr/>
        </p:nvPicPr>
        <p:blipFill>
          <a:blip r:embed="rId4"/>
          <a:stretch>
            <a:fillRect/>
          </a:stretch>
        </p:blipFill>
        <p:spPr>
          <a:xfrm>
            <a:off x="1270000" y="0"/>
            <a:ext cx="6604000" cy="1206500"/>
          </a:xfrm>
          <a:prstGeom prst="rect">
            <a:avLst/>
          </a:prstGeom>
        </p:spPr>
      </p:pic>
    </p:spTree>
    <p:extLst>
      <p:ext uri="{BB962C8B-B14F-4D97-AF65-F5344CB8AC3E}">
        <p14:creationId xmlns:p14="http://schemas.microsoft.com/office/powerpoint/2010/main" val="290043285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6_18.jpg"/>
          <p:cNvPicPr>
            <a:picLocks noChangeAspect="1"/>
          </p:cNvPicPr>
          <p:nvPr/>
        </p:nvPicPr>
        <p:blipFill>
          <a:blip r:embed="rId3"/>
          <a:stretch>
            <a:fillRect/>
          </a:stretch>
        </p:blipFill>
        <p:spPr>
          <a:xfrm>
            <a:off x="304800" y="1094232"/>
            <a:ext cx="8534400" cy="4669536"/>
          </a:xfrm>
          <a:prstGeom prst="rect">
            <a:avLst/>
          </a:prstGeom>
        </p:spPr>
      </p:pic>
    </p:spTree>
    <p:extLst>
      <p:ext uri="{BB962C8B-B14F-4D97-AF65-F5344CB8AC3E}">
        <p14:creationId xmlns:p14="http://schemas.microsoft.com/office/powerpoint/2010/main" val="406242471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6_19.jpg"/>
          <p:cNvPicPr>
            <a:picLocks noChangeAspect="1"/>
          </p:cNvPicPr>
          <p:nvPr/>
        </p:nvPicPr>
        <p:blipFill>
          <a:blip r:embed="rId3"/>
          <a:stretch>
            <a:fillRect/>
          </a:stretch>
        </p:blipFill>
        <p:spPr>
          <a:xfrm>
            <a:off x="304800" y="1021079"/>
            <a:ext cx="8534400" cy="4815840"/>
          </a:xfrm>
          <a:prstGeom prst="rect">
            <a:avLst/>
          </a:prstGeom>
        </p:spPr>
      </p:pic>
    </p:spTree>
    <p:extLst>
      <p:ext uri="{BB962C8B-B14F-4D97-AF65-F5344CB8AC3E}">
        <p14:creationId xmlns:p14="http://schemas.microsoft.com/office/powerpoint/2010/main" val="180380438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8"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295400"/>
            <a:ext cx="6705600"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p:cNvPicPr>
            <a:picLocks noChangeAspect="1"/>
          </p:cNvPicPr>
          <p:nvPr/>
        </p:nvPicPr>
        <p:blipFill>
          <a:blip r:embed="rId4"/>
          <a:stretch>
            <a:fillRect/>
          </a:stretch>
        </p:blipFill>
        <p:spPr>
          <a:xfrm>
            <a:off x="904875" y="88900"/>
            <a:ext cx="6604000" cy="1206500"/>
          </a:xfrm>
          <a:prstGeom prst="rect">
            <a:avLst/>
          </a:prstGeom>
        </p:spPr>
      </p:pic>
      <p:pic>
        <p:nvPicPr>
          <p:cNvPr id="7" name="Picture 6" descr="Figure 6.20.jpg"/>
          <p:cNvPicPr>
            <a:picLocks noChangeAspect="1"/>
          </p:cNvPicPr>
          <p:nvPr/>
        </p:nvPicPr>
        <p:blipFill>
          <a:blip r:embed="rId5"/>
          <a:stretch>
            <a:fillRect/>
          </a:stretch>
        </p:blipFill>
        <p:spPr>
          <a:xfrm>
            <a:off x="304800" y="2031802"/>
            <a:ext cx="8534400" cy="4270248"/>
          </a:xfrm>
          <a:prstGeom prst="rect">
            <a:avLst/>
          </a:prstGeom>
        </p:spPr>
      </p:pic>
    </p:spTree>
    <p:extLst>
      <p:ext uri="{BB962C8B-B14F-4D97-AF65-F5344CB8AC3E}">
        <p14:creationId xmlns:p14="http://schemas.microsoft.com/office/powerpoint/2010/main" val="54424658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extBox 2"/>
          <p:cNvSpPr txBox="1">
            <a:spLocks noChangeArrowheads="1"/>
          </p:cNvSpPr>
          <p:nvPr/>
        </p:nvSpPr>
        <p:spPr bwMode="auto">
          <a:xfrm>
            <a:off x="914400" y="2054225"/>
            <a:ext cx="746760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The lengths of the branches of evolutionary trees connecting two proteins are proportional to the number of differences in the amino acid sequences of the two proteins.</a:t>
            </a:r>
          </a:p>
          <a:p>
            <a:endParaRPr lang="en-US" sz="1800" dirty="0"/>
          </a:p>
          <a:p>
            <a:r>
              <a:rPr lang="en-US" sz="1800" dirty="0"/>
              <a:t>Hemoglobin from lamprey consists of only a single type of subunit.</a:t>
            </a:r>
          </a:p>
        </p:txBody>
      </p:sp>
      <p:pic>
        <p:nvPicPr>
          <p:cNvPr id="2" name="Picture 1"/>
          <p:cNvPicPr>
            <a:picLocks noChangeAspect="1"/>
          </p:cNvPicPr>
          <p:nvPr/>
        </p:nvPicPr>
        <p:blipFill>
          <a:blip r:embed="rId3"/>
          <a:stretch>
            <a:fillRect/>
          </a:stretch>
        </p:blipFill>
        <p:spPr>
          <a:xfrm>
            <a:off x="914400" y="633431"/>
            <a:ext cx="6908800" cy="889000"/>
          </a:xfrm>
          <a:prstGeom prst="rect">
            <a:avLst/>
          </a:prstGeom>
        </p:spPr>
      </p:pic>
    </p:spTree>
    <p:extLst>
      <p:ext uri="{BB962C8B-B14F-4D97-AF65-F5344CB8AC3E}">
        <p14:creationId xmlns:p14="http://schemas.microsoft.com/office/powerpoint/2010/main" val="169486928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6_21.jpg"/>
          <p:cNvPicPr>
            <a:picLocks noChangeAspect="1"/>
          </p:cNvPicPr>
          <p:nvPr/>
        </p:nvPicPr>
        <p:blipFill>
          <a:blip r:embed="rId3"/>
          <a:stretch>
            <a:fillRect/>
          </a:stretch>
        </p:blipFill>
        <p:spPr>
          <a:xfrm>
            <a:off x="304800" y="478535"/>
            <a:ext cx="8534400" cy="5900928"/>
          </a:xfrm>
          <a:prstGeom prst="rect">
            <a:avLst/>
          </a:prstGeom>
        </p:spPr>
      </p:pic>
    </p:spTree>
    <p:extLst>
      <p:ext uri="{BB962C8B-B14F-4D97-AF65-F5344CB8AC3E}">
        <p14:creationId xmlns:p14="http://schemas.microsoft.com/office/powerpoint/2010/main" val="122899133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6_22.jpg"/>
          <p:cNvPicPr>
            <a:picLocks noChangeAspect="1"/>
          </p:cNvPicPr>
          <p:nvPr/>
        </p:nvPicPr>
        <p:blipFill>
          <a:blip r:embed="rId3"/>
          <a:stretch>
            <a:fillRect/>
          </a:stretch>
        </p:blipFill>
        <p:spPr>
          <a:xfrm>
            <a:off x="304800" y="347472"/>
            <a:ext cx="8534400" cy="6163056"/>
          </a:xfrm>
          <a:prstGeom prst="rect">
            <a:avLst/>
          </a:prstGeom>
        </p:spPr>
      </p:pic>
    </p:spTree>
    <p:extLst>
      <p:ext uri="{BB962C8B-B14F-4D97-AF65-F5344CB8AC3E}">
        <p14:creationId xmlns:p14="http://schemas.microsoft.com/office/powerpoint/2010/main" val="95694624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14400" y="633431"/>
            <a:ext cx="6908800" cy="889000"/>
          </a:xfrm>
          <a:prstGeom prst="rect">
            <a:avLst/>
          </a:prstGeom>
        </p:spPr>
      </p:pic>
      <p:pic>
        <p:nvPicPr>
          <p:cNvPr id="3" name="Picture 2"/>
          <p:cNvPicPr>
            <a:picLocks noChangeAspect="1"/>
          </p:cNvPicPr>
          <p:nvPr/>
        </p:nvPicPr>
        <p:blipFill>
          <a:blip r:embed="rId3"/>
          <a:stretch>
            <a:fillRect/>
          </a:stretch>
        </p:blipFill>
        <p:spPr>
          <a:xfrm>
            <a:off x="1054100" y="1793874"/>
            <a:ext cx="7023100" cy="546100"/>
          </a:xfrm>
          <a:prstGeom prst="rect">
            <a:avLst/>
          </a:prstGeom>
        </p:spPr>
      </p:pic>
      <p:sp>
        <p:nvSpPr>
          <p:cNvPr id="4" name="TextBox 3"/>
          <p:cNvSpPr txBox="1"/>
          <p:nvPr/>
        </p:nvSpPr>
        <p:spPr>
          <a:xfrm>
            <a:off x="600732" y="2900223"/>
            <a:ext cx="7894916" cy="2308324"/>
          </a:xfrm>
          <a:prstGeom prst="rect">
            <a:avLst/>
          </a:prstGeom>
          <a:noFill/>
        </p:spPr>
        <p:txBody>
          <a:bodyPr wrap="square" rtlCol="0">
            <a:spAutoFit/>
          </a:bodyPr>
          <a:lstStyle/>
          <a:p>
            <a:r>
              <a:rPr lang="en-US" dirty="0" smtClean="0"/>
              <a:t>Horizontal gene  transfer is the exchange of DNA between species that confers selective advantage on the recipient.</a:t>
            </a:r>
          </a:p>
          <a:p>
            <a:endParaRPr lang="en-US" dirty="0"/>
          </a:p>
          <a:p>
            <a:r>
              <a:rPr lang="en-US" dirty="0" smtClean="0"/>
              <a:t>Horizontal gene transfer is common among prokaryotes.</a:t>
            </a:r>
          </a:p>
          <a:p>
            <a:endParaRPr lang="en-US" dirty="0"/>
          </a:p>
          <a:p>
            <a:r>
              <a:rPr lang="en-US" dirty="0" smtClean="0"/>
              <a:t>The eukaryote </a:t>
            </a:r>
            <a:r>
              <a:rPr lang="en-US" i="1" dirty="0" smtClean="0"/>
              <a:t>Galdieria sulphuraria </a:t>
            </a:r>
            <a:r>
              <a:rPr lang="en-US" dirty="0" smtClean="0"/>
              <a:t>contains genes more closely related to bacteria and archaea. This subset of genes allows </a:t>
            </a:r>
            <a:r>
              <a:rPr lang="en-US" i="1" dirty="0" smtClean="0"/>
              <a:t>G. sulphuraria </a:t>
            </a:r>
            <a:r>
              <a:rPr lang="en-US" dirty="0" smtClean="0"/>
              <a:t>to live in hostile environments.</a:t>
            </a:r>
            <a:endParaRPr lang="en-US" dirty="0"/>
          </a:p>
        </p:txBody>
      </p:sp>
    </p:spTree>
    <p:extLst>
      <p:ext uri="{BB962C8B-B14F-4D97-AF65-F5344CB8AC3E}">
        <p14:creationId xmlns:p14="http://schemas.microsoft.com/office/powerpoint/2010/main" val="89431141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igure_06_23.jpg"/>
          <p:cNvPicPr>
            <a:picLocks noChangeAspect="1"/>
          </p:cNvPicPr>
          <p:nvPr/>
        </p:nvPicPr>
        <p:blipFill>
          <a:blip r:embed="rId3"/>
          <a:stretch>
            <a:fillRect/>
          </a:stretch>
        </p:blipFill>
        <p:spPr>
          <a:xfrm>
            <a:off x="304800" y="972311"/>
            <a:ext cx="8534400" cy="4913376"/>
          </a:xfrm>
          <a:prstGeom prst="rect">
            <a:avLst/>
          </a:prstGeom>
        </p:spPr>
      </p:pic>
    </p:spTree>
    <p:extLst>
      <p:ext uri="{BB962C8B-B14F-4D97-AF65-F5344CB8AC3E}">
        <p14:creationId xmlns:p14="http://schemas.microsoft.com/office/powerpoint/2010/main" val="189113634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8"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524000"/>
            <a:ext cx="576580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899" name="TextBox 3"/>
          <p:cNvSpPr txBox="1">
            <a:spLocks noChangeArrowheads="1"/>
          </p:cNvSpPr>
          <p:nvPr/>
        </p:nvSpPr>
        <p:spPr bwMode="auto">
          <a:xfrm>
            <a:off x="381000" y="2286000"/>
            <a:ext cx="84582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The polymerase chain reaction and DNA sequencing technology make it possible to determine the sequence of ancient DNA.</a:t>
            </a:r>
          </a:p>
        </p:txBody>
      </p:sp>
      <p:pic>
        <p:nvPicPr>
          <p:cNvPr id="2" name="Picture 1"/>
          <p:cNvPicPr>
            <a:picLocks noChangeAspect="1"/>
          </p:cNvPicPr>
          <p:nvPr/>
        </p:nvPicPr>
        <p:blipFill>
          <a:blip r:embed="rId3"/>
          <a:stretch>
            <a:fillRect/>
          </a:stretch>
        </p:blipFill>
        <p:spPr>
          <a:xfrm>
            <a:off x="1714500" y="193896"/>
            <a:ext cx="5715000" cy="889000"/>
          </a:xfrm>
          <a:prstGeom prst="rect">
            <a:avLst/>
          </a:prstGeom>
        </p:spPr>
      </p:pic>
    </p:spTree>
    <p:extLst>
      <p:ext uri="{BB962C8B-B14F-4D97-AF65-F5344CB8AC3E}">
        <p14:creationId xmlns:p14="http://schemas.microsoft.com/office/powerpoint/2010/main" val="236854550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6_24.jpg"/>
          <p:cNvPicPr>
            <a:picLocks noChangeAspect="1"/>
          </p:cNvPicPr>
          <p:nvPr/>
        </p:nvPicPr>
        <p:blipFill>
          <a:blip r:embed="rId3"/>
          <a:stretch>
            <a:fillRect/>
          </a:stretch>
        </p:blipFill>
        <p:spPr>
          <a:xfrm>
            <a:off x="1475232" y="192023"/>
            <a:ext cx="6193536" cy="6473952"/>
          </a:xfrm>
          <a:prstGeom prst="rect">
            <a:avLst/>
          </a:prstGeom>
        </p:spPr>
      </p:pic>
    </p:spTree>
    <p:extLst>
      <p:ext uri="{BB962C8B-B14F-4D97-AF65-F5344CB8AC3E}">
        <p14:creationId xmlns:p14="http://schemas.microsoft.com/office/powerpoint/2010/main" val="14455151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970"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1676400"/>
            <a:ext cx="52578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635060" y="2438400"/>
            <a:ext cx="8272939" cy="2031325"/>
          </a:xfrm>
          <a:prstGeom prst="rect">
            <a:avLst/>
          </a:prstGeom>
          <a:noFill/>
        </p:spPr>
        <p:txBody>
          <a:bodyPr wrap="square">
            <a:spAutoFit/>
          </a:bodyPr>
          <a:lstStyle/>
          <a:p>
            <a:pPr>
              <a:defRPr/>
            </a:pPr>
            <a:r>
              <a:rPr lang="en-US" sz="1800" dirty="0"/>
              <a:t>The use of combinatorial chemistry makes it possible to observe molecular evolution in the laboratory.</a:t>
            </a:r>
          </a:p>
          <a:p>
            <a:pPr>
              <a:defRPr/>
            </a:pPr>
            <a:endParaRPr lang="en-US" sz="1800" dirty="0"/>
          </a:p>
          <a:p>
            <a:pPr>
              <a:defRPr/>
            </a:pPr>
            <a:r>
              <a:rPr lang="en-US" sz="1800" dirty="0"/>
              <a:t>Three criteria are required to mimic evolution: </a:t>
            </a:r>
          </a:p>
          <a:p>
            <a:pPr marL="457200" indent="-457200">
              <a:buFontTx/>
              <a:buAutoNum type="arabicPeriod"/>
              <a:defRPr/>
            </a:pPr>
            <a:r>
              <a:rPr lang="en-US" sz="1800" dirty="0"/>
              <a:t>A diverse population.</a:t>
            </a:r>
          </a:p>
          <a:p>
            <a:pPr marL="457200" indent="-457200">
              <a:buFontTx/>
              <a:buAutoNum type="arabicPeriod"/>
              <a:defRPr/>
            </a:pPr>
            <a:r>
              <a:rPr lang="en-US" sz="1800" dirty="0"/>
              <a:t>Selective pressure to allow fitness to be evident.</a:t>
            </a:r>
          </a:p>
          <a:p>
            <a:pPr marL="457200" indent="-457200">
              <a:buFontTx/>
              <a:buAutoNum type="arabicPeriod"/>
              <a:defRPr/>
            </a:pPr>
            <a:r>
              <a:rPr lang="en-US" sz="1800" dirty="0"/>
              <a:t>Reproduction that permits the enrichment of fit individual molecules.</a:t>
            </a:r>
          </a:p>
        </p:txBody>
      </p:sp>
      <p:pic>
        <p:nvPicPr>
          <p:cNvPr id="5" name="Picture 4"/>
          <p:cNvPicPr>
            <a:picLocks noChangeAspect="1"/>
          </p:cNvPicPr>
          <p:nvPr/>
        </p:nvPicPr>
        <p:blipFill>
          <a:blip r:embed="rId3"/>
          <a:stretch>
            <a:fillRect/>
          </a:stretch>
        </p:blipFill>
        <p:spPr>
          <a:xfrm>
            <a:off x="1714500" y="193896"/>
            <a:ext cx="5715000" cy="889000"/>
          </a:xfrm>
          <a:prstGeom prst="rect">
            <a:avLst/>
          </a:prstGeom>
        </p:spPr>
      </p:pic>
    </p:spTree>
    <p:extLst>
      <p:ext uri="{BB962C8B-B14F-4D97-AF65-F5344CB8AC3E}">
        <p14:creationId xmlns:p14="http://schemas.microsoft.com/office/powerpoint/2010/main" val="120080881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6_25.jpg"/>
          <p:cNvPicPr>
            <a:picLocks noChangeAspect="1"/>
          </p:cNvPicPr>
          <p:nvPr/>
        </p:nvPicPr>
        <p:blipFill>
          <a:blip r:embed="rId3"/>
          <a:stretch>
            <a:fillRect/>
          </a:stretch>
        </p:blipFill>
        <p:spPr>
          <a:xfrm>
            <a:off x="1533144" y="192023"/>
            <a:ext cx="6077712" cy="6473952"/>
          </a:xfrm>
          <a:prstGeom prst="rect">
            <a:avLst/>
          </a:prstGeom>
        </p:spPr>
      </p:pic>
    </p:spTree>
    <p:extLst>
      <p:ext uri="{BB962C8B-B14F-4D97-AF65-F5344CB8AC3E}">
        <p14:creationId xmlns:p14="http://schemas.microsoft.com/office/powerpoint/2010/main" val="46551160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6_26.jpg"/>
          <p:cNvPicPr>
            <a:picLocks noChangeAspect="1"/>
          </p:cNvPicPr>
          <p:nvPr/>
        </p:nvPicPr>
        <p:blipFill>
          <a:blip r:embed="rId3"/>
          <a:stretch>
            <a:fillRect/>
          </a:stretch>
        </p:blipFill>
        <p:spPr>
          <a:xfrm>
            <a:off x="304800" y="719327"/>
            <a:ext cx="8534400" cy="5419344"/>
          </a:xfrm>
          <a:prstGeom prst="rect">
            <a:avLst/>
          </a:prstGeom>
        </p:spPr>
      </p:pic>
    </p:spTree>
    <p:extLst>
      <p:ext uri="{BB962C8B-B14F-4D97-AF65-F5344CB8AC3E}">
        <p14:creationId xmlns:p14="http://schemas.microsoft.com/office/powerpoint/2010/main" val="351898793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6_27.jpg"/>
          <p:cNvPicPr>
            <a:picLocks noChangeAspect="1"/>
          </p:cNvPicPr>
          <p:nvPr/>
        </p:nvPicPr>
        <p:blipFill>
          <a:blip r:embed="rId3"/>
          <a:stretch>
            <a:fillRect/>
          </a:stretch>
        </p:blipFill>
        <p:spPr>
          <a:xfrm>
            <a:off x="304800" y="533400"/>
            <a:ext cx="8534400" cy="5791200"/>
          </a:xfrm>
          <a:prstGeom prst="rect">
            <a:avLst/>
          </a:prstGeom>
        </p:spPr>
      </p:pic>
    </p:spTree>
    <p:extLst>
      <p:ext uri="{BB962C8B-B14F-4D97-AF65-F5344CB8AC3E}">
        <p14:creationId xmlns:p14="http://schemas.microsoft.com/office/powerpoint/2010/main" val="71359674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507</TotalTime>
  <Words>2447</Words>
  <Application>Microsoft Office PowerPoint</Application>
  <PresentationFormat>On-screen Show (4:3)</PresentationFormat>
  <Paragraphs>135</Paragraphs>
  <Slides>45</Slides>
  <Notes>31</Notes>
  <HiddenSlides>0</HiddenSlides>
  <MMClips>0</MMClips>
  <ScaleCrop>false</ScaleCrop>
  <HeadingPairs>
    <vt:vector size="4" baseType="variant">
      <vt:variant>
        <vt:lpstr>Theme</vt:lpstr>
      </vt:variant>
      <vt:variant>
        <vt:i4>1</vt:i4>
      </vt:variant>
      <vt:variant>
        <vt:lpstr>Slide Titles</vt:lpstr>
      </vt:variant>
      <vt:variant>
        <vt:i4>45</vt:i4>
      </vt:variant>
    </vt:vector>
  </HeadingPairs>
  <TitlesOfParts>
    <vt:vector size="46"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Carleton College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John Tymoczko</dc:creator>
  <cp:lastModifiedBy>ivp</cp:lastModifiedBy>
  <cp:revision>47</cp:revision>
  <dcterms:created xsi:type="dcterms:W3CDTF">2015-05-28T20:39:31Z</dcterms:created>
  <dcterms:modified xsi:type="dcterms:W3CDTF">2015-06-11T05:48:18Z</dcterms:modified>
</cp:coreProperties>
</file>