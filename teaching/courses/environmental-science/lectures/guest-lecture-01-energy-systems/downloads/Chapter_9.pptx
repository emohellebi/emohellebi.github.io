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2"/>
  </p:sldMasterIdLst>
  <p:sldIdLst>
    <p:sldId id="256" r:id="rId3"/>
    <p:sldId id="257" r:id="rId4"/>
    <p:sldId id="258" r:id="rId5"/>
    <p:sldId id="314" r:id="rId6"/>
    <p:sldId id="316" r:id="rId7"/>
    <p:sldId id="295" r:id="rId8"/>
    <p:sldId id="318" r:id="rId9"/>
    <p:sldId id="317" r:id="rId10"/>
    <p:sldId id="319" r:id="rId11"/>
    <p:sldId id="288" r:id="rId12"/>
    <p:sldId id="286" r:id="rId13"/>
    <p:sldId id="320" r:id="rId14"/>
    <p:sldId id="363" r:id="rId15"/>
    <p:sldId id="322" r:id="rId16"/>
    <p:sldId id="289" r:id="rId17"/>
    <p:sldId id="298" r:id="rId18"/>
    <p:sldId id="323" r:id="rId19"/>
    <p:sldId id="324" r:id="rId20"/>
    <p:sldId id="299" r:id="rId21"/>
    <p:sldId id="361" r:id="rId22"/>
    <p:sldId id="300" r:id="rId23"/>
    <p:sldId id="326" r:id="rId24"/>
    <p:sldId id="325" r:id="rId25"/>
    <p:sldId id="327" r:id="rId26"/>
    <p:sldId id="303" r:id="rId27"/>
    <p:sldId id="332" r:id="rId28"/>
    <p:sldId id="362" r:id="rId29"/>
    <p:sldId id="329" r:id="rId30"/>
    <p:sldId id="330" r:id="rId31"/>
    <p:sldId id="333" r:id="rId32"/>
    <p:sldId id="331" r:id="rId33"/>
    <p:sldId id="308" r:id="rId34"/>
    <p:sldId id="309" r:id="rId35"/>
    <p:sldId id="334" r:id="rId36"/>
    <p:sldId id="335" r:id="rId37"/>
    <p:sldId id="336" r:id="rId38"/>
    <p:sldId id="337" r:id="rId39"/>
    <p:sldId id="338" r:id="rId40"/>
    <p:sldId id="339" r:id="rId41"/>
    <p:sldId id="340" r:id="rId42"/>
    <p:sldId id="341" r:id="rId43"/>
    <p:sldId id="342" r:id="rId44"/>
    <p:sldId id="343" r:id="rId45"/>
    <p:sldId id="344" r:id="rId46"/>
    <p:sldId id="345" r:id="rId47"/>
    <p:sldId id="346" r:id="rId48"/>
    <p:sldId id="347" r:id="rId49"/>
    <p:sldId id="348" r:id="rId50"/>
    <p:sldId id="349" r:id="rId51"/>
    <p:sldId id="350" r:id="rId52"/>
    <p:sldId id="351" r:id="rId53"/>
    <p:sldId id="352" r:id="rId54"/>
    <p:sldId id="353" r:id="rId55"/>
    <p:sldId id="354" r:id="rId56"/>
    <p:sldId id="355" r:id="rId57"/>
    <p:sldId id="356" r:id="rId58"/>
    <p:sldId id="357" r:id="rId59"/>
    <p:sldId id="358" r:id="rId60"/>
    <p:sldId id="359" r:id="rId61"/>
    <p:sldId id="360" r:id="rId62"/>
    <p:sldId id="364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D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1FCDCF-6271-6145-97BC-C06BA09C4ADF}" v="212" dt="2026-10-20T09:09:06.2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2"/>
    <p:restoredTop sz="73219"/>
  </p:normalViewPr>
  <p:slideViewPr>
    <p:cSldViewPr snapToGrid="0">
      <p:cViewPr varScale="1">
        <p:scale>
          <a:sx n="91" d="100"/>
          <a:sy n="91" d="100"/>
        </p:scale>
        <p:origin x="20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9" Type="http://schemas.microsoft.com/office/2016/11/relationships/changesInfo" Target="changesInfos/changesInfo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ias Zakaria Mohellebi" userId="56af4c4a-6968-4862-9093-57b2055c8dd8" providerId="ADAL" clId="{1E1FDC68-94F7-5A2E-B020-A4526CA46D83}"/>
    <pc:docChg chg="undo redo custSel addSld delSld modSld sldOrd">
      <pc:chgData name="Elias Zakaria Mohellebi" userId="56af4c4a-6968-4862-9093-57b2055c8dd8" providerId="ADAL" clId="{1E1FDC68-94F7-5A2E-B020-A4526CA46D83}" dt="2026-10-20T09:09:09.248" v="5314" actId="1076"/>
      <pc:docMkLst>
        <pc:docMk/>
      </pc:docMkLst>
      <pc:sldChg chg="addSp delSp modSp mod modNotesTx">
        <pc:chgData name="Elias Zakaria Mohellebi" userId="56af4c4a-6968-4862-9093-57b2055c8dd8" providerId="ADAL" clId="{1E1FDC68-94F7-5A2E-B020-A4526CA46D83}" dt="2026-10-13T08:48:33.156" v="3810" actId="20577"/>
        <pc:sldMkLst>
          <pc:docMk/>
          <pc:sldMk cId="524612123" sldId="256"/>
        </pc:sldMkLst>
        <pc:spChg chg="mod">
          <ac:chgData name="Elias Zakaria Mohellebi" userId="56af4c4a-6968-4862-9093-57b2055c8dd8" providerId="ADAL" clId="{1E1FDC68-94F7-5A2E-B020-A4526CA46D83}" dt="2026-10-13T08:46:51.542" v="3791" actId="1076"/>
          <ac:spMkLst>
            <pc:docMk/>
            <pc:sldMk cId="524612123" sldId="256"/>
            <ac:spMk id="6" creationId="{46BC88CC-ABEA-4076-B7A6-595BA1E5DA92}"/>
          </ac:spMkLst>
        </pc:spChg>
        <pc:spChg chg="add mod">
          <ac:chgData name="Elias Zakaria Mohellebi" userId="56af4c4a-6968-4862-9093-57b2055c8dd8" providerId="ADAL" clId="{1E1FDC68-94F7-5A2E-B020-A4526CA46D83}" dt="2026-10-13T08:46:55.455" v="3792" actId="1076"/>
          <ac:spMkLst>
            <pc:docMk/>
            <pc:sldMk cId="524612123" sldId="256"/>
            <ac:spMk id="9" creationId="{E62392D0-C23B-27EC-5505-57AFC3C1767C}"/>
          </ac:spMkLst>
        </pc:spChg>
        <pc:spChg chg="add mod">
          <ac:chgData name="Elias Zakaria Mohellebi" userId="56af4c4a-6968-4862-9093-57b2055c8dd8" providerId="ADAL" clId="{1E1FDC68-94F7-5A2E-B020-A4526CA46D83}" dt="2026-10-13T08:48:18.586" v="3808" actId="20577"/>
          <ac:spMkLst>
            <pc:docMk/>
            <pc:sldMk cId="524612123" sldId="256"/>
            <ac:spMk id="12" creationId="{06D3A647-5700-1EF1-ED47-3BEE09BD3BAD}"/>
          </ac:spMkLst>
        </pc:spChg>
        <pc:picChg chg="mod">
          <ac:chgData name="Elias Zakaria Mohellebi" userId="56af4c4a-6968-4862-9093-57b2055c8dd8" providerId="ADAL" clId="{1E1FDC68-94F7-5A2E-B020-A4526CA46D83}" dt="2026-10-13T08:46:28.201" v="3786" actId="1076"/>
          <ac:picMkLst>
            <pc:docMk/>
            <pc:sldMk cId="524612123" sldId="256"/>
            <ac:picMk id="10" creationId="{7C85766C-4620-421C-ADA1-555E75E55B2C}"/>
          </ac:picMkLst>
        </pc:picChg>
      </pc:sldChg>
      <pc:sldChg chg="addSp modSp mod ord modNotesTx">
        <pc:chgData name="Elias Zakaria Mohellebi" userId="56af4c4a-6968-4862-9093-57b2055c8dd8" providerId="ADAL" clId="{1E1FDC68-94F7-5A2E-B020-A4526CA46D83}" dt="2026-10-19T21:47:38.045" v="5245" actId="1076"/>
        <pc:sldMkLst>
          <pc:docMk/>
          <pc:sldMk cId="561232591" sldId="257"/>
        </pc:sldMkLst>
        <pc:spChg chg="mod">
          <ac:chgData name="Elias Zakaria Mohellebi" userId="56af4c4a-6968-4862-9093-57b2055c8dd8" providerId="ADAL" clId="{1E1FDC68-94F7-5A2E-B020-A4526CA46D83}" dt="2026-10-19T21:47:38.045" v="5245" actId="1076"/>
          <ac:spMkLst>
            <pc:docMk/>
            <pc:sldMk cId="561232591" sldId="257"/>
            <ac:spMk id="3" creationId="{B95652BD-EADF-4710-8953-C9C79B9BA734}"/>
          </ac:spMkLst>
        </pc:spChg>
        <pc:spChg chg="mod">
          <ac:chgData name="Elias Zakaria Mohellebi" userId="56af4c4a-6968-4862-9093-57b2055c8dd8" providerId="ADAL" clId="{1E1FDC68-94F7-5A2E-B020-A4526CA46D83}" dt="2026-10-19T21:47:38.045" v="5245" actId="1076"/>
          <ac:spMkLst>
            <pc:docMk/>
            <pc:sldMk cId="561232591" sldId="257"/>
            <ac:spMk id="4" creationId="{2A32E418-204B-4E0B-AE51-4482FFB59929}"/>
          </ac:spMkLst>
        </pc:spChg>
        <pc:spChg chg="mod">
          <ac:chgData name="Elias Zakaria Mohellebi" userId="56af4c4a-6968-4862-9093-57b2055c8dd8" providerId="ADAL" clId="{1E1FDC68-94F7-5A2E-B020-A4526CA46D83}" dt="2026-10-19T19:55:03.528" v="4817" actId="1076"/>
          <ac:spMkLst>
            <pc:docMk/>
            <pc:sldMk cId="561232591" sldId="257"/>
            <ac:spMk id="5" creationId="{B3B8BE70-29AB-4925-90FD-610BC0B15918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6" creationId="{C1E74F71-0E20-36D7-92F7-EB1FA1D714CD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7" creationId="{41564F15-1369-E254-0CCE-6F5961AA817D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9" creationId="{C0B90EA6-D5AA-27C6-F808-215C5EF4895D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0" creationId="{0E237D2D-D4E3-067B-5AD7-1DD841C1F32E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1" creationId="{D848C61E-DD35-F25C-AB75-F7E044DE542F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2" creationId="{F6D76A93-A777-0783-F412-54E32E298C59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3" creationId="{189B461B-8E80-7683-4E50-EC8BAAB88AF9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4" creationId="{9FC61201-01AD-AA81-F582-A14212D92B89}"/>
          </ac:spMkLst>
        </pc:spChg>
      </pc:sldChg>
      <pc:sldChg chg="addSp delSp modSp mod modNotesTx">
        <pc:chgData name="Elias Zakaria Mohellebi" userId="56af4c4a-6968-4862-9093-57b2055c8dd8" providerId="ADAL" clId="{1E1FDC68-94F7-5A2E-B020-A4526CA46D83}" dt="2026-10-13T20:24:16.124" v="4553" actId="1035"/>
        <pc:sldMkLst>
          <pc:docMk/>
          <pc:sldMk cId="2029556108" sldId="258"/>
        </pc:sldMkLst>
        <pc:spChg chg="mod">
          <ac:chgData name="Elias Zakaria Mohellebi" userId="56af4c4a-6968-4862-9093-57b2055c8dd8" providerId="ADAL" clId="{1E1FDC68-94F7-5A2E-B020-A4526CA46D83}" dt="2026-10-13T08:12:43.962" v="3620"/>
          <ac:spMkLst>
            <pc:docMk/>
            <pc:sldMk cId="2029556108" sldId="258"/>
            <ac:spMk id="3" creationId="{B50B2166-5C8A-4B44-87CB-B5B835C691A5}"/>
          </ac:spMkLst>
        </pc:spChg>
        <pc:spChg chg="mod">
          <ac:chgData name="Elias Zakaria Mohellebi" userId="56af4c4a-6968-4862-9093-57b2055c8dd8" providerId="ADAL" clId="{1E1FDC68-94F7-5A2E-B020-A4526CA46D83}" dt="2026-10-13T20:21:14.447" v="4477" actId="20577"/>
          <ac:spMkLst>
            <pc:docMk/>
            <pc:sldMk cId="2029556108" sldId="258"/>
            <ac:spMk id="4" creationId="{B6A3B6A2-2047-4F8A-B8FF-BD0CFCA13A85}"/>
          </ac:spMkLst>
        </pc:spChg>
        <pc:spChg chg="add mod">
          <ac:chgData name="Elias Zakaria Mohellebi" userId="56af4c4a-6968-4862-9093-57b2055c8dd8" providerId="ADAL" clId="{1E1FDC68-94F7-5A2E-B020-A4526CA46D83}" dt="2026-10-13T20:24:16.124" v="4553" actId="1035"/>
          <ac:spMkLst>
            <pc:docMk/>
            <pc:sldMk cId="2029556108" sldId="258"/>
            <ac:spMk id="5" creationId="{E78D5B96-F2F6-E67A-295E-6AAA602F713A}"/>
          </ac:spMkLst>
        </pc:spChg>
        <pc:spChg chg="mod">
          <ac:chgData name="Elias Zakaria Mohellebi" userId="56af4c4a-6968-4862-9093-57b2055c8dd8" providerId="ADAL" clId="{1E1FDC68-94F7-5A2E-B020-A4526CA46D83}" dt="2026-10-13T05:53:12.793" v="2271" actId="20577"/>
          <ac:spMkLst>
            <pc:docMk/>
            <pc:sldMk cId="2029556108" sldId="258"/>
            <ac:spMk id="9" creationId="{82F12A90-FD92-40EE-9C4E-9B85B11F0E87}"/>
          </ac:spMkLst>
        </pc:spChg>
        <pc:picChg chg="add mod">
          <ac:chgData name="Elias Zakaria Mohellebi" userId="56af4c4a-6968-4862-9093-57b2055c8dd8" providerId="ADAL" clId="{1E1FDC68-94F7-5A2E-B020-A4526CA46D83}" dt="2026-10-13T08:39:02.894" v="3698" actId="14100"/>
          <ac:picMkLst>
            <pc:docMk/>
            <pc:sldMk cId="2029556108" sldId="258"/>
            <ac:picMk id="12" creationId="{F6B35268-8E24-0F72-C81E-C6F15DA275A5}"/>
          </ac:picMkLst>
        </pc:picChg>
      </pc:sldChg>
      <pc:sldChg chg="addSp delSp modSp add mod modNotesTx">
        <pc:chgData name="Elias Zakaria Mohellebi" userId="56af4c4a-6968-4862-9093-57b2055c8dd8" providerId="ADAL" clId="{1E1FDC68-94F7-5A2E-B020-A4526CA46D83}" dt="2026-10-14T07:48:01.312" v="4714" actId="478"/>
        <pc:sldMkLst>
          <pc:docMk/>
          <pc:sldMk cId="2691815746" sldId="286"/>
        </pc:sldMkLst>
        <pc:spChg chg="mod">
          <ac:chgData name="Elias Zakaria Mohellebi" userId="56af4c4a-6968-4862-9093-57b2055c8dd8" providerId="ADAL" clId="{1E1FDC68-94F7-5A2E-B020-A4526CA46D83}" dt="2026-10-13T08:59:37.955" v="4053" actId="20577"/>
          <ac:spMkLst>
            <pc:docMk/>
            <pc:sldMk cId="2691815746" sldId="286"/>
            <ac:spMk id="2" creationId="{14E324E5-DAED-2167-AA54-2ECCEB61F9E4}"/>
          </ac:spMkLst>
        </pc:spChg>
        <pc:spChg chg="add mod">
          <ac:chgData name="Elias Zakaria Mohellebi" userId="56af4c4a-6968-4862-9093-57b2055c8dd8" providerId="ADAL" clId="{1E1FDC68-94F7-5A2E-B020-A4526CA46D83}" dt="2026-10-13T04:00:30.545" v="2060"/>
          <ac:spMkLst>
            <pc:docMk/>
            <pc:sldMk cId="2691815746" sldId="286"/>
            <ac:spMk id="7" creationId="{8313C49C-AADA-3691-88DB-3BF3FB5FC932}"/>
          </ac:spMkLst>
        </pc:spChg>
        <pc:spChg chg="add mod">
          <ac:chgData name="Elias Zakaria Mohellebi" userId="56af4c4a-6968-4862-9093-57b2055c8dd8" providerId="ADAL" clId="{1E1FDC68-94F7-5A2E-B020-A4526CA46D83}" dt="2026-10-13T04:00:30.545" v="2060"/>
          <ac:spMkLst>
            <pc:docMk/>
            <pc:sldMk cId="2691815746" sldId="286"/>
            <ac:spMk id="8" creationId="{E5F92D07-2B49-0774-200A-C1F64C497323}"/>
          </ac:spMkLst>
        </pc:spChg>
        <pc:spChg chg="mod">
          <ac:chgData name="Elias Zakaria Mohellebi" userId="56af4c4a-6968-4862-9093-57b2055c8dd8" providerId="ADAL" clId="{1E1FDC68-94F7-5A2E-B020-A4526CA46D83}" dt="2026-10-13T06:18:13.829" v="2722" actId="6549"/>
          <ac:spMkLst>
            <pc:docMk/>
            <pc:sldMk cId="2691815746" sldId="286"/>
            <ac:spMk id="9" creationId="{F7EB02F6-CE66-C8F3-C9FD-7DA785EAD342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3T08:58:43.993" v="4044" actId="20577"/>
        <pc:sldMkLst>
          <pc:docMk/>
          <pc:sldMk cId="975471058" sldId="288"/>
        </pc:sldMkLst>
        <pc:spChg chg="mod">
          <ac:chgData name="Elias Zakaria Mohellebi" userId="56af4c4a-6968-4862-9093-57b2055c8dd8" providerId="ADAL" clId="{1E1FDC68-94F7-5A2E-B020-A4526CA46D83}" dt="2026-10-13T08:57:46.628" v="4037" actId="20577"/>
          <ac:spMkLst>
            <pc:docMk/>
            <pc:sldMk cId="975471058" sldId="288"/>
            <ac:spMk id="2" creationId="{4781BF0D-6C46-DD3C-A34D-3D86E7DB8BD9}"/>
          </ac:spMkLst>
        </pc:spChg>
        <pc:spChg chg="mod">
          <ac:chgData name="Elias Zakaria Mohellebi" userId="56af4c4a-6968-4862-9093-57b2055c8dd8" providerId="ADAL" clId="{1E1FDC68-94F7-5A2E-B020-A4526CA46D83}" dt="2026-10-13T06:18:04.256" v="2716" actId="20577"/>
          <ac:spMkLst>
            <pc:docMk/>
            <pc:sldMk cId="975471058" sldId="288"/>
            <ac:spMk id="9" creationId="{D26B9800-3645-F5CA-AEF5-3329AB88C146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07:43.701" v="4165" actId="20577"/>
        <pc:sldMkLst>
          <pc:docMk/>
          <pc:sldMk cId="3902083234" sldId="289"/>
        </pc:sldMkLst>
        <pc:spChg chg="mod">
          <ac:chgData name="Elias Zakaria Mohellebi" userId="56af4c4a-6968-4862-9093-57b2055c8dd8" providerId="ADAL" clId="{1E1FDC68-94F7-5A2E-B020-A4526CA46D83}" dt="2026-10-13T09:07:43.701" v="4165" actId="20577"/>
          <ac:spMkLst>
            <pc:docMk/>
            <pc:sldMk cId="3902083234" sldId="289"/>
            <ac:spMk id="2" creationId="{B4C34955-45FF-78C6-4F0C-A40534BBD813}"/>
          </ac:spMkLst>
        </pc:spChg>
        <pc:spChg chg="mod">
          <ac:chgData name="Elias Zakaria Mohellebi" userId="56af4c4a-6968-4862-9093-57b2055c8dd8" providerId="ADAL" clId="{1E1FDC68-94F7-5A2E-B020-A4526CA46D83}" dt="2026-10-13T06:18:20.545" v="2728" actId="20577"/>
          <ac:spMkLst>
            <pc:docMk/>
            <pc:sldMk cId="3902083234" sldId="289"/>
            <ac:spMk id="9" creationId="{7A18967E-95A0-D166-B239-5000CB744C4C}"/>
          </ac:spMkLst>
        </pc:spChg>
      </pc:sldChg>
      <pc:sldChg chg="delSp modSp add del mod modNotesTx">
        <pc:chgData name="Elias Zakaria Mohellebi" userId="56af4c4a-6968-4862-9093-57b2055c8dd8" providerId="ADAL" clId="{1E1FDC68-94F7-5A2E-B020-A4526CA46D83}" dt="2026-10-20T07:08:47.663" v="5303" actId="2696"/>
        <pc:sldMkLst>
          <pc:docMk/>
          <pc:sldMk cId="3730845187" sldId="292"/>
        </pc:sldMkLst>
        <pc:spChg chg="mod">
          <ac:chgData name="Elias Zakaria Mohellebi" userId="56af4c4a-6968-4862-9093-57b2055c8dd8" providerId="ADAL" clId="{1E1FDC68-94F7-5A2E-B020-A4526CA46D83}" dt="2026-10-19T21:48:37.409" v="5254" actId="6549"/>
          <ac:spMkLst>
            <pc:docMk/>
            <pc:sldMk cId="3730845187" sldId="292"/>
            <ac:spMk id="3" creationId="{D810EF02-C7CF-B988-BD0A-292402ECD8FF}"/>
          </ac:spMkLst>
        </pc:spChg>
      </pc:sldChg>
      <pc:sldChg chg="delSp modSp add mod modNotesTx">
        <pc:chgData name="Elias Zakaria Mohellebi" userId="56af4c4a-6968-4862-9093-57b2055c8dd8" providerId="ADAL" clId="{1E1FDC68-94F7-5A2E-B020-A4526CA46D83}" dt="2026-10-20T07:08:32.740" v="5302"/>
        <pc:sldMkLst>
          <pc:docMk/>
          <pc:sldMk cId="371790062" sldId="295"/>
        </pc:sldMkLst>
        <pc:spChg chg="mod">
          <ac:chgData name="Elias Zakaria Mohellebi" userId="56af4c4a-6968-4862-9093-57b2055c8dd8" providerId="ADAL" clId="{1E1FDC68-94F7-5A2E-B020-A4526CA46D83}" dt="2026-10-13T08:44:10.759" v="3774" actId="20577"/>
          <ac:spMkLst>
            <pc:docMk/>
            <pc:sldMk cId="371790062" sldId="295"/>
            <ac:spMk id="2" creationId="{311644FF-7C71-3687-8095-7626635765EB}"/>
          </ac:spMkLst>
        </pc:spChg>
        <pc:spChg chg="mod">
          <ac:chgData name="Elias Zakaria Mohellebi" userId="56af4c4a-6968-4862-9093-57b2055c8dd8" providerId="ADAL" clId="{1E1FDC68-94F7-5A2E-B020-A4526CA46D83}" dt="2026-10-20T07:08:32.740" v="5302"/>
          <ac:spMkLst>
            <pc:docMk/>
            <pc:sldMk cId="371790062" sldId="295"/>
            <ac:spMk id="3" creationId="{563A9832-A036-735F-6C92-43EB2DF9109D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13:00.333" v="4204" actId="478"/>
        <pc:sldMkLst>
          <pc:docMk/>
          <pc:sldMk cId="277269139" sldId="298"/>
        </pc:sldMkLst>
        <pc:spChg chg="mod">
          <ac:chgData name="Elias Zakaria Mohellebi" userId="56af4c4a-6968-4862-9093-57b2055c8dd8" providerId="ADAL" clId="{1E1FDC68-94F7-5A2E-B020-A4526CA46D83}" dt="2026-10-13T06:11:15.763" v="2639" actId="207"/>
          <ac:spMkLst>
            <pc:docMk/>
            <pc:sldMk cId="277269139" sldId="298"/>
            <ac:spMk id="6" creationId="{26FAF935-9D7C-D8CA-870A-7FF7C317143A}"/>
          </ac:spMkLst>
        </pc:spChg>
        <pc:spChg chg="mod">
          <ac:chgData name="Elias Zakaria Mohellebi" userId="56af4c4a-6968-4862-9093-57b2055c8dd8" providerId="ADAL" clId="{1E1FDC68-94F7-5A2E-B020-A4526CA46D83}" dt="2026-10-13T06:11:12.034" v="2638" actId="207"/>
          <ac:spMkLst>
            <pc:docMk/>
            <pc:sldMk cId="277269139" sldId="298"/>
            <ac:spMk id="8" creationId="{E67A9714-256B-99D7-C0E0-CF2A5AD6D413}"/>
          </ac:spMkLst>
        </pc:spChg>
        <pc:spChg chg="mod">
          <ac:chgData name="Elias Zakaria Mohellebi" userId="56af4c4a-6968-4862-9093-57b2055c8dd8" providerId="ADAL" clId="{1E1FDC68-94F7-5A2E-B020-A4526CA46D83}" dt="2026-10-13T06:18:34.225" v="2740" actId="20577"/>
          <ac:spMkLst>
            <pc:docMk/>
            <pc:sldMk cId="277269139" sldId="298"/>
            <ac:spMk id="9" creationId="{2C5DD4AA-FA90-CFB0-A10B-58DBCC046144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4T14:12:53.830" v="4745" actId="6549"/>
        <pc:sldMkLst>
          <pc:docMk/>
          <pc:sldMk cId="3153136726" sldId="299"/>
        </pc:sldMkLst>
        <pc:spChg chg="mod">
          <ac:chgData name="Elias Zakaria Mohellebi" userId="56af4c4a-6968-4862-9093-57b2055c8dd8" providerId="ADAL" clId="{1E1FDC68-94F7-5A2E-B020-A4526CA46D83}" dt="2026-10-14T14:12:53.830" v="4745" actId="6549"/>
          <ac:spMkLst>
            <pc:docMk/>
            <pc:sldMk cId="3153136726" sldId="299"/>
            <ac:spMk id="2" creationId="{7AF6443D-9BC4-3960-18FC-6B68D94D3C6E}"/>
          </ac:spMkLst>
        </pc:spChg>
        <pc:spChg chg="mod">
          <ac:chgData name="Elias Zakaria Mohellebi" userId="56af4c4a-6968-4862-9093-57b2055c8dd8" providerId="ADAL" clId="{1E1FDC68-94F7-5A2E-B020-A4526CA46D83}" dt="2026-10-13T06:18:43.069" v="2746" actId="20577"/>
          <ac:spMkLst>
            <pc:docMk/>
            <pc:sldMk cId="3153136726" sldId="299"/>
            <ac:spMk id="9" creationId="{AD359631-BA6C-3655-1877-34E75958A07A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26:02.034" v="4332" actId="1076"/>
        <pc:sldMkLst>
          <pc:docMk/>
          <pc:sldMk cId="3980193032" sldId="300"/>
        </pc:sldMkLst>
        <pc:spChg chg="mod">
          <ac:chgData name="Elias Zakaria Mohellebi" userId="56af4c4a-6968-4862-9093-57b2055c8dd8" providerId="ADAL" clId="{1E1FDC68-94F7-5A2E-B020-A4526CA46D83}" dt="2026-10-13T06:21:34.758" v="2823" actId="20577"/>
          <ac:spMkLst>
            <pc:docMk/>
            <pc:sldMk cId="3980193032" sldId="300"/>
            <ac:spMk id="3" creationId="{C5788345-FE3C-6FA5-A9AB-581E2359630A}"/>
          </ac:spMkLst>
        </pc:spChg>
        <pc:spChg chg="mod">
          <ac:chgData name="Elias Zakaria Mohellebi" userId="56af4c4a-6968-4862-9093-57b2055c8dd8" providerId="ADAL" clId="{1E1FDC68-94F7-5A2E-B020-A4526CA46D83}" dt="2026-10-13T09:25:23.126" v="4318" actId="1076"/>
          <ac:spMkLst>
            <pc:docMk/>
            <pc:sldMk cId="3980193032" sldId="300"/>
            <ac:spMk id="4" creationId="{C22512B7-DC9F-B0CE-2CA0-944D84C15CE3}"/>
          </ac:spMkLst>
        </pc:spChg>
        <pc:picChg chg="add mod">
          <ac:chgData name="Elias Zakaria Mohellebi" userId="56af4c4a-6968-4862-9093-57b2055c8dd8" providerId="ADAL" clId="{1E1FDC68-94F7-5A2E-B020-A4526CA46D83}" dt="2026-10-13T09:25:10.840" v="4315" actId="14100"/>
          <ac:picMkLst>
            <pc:docMk/>
            <pc:sldMk cId="3980193032" sldId="300"/>
            <ac:picMk id="6" creationId="{459753C8-17F3-CD21-C5CF-6FBDC8525F07}"/>
          </ac:picMkLst>
        </pc:picChg>
      </pc:sldChg>
      <pc:sldChg chg="addSp delSp modSp add del mod ord">
        <pc:chgData name="Elias Zakaria Mohellebi" userId="56af4c4a-6968-4862-9093-57b2055c8dd8" providerId="ADAL" clId="{1E1FDC68-94F7-5A2E-B020-A4526CA46D83}" dt="2026-10-20T07:20:10.670" v="5307" actId="2696"/>
        <pc:sldMkLst>
          <pc:docMk/>
          <pc:sldMk cId="1379878256" sldId="301"/>
        </pc:sldMkLst>
      </pc:sldChg>
      <pc:sldChg chg="addSp delSp modSp add mod">
        <pc:chgData name="Elias Zakaria Mohellebi" userId="56af4c4a-6968-4862-9093-57b2055c8dd8" providerId="ADAL" clId="{1E1FDC68-94F7-5A2E-B020-A4526CA46D83}" dt="2026-10-13T09:28:39.028" v="4359" actId="1076"/>
        <pc:sldMkLst>
          <pc:docMk/>
          <pc:sldMk cId="3139848905" sldId="303"/>
        </pc:sldMkLst>
      </pc:sldChg>
      <pc:sldChg chg="addSp delSp modSp add mod ord modNotesTx">
        <pc:chgData name="Elias Zakaria Mohellebi" userId="56af4c4a-6968-4862-9093-57b2055c8dd8" providerId="ADAL" clId="{1E1FDC68-94F7-5A2E-B020-A4526CA46D83}" dt="2026-10-13T20:23:44.060" v="4551" actId="1038"/>
        <pc:sldMkLst>
          <pc:docMk/>
          <pc:sldMk cId="21880779" sldId="308"/>
        </pc:sldMkLst>
        <pc:spChg chg="mod">
          <ac:chgData name="Elias Zakaria Mohellebi" userId="56af4c4a-6968-4862-9093-57b2055c8dd8" providerId="ADAL" clId="{1E1FDC68-94F7-5A2E-B020-A4526CA46D83}" dt="2026-10-13T20:22:41.382" v="4528" actId="20577"/>
          <ac:spMkLst>
            <pc:docMk/>
            <pc:sldMk cId="21880779" sldId="308"/>
            <ac:spMk id="4" creationId="{D58F185A-32F2-5427-11FD-E3C43B120DAF}"/>
          </ac:spMkLst>
        </pc:spChg>
        <pc:spChg chg="add mod">
          <ac:chgData name="Elias Zakaria Mohellebi" userId="56af4c4a-6968-4862-9093-57b2055c8dd8" providerId="ADAL" clId="{1E1FDC68-94F7-5A2E-B020-A4526CA46D83}" dt="2026-10-13T20:23:44.060" v="4551" actId="1038"/>
          <ac:spMkLst>
            <pc:docMk/>
            <pc:sldMk cId="21880779" sldId="308"/>
            <ac:spMk id="6" creationId="{BE5C7988-BF29-90FD-1815-67A95B02224C}"/>
          </ac:spMkLst>
        </pc:spChg>
        <pc:picChg chg="mod">
          <ac:chgData name="Elias Zakaria Mohellebi" userId="56af4c4a-6968-4862-9093-57b2055c8dd8" providerId="ADAL" clId="{1E1FDC68-94F7-5A2E-B020-A4526CA46D83}" dt="2026-10-13T20:23:30.535" v="4542" actId="14100"/>
          <ac:picMkLst>
            <pc:docMk/>
            <pc:sldMk cId="21880779" sldId="308"/>
            <ac:picMk id="5" creationId="{B85B2A66-A1A4-BD82-5F6E-7F39834A7EB4}"/>
          </ac:picMkLst>
        </pc:picChg>
      </pc:sldChg>
      <pc:sldChg chg="addSp delSp modSp add mod ord modNotesTx">
        <pc:chgData name="Elias Zakaria Mohellebi" userId="56af4c4a-6968-4862-9093-57b2055c8dd8" providerId="ADAL" clId="{1E1FDC68-94F7-5A2E-B020-A4526CA46D83}" dt="2026-10-13T20:24:48.526" v="4556"/>
        <pc:sldMkLst>
          <pc:docMk/>
          <pc:sldMk cId="932009999" sldId="309"/>
        </pc:sldMkLst>
        <pc:spChg chg="add mod">
          <ac:chgData name="Elias Zakaria Mohellebi" userId="56af4c4a-6968-4862-9093-57b2055c8dd8" providerId="ADAL" clId="{1E1FDC68-94F7-5A2E-B020-A4526CA46D83}" dt="2026-10-13T20:24:48.526" v="4556"/>
          <ac:spMkLst>
            <pc:docMk/>
            <pc:sldMk cId="932009999" sldId="309"/>
            <ac:spMk id="7" creationId="{3F10A01C-D210-AEB8-445D-B5BFF7DBE4B4}"/>
          </ac:spMkLst>
        </pc:spChg>
        <pc:spChg chg="add mod">
          <ac:chgData name="Elias Zakaria Mohellebi" userId="56af4c4a-6968-4862-9093-57b2055c8dd8" providerId="ADAL" clId="{1E1FDC68-94F7-5A2E-B020-A4526CA46D83}" dt="2026-10-13T20:24:48.526" v="4556"/>
          <ac:spMkLst>
            <pc:docMk/>
            <pc:sldMk cId="932009999" sldId="309"/>
            <ac:spMk id="8" creationId="{08255B91-E120-49D5-B313-08348A86C86A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3T08:49:10.032" v="3818" actId="20577"/>
        <pc:sldMkLst>
          <pc:docMk/>
          <pc:sldMk cId="1310609603" sldId="314"/>
        </pc:sldMkLst>
        <pc:spChg chg="mod">
          <ac:chgData name="Elias Zakaria Mohellebi" userId="56af4c4a-6968-4862-9093-57b2055c8dd8" providerId="ADAL" clId="{1E1FDC68-94F7-5A2E-B020-A4526CA46D83}" dt="2026-10-13T08:36:53.469" v="3675" actId="20577"/>
          <ac:spMkLst>
            <pc:docMk/>
            <pc:sldMk cId="1310609603" sldId="314"/>
            <ac:spMk id="2" creationId="{4411E168-AAFF-6346-45C8-04D9D7954AA2}"/>
          </ac:spMkLst>
        </pc:spChg>
        <pc:spChg chg="add mod">
          <ac:chgData name="Elias Zakaria Mohellebi" userId="56af4c4a-6968-4862-9093-57b2055c8dd8" providerId="ADAL" clId="{1E1FDC68-94F7-5A2E-B020-A4526CA46D83}" dt="2026-10-13T08:13:15.356" v="3635" actId="404"/>
          <ac:spMkLst>
            <pc:docMk/>
            <pc:sldMk cId="1310609603" sldId="314"/>
            <ac:spMk id="5" creationId="{77127D5F-D984-22C3-041D-D40D9813F88A}"/>
          </ac:spMkLst>
        </pc:spChg>
        <pc:spChg chg="mod">
          <ac:chgData name="Elias Zakaria Mohellebi" userId="56af4c4a-6968-4862-9093-57b2055c8dd8" providerId="ADAL" clId="{1E1FDC68-94F7-5A2E-B020-A4526CA46D83}" dt="2026-10-13T08:11:37.304" v="3613" actId="1076"/>
          <ac:spMkLst>
            <pc:docMk/>
            <pc:sldMk cId="1310609603" sldId="314"/>
            <ac:spMk id="6" creationId="{65F0AC59-946F-9506-BF01-5663BB2D4D9E}"/>
          </ac:spMkLst>
        </pc:spChg>
        <pc:spChg chg="add mod">
          <ac:chgData name="Elias Zakaria Mohellebi" userId="56af4c4a-6968-4862-9093-57b2055c8dd8" providerId="ADAL" clId="{1E1FDC68-94F7-5A2E-B020-A4526CA46D83}" dt="2026-10-13T08:11:28.371" v="3612" actId="1076"/>
          <ac:spMkLst>
            <pc:docMk/>
            <pc:sldMk cId="1310609603" sldId="314"/>
            <ac:spMk id="7" creationId="{1ECA025C-F360-5614-6611-D1E5D0A102FB}"/>
          </ac:spMkLst>
        </pc:spChg>
        <pc:spChg chg="mod">
          <ac:chgData name="Elias Zakaria Mohellebi" userId="56af4c4a-6968-4862-9093-57b2055c8dd8" providerId="ADAL" clId="{1E1FDC68-94F7-5A2E-B020-A4526CA46D83}" dt="2026-10-13T08:11:49.926" v="3616" actId="1076"/>
          <ac:spMkLst>
            <pc:docMk/>
            <pc:sldMk cId="1310609603" sldId="314"/>
            <ac:spMk id="8" creationId="{83126D67-0D04-9450-D3BA-BFFF317DADC2}"/>
          </ac:spMkLst>
        </pc:spChg>
        <pc:spChg chg="mod">
          <ac:chgData name="Elias Zakaria Mohellebi" userId="56af4c4a-6968-4862-9093-57b2055c8dd8" providerId="ADAL" clId="{1E1FDC68-94F7-5A2E-B020-A4526CA46D83}" dt="2026-10-13T08:11:56.797" v="3618" actId="1076"/>
          <ac:spMkLst>
            <pc:docMk/>
            <pc:sldMk cId="1310609603" sldId="314"/>
            <ac:spMk id="10" creationId="{A6C1A3D9-6926-9A4F-B235-592260387D21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22" creationId="{80943E67-832D-9EBF-7F7B-1D7D712AD1C3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26" creationId="{5F5980AF-46C1-C124-C9AB-43F30058F061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28" creationId="{467361E2-3832-851E-2248-D736E5D59E14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1" creationId="{E0AB26FB-7AD2-5B5F-7C08-0E0E0D3A7004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2" creationId="{C4726C7B-5591-6766-92D7-FC4995F18466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3" creationId="{4FA2E41F-365F-D523-7EE6-F5F302B346DE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7" creationId="{9D04BA02-546F-63F9-0012-F58734166EAC}"/>
          </ac:spMkLst>
        </pc:spChg>
        <pc:spChg chg="add mod">
          <ac:chgData name="Elias Zakaria Mohellebi" userId="56af4c4a-6968-4862-9093-57b2055c8dd8" providerId="ADAL" clId="{1E1FDC68-94F7-5A2E-B020-A4526CA46D83}" dt="2026-10-13T08:36:49.978" v="3673" actId="20577"/>
          <ac:spMkLst>
            <pc:docMk/>
            <pc:sldMk cId="1310609603" sldId="314"/>
            <ac:spMk id="40" creationId="{162596C5-A32C-A8A0-7A35-47BD2AB3AEDF}"/>
          </ac:spMkLst>
        </pc:spChg>
      </pc:sldChg>
      <pc:sldChg chg="add del ord">
        <pc:chgData name="Elias Zakaria Mohellebi" userId="56af4c4a-6968-4862-9093-57b2055c8dd8" providerId="ADAL" clId="{1E1FDC68-94F7-5A2E-B020-A4526CA46D83}" dt="2026-10-20T07:24:58.779" v="5308" actId="2696"/>
        <pc:sldMkLst>
          <pc:docMk/>
          <pc:sldMk cId="790615899" sldId="315"/>
        </pc:sldMkLst>
      </pc:sldChg>
      <pc:sldChg chg="addSp delSp modSp add mod modNotesTx">
        <pc:chgData name="Elias Zakaria Mohellebi" userId="56af4c4a-6968-4862-9093-57b2055c8dd8" providerId="ADAL" clId="{1E1FDC68-94F7-5A2E-B020-A4526CA46D83}" dt="2026-10-13T08:51:55.575" v="3889" actId="20577"/>
        <pc:sldMkLst>
          <pc:docMk/>
          <pc:sldMk cId="1754822188" sldId="316"/>
        </pc:sldMkLst>
        <pc:spChg chg="mod">
          <ac:chgData name="Elias Zakaria Mohellebi" userId="56af4c4a-6968-4862-9093-57b2055c8dd8" providerId="ADAL" clId="{1E1FDC68-94F7-5A2E-B020-A4526CA46D83}" dt="2026-10-13T08:43:49.029" v="3772" actId="20577"/>
          <ac:spMkLst>
            <pc:docMk/>
            <pc:sldMk cId="1754822188" sldId="316"/>
            <ac:spMk id="2" creationId="{A2D31DB3-2B0D-1C08-1153-249EBFCEED79}"/>
          </ac:spMkLst>
        </pc:spChg>
        <pc:spChg chg="add mod">
          <ac:chgData name="Elias Zakaria Mohellebi" userId="56af4c4a-6968-4862-9093-57b2055c8dd8" providerId="ADAL" clId="{1E1FDC68-94F7-5A2E-B020-A4526CA46D83}" dt="2026-10-13T08:14:51.186" v="3646"/>
          <ac:spMkLst>
            <pc:docMk/>
            <pc:sldMk cId="1754822188" sldId="316"/>
            <ac:spMk id="5" creationId="{56A1DE36-ACB9-B39C-5EFF-B63D1A4BE208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3T08:55:04.512" v="3948" actId="6549"/>
        <pc:sldMkLst>
          <pc:docMk/>
          <pc:sldMk cId="3985704348" sldId="317"/>
        </pc:sldMkLst>
        <pc:spChg chg="mod">
          <ac:chgData name="Elias Zakaria Mohellebi" userId="56af4c4a-6968-4862-9093-57b2055c8dd8" providerId="ADAL" clId="{1E1FDC68-94F7-5A2E-B020-A4526CA46D83}" dt="2026-10-13T08:55:04.512" v="3948" actId="6549"/>
          <ac:spMkLst>
            <pc:docMk/>
            <pc:sldMk cId="3985704348" sldId="317"/>
            <ac:spMk id="2" creationId="{AF42FFBC-18F8-5ACC-B746-86687089C61E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8" creationId="{C079CCFB-ADA4-4EEC-8188-82CEC4BC9ED6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11" creationId="{492C55A6-236D-1C64-7EED-1B3A476F9830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13" creationId="{40EF37DF-DD27-3410-3F89-9BF6AB6A4443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14" creationId="{3C250B3D-8F11-EDE0-1A91-9980BA38F842}"/>
          </ac:spMkLst>
        </pc:spChg>
        <pc:graphicFrameChg chg="add mod">
          <ac:chgData name="Elias Zakaria Mohellebi" userId="56af4c4a-6968-4862-9093-57b2055c8dd8" providerId="ADAL" clId="{1E1FDC68-94F7-5A2E-B020-A4526CA46D83}" dt="2026-10-13T08:16:15.573" v="3649"/>
          <ac:graphicFrameMkLst>
            <pc:docMk/>
            <pc:sldMk cId="3985704348" sldId="317"/>
            <ac:graphicFrameMk id="12" creationId="{8D04EE29-D1B5-A70D-485B-E0306290B0E9}"/>
          </ac:graphicFrameMkLst>
        </pc:graphicFrameChg>
      </pc:sldChg>
      <pc:sldChg chg="addSp delSp modSp add mod modNotesTx">
        <pc:chgData name="Elias Zakaria Mohellebi" userId="56af4c4a-6968-4862-9093-57b2055c8dd8" providerId="ADAL" clId="{1E1FDC68-94F7-5A2E-B020-A4526CA46D83}" dt="2026-10-13T08:53:31.575" v="3920" actId="20577"/>
        <pc:sldMkLst>
          <pc:docMk/>
          <pc:sldMk cId="3677404313" sldId="318"/>
        </pc:sldMkLst>
        <pc:spChg chg="mod">
          <ac:chgData name="Elias Zakaria Mohellebi" userId="56af4c4a-6968-4862-9093-57b2055c8dd8" providerId="ADAL" clId="{1E1FDC68-94F7-5A2E-B020-A4526CA46D83}" dt="2026-10-13T08:44:16.820" v="3775" actId="20577"/>
          <ac:spMkLst>
            <pc:docMk/>
            <pc:sldMk cId="3677404313" sldId="318"/>
            <ac:spMk id="2" creationId="{514BBC02-85CF-89D7-AEE0-539CAF738407}"/>
          </ac:spMkLst>
        </pc:spChg>
        <pc:spChg chg="add mod">
          <ac:chgData name="Elias Zakaria Mohellebi" userId="56af4c4a-6968-4862-9093-57b2055c8dd8" providerId="ADAL" clId="{1E1FDC68-94F7-5A2E-B020-A4526CA46D83}" dt="2026-10-13T08:17:43.866" v="3652"/>
          <ac:spMkLst>
            <pc:docMk/>
            <pc:sldMk cId="3677404313" sldId="318"/>
            <ac:spMk id="7" creationId="{4055A486-634C-AAAC-31BE-5D663510A4B0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9T21:50:31.045" v="5301" actId="6549"/>
        <pc:sldMkLst>
          <pc:docMk/>
          <pc:sldMk cId="1599435418" sldId="319"/>
        </pc:sldMkLst>
        <pc:spChg chg="mod">
          <ac:chgData name="Elias Zakaria Mohellebi" userId="56af4c4a-6968-4862-9093-57b2055c8dd8" providerId="ADAL" clId="{1E1FDC68-94F7-5A2E-B020-A4526CA46D83}" dt="2026-10-13T08:55:20.822" v="3952" actId="20577"/>
          <ac:spMkLst>
            <pc:docMk/>
            <pc:sldMk cId="1599435418" sldId="319"/>
            <ac:spMk id="2" creationId="{C425D9E0-0BAF-3D5A-071B-551880DD46B8}"/>
          </ac:spMkLst>
        </pc:spChg>
        <pc:spChg chg="add mod">
          <ac:chgData name="Elias Zakaria Mohellebi" userId="56af4c4a-6968-4862-9093-57b2055c8dd8" providerId="ADAL" clId="{1E1FDC68-94F7-5A2E-B020-A4526CA46D83}" dt="2026-10-13T08:46:01.809" v="3783"/>
          <ac:spMkLst>
            <pc:docMk/>
            <pc:sldMk cId="1599435418" sldId="319"/>
            <ac:spMk id="3" creationId="{D6463072-448D-114B-03EF-6178AFE9A4C9}"/>
          </ac:spMkLst>
        </pc:spChg>
        <pc:spChg chg="add mod">
          <ac:chgData name="Elias Zakaria Mohellebi" userId="56af4c4a-6968-4862-9093-57b2055c8dd8" providerId="ADAL" clId="{1E1FDC68-94F7-5A2E-B020-A4526CA46D83}" dt="2026-10-13T08:46:01.809" v="3783"/>
          <ac:spMkLst>
            <pc:docMk/>
            <pc:sldMk cId="1599435418" sldId="319"/>
            <ac:spMk id="4" creationId="{0365656F-A59C-B152-F0D8-12BD828C8AD1}"/>
          </ac:spMkLst>
        </pc:spChg>
        <pc:spChg chg="add mod">
          <ac:chgData name="Elias Zakaria Mohellebi" userId="56af4c4a-6968-4862-9093-57b2055c8dd8" providerId="ADAL" clId="{1E1FDC68-94F7-5A2E-B020-A4526CA46D83}" dt="2026-10-19T21:50:31.045" v="5301" actId="6549"/>
          <ac:spMkLst>
            <pc:docMk/>
            <pc:sldMk cId="1599435418" sldId="319"/>
            <ac:spMk id="6" creationId="{5B188388-65A0-7DE4-9905-C8356852CB5F}"/>
          </ac:spMkLst>
        </pc:spChg>
        <pc:spChg chg="add mod">
          <ac:chgData name="Elias Zakaria Mohellebi" userId="56af4c4a-6968-4862-9093-57b2055c8dd8" providerId="ADAL" clId="{1E1FDC68-94F7-5A2E-B020-A4526CA46D83}" dt="2026-10-19T21:37:38.422" v="4819" actId="14100"/>
          <ac:spMkLst>
            <pc:docMk/>
            <pc:sldMk cId="1599435418" sldId="319"/>
            <ac:spMk id="7" creationId="{98445994-555F-384B-BE59-DD62E4B8F1E5}"/>
          </ac:spMkLst>
        </pc:spChg>
        <pc:graphicFrameChg chg="add mod">
          <ac:chgData name="Elias Zakaria Mohellebi" userId="56af4c4a-6968-4862-9093-57b2055c8dd8" providerId="ADAL" clId="{1E1FDC68-94F7-5A2E-B020-A4526CA46D83}" dt="2026-10-13T08:46:01.809" v="3783"/>
          <ac:graphicFrameMkLst>
            <pc:docMk/>
            <pc:sldMk cId="1599435418" sldId="319"/>
            <ac:graphicFrameMk id="5" creationId="{C1518B1B-D806-C3BD-8690-6CA4330EFA6F}"/>
          </ac:graphicFrameMkLst>
        </pc:graphicFrameChg>
      </pc:sldChg>
      <pc:sldChg chg="addSp delSp modSp add mod modNotesTx">
        <pc:chgData name="Elias Zakaria Mohellebi" userId="56af4c4a-6968-4862-9093-57b2055c8dd8" providerId="ADAL" clId="{1E1FDC68-94F7-5A2E-B020-A4526CA46D83}" dt="2026-10-13T09:02:12.155" v="4102" actId="6549"/>
        <pc:sldMkLst>
          <pc:docMk/>
          <pc:sldMk cId="461743630" sldId="320"/>
        </pc:sldMkLst>
        <pc:spChg chg="mod">
          <ac:chgData name="Elias Zakaria Mohellebi" userId="56af4c4a-6968-4862-9093-57b2055c8dd8" providerId="ADAL" clId="{1E1FDC68-94F7-5A2E-B020-A4526CA46D83}" dt="2026-10-13T08:59:53.530" v="4057" actId="20577"/>
          <ac:spMkLst>
            <pc:docMk/>
            <pc:sldMk cId="461743630" sldId="320"/>
            <ac:spMk id="2" creationId="{914EA3F1-22D5-09BB-4075-EE7E60172014}"/>
          </ac:spMkLst>
        </pc:spChg>
        <pc:spChg chg="add mod">
          <ac:chgData name="Elias Zakaria Mohellebi" userId="56af4c4a-6968-4862-9093-57b2055c8dd8" providerId="ADAL" clId="{1E1FDC68-94F7-5A2E-B020-A4526CA46D83}" dt="2026-10-13T09:00:02.180" v="4058"/>
          <ac:spMkLst>
            <pc:docMk/>
            <pc:sldMk cId="461743630" sldId="320"/>
            <ac:spMk id="4" creationId="{E5F969B2-DF37-2B5E-5682-9944A8BFB174}"/>
          </ac:spMkLst>
        </pc:spChg>
        <pc:spChg chg="add mod">
          <ac:chgData name="Elias Zakaria Mohellebi" userId="56af4c4a-6968-4862-9093-57b2055c8dd8" providerId="ADAL" clId="{1E1FDC68-94F7-5A2E-B020-A4526CA46D83}" dt="2026-10-13T09:00:02.180" v="4058"/>
          <ac:spMkLst>
            <pc:docMk/>
            <pc:sldMk cId="461743630" sldId="320"/>
            <ac:spMk id="37" creationId="{599B6735-82F5-D246-AE8E-AE438136BC49}"/>
          </ac:spMkLst>
        </pc:spChg>
      </pc:sldChg>
      <pc:sldChg chg="addSp delSp modSp add del mod ord modShow">
        <pc:chgData name="Elias Zakaria Mohellebi" userId="56af4c4a-6968-4862-9093-57b2055c8dd8" providerId="ADAL" clId="{1E1FDC68-94F7-5A2E-B020-A4526CA46D83}" dt="2026-10-20T07:17:20.615" v="5306" actId="2696"/>
        <pc:sldMkLst>
          <pc:docMk/>
          <pc:sldMk cId="1145840718" sldId="321"/>
        </pc:sldMkLst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4" creationId="{8FAE145B-0C23-A22D-33C8-251B295DF1F3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5" creationId="{08C7AFD0-6EA4-9D46-3A61-81CEAEAE15ED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1" creationId="{2381A5EC-6967-373D-CCEF-4B7CA0F9ED6C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3" creationId="{6A977700-63DB-718B-CE7A-57172C2F6F9C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4" creationId="{D865396C-E68E-6676-DFC2-D67FC2552903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5" creationId="{8CF60B84-9E61-044C-D272-3BE5CA014936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6" creationId="{64010A83-8285-3F80-55CF-3C9DCD93BA3D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7" creationId="{8D32B2B8-FB7A-53CD-74F9-6849010CD705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3T09:07:38.638" v="4161" actId="20577"/>
        <pc:sldMkLst>
          <pc:docMk/>
          <pc:sldMk cId="2841057976" sldId="322"/>
        </pc:sldMkLst>
        <pc:spChg chg="mod">
          <ac:chgData name="Elias Zakaria Mohellebi" userId="56af4c4a-6968-4862-9093-57b2055c8dd8" providerId="ADAL" clId="{1E1FDC68-94F7-5A2E-B020-A4526CA46D83}" dt="2026-10-13T09:07:38.638" v="4161" actId="20577"/>
          <ac:spMkLst>
            <pc:docMk/>
            <pc:sldMk cId="2841057976" sldId="322"/>
            <ac:spMk id="2" creationId="{03329692-F2D1-7C81-7E92-26BE13F02BAF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4" creationId="{168F7791-A22E-3215-6B85-AE6911BDC396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5" creationId="{5756D22E-76D8-DD73-3507-2E09C6D903EF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13" creationId="{59A2106F-FE45-60A9-D6CE-B6C295DE7BC6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14" creationId="{A2B74854-947F-CF68-3AC3-A245790DA636}"/>
          </ac:spMkLst>
        </pc:spChg>
        <pc:graphicFrameChg chg="add mod">
          <ac:chgData name="Elias Zakaria Mohellebi" userId="56af4c4a-6968-4862-9093-57b2055c8dd8" providerId="ADAL" clId="{1E1FDC68-94F7-5A2E-B020-A4526CA46D83}" dt="2026-10-13T09:06:26.487" v="4144"/>
          <ac:graphicFrameMkLst>
            <pc:docMk/>
            <pc:sldMk cId="2841057976" sldId="322"/>
            <ac:graphicFrameMk id="11" creationId="{C04151DA-75F9-8737-07E3-D1971D297AFB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4T14:12:24.557" v="4738" actId="20577"/>
        <pc:sldMkLst>
          <pc:docMk/>
          <pc:sldMk cId="544522066" sldId="323"/>
        </pc:sldMkLst>
        <pc:spChg chg="mod">
          <ac:chgData name="Elias Zakaria Mohellebi" userId="56af4c4a-6968-4862-9093-57b2055c8dd8" providerId="ADAL" clId="{1E1FDC68-94F7-5A2E-B020-A4526CA46D83}" dt="2026-10-14T14:12:24.557" v="4738" actId="20577"/>
          <ac:spMkLst>
            <pc:docMk/>
            <pc:sldMk cId="544522066" sldId="323"/>
            <ac:spMk id="2" creationId="{4548E1EF-86C4-CBB6-E3D4-D2FA50ECC026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89" creationId="{767C028B-4095-B4D4-35CF-4D0C752D77F8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11" creationId="{084521F9-8446-3389-49E3-9EA4BC044BCE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14" creationId="{637595EB-3EA1-770A-16AF-2B7A54212E77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40" creationId="{93E0B6AC-4303-6F8B-5DBF-DA9A3006739C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42" creationId="{EEBC633C-38AD-3D7F-5183-D849C6826E3F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49" creationId="{DAEB3D83-E0D4-3AAD-17F6-885150FF7A22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53" creationId="{1F24F391-C427-9CF6-01FB-7BD223A34858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76" creationId="{E6ACB676-93B5-3C12-B613-FA08B28B8EB7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84" creationId="{902993A1-3168-C18F-31CE-2CDDAFFD2068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204" creationId="{BAC7C2F1-6A95-CBA6-C729-9CD24D916E26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4T14:12:30.518" v="4742" actId="20577"/>
        <pc:sldMkLst>
          <pc:docMk/>
          <pc:sldMk cId="663416270" sldId="324"/>
        </pc:sldMkLst>
        <pc:spChg chg="mod">
          <ac:chgData name="Elias Zakaria Mohellebi" userId="56af4c4a-6968-4862-9093-57b2055c8dd8" providerId="ADAL" clId="{1E1FDC68-94F7-5A2E-B020-A4526CA46D83}" dt="2026-10-14T14:12:30.518" v="4742" actId="20577"/>
          <ac:spMkLst>
            <pc:docMk/>
            <pc:sldMk cId="663416270" sldId="324"/>
            <ac:spMk id="2" creationId="{9167EFDB-CF1C-8C4F-B301-18212CDA31B9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3" creationId="{C2EDE165-385B-22BE-BA2F-3B0BDABB8A3B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4" creationId="{D6A66760-3C20-B8CD-8561-7C5611C0A314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6" creationId="{523F9490-DD4A-8650-593F-46264D4E4785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7" creationId="{EEFA0BCF-4441-CCD6-0FD2-3EE11DC74523}"/>
          </ac:spMkLst>
        </pc:spChg>
        <pc:graphicFrameChg chg="add mod">
          <ac:chgData name="Elias Zakaria Mohellebi" userId="56af4c4a-6968-4862-9093-57b2055c8dd8" providerId="ADAL" clId="{1E1FDC68-94F7-5A2E-B020-A4526CA46D83}" dt="2026-10-13T09:11:01.102" v="4184"/>
          <ac:graphicFrameMkLst>
            <pc:docMk/>
            <pc:sldMk cId="663416270" sldId="324"/>
            <ac:graphicFrameMk id="5" creationId="{078817E7-E5C4-198F-B16A-14A2F0A09A96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3T10:53:38.295" v="4431" actId="2710"/>
        <pc:sldMkLst>
          <pc:docMk/>
          <pc:sldMk cId="1823160468" sldId="325"/>
        </pc:sldMkLst>
      </pc:sldChg>
      <pc:sldChg chg="addSp delSp modSp add mod">
        <pc:chgData name="Elias Zakaria Mohellebi" userId="56af4c4a-6968-4862-9093-57b2055c8dd8" providerId="ADAL" clId="{1E1FDC68-94F7-5A2E-B020-A4526CA46D83}" dt="2026-10-13T09:25:03.291" v="4313"/>
        <pc:sldMkLst>
          <pc:docMk/>
          <pc:sldMk cId="2890494142" sldId="326"/>
        </pc:sldMkLst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6" creationId="{1B1FB183-DCF8-223D-FA8C-EDCF8ED9AE65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8" creationId="{F560F66B-EAB6-18AD-47CD-613D6B3F0B4E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12" creationId="{07D592F2-9D90-48F1-4DB7-67671233BD99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0" creationId="{DF12FDEA-0CB2-C111-3E64-9BEE1091709F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4" creationId="{64E70C02-F364-2DAA-1793-99F9CD1A49DC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5" creationId="{1EC6A127-A44C-F066-BCC1-91DD45A437E1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6" creationId="{171BB206-7F21-9695-9A06-CDDE2897777C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34" creationId="{F0BBE419-4E57-179D-67E0-D47E1B197785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35" creationId="{9E74F852-3767-6628-F76B-92F0EBE962C4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36" creationId="{EE9BDEA9-1FB2-25B5-49E0-53199E165FFE}"/>
          </ac:spMkLst>
        </pc:spChg>
        <pc:spChg chg="add mod">
          <ac:chgData name="Elias Zakaria Mohellebi" userId="56af4c4a-6968-4862-9093-57b2055c8dd8" providerId="ADAL" clId="{1E1FDC68-94F7-5A2E-B020-A4526CA46D83}" dt="2026-10-13T09:25:03.291" v="4313"/>
          <ac:spMkLst>
            <pc:docMk/>
            <pc:sldMk cId="2890494142" sldId="326"/>
            <ac:spMk id="37" creationId="{2793620E-A3B7-7B07-4C2C-B8B49A653C13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28:54.337" v="4360" actId="20578"/>
        <pc:sldMkLst>
          <pc:docMk/>
          <pc:sldMk cId="3598296821" sldId="327"/>
        </pc:sldMkLst>
        <pc:spChg chg="add mod">
          <ac:chgData name="Elias Zakaria Mohellebi" userId="56af4c4a-6968-4862-9093-57b2055c8dd8" providerId="ADAL" clId="{1E1FDC68-94F7-5A2E-B020-A4526CA46D83}" dt="2026-10-13T09:27:22.075" v="4337"/>
          <ac:spMkLst>
            <pc:docMk/>
            <pc:sldMk cId="3598296821" sldId="327"/>
            <ac:spMk id="10" creationId="{A82A01B5-4A33-9579-A2E6-2DE294625028}"/>
          </ac:spMkLst>
        </pc:spChg>
        <pc:spChg chg="add mod">
          <ac:chgData name="Elias Zakaria Mohellebi" userId="56af4c4a-6968-4862-9093-57b2055c8dd8" providerId="ADAL" clId="{1E1FDC68-94F7-5A2E-B020-A4526CA46D83}" dt="2026-10-13T09:27:22.075" v="4337"/>
          <ac:spMkLst>
            <pc:docMk/>
            <pc:sldMk cId="3598296821" sldId="327"/>
            <ac:spMk id="12" creationId="{6E4F0ECA-7B19-ABBD-AE97-474CF0EF29A7}"/>
          </ac:spMkLst>
        </pc:spChg>
        <pc:spChg chg="add mod">
          <ac:chgData name="Elias Zakaria Mohellebi" userId="56af4c4a-6968-4862-9093-57b2055c8dd8" providerId="ADAL" clId="{1E1FDC68-94F7-5A2E-B020-A4526CA46D83}" dt="2026-10-13T09:27:42.246" v="4340" actId="1076"/>
          <ac:spMkLst>
            <pc:docMk/>
            <pc:sldMk cId="3598296821" sldId="327"/>
            <ac:spMk id="13" creationId="{72952FBE-0931-1094-D252-4A2FE1511332}"/>
          </ac:spMkLst>
        </pc:spChg>
        <pc:spChg chg="add mod">
          <ac:chgData name="Elias Zakaria Mohellebi" userId="56af4c4a-6968-4862-9093-57b2055c8dd8" providerId="ADAL" clId="{1E1FDC68-94F7-5A2E-B020-A4526CA46D83}" dt="2026-10-13T09:27:27.661" v="4338"/>
          <ac:spMkLst>
            <pc:docMk/>
            <pc:sldMk cId="3598296821" sldId="327"/>
            <ac:spMk id="14" creationId="{9253EA71-8FDE-15C7-D265-F238BC589773}"/>
          </ac:spMkLst>
        </pc:spChg>
        <pc:graphicFrameChg chg="add mod">
          <ac:chgData name="Elias Zakaria Mohellebi" userId="56af4c4a-6968-4862-9093-57b2055c8dd8" providerId="ADAL" clId="{1E1FDC68-94F7-5A2E-B020-A4526CA46D83}" dt="2026-10-13T09:27:22.075" v="4337"/>
          <ac:graphicFrameMkLst>
            <pc:docMk/>
            <pc:sldMk cId="3598296821" sldId="327"/>
            <ac:graphicFrameMk id="11" creationId="{6E2874FA-DD49-E549-AEE4-C8114CB6D495}"/>
          </ac:graphicFrameMkLst>
        </pc:graphicFrameChg>
      </pc:sldChg>
      <pc:sldChg chg="addSp delSp modSp add mod modAnim">
        <pc:chgData name="Elias Zakaria Mohellebi" userId="56af4c4a-6968-4862-9093-57b2055c8dd8" providerId="ADAL" clId="{1E1FDC68-94F7-5A2E-B020-A4526CA46D83}" dt="2026-10-13T09:31:08.462" v="4373"/>
        <pc:sldMkLst>
          <pc:docMk/>
          <pc:sldMk cId="3745961406" sldId="329"/>
        </pc:sldMkLst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3" creationId="{7437CDBB-C72A-D44B-5F39-4DF056535076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6" creationId="{EDCB80F5-ED99-995B-A6EF-2A8881700CC4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8" creationId="{847AFAA1-6EC7-51B4-0E4A-9C0DFA84256C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1" creationId="{7581CD7C-A30C-3C9E-E51E-8E9D8B2D0C6F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2" creationId="{6085AD2A-84CF-CEDF-C3A1-EBFE91346B32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3" creationId="{AC8CEEF3-181C-A1AC-6C0B-E5C0B062FD20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4" creationId="{D1BE1569-F9CD-18FE-CCAE-20F9F41F5531}"/>
          </ac:spMkLst>
        </pc:spChg>
      </pc:sldChg>
      <pc:sldChg chg="addSp delSp modSp add mod delAnim">
        <pc:chgData name="Elias Zakaria Mohellebi" userId="56af4c4a-6968-4862-9093-57b2055c8dd8" providerId="ADAL" clId="{1E1FDC68-94F7-5A2E-B020-A4526CA46D83}" dt="2026-10-13T09:31:56.701" v="4389" actId="1036"/>
        <pc:sldMkLst>
          <pc:docMk/>
          <pc:sldMk cId="2445733808" sldId="330"/>
        </pc:sldMkLst>
        <pc:spChg chg="add mod">
          <ac:chgData name="Elias Zakaria Mohellebi" userId="56af4c4a-6968-4862-9093-57b2055c8dd8" providerId="ADAL" clId="{1E1FDC68-94F7-5A2E-B020-A4526CA46D83}" dt="2026-10-13T09:31:47.605" v="4376"/>
          <ac:spMkLst>
            <pc:docMk/>
            <pc:sldMk cId="2445733808" sldId="330"/>
            <ac:spMk id="4" creationId="{07C2FFDA-AC4B-A762-2D84-9F7F807040CA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5" creationId="{90C7DB82-8B5B-08B7-B616-C3252A65165D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7" creationId="{F940C6A2-B604-2814-D84F-5336F0B75E51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0" creationId="{8A34ED19-D0CD-621E-7185-0015C083793B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5" creationId="{D26986DB-9931-D812-9C76-524A912FF143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6" creationId="{8D9605AF-3E60-D362-5B15-31F2EB7841A5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7" creationId="{4CE757F3-10B5-623B-9A6F-D605045605D9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8" creationId="{2FBFC729-B068-4A72-FE53-D2912116D1BF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9" creationId="{22CE8446-1E3B-2EED-5DF8-C5FE2CF4B9CE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3T10:12:26.097" v="4400"/>
        <pc:sldMkLst>
          <pc:docMk/>
          <pc:sldMk cId="215413301" sldId="331"/>
        </pc:sldMkLst>
        <pc:spChg chg="add mod">
          <ac:chgData name="Elias Zakaria Mohellebi" userId="56af4c4a-6968-4862-9093-57b2055c8dd8" providerId="ADAL" clId="{1E1FDC68-94F7-5A2E-B020-A4526CA46D83}" dt="2026-10-13T10:11:41.498" v="4397"/>
          <ac:spMkLst>
            <pc:docMk/>
            <pc:sldMk cId="215413301" sldId="331"/>
            <ac:spMk id="5" creationId="{C7303A7E-97A8-686C-0E28-0E9BCEB48182}"/>
          </ac:spMkLst>
        </pc:spChg>
        <pc:spChg chg="add mod">
          <ac:chgData name="Elias Zakaria Mohellebi" userId="56af4c4a-6968-4862-9093-57b2055c8dd8" providerId="ADAL" clId="{1E1FDC68-94F7-5A2E-B020-A4526CA46D83}" dt="2026-10-13T10:11:41.498" v="4397"/>
          <ac:spMkLst>
            <pc:docMk/>
            <pc:sldMk cId="215413301" sldId="331"/>
            <ac:spMk id="8" creationId="{6053B93B-0FA6-41CB-E7C6-A2EECE8BA202}"/>
          </ac:spMkLst>
        </pc:spChg>
        <pc:spChg chg="add mod">
          <ac:chgData name="Elias Zakaria Mohellebi" userId="56af4c4a-6968-4862-9093-57b2055c8dd8" providerId="ADAL" clId="{1E1FDC68-94F7-5A2E-B020-A4526CA46D83}" dt="2026-10-13T10:11:41.498" v="4397"/>
          <ac:spMkLst>
            <pc:docMk/>
            <pc:sldMk cId="215413301" sldId="331"/>
            <ac:spMk id="10" creationId="{19643C58-6F12-F1E4-9DDD-62E84A9E6B2D}"/>
          </ac:spMkLst>
        </pc:spChg>
        <pc:spChg chg="add mod">
          <ac:chgData name="Elias Zakaria Mohellebi" userId="56af4c4a-6968-4862-9093-57b2055c8dd8" providerId="ADAL" clId="{1E1FDC68-94F7-5A2E-B020-A4526CA46D83}" dt="2026-10-13T10:12:26.097" v="4400"/>
          <ac:spMkLst>
            <pc:docMk/>
            <pc:sldMk cId="215413301" sldId="331"/>
            <ac:spMk id="11" creationId="{4272CFE5-69F8-4DCF-D3E0-5089FB097C3C}"/>
          </ac:spMkLst>
        </pc:spChg>
        <pc:graphicFrameChg chg="add mod">
          <ac:chgData name="Elias Zakaria Mohellebi" userId="56af4c4a-6968-4862-9093-57b2055c8dd8" providerId="ADAL" clId="{1E1FDC68-94F7-5A2E-B020-A4526CA46D83}" dt="2026-10-13T10:11:41.498" v="4397"/>
          <ac:graphicFrameMkLst>
            <pc:docMk/>
            <pc:sldMk cId="215413301" sldId="331"/>
            <ac:graphicFrameMk id="7" creationId="{39DDBFE3-6050-5AEB-2FAC-425999FB1475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9T19:46:09.509" v="4793" actId="27918"/>
        <pc:sldMkLst>
          <pc:docMk/>
          <pc:sldMk cId="4012677303" sldId="332"/>
        </pc:sldMkLst>
        <pc:spChg chg="add mod">
          <ac:chgData name="Elias Zakaria Mohellebi" userId="56af4c4a-6968-4862-9093-57b2055c8dd8" providerId="ADAL" clId="{1E1FDC68-94F7-5A2E-B020-A4526CA46D83}" dt="2026-10-13T10:30:47.306" v="4406"/>
          <ac:spMkLst>
            <pc:docMk/>
            <pc:sldMk cId="4012677303" sldId="332"/>
            <ac:spMk id="3" creationId="{A64B211E-484F-51A3-F4DE-A240EDAFCDB2}"/>
          </ac:spMkLst>
        </pc:spChg>
        <pc:spChg chg="add mod">
          <ac:chgData name="Elias Zakaria Mohellebi" userId="56af4c4a-6968-4862-9093-57b2055c8dd8" providerId="ADAL" clId="{1E1FDC68-94F7-5A2E-B020-A4526CA46D83}" dt="2026-10-13T10:30:47.306" v="4406"/>
          <ac:spMkLst>
            <pc:docMk/>
            <pc:sldMk cId="4012677303" sldId="332"/>
            <ac:spMk id="6" creationId="{BD56FED3-BED7-9D16-66CC-2D8EA7B84A26}"/>
          </ac:spMkLst>
        </pc:spChg>
        <pc:spChg chg="add mod">
          <ac:chgData name="Elias Zakaria Mohellebi" userId="56af4c4a-6968-4862-9093-57b2055c8dd8" providerId="ADAL" clId="{1E1FDC68-94F7-5A2E-B020-A4526CA46D83}" dt="2026-10-13T10:30:47.306" v="4406"/>
          <ac:spMkLst>
            <pc:docMk/>
            <pc:sldMk cId="4012677303" sldId="332"/>
            <ac:spMk id="8" creationId="{24B2EE10-6C12-A0FF-75A8-1C6F828DF95E}"/>
          </ac:spMkLst>
        </pc:spChg>
        <pc:graphicFrameChg chg="add mod">
          <ac:chgData name="Elias Zakaria Mohellebi" userId="56af4c4a-6968-4862-9093-57b2055c8dd8" providerId="ADAL" clId="{1E1FDC68-94F7-5A2E-B020-A4526CA46D83}" dt="2026-10-13T10:30:47.306" v="4406"/>
          <ac:graphicFrameMkLst>
            <pc:docMk/>
            <pc:sldMk cId="4012677303" sldId="332"/>
            <ac:graphicFrameMk id="11" creationId="{05087A24-0003-0B3A-49F9-EE09B2B965BF}"/>
          </ac:graphicFrameMkLst>
        </pc:graphicFrameChg>
        <pc:graphicFrameChg chg="add mod">
          <ac:chgData name="Elias Zakaria Mohellebi" userId="56af4c4a-6968-4862-9093-57b2055c8dd8" providerId="ADAL" clId="{1E1FDC68-94F7-5A2E-B020-A4526CA46D83}" dt="2026-10-13T10:30:47.306" v="4406"/>
          <ac:graphicFrameMkLst>
            <pc:docMk/>
            <pc:sldMk cId="4012677303" sldId="332"/>
            <ac:graphicFrameMk id="12" creationId="{9C0750B7-419B-0F67-033E-B0035EECE13B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3T10:31:44.190" v="4412"/>
        <pc:sldMkLst>
          <pc:docMk/>
          <pc:sldMk cId="2600611725" sldId="333"/>
        </pc:sldMkLst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5" creationId="{0F387F66-B627-9DEC-8891-719AE0FB64D3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6" creationId="{58879F2C-4F11-47D5-47E4-50334DEF2675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7" creationId="{C4E02F80-C1F6-BC9F-69E8-F7F2D761CF05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10" creationId="{6BB6B8D0-8BC3-98FF-46DD-813BF557A8F0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11" creationId="{FA071948-815D-3AEE-6193-07BD7AE2614E}"/>
          </ac:spMkLst>
        </pc:spChg>
        <pc:graphicFrameChg chg="add mod">
          <ac:chgData name="Elias Zakaria Mohellebi" userId="56af4c4a-6968-4862-9093-57b2055c8dd8" providerId="ADAL" clId="{1E1FDC68-94F7-5A2E-B020-A4526CA46D83}" dt="2026-10-13T10:31:44.190" v="4412"/>
          <ac:graphicFrameMkLst>
            <pc:docMk/>
            <pc:sldMk cId="2600611725" sldId="333"/>
            <ac:graphicFrameMk id="8" creationId="{28FCE811-8571-1BC6-D03A-9667AE430278}"/>
          </ac:graphicFrameMkLst>
        </pc:graphicFrameChg>
      </pc:sldChg>
      <pc:sldChg chg="modSp mod">
        <pc:chgData name="Elias Zakaria Mohellebi" userId="56af4c4a-6968-4862-9093-57b2055c8dd8" providerId="ADAL" clId="{1E1FDC68-94F7-5A2E-B020-A4526CA46D83}" dt="2026-10-14T14:15:16.176" v="4764" actId="20577"/>
        <pc:sldMkLst>
          <pc:docMk/>
          <pc:sldMk cId="2029556108" sldId="334"/>
        </pc:sldMkLst>
        <pc:spChg chg="mod">
          <ac:chgData name="Elias Zakaria Mohellebi" userId="56af4c4a-6968-4862-9093-57b2055c8dd8" providerId="ADAL" clId="{1E1FDC68-94F7-5A2E-B020-A4526CA46D83}" dt="2026-10-14T14:15:16.176" v="4764" actId="20577"/>
          <ac:spMkLst>
            <pc:docMk/>
            <pc:sldMk cId="2029556108" sldId="334"/>
            <ac:spMk id="3" creationId="{3E7D5534-AEEF-4B4C-8F82-0587E1B47D48}"/>
          </ac:spMkLst>
        </pc:spChg>
      </pc:sldChg>
      <pc:sldChg chg="addSp modSp add mod ord">
        <pc:chgData name="Elias Zakaria Mohellebi" userId="56af4c4a-6968-4862-9093-57b2055c8dd8" providerId="ADAL" clId="{1E1FDC68-94F7-5A2E-B020-A4526CA46D83}" dt="2026-10-14T14:13:00.696" v="4747" actId="20577"/>
        <pc:sldMkLst>
          <pc:docMk/>
          <pc:sldMk cId="3170172936" sldId="361"/>
        </pc:sldMkLst>
        <pc:spChg chg="mod">
          <ac:chgData name="Elias Zakaria Mohellebi" userId="56af4c4a-6968-4862-9093-57b2055c8dd8" providerId="ADAL" clId="{1E1FDC68-94F7-5A2E-B020-A4526CA46D83}" dt="2026-10-14T14:13:00.696" v="4747" actId="20577"/>
          <ac:spMkLst>
            <pc:docMk/>
            <pc:sldMk cId="3170172936" sldId="361"/>
            <ac:spMk id="2" creationId="{EF2B5F16-3EE2-39B6-39E1-4B37AA047480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4T13:23:04.993" v="4733" actId="1076"/>
        <pc:sldMkLst>
          <pc:docMk/>
          <pc:sldMk cId="262809435" sldId="362"/>
        </pc:sldMkLst>
      </pc:sldChg>
      <pc:sldChg chg="add del ord">
        <pc:chgData name="Elias Zakaria Mohellebi" userId="56af4c4a-6968-4862-9093-57b2055c8dd8" providerId="ADAL" clId="{1E1FDC68-94F7-5A2E-B020-A4526CA46D83}" dt="2026-10-19T19:25:04.439" v="4787" actId="2696"/>
        <pc:sldMkLst>
          <pc:docMk/>
          <pc:sldMk cId="855726844" sldId="364"/>
        </pc:sldMkLst>
      </pc:sldChg>
      <pc:sldChg chg="modSp mod">
        <pc:chgData name="Elias Zakaria Mohellebi" userId="56af4c4a-6968-4862-9093-57b2055c8dd8" providerId="ADAL" clId="{1E1FDC68-94F7-5A2E-B020-A4526CA46D83}" dt="2026-10-20T09:09:09.248" v="5314" actId="1076"/>
        <pc:sldMkLst>
          <pc:docMk/>
          <pc:sldMk cId="1192601965" sldId="364"/>
        </pc:sldMkLst>
        <pc:spChg chg="mod">
          <ac:chgData name="Elias Zakaria Mohellebi" userId="56af4c4a-6968-4862-9093-57b2055c8dd8" providerId="ADAL" clId="{1E1FDC68-94F7-5A2E-B020-A4526CA46D83}" dt="2026-10-20T09:09:06.238" v="5313" actId="20577"/>
          <ac:spMkLst>
            <pc:docMk/>
            <pc:sldMk cId="1192601965" sldId="364"/>
            <ac:spMk id="4" creationId="{1AA88FB2-9065-4AB0-B03E-952D69BF42DD}"/>
          </ac:spMkLst>
        </pc:spChg>
        <pc:picChg chg="mod">
          <ac:chgData name="Elias Zakaria Mohellebi" userId="56af4c4a-6968-4862-9093-57b2055c8dd8" providerId="ADAL" clId="{1E1FDC68-94F7-5A2E-B020-A4526CA46D83}" dt="2026-10-20T09:09:09.248" v="5314" actId="1076"/>
          <ac:picMkLst>
            <pc:docMk/>
            <pc:sldMk cId="1192601965" sldId="364"/>
            <ac:picMk id="6" creationId="{CE8DE895-43FB-40B7-9050-749D2D1369B1}"/>
          </ac:picMkLst>
        </pc:picChg>
      </pc:sldChg>
      <pc:sldChg chg="add del setBg">
        <pc:chgData name="Elias Zakaria Mohellebi" userId="56af4c4a-6968-4862-9093-57b2055c8dd8" providerId="ADAL" clId="{1E1FDC68-94F7-5A2E-B020-A4526CA46D83}" dt="2026-10-19T19:20:25.932" v="4766"/>
        <pc:sldMkLst>
          <pc:docMk/>
          <pc:sldMk cId="3294214207" sldId="36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Energy content</c:v>
          </c:tx>
          <c:spPr>
            <a:solidFill>
              <a:srgbClr val="B7A0F5"/>
            </a:solidFill>
            <a:ln w="0">
              <a:solidFill>
                <a:srgbClr val="B7A0F5"/>
              </a:solidFill>
            </a:ln>
          </c:spPr>
          <c:invertIfNegative val="1"/>
          <c:cat>
            <c:strRef>
              <c:f>'Chart Data'!$A$2:$A$5</c:f>
              <c:strCache>
                <c:ptCount val="4"/>
                <c:pt idx="0">
                  <c:v>Lignite</c:v>
                </c:pt>
                <c:pt idx="1">
                  <c:v>Sub-bituminous</c:v>
                </c:pt>
                <c:pt idx="2">
                  <c:v>Bituminous</c:v>
                </c:pt>
                <c:pt idx="3">
                  <c:v>Anthracite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29000</c:v>
                </c:pt>
                <c:pt idx="1">
                  <c:v>34000</c:v>
                </c:pt>
                <c:pt idx="2">
                  <c:v>35500</c:v>
                </c:pt>
                <c:pt idx="3">
                  <c:v>35200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B7A0F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BD0-6040-9F5C-0A8ED109DA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00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Share of global coal reserves</c:v>
          </c:tx>
          <c:spPr>
            <a:solidFill>
              <a:srgbClr val="B7A0F5"/>
            </a:solidFill>
            <a:ln w="0">
              <a:solidFill>
                <a:srgbClr val="B7A0F5"/>
              </a:solidFill>
            </a:ln>
          </c:spPr>
          <c:invertIfNegative val="1"/>
          <c:cat>
            <c:strRef>
              <c:f>'Chart Data'!$A$2:$A$10</c:f>
              <c:strCache>
                <c:ptCount val="9"/>
                <c:pt idx="0">
                  <c:v>United
States</c:v>
                </c:pt>
                <c:pt idx="1">
                  <c:v>Russia</c:v>
                </c:pt>
                <c:pt idx="2">
                  <c:v>China</c:v>
                </c:pt>
                <c:pt idx="3">
                  <c:v>Australia</c:v>
                </c:pt>
                <c:pt idx="4">
                  <c:v>India</c:v>
                </c:pt>
                <c:pt idx="5">
                  <c:v>Germany</c:v>
                </c:pt>
                <c:pt idx="6">
                  <c:v>Ukraine</c:v>
                </c:pt>
                <c:pt idx="7">
                  <c:v>Kazakhstan</c:v>
                </c:pt>
                <c:pt idx="8">
                  <c:v>South
Africa</c:v>
                </c:pt>
              </c:strCache>
            </c:strRef>
          </c:cat>
          <c:val>
            <c:numRef>
              <c:f>'Chart Data'!$B$2:$B$10</c:f>
              <c:numCache>
                <c:formatCode>0</c:formatCode>
                <c:ptCount val="9"/>
                <c:pt idx="0">
                  <c:v>28</c:v>
                </c:pt>
                <c:pt idx="1">
                  <c:v>18</c:v>
                </c:pt>
                <c:pt idx="2">
                  <c:v>13</c:v>
                </c:pt>
                <c:pt idx="3">
                  <c:v>9</c:v>
                </c:pt>
                <c:pt idx="4">
                  <c:v>7</c:v>
                </c:pt>
                <c:pt idx="5">
                  <c:v>5</c:v>
                </c:pt>
                <c:pt idx="6">
                  <c:v>4</c:v>
                </c:pt>
                <c:pt idx="7">
                  <c:v>4</c:v>
                </c:pt>
                <c:pt idx="8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B7A0F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5101-354B-9C36-AB1EE6A0FA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A14B-8C41-BEC8-237ADCF80248}"/>
              </c:ext>
            </c:extLst>
          </c:dPt>
          <c:dPt>
            <c:idx val="1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A14B-8C41-BEC8-237ADCF80248}"/>
              </c:ext>
            </c:extLst>
          </c:dPt>
          <c:dPt>
            <c:idx val="2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A14B-8C41-BEC8-237ADCF80248}"/>
              </c:ext>
            </c:extLst>
          </c:dPt>
          <c:dPt>
            <c:idx val="3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A14B-8C41-BEC8-237ADCF80248}"/>
              </c:ext>
            </c:extLst>
          </c:dPt>
          <c:dPt>
            <c:idx val="4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A14B-8C41-BEC8-237ADCF80248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A14B-8C41-BEC8-237ADCF80248}"/>
              </c:ext>
            </c:extLst>
          </c:dPt>
          <c:cat>
            <c:strRef>
              <c:f>'Chart Data'!$A$2:$A$7</c:f>
              <c:strCache>
                <c:ptCount val="6"/>
                <c:pt idx="0">
                  <c:v>Northern Eurasia (≈34%)</c:v>
                </c:pt>
                <c:pt idx="1">
                  <c:v>Asia Pacific (≈32%)</c:v>
                </c:pt>
                <c:pt idx="2">
                  <c:v>North America (≈27%)</c:v>
                </c:pt>
                <c:pt idx="3">
                  <c:v>Africa (≈4%)</c:v>
                </c:pt>
                <c:pt idx="4">
                  <c:v>Central &amp; South America (≈2%)</c:v>
                </c:pt>
                <c:pt idx="5">
                  <c:v>Middle East (≈1%)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34</c:v>
                </c:pt>
                <c:pt idx="1">
                  <c:v>32</c:v>
                </c:pt>
                <c:pt idx="2">
                  <c:v>27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14B-8C41-BEC8-237ADCF802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Share of global oil reserves</c:v>
          </c:tx>
          <c:spPr>
            <a:solidFill>
              <a:srgbClr val="F7D675"/>
            </a:solidFill>
            <a:ln w="0">
              <a:solidFill>
                <a:srgbClr val="F7D675"/>
              </a:solidFill>
            </a:ln>
          </c:spPr>
          <c:invertIfNegative val="1"/>
          <c:cat>
            <c:strRef>
              <c:f>'Chart Data'!$A$2:$A$16</c:f>
              <c:strCache>
                <c:ptCount val="15"/>
                <c:pt idx="0">
                  <c:v>Saudi Arabia</c:v>
                </c:pt>
                <c:pt idx="1">
                  <c:v>Venezuela</c:v>
                </c:pt>
                <c:pt idx="2">
                  <c:v>Canada</c:v>
                </c:pt>
                <c:pt idx="3">
                  <c:v>Iraq</c:v>
                </c:pt>
                <c:pt idx="4">
                  <c:v>Iran</c:v>
                </c:pt>
                <c:pt idx="5">
                  <c:v>Kuwait</c:v>
                </c:pt>
                <c:pt idx="6">
                  <c:v>UAE</c:v>
                </c:pt>
                <c:pt idx="7">
                  <c:v>Russia</c:v>
                </c:pt>
                <c:pt idx="8">
                  <c:v>Libya</c:v>
                </c:pt>
                <c:pt idx="9">
                  <c:v>Nigeria</c:v>
                </c:pt>
                <c:pt idx="10">
                  <c:v>Kazakhstan</c:v>
                </c:pt>
                <c:pt idx="11">
                  <c:v>Qatar</c:v>
                </c:pt>
                <c:pt idx="12">
                  <c:v>United States</c:v>
                </c:pt>
                <c:pt idx="13">
                  <c:v>China</c:v>
                </c:pt>
                <c:pt idx="14">
                  <c:v>Brazil</c:v>
                </c:pt>
              </c:strCache>
            </c:strRef>
          </c:cat>
          <c:val>
            <c:numRef>
              <c:f>'Chart Data'!$B$2:$B$16</c:f>
              <c:numCache>
                <c:formatCode>0</c:formatCode>
                <c:ptCount val="15"/>
                <c:pt idx="0">
                  <c:v>18</c:v>
                </c:pt>
                <c:pt idx="1">
                  <c:v>14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7</c:v>
                </c:pt>
                <c:pt idx="6">
                  <c:v>7</c:v>
                </c:pt>
                <c:pt idx="7">
                  <c:v>4</c:v>
                </c:pt>
                <c:pt idx="8">
                  <c:v>3</c:v>
                </c:pt>
                <c:pt idx="9">
                  <c:v>2.5</c:v>
                </c:pt>
                <c:pt idx="10">
                  <c:v>2</c:v>
                </c:pt>
                <c:pt idx="11">
                  <c:v>1.7</c:v>
                </c:pt>
                <c:pt idx="12">
                  <c:v>1.6</c:v>
                </c:pt>
                <c:pt idx="13">
                  <c:v>1.4</c:v>
                </c:pt>
                <c:pt idx="14">
                  <c:v>0.7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F7D67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14A-0340-A839-199F84D6B0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0"/>
          <c:min val="0"/>
        </c:scaling>
        <c:delete val="0"/>
        <c:axPos val="b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2A8E-9443-9976-EA0B7A02D9E9}"/>
              </c:ext>
            </c:extLst>
          </c:dPt>
          <c:dPt>
            <c:idx val="1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2A8E-9443-9976-EA0B7A02D9E9}"/>
              </c:ext>
            </c:extLst>
          </c:dPt>
          <c:dPt>
            <c:idx val="2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2A8E-9443-9976-EA0B7A02D9E9}"/>
              </c:ext>
            </c:extLst>
          </c:dPt>
          <c:dPt>
            <c:idx val="3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2A8E-9443-9976-EA0B7A02D9E9}"/>
              </c:ext>
            </c:extLst>
          </c:dPt>
          <c:dPt>
            <c:idx val="4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2A8E-9443-9976-EA0B7A02D9E9}"/>
              </c:ext>
            </c:extLst>
          </c:dPt>
          <c:dPt>
            <c:idx val="5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2A8E-9443-9976-EA0B7A02D9E9}"/>
              </c:ext>
            </c:extLst>
          </c:dPt>
          <c:cat>
            <c:strRef>
              <c:f>'Chart Data'!$A$2:$A$7</c:f>
              <c:strCache>
                <c:ptCount val="6"/>
                <c:pt idx="0">
                  <c:v>Middle East (≈52%)</c:v>
                </c:pt>
                <c:pt idx="1">
                  <c:v>Central &amp; South America (≈16%)</c:v>
                </c:pt>
                <c:pt idx="2">
                  <c:v>North America (≈14%)</c:v>
                </c:pt>
                <c:pt idx="3">
                  <c:v>Africa (≈8%)</c:v>
                </c:pt>
                <c:pt idx="4">
                  <c:v>Northern Eurasia (≈7%)</c:v>
                </c:pt>
                <c:pt idx="5">
                  <c:v>Asia Pacific (≈3%)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52</c:v>
                </c:pt>
                <c:pt idx="1">
                  <c:v>16</c:v>
                </c:pt>
                <c:pt idx="2">
                  <c:v>14</c:v>
                </c:pt>
                <c:pt idx="3">
                  <c:v>8</c:v>
                </c:pt>
                <c:pt idx="4">
                  <c:v>7</c:v>
                </c:pt>
                <c:pt idx="5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A8E-9443-9976-EA0B7A02D9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Share of global gas reserves</c:v>
          </c:tx>
          <c:spPr>
            <a:solidFill>
              <a:srgbClr val="65D6E5"/>
            </a:solidFill>
            <a:ln w="0">
              <a:solidFill>
                <a:srgbClr val="65D6E5"/>
              </a:solidFill>
            </a:ln>
          </c:spPr>
          <c:invertIfNegative val="1"/>
          <c:cat>
            <c:strRef>
              <c:f>'Chart Data'!$A$2:$A$13</c:f>
              <c:strCache>
                <c:ptCount val="12"/>
                <c:pt idx="0">
                  <c:v>Russia</c:v>
                </c:pt>
                <c:pt idx="1">
                  <c:v>Iran</c:v>
                </c:pt>
                <c:pt idx="2">
                  <c:v>Qatar</c:v>
                </c:pt>
                <c:pt idx="3">
                  <c:v>United
States</c:v>
                </c:pt>
                <c:pt idx="4">
                  <c:v>Saudi
Arabia</c:v>
                </c:pt>
                <c:pt idx="5">
                  <c:v>Turkmen-
istan</c:v>
                </c:pt>
                <c:pt idx="6">
                  <c:v>UAE</c:v>
                </c:pt>
                <c:pt idx="7">
                  <c:v>Nigeria</c:v>
                </c:pt>
                <c:pt idx="8">
                  <c:v>Venezuela</c:v>
                </c:pt>
                <c:pt idx="9">
                  <c:v>Iraq</c:v>
                </c:pt>
                <c:pt idx="10">
                  <c:v>Australia</c:v>
                </c:pt>
                <c:pt idx="11">
                  <c:v>China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13</c:v>
                </c:pt>
                <c:pt idx="3">
                  <c:v>4.5</c:v>
                </c:pt>
                <c:pt idx="4">
                  <c:v>4.2</c:v>
                </c:pt>
                <c:pt idx="5">
                  <c:v>4</c:v>
                </c:pt>
                <c:pt idx="6">
                  <c:v>3.5</c:v>
                </c:pt>
                <c:pt idx="7">
                  <c:v>3</c:v>
                </c:pt>
                <c:pt idx="8">
                  <c:v>2.7</c:v>
                </c:pt>
                <c:pt idx="9">
                  <c:v>2</c:v>
                </c:pt>
                <c:pt idx="10">
                  <c:v>1.5</c:v>
                </c:pt>
                <c:pt idx="11">
                  <c:v>1.4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65D6E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21-CE45-BA7E-73EECB253C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0724-4D42-919F-84A34F3B5D18}"/>
              </c:ext>
            </c:extLst>
          </c:dPt>
          <c:dPt>
            <c:idx val="1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0724-4D42-919F-84A34F3B5D18}"/>
              </c:ext>
            </c:extLst>
          </c:dPt>
          <c:dPt>
            <c:idx val="2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0724-4D42-919F-84A34F3B5D18}"/>
              </c:ext>
            </c:extLst>
          </c:dPt>
          <c:dPt>
            <c:idx val="3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0724-4D42-919F-84A34F3B5D18}"/>
              </c:ext>
            </c:extLst>
          </c:dPt>
          <c:dPt>
            <c:idx val="4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0724-4D42-919F-84A34F3B5D18}"/>
              </c:ext>
            </c:extLst>
          </c:dPt>
          <c:dPt>
            <c:idx val="5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0724-4D42-919F-84A34F3B5D18}"/>
              </c:ext>
            </c:extLst>
          </c:dPt>
          <c:cat>
            <c:strRef>
              <c:f>'Chart Data'!$A$2:$A$7</c:f>
              <c:strCache>
                <c:ptCount val="6"/>
                <c:pt idx="0">
                  <c:v>Middle East (≈39%)</c:v>
                </c:pt>
                <c:pt idx="1">
                  <c:v>Central &amp; South America (≈4%)</c:v>
                </c:pt>
                <c:pt idx="2">
                  <c:v>North America (≈7%)</c:v>
                </c:pt>
                <c:pt idx="3">
                  <c:v>Africa (≈7%)</c:v>
                </c:pt>
                <c:pt idx="4">
                  <c:v>Northern Eurasia (≈36%)</c:v>
                </c:pt>
                <c:pt idx="5">
                  <c:v>Asia Pacific (≈7%)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39</c:v>
                </c:pt>
                <c:pt idx="1">
                  <c:v>4</c:v>
                </c:pt>
                <c:pt idx="2">
                  <c:v>7</c:v>
                </c:pt>
                <c:pt idx="3">
                  <c:v>7</c:v>
                </c:pt>
                <c:pt idx="4">
                  <c:v>36</c:v>
                </c:pt>
                <c:pt idx="5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724-4D42-919F-84A34F3B5D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Share of recoverable uranium</c:v>
          </c:tx>
          <c:spPr>
            <a:solidFill>
              <a:srgbClr val="81D6AA"/>
            </a:solidFill>
            <a:ln w="0">
              <a:solidFill>
                <a:srgbClr val="81D6AA"/>
              </a:solidFill>
            </a:ln>
          </c:spPr>
          <c:invertIfNegative val="1"/>
          <c:cat>
            <c:strRef>
              <c:f>'Chart Data'!$A$2:$A$15</c:f>
              <c:strCache>
                <c:ptCount val="14"/>
                <c:pt idx="0">
                  <c:v>Australia</c:v>
                </c:pt>
                <c:pt idx="1">
                  <c:v>Kazakhstan</c:v>
                </c:pt>
                <c:pt idx="2">
                  <c:v>Russia</c:v>
                </c:pt>
                <c:pt idx="3">
                  <c:v>Canada</c:v>
                </c:pt>
                <c:pt idx="4">
                  <c:v>Niger</c:v>
                </c:pt>
                <c:pt idx="5">
                  <c:v>South Africa</c:v>
                </c:pt>
                <c:pt idx="6">
                  <c:v>Brazil</c:v>
                </c:pt>
                <c:pt idx="7">
                  <c:v>Namibia</c:v>
                </c:pt>
                <c:pt idx="8">
                  <c:v>United States</c:v>
                </c:pt>
                <c:pt idx="9">
                  <c:v>China</c:v>
                </c:pt>
                <c:pt idx="10">
                  <c:v>Ukraine</c:v>
                </c:pt>
                <c:pt idx="11">
                  <c:v>Uzbekistan</c:v>
                </c:pt>
                <c:pt idx="12">
                  <c:v>Mongolia</c:v>
                </c:pt>
                <c:pt idx="13">
                  <c:v>Jordan</c:v>
                </c:pt>
              </c:strCache>
            </c:strRef>
          </c:cat>
          <c:val>
            <c:numRef>
              <c:f>'Chart Data'!$B$2:$B$15</c:f>
              <c:numCache>
                <c:formatCode>0</c:formatCode>
                <c:ptCount val="14"/>
                <c:pt idx="0">
                  <c:v>31</c:v>
                </c:pt>
                <c:pt idx="1">
                  <c:v>12</c:v>
                </c:pt>
                <c:pt idx="2">
                  <c:v>9</c:v>
                </c:pt>
                <c:pt idx="3">
                  <c:v>9</c:v>
                </c:pt>
                <c:pt idx="4">
                  <c:v>8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4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1.5</c:v>
                </c:pt>
                <c:pt idx="13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81D6AA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57D-D24E-9E51-671D9D9F20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0"/>
        </c:scaling>
        <c:delete val="0"/>
        <c:axPos val="b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9C77-AD48-A79F-4FF8A9415007}"/>
              </c:ext>
            </c:extLst>
          </c:dPt>
          <c:dPt>
            <c:idx val="1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9C77-AD48-A79F-4FF8A9415007}"/>
              </c:ext>
            </c:extLst>
          </c:dPt>
          <c:dPt>
            <c:idx val="2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9C77-AD48-A79F-4FF8A9415007}"/>
              </c:ext>
            </c:extLst>
          </c:dPt>
          <c:dPt>
            <c:idx val="3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9C77-AD48-A79F-4FF8A9415007}"/>
              </c:ext>
            </c:extLst>
          </c:dPt>
          <c:dPt>
            <c:idx val="4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9C77-AD48-A79F-4FF8A9415007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9C77-AD48-A79F-4FF8A9415007}"/>
              </c:ext>
            </c:extLst>
          </c:dPt>
          <c:cat>
            <c:strRef>
              <c:f>'Chart Data'!$A$2:$A$7</c:f>
              <c:strCache>
                <c:ptCount val="6"/>
                <c:pt idx="0">
                  <c:v>Asia Pacific (≈37%)</c:v>
                </c:pt>
                <c:pt idx="1">
                  <c:v>Northern Eurasia (≈26%)</c:v>
                </c:pt>
                <c:pt idx="2">
                  <c:v>Africa (≈18%)</c:v>
                </c:pt>
                <c:pt idx="3">
                  <c:v>North America (≈14%)</c:v>
                </c:pt>
                <c:pt idx="4">
                  <c:v>Central &amp; South America (≈4%)</c:v>
                </c:pt>
                <c:pt idx="5">
                  <c:v>Middle East (≈1%)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37</c:v>
                </c:pt>
                <c:pt idx="1">
                  <c:v>26</c:v>
                </c:pt>
                <c:pt idx="2">
                  <c:v>18</c:v>
                </c:pt>
                <c:pt idx="3">
                  <c:v>14</c:v>
                </c:pt>
                <c:pt idx="4">
                  <c:v>4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C77-AD48-A79F-4FF8A94150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Coal</c:v>
          </c:tx>
          <c:spPr>
            <a:solidFill>
              <a:srgbClr val="4477AA"/>
            </a:solid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Data'!$A$2:$A$4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41</c:v>
                </c:pt>
                <c:pt idx="1">
                  <c:v>39</c:v>
                </c:pt>
                <c:pt idx="2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7620">
                    <a:solidFill>
                      <a:srgbClr val="EAF1F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A50-7144-BAF2-EF1FC3E9A8CF}"/>
            </c:ext>
          </c:extLst>
        </c:ser>
        <c:ser>
          <c:idx val="1"/>
          <c:order val="1"/>
          <c:tx>
            <c:v>Natural gas</c:v>
          </c:tx>
          <c:spPr>
            <a:pattFill prst="ltDnDiag">
              <a:fgClr>
                <a:srgbClr val="071422"/>
              </a:fgClr>
              <a:bgClr>
                <a:srgbClr val="EE6677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Data'!$C$2:$C$4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21</c:v>
                </c:pt>
                <c:pt idx="1">
                  <c:v>27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A50-7144-BAF2-EF1FC3E9A8CF}"/>
            </c:ext>
          </c:extLst>
        </c:ser>
        <c:ser>
          <c:idx val="2"/>
          <c:order val="2"/>
          <c:tx>
            <c:v>Oil</c:v>
          </c:tx>
          <c:spPr>
            <a:pattFill prst="ltHorz">
              <a:fgClr>
                <a:srgbClr val="071422"/>
              </a:fgClr>
              <a:bgClr>
                <a:srgbClr val="CCBB44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Data'!$E$2:$E$4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Data'!$F$2:$F$4</c:f>
              <c:numCache>
                <c:formatCode>0</c:formatCode>
                <c:ptCount val="3"/>
                <c:pt idx="0">
                  <c:v>5</c:v>
                </c:pt>
                <c:pt idx="1">
                  <c:v>1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A50-7144-BAF2-EF1FC3E9A8CF}"/>
            </c:ext>
          </c:extLst>
        </c:ser>
        <c:ser>
          <c:idx val="3"/>
          <c:order val="3"/>
          <c:tx>
            <c:v>Nuclear</c:v>
          </c:tx>
          <c:spPr>
            <a:pattFill prst="diagCross">
              <a:fgClr>
                <a:srgbClr val="FFFFFF"/>
              </a:fgClr>
              <a:bgClr>
                <a:srgbClr val="AA3377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Data'!$G$2:$G$4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Data'!$H$2:$H$4</c:f>
              <c:numCache>
                <c:formatCode>0</c:formatCode>
                <c:ptCount val="3"/>
                <c:pt idx="0">
                  <c:v>13</c:v>
                </c:pt>
                <c:pt idx="1">
                  <c:v>19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A50-7144-BAF2-EF1FC3E9A8CF}"/>
            </c:ext>
          </c:extLst>
        </c:ser>
        <c:ser>
          <c:idx val="4"/>
          <c:order val="4"/>
          <c:tx>
            <c:v>Biomass</c:v>
          </c:tx>
          <c:spPr>
            <a:pattFill prst="ltVert">
              <a:fgClr>
                <a:srgbClr val="071422"/>
              </a:fgClr>
              <a:bgClr>
                <a:srgbClr val="228833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Data'!$I$2:$I$4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Data'!$J$2:$J$4</c:f>
              <c:numCache>
                <c:formatCode>0</c:formatCode>
                <c:ptCount val="3"/>
                <c:pt idx="0">
                  <c:v>2</c:v>
                </c:pt>
                <c:pt idx="1">
                  <c:v>1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A50-7144-BAF2-EF1FC3E9A8CF}"/>
            </c:ext>
          </c:extLst>
        </c:ser>
        <c:ser>
          <c:idx val="5"/>
          <c:order val="5"/>
          <c:tx>
            <c:v>Other renewables</c:v>
          </c:tx>
          <c:spPr>
            <a:pattFill prst="dotGrid">
              <a:fgClr>
                <a:srgbClr val="071422"/>
              </a:fgClr>
              <a:bgClr>
                <a:srgbClr val="66CCEE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Data'!$K$2:$K$4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Data'!$L$2:$L$4</c:f>
              <c:numCache>
                <c:formatCode>0</c:formatCode>
                <c:ptCount val="3"/>
                <c:pt idx="0">
                  <c:v>18</c:v>
                </c:pt>
                <c:pt idx="1">
                  <c:v>12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A50-7144-BAF2-EF1FC3E9A8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425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071422"/>
        </a:solidFill>
      </c:spPr>
    </c:plotArea>
    <c:legend>
      <c:legendPos val="b"/>
      <c:overlay val="0"/>
      <c:txPr>
        <a:bodyPr anchorCtr="1"/>
        <a:lstStyle/>
        <a:p>
          <a:pPr>
            <a:defRPr sz="1350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World (2011)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Share of electrical generation (%)</c:v>
          </c:tx>
          <c:dPt>
            <c:idx val="0"/>
            <c:bubble3D val="0"/>
            <c:spPr>
              <a:solidFill>
                <a:srgbClr val="4477AA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F493-A24A-A44A-C69674B0B5BC}"/>
              </c:ext>
            </c:extLst>
          </c:dPt>
          <c:dPt>
            <c:idx val="1"/>
            <c:bubble3D val="0"/>
            <c:spPr>
              <a:solidFill>
                <a:srgbClr val="EE66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F493-A24A-A44A-C69674B0B5BC}"/>
              </c:ext>
            </c:extLst>
          </c:dPt>
          <c:dPt>
            <c:idx val="2"/>
            <c:bubble3D val="0"/>
            <c:spPr>
              <a:solidFill>
                <a:srgbClr val="CCBB44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F493-A24A-A44A-C69674B0B5BC}"/>
              </c:ext>
            </c:extLst>
          </c:dPt>
          <c:dPt>
            <c:idx val="3"/>
            <c:bubble3D val="0"/>
            <c:spPr>
              <a:solidFill>
                <a:srgbClr val="AA33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F493-A24A-A44A-C69674B0B5BC}"/>
              </c:ext>
            </c:extLst>
          </c:dPt>
          <c:dPt>
            <c:idx val="4"/>
            <c:bubble3D val="0"/>
            <c:spPr>
              <a:solidFill>
                <a:srgbClr val="228833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F493-A24A-A44A-C69674B0B5BC}"/>
              </c:ext>
            </c:extLst>
          </c:dPt>
          <c:dPt>
            <c:idx val="5"/>
            <c:bubble3D val="0"/>
            <c:spPr>
              <a:solidFill>
                <a:srgbClr val="66CCEE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F493-A24A-A44A-C69674B0B5BC}"/>
              </c:ext>
            </c:extLst>
          </c:dPt>
          <c:cat>
            <c:strRef>
              <c:f>'Chart Data'!$A$2:$A$7</c:f>
              <c:strCache>
                <c:ptCount val="6"/>
                <c:pt idx="0">
                  <c:v>Coal 41%</c:v>
                </c:pt>
                <c:pt idx="1">
                  <c:v>Natural gas 21%</c:v>
                </c:pt>
                <c:pt idx="2">
                  <c:v>Oil 5%</c:v>
                </c:pt>
                <c:pt idx="3">
                  <c:v>Nuclear 13%</c:v>
                </c:pt>
                <c:pt idx="4">
                  <c:v>Biomass 2%</c:v>
                </c:pt>
                <c:pt idx="5">
                  <c:v>Other renewables 18%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41</c:v>
                </c:pt>
                <c:pt idx="1">
                  <c:v>21</c:v>
                </c:pt>
                <c:pt idx="2">
                  <c:v>5</c:v>
                </c:pt>
                <c:pt idx="3">
                  <c:v>13</c:v>
                </c:pt>
                <c:pt idx="4">
                  <c:v>2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493-A24A-A44A-C69674B0B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United States (2013)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Share of electrical generation (%)</c:v>
          </c:tx>
          <c:dPt>
            <c:idx val="0"/>
            <c:bubble3D val="0"/>
            <c:spPr>
              <a:solidFill>
                <a:srgbClr val="4477AA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F297-584B-9D50-56ED22E8EE72}"/>
              </c:ext>
            </c:extLst>
          </c:dPt>
          <c:dPt>
            <c:idx val="1"/>
            <c:bubble3D val="0"/>
            <c:spPr>
              <a:solidFill>
                <a:srgbClr val="EE66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F297-584B-9D50-56ED22E8EE72}"/>
              </c:ext>
            </c:extLst>
          </c:dPt>
          <c:dPt>
            <c:idx val="2"/>
            <c:bubble3D val="0"/>
            <c:spPr>
              <a:solidFill>
                <a:srgbClr val="CCBB44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F297-584B-9D50-56ED22E8EE72}"/>
              </c:ext>
            </c:extLst>
          </c:dPt>
          <c:dPt>
            <c:idx val="3"/>
            <c:bubble3D val="0"/>
            <c:spPr>
              <a:solidFill>
                <a:srgbClr val="AA33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F297-584B-9D50-56ED22E8EE72}"/>
              </c:ext>
            </c:extLst>
          </c:dPt>
          <c:dPt>
            <c:idx val="4"/>
            <c:bubble3D val="0"/>
            <c:spPr>
              <a:solidFill>
                <a:srgbClr val="228833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F297-584B-9D50-56ED22E8EE72}"/>
              </c:ext>
            </c:extLst>
          </c:dPt>
          <c:dPt>
            <c:idx val="5"/>
            <c:bubble3D val="0"/>
            <c:spPr>
              <a:solidFill>
                <a:srgbClr val="66CCEE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F297-584B-9D50-56ED22E8EE72}"/>
              </c:ext>
            </c:extLst>
          </c:dPt>
          <c:cat>
            <c:strRef>
              <c:f>'Chart Data'!$A$2:$A$7</c:f>
              <c:strCache>
                <c:ptCount val="6"/>
                <c:pt idx="0">
                  <c:v>Coal 39%</c:v>
                </c:pt>
                <c:pt idx="1">
                  <c:v>Natural gas 27%</c:v>
                </c:pt>
                <c:pt idx="2">
                  <c:v>Oil 1%</c:v>
                </c:pt>
                <c:pt idx="3">
                  <c:v>Nuclear 19%</c:v>
                </c:pt>
                <c:pt idx="4">
                  <c:v>Biomass 1%</c:v>
                </c:pt>
                <c:pt idx="5">
                  <c:v>Other renewables 12%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39</c:v>
                </c:pt>
                <c:pt idx="1">
                  <c:v>27</c:v>
                </c:pt>
                <c:pt idx="2">
                  <c:v>1</c:v>
                </c:pt>
                <c:pt idx="3">
                  <c:v>19</c:v>
                </c:pt>
                <c:pt idx="4">
                  <c:v>1</c:v>
                </c:pt>
                <c:pt idx="5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297-584B-9D50-56ED22E8EE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Brazil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Share of electrical generation (%)</c:v>
          </c:tx>
          <c:dPt>
            <c:idx val="0"/>
            <c:bubble3D val="0"/>
            <c:spPr>
              <a:solidFill>
                <a:srgbClr val="4477AA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28F5-DD45-905D-BB535607351D}"/>
              </c:ext>
            </c:extLst>
          </c:dPt>
          <c:dPt>
            <c:idx val="1"/>
            <c:bubble3D val="0"/>
            <c:spPr>
              <a:solidFill>
                <a:srgbClr val="EE66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28F5-DD45-905D-BB535607351D}"/>
              </c:ext>
            </c:extLst>
          </c:dPt>
          <c:dPt>
            <c:idx val="2"/>
            <c:bubble3D val="0"/>
            <c:spPr>
              <a:solidFill>
                <a:srgbClr val="CCBB44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28F5-DD45-905D-BB535607351D}"/>
              </c:ext>
            </c:extLst>
          </c:dPt>
          <c:dPt>
            <c:idx val="3"/>
            <c:bubble3D val="0"/>
            <c:spPr>
              <a:solidFill>
                <a:srgbClr val="AA33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28F5-DD45-905D-BB535607351D}"/>
              </c:ext>
            </c:extLst>
          </c:dPt>
          <c:dPt>
            <c:idx val="4"/>
            <c:bubble3D val="0"/>
            <c:spPr>
              <a:solidFill>
                <a:srgbClr val="228833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28F5-DD45-905D-BB535607351D}"/>
              </c:ext>
            </c:extLst>
          </c:dPt>
          <c:dPt>
            <c:idx val="5"/>
            <c:bubble3D val="0"/>
            <c:spPr>
              <a:solidFill>
                <a:srgbClr val="66CCEE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28F5-DD45-905D-BB535607351D}"/>
              </c:ext>
            </c:extLst>
          </c:dPt>
          <c:cat>
            <c:strRef>
              <c:f>'Chart Data'!$A$2:$A$7</c:f>
              <c:strCache>
                <c:ptCount val="6"/>
                <c:pt idx="0">
                  <c:v>Coal 1%</c:v>
                </c:pt>
                <c:pt idx="1">
                  <c:v>Natural gas 6%</c:v>
                </c:pt>
                <c:pt idx="2">
                  <c:v>Oil 3%</c:v>
                </c:pt>
                <c:pt idx="3">
                  <c:v>Nuclear 3%</c:v>
                </c:pt>
                <c:pt idx="4">
                  <c:v>Biomass 5%</c:v>
                </c:pt>
                <c:pt idx="5">
                  <c:v>Other renewables 80%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1</c:v>
                </c:pt>
                <c:pt idx="1">
                  <c:v>6</c:v>
                </c:pt>
                <c:pt idx="2">
                  <c:v>3</c:v>
                </c:pt>
                <c:pt idx="3">
                  <c:v>3</c:v>
                </c:pt>
                <c:pt idx="4">
                  <c:v>5</c:v>
                </c:pt>
                <c:pt idx="5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8F5-DD45-905D-BB5356073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Oil</c:v>
          </c:tx>
          <c:spPr>
            <a:pattFill prst="ltHorz">
              <a:fgClr>
                <a:srgbClr val="071422"/>
              </a:fgClr>
              <a:bgClr>
                <a:srgbClr val="CCBB44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Data'!$A$2:$A$18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Data'!$B$2:$B$18</c:f>
              <c:numCache>
                <c:formatCode>#,##0</c:formatCode>
                <c:ptCount val="17"/>
                <c:pt idx="0">
                  <c:v>3500</c:v>
                </c:pt>
                <c:pt idx="1">
                  <c:v>3500</c:v>
                </c:pt>
                <c:pt idx="2">
                  <c:v>3550</c:v>
                </c:pt>
                <c:pt idx="3">
                  <c:v>3550</c:v>
                </c:pt>
                <c:pt idx="4">
                  <c:v>3550</c:v>
                </c:pt>
                <c:pt idx="5">
                  <c:v>3550</c:v>
                </c:pt>
                <c:pt idx="6">
                  <c:v>3650</c:v>
                </c:pt>
                <c:pt idx="7">
                  <c:v>3700</c:v>
                </c:pt>
                <c:pt idx="8">
                  <c:v>3700</c:v>
                </c:pt>
                <c:pt idx="9">
                  <c:v>3800</c:v>
                </c:pt>
                <c:pt idx="10">
                  <c:v>3800</c:v>
                </c:pt>
                <c:pt idx="11">
                  <c:v>3850</c:v>
                </c:pt>
                <c:pt idx="12">
                  <c:v>3950</c:v>
                </c:pt>
                <c:pt idx="13">
                  <c:v>4000</c:v>
                </c:pt>
                <c:pt idx="14">
                  <c:v>4050</c:v>
                </c:pt>
                <c:pt idx="15">
                  <c:v>4150</c:v>
                </c:pt>
                <c:pt idx="16">
                  <c:v>4150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1C-8948-AA60-A2193522804A}"/>
            </c:ext>
          </c:extLst>
        </c:ser>
        <c:ser>
          <c:idx val="1"/>
          <c:order val="1"/>
          <c:tx>
            <c:v>Natural gas</c:v>
          </c:tx>
          <c:spPr>
            <a:pattFill prst="ltDnDiag">
              <a:fgClr>
                <a:srgbClr val="071422"/>
              </a:fgClr>
              <a:bgClr>
                <a:srgbClr val="EE6677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Data'!$C$2:$C$18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Data'!$D$2:$D$18</c:f>
              <c:numCache>
                <c:formatCode>#,##0</c:formatCode>
                <c:ptCount val="17"/>
                <c:pt idx="0">
                  <c:v>2000</c:v>
                </c:pt>
                <c:pt idx="1">
                  <c:v>2150</c:v>
                </c:pt>
                <c:pt idx="2">
                  <c:v>2150</c:v>
                </c:pt>
                <c:pt idx="3">
                  <c:v>2250</c:v>
                </c:pt>
                <c:pt idx="4">
                  <c:v>2250</c:v>
                </c:pt>
                <c:pt idx="5">
                  <c:v>2350</c:v>
                </c:pt>
                <c:pt idx="6">
                  <c:v>2400</c:v>
                </c:pt>
                <c:pt idx="7">
                  <c:v>2550</c:v>
                </c:pt>
                <c:pt idx="8">
                  <c:v>2550</c:v>
                </c:pt>
                <c:pt idx="9">
                  <c:v>2650</c:v>
                </c:pt>
                <c:pt idx="10">
                  <c:v>2700</c:v>
                </c:pt>
                <c:pt idx="11">
                  <c:v>2750</c:v>
                </c:pt>
                <c:pt idx="12">
                  <c:v>2750</c:v>
                </c:pt>
                <c:pt idx="13">
                  <c:v>2950</c:v>
                </c:pt>
                <c:pt idx="14">
                  <c:v>3000</c:v>
                </c:pt>
                <c:pt idx="15">
                  <c:v>3100</c:v>
                </c:pt>
                <c:pt idx="16">
                  <c:v>3100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1C-8948-AA60-A2193522804A}"/>
            </c:ext>
          </c:extLst>
        </c:ser>
        <c:ser>
          <c:idx val="2"/>
          <c:order val="2"/>
          <c:tx>
            <c:v>Coal</c:v>
          </c:tx>
          <c:spPr>
            <a:solidFill>
              <a:srgbClr val="4477AA"/>
            </a:solid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Data'!$E$2:$E$18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Data'!$F$2:$F$18</c:f>
              <c:numCache>
                <c:formatCode>#,##0</c:formatCode>
                <c:ptCount val="17"/>
                <c:pt idx="0">
                  <c:v>2250</c:v>
                </c:pt>
                <c:pt idx="1">
                  <c:v>2150</c:v>
                </c:pt>
                <c:pt idx="2">
                  <c:v>2350</c:v>
                </c:pt>
                <c:pt idx="3">
                  <c:v>2300</c:v>
                </c:pt>
                <c:pt idx="4">
                  <c:v>2400</c:v>
                </c:pt>
                <c:pt idx="5">
                  <c:v>2600</c:v>
                </c:pt>
                <c:pt idx="6">
                  <c:v>2800</c:v>
                </c:pt>
                <c:pt idx="7">
                  <c:v>2900</c:v>
                </c:pt>
                <c:pt idx="8">
                  <c:v>3150</c:v>
                </c:pt>
                <c:pt idx="9">
                  <c:v>3250</c:v>
                </c:pt>
                <c:pt idx="10">
                  <c:v>3300</c:v>
                </c:pt>
                <c:pt idx="11">
                  <c:v>3250</c:v>
                </c:pt>
                <c:pt idx="12">
                  <c:v>3350</c:v>
                </c:pt>
                <c:pt idx="13">
                  <c:v>3650</c:v>
                </c:pt>
                <c:pt idx="14">
                  <c:v>3750</c:v>
                </c:pt>
                <c:pt idx="15">
                  <c:v>3800</c:v>
                </c:pt>
                <c:pt idx="16">
                  <c:v>3850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4763">
                    <a:solidFill>
                      <a:srgbClr val="EAF1F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B1C-8948-AA60-A2193522804A}"/>
            </c:ext>
          </c:extLst>
        </c:ser>
        <c:ser>
          <c:idx val="3"/>
          <c:order val="3"/>
          <c:tx>
            <c:v>Nuclear energy</c:v>
          </c:tx>
          <c:spPr>
            <a:pattFill prst="diagCross">
              <a:fgClr>
                <a:srgbClr val="FFFFFF"/>
              </a:fgClr>
              <a:bgClr>
                <a:srgbClr val="AA3377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Data'!$G$2:$G$18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Data'!$H$2:$H$18</c:f>
              <c:numCache>
                <c:formatCode>#,##0</c:formatCode>
                <c:ptCount val="17"/>
                <c:pt idx="0">
                  <c:v>550</c:v>
                </c:pt>
                <c:pt idx="1">
                  <c:v>650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  <c:pt idx="6">
                  <c:v>650</c:v>
                </c:pt>
                <c:pt idx="7">
                  <c:v>600</c:v>
                </c:pt>
                <c:pt idx="8">
                  <c:v>600</c:v>
                </c:pt>
                <c:pt idx="9">
                  <c:v>600</c:v>
                </c:pt>
                <c:pt idx="10">
                  <c:v>650</c:v>
                </c:pt>
                <c:pt idx="11">
                  <c:v>750</c:v>
                </c:pt>
                <c:pt idx="12">
                  <c:v>1000</c:v>
                </c:pt>
                <c:pt idx="13">
                  <c:v>600</c:v>
                </c:pt>
                <c:pt idx="14">
                  <c:v>550</c:v>
                </c:pt>
                <c:pt idx="15">
                  <c:v>550</c:v>
                </c:pt>
                <c:pt idx="16">
                  <c:v>550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B1C-8948-AA60-A2193522804A}"/>
            </c:ext>
          </c:extLst>
        </c:ser>
        <c:ser>
          <c:idx val="4"/>
          <c:order val="4"/>
          <c:tx>
            <c:v>Hydroelectricity</c:v>
          </c:tx>
          <c:spPr>
            <a:pattFill prst="dotGrid">
              <a:fgClr>
                <a:srgbClr val="071422"/>
              </a:fgClr>
              <a:bgClr>
                <a:srgbClr val="66CCEE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Data'!$I$2:$I$18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Data'!$J$2:$J$18</c:f>
              <c:numCache>
                <c:formatCode>#,##0</c:formatCode>
                <c:ptCount val="17"/>
                <c:pt idx="0">
                  <c:v>600</c:v>
                </c:pt>
                <c:pt idx="1">
                  <c:v>550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  <c:pt idx="6">
                  <c:v>600</c:v>
                </c:pt>
                <c:pt idx="7">
                  <c:v>700</c:v>
                </c:pt>
                <c:pt idx="8">
                  <c:v>750</c:v>
                </c:pt>
                <c:pt idx="9">
                  <c:v>700</c:v>
                </c:pt>
                <c:pt idx="10">
                  <c:v>750</c:v>
                </c:pt>
                <c:pt idx="11">
                  <c:v>700</c:v>
                </c:pt>
                <c:pt idx="12">
                  <c:v>650</c:v>
                </c:pt>
                <c:pt idx="13">
                  <c:v>750</c:v>
                </c:pt>
                <c:pt idx="14">
                  <c:v>850</c:v>
                </c:pt>
                <c:pt idx="15">
                  <c:v>850</c:v>
                </c:pt>
                <c:pt idx="16">
                  <c:v>850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B1C-8948-AA60-A219352280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20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  <c:majorUnit val="2000"/>
      </c:valAx>
      <c:spPr>
        <a:solidFill>
          <a:srgbClr val="071422"/>
        </a:solidFill>
      </c:spPr>
    </c:plotArea>
    <c:legend>
      <c:legendPos val="b"/>
      <c:overlay val="0"/>
      <c:txPr>
        <a:bodyPr anchorCtr="1"/>
        <a:lstStyle/>
        <a:p>
          <a:pPr>
            <a:defRPr sz="1500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2,250 billion barrels</c:v>
          </c:tx>
          <c:spPr>
            <a:ln w="28575">
              <a:solidFill>
                <a:srgbClr val="B7A0F5"/>
              </a:solidFill>
            </a:ln>
          </c:spPr>
          <c:marker>
            <c:symbol val="none"/>
          </c:marker>
          <c:cat>
            <c:numRef>
              <c:f>'Chart Data'!$A$2:$A$16</c:f>
              <c:numCache>
                <c:formatCode>General</c:formatCode>
                <c:ptCount val="15"/>
                <c:pt idx="0">
                  <c:v>2000</c:v>
                </c:pt>
                <c:pt idx="1">
                  <c:v>2010</c:v>
                </c:pt>
                <c:pt idx="2">
                  <c:v>2020</c:v>
                </c:pt>
                <c:pt idx="3">
                  <c:v>2030</c:v>
                </c:pt>
                <c:pt idx="4">
                  <c:v>2040</c:v>
                </c:pt>
                <c:pt idx="5">
                  <c:v>2050</c:v>
                </c:pt>
                <c:pt idx="6">
                  <c:v>2060</c:v>
                </c:pt>
                <c:pt idx="7">
                  <c:v>2070</c:v>
                </c:pt>
                <c:pt idx="8">
                  <c:v>2080</c:v>
                </c:pt>
                <c:pt idx="9">
                  <c:v>2090</c:v>
                </c:pt>
                <c:pt idx="10">
                  <c:v>2100</c:v>
                </c:pt>
                <c:pt idx="11">
                  <c:v>2110</c:v>
                </c:pt>
                <c:pt idx="12">
                  <c:v>2120</c:v>
                </c:pt>
                <c:pt idx="13">
                  <c:v>2130</c:v>
                </c:pt>
                <c:pt idx="14">
                  <c:v>2140</c:v>
                </c:pt>
              </c:numCache>
            </c:numRef>
          </c:cat>
          <c:val>
            <c:numRef>
              <c:f>'Chart Data'!$B$2:$B$16</c:f>
              <c:numCache>
                <c:formatCode>0</c:formatCode>
                <c:ptCount val="15"/>
                <c:pt idx="0">
                  <c:v>27</c:v>
                </c:pt>
                <c:pt idx="1">
                  <c:v>29.5</c:v>
                </c:pt>
                <c:pt idx="2">
                  <c:v>27</c:v>
                </c:pt>
                <c:pt idx="3">
                  <c:v>21</c:v>
                </c:pt>
                <c:pt idx="4">
                  <c:v>14</c:v>
                </c:pt>
                <c:pt idx="5">
                  <c:v>8</c:v>
                </c:pt>
                <c:pt idx="6">
                  <c:v>4.5</c:v>
                </c:pt>
                <c:pt idx="7">
                  <c:v>2.4</c:v>
                </c:pt>
                <c:pt idx="8">
                  <c:v>1.2</c:v>
                </c:pt>
                <c:pt idx="9">
                  <c:v>0.6</c:v>
                </c:pt>
                <c:pt idx="10">
                  <c:v>0.3</c:v>
                </c:pt>
                <c:pt idx="11">
                  <c:v>0.1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6B-3F4C-B0C3-1E07F6F943EA}"/>
            </c:ext>
          </c:extLst>
        </c:ser>
        <c:ser>
          <c:idx val="1"/>
          <c:order val="1"/>
          <c:tx>
            <c:v>2,600 billion barrels</c:v>
          </c:tx>
          <c:spPr>
            <a:ln w="28575">
              <a:solidFill>
                <a:srgbClr val="65D6E5"/>
              </a:solidFill>
            </a:ln>
          </c:spPr>
          <c:marker>
            <c:symbol val="none"/>
          </c:marker>
          <c:cat>
            <c:numRef>
              <c:f>'Chart Data'!$C$2:$C$16</c:f>
              <c:numCache>
                <c:formatCode>General</c:formatCode>
                <c:ptCount val="15"/>
                <c:pt idx="0">
                  <c:v>2000</c:v>
                </c:pt>
                <c:pt idx="1">
                  <c:v>2010</c:v>
                </c:pt>
                <c:pt idx="2">
                  <c:v>2020</c:v>
                </c:pt>
                <c:pt idx="3">
                  <c:v>2030</c:v>
                </c:pt>
                <c:pt idx="4">
                  <c:v>2040</c:v>
                </c:pt>
                <c:pt idx="5">
                  <c:v>2050</c:v>
                </c:pt>
                <c:pt idx="6">
                  <c:v>2060</c:v>
                </c:pt>
                <c:pt idx="7">
                  <c:v>2070</c:v>
                </c:pt>
                <c:pt idx="8">
                  <c:v>2080</c:v>
                </c:pt>
                <c:pt idx="9">
                  <c:v>2090</c:v>
                </c:pt>
                <c:pt idx="10">
                  <c:v>2100</c:v>
                </c:pt>
                <c:pt idx="11">
                  <c:v>2110</c:v>
                </c:pt>
                <c:pt idx="12">
                  <c:v>2120</c:v>
                </c:pt>
                <c:pt idx="13">
                  <c:v>2130</c:v>
                </c:pt>
                <c:pt idx="14">
                  <c:v>2140</c:v>
                </c:pt>
              </c:numCache>
            </c:numRef>
          </c:cat>
          <c:val>
            <c:numRef>
              <c:f>'Chart Data'!$D$2:$D$16</c:f>
              <c:numCache>
                <c:formatCode>0</c:formatCode>
                <c:ptCount val="15"/>
                <c:pt idx="0">
                  <c:v>27</c:v>
                </c:pt>
                <c:pt idx="1">
                  <c:v>30.3</c:v>
                </c:pt>
                <c:pt idx="2">
                  <c:v>30.5</c:v>
                </c:pt>
                <c:pt idx="3">
                  <c:v>27.5</c:v>
                </c:pt>
                <c:pt idx="4">
                  <c:v>22</c:v>
                </c:pt>
                <c:pt idx="5">
                  <c:v>15</c:v>
                </c:pt>
                <c:pt idx="6">
                  <c:v>9</c:v>
                </c:pt>
                <c:pt idx="7">
                  <c:v>5</c:v>
                </c:pt>
                <c:pt idx="8">
                  <c:v>2.5</c:v>
                </c:pt>
                <c:pt idx="9">
                  <c:v>1.2</c:v>
                </c:pt>
                <c:pt idx="10">
                  <c:v>0.5</c:v>
                </c:pt>
                <c:pt idx="11">
                  <c:v>0.2</c:v>
                </c:pt>
                <c:pt idx="12">
                  <c:v>0.1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26B-3F4C-B0C3-1E07F6F943EA}"/>
            </c:ext>
          </c:extLst>
        </c:ser>
        <c:ser>
          <c:idx val="2"/>
          <c:order val="2"/>
          <c:tx>
            <c:v>3,000 billion barrels</c:v>
          </c:tx>
          <c:spPr>
            <a:ln w="28575">
              <a:solidFill>
                <a:srgbClr val="F7D675"/>
              </a:solidFill>
            </a:ln>
          </c:spPr>
          <c:marker>
            <c:symbol val="none"/>
          </c:marker>
          <c:cat>
            <c:numRef>
              <c:f>'Chart Data'!$E$2:$E$16</c:f>
              <c:numCache>
                <c:formatCode>General</c:formatCode>
                <c:ptCount val="15"/>
                <c:pt idx="0">
                  <c:v>2000</c:v>
                </c:pt>
                <c:pt idx="1">
                  <c:v>2010</c:v>
                </c:pt>
                <c:pt idx="2">
                  <c:v>2020</c:v>
                </c:pt>
                <c:pt idx="3">
                  <c:v>2030</c:v>
                </c:pt>
                <c:pt idx="4">
                  <c:v>2040</c:v>
                </c:pt>
                <c:pt idx="5">
                  <c:v>2050</c:v>
                </c:pt>
                <c:pt idx="6">
                  <c:v>2060</c:v>
                </c:pt>
                <c:pt idx="7">
                  <c:v>2070</c:v>
                </c:pt>
                <c:pt idx="8">
                  <c:v>2080</c:v>
                </c:pt>
                <c:pt idx="9">
                  <c:v>2090</c:v>
                </c:pt>
                <c:pt idx="10">
                  <c:v>2100</c:v>
                </c:pt>
                <c:pt idx="11">
                  <c:v>2110</c:v>
                </c:pt>
                <c:pt idx="12">
                  <c:v>2120</c:v>
                </c:pt>
                <c:pt idx="13">
                  <c:v>2130</c:v>
                </c:pt>
                <c:pt idx="14">
                  <c:v>2140</c:v>
                </c:pt>
              </c:numCache>
            </c:numRef>
          </c:cat>
          <c:val>
            <c:numRef>
              <c:f>'Chart Data'!$F$2:$F$16</c:f>
              <c:numCache>
                <c:formatCode>0</c:formatCode>
                <c:ptCount val="15"/>
                <c:pt idx="0">
                  <c:v>27</c:v>
                </c:pt>
                <c:pt idx="1">
                  <c:v>31.2</c:v>
                </c:pt>
                <c:pt idx="2">
                  <c:v>32.200000000000003</c:v>
                </c:pt>
                <c:pt idx="3">
                  <c:v>30.8</c:v>
                </c:pt>
                <c:pt idx="4">
                  <c:v>27</c:v>
                </c:pt>
                <c:pt idx="5">
                  <c:v>21</c:v>
                </c:pt>
                <c:pt idx="6">
                  <c:v>14</c:v>
                </c:pt>
                <c:pt idx="7">
                  <c:v>8.5</c:v>
                </c:pt>
                <c:pt idx="8">
                  <c:v>4.7</c:v>
                </c:pt>
                <c:pt idx="9">
                  <c:v>2.5</c:v>
                </c:pt>
                <c:pt idx="10">
                  <c:v>1.2</c:v>
                </c:pt>
                <c:pt idx="11">
                  <c:v>0.6</c:v>
                </c:pt>
                <c:pt idx="12">
                  <c:v>0.3</c:v>
                </c:pt>
                <c:pt idx="13">
                  <c:v>0.1</c:v>
                </c:pt>
                <c:pt idx="1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26B-3F4C-B0C3-1E07F6F943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Relative area change</c:v>
          </c:tx>
          <c:spPr>
            <a:solidFill>
              <a:srgbClr val="81D6AA"/>
            </a:solidFill>
            <a:ln w="0">
              <a:solidFill>
                <a:srgbClr val="81D6AA"/>
              </a:solidFill>
            </a:ln>
          </c:spPr>
          <c:invertIfNegative val="0"/>
          <c:dPt>
            <c:idx val="1"/>
            <c:invertIfNegative val="0"/>
            <c:bubble3D val="0"/>
            <c:spPr>
              <a:solidFill>
                <a:srgbClr val="F2828B"/>
              </a:solidFill>
            </c:spPr>
            <c:extLst>
              <c:ext xmlns:c16="http://schemas.microsoft.com/office/drawing/2014/chart" uri="{C3380CC4-5D6E-409C-BE32-E72D297353CC}">
                <c16:uniqueId val="{00000001-498D-9C4B-81CD-3599A53D30FB}"/>
              </c:ext>
            </c:extLst>
          </c:dPt>
          <c:dPt>
            <c:idx val="2"/>
            <c:invertIfNegative val="0"/>
            <c:bubble3D val="0"/>
            <c:spPr>
              <a:solidFill>
                <a:srgbClr val="F2828B"/>
              </a:solidFill>
            </c:spPr>
            <c:extLst>
              <c:ext xmlns:c16="http://schemas.microsoft.com/office/drawing/2014/chart" uri="{C3380CC4-5D6E-409C-BE32-E72D297353CC}">
                <c16:uniqueId val="{00000003-498D-9C4B-81CD-3599A53D30FB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Forest</c:v>
                </c:pt>
                <c:pt idx="1">
                  <c:v>Peat wetlands</c:v>
                </c:pt>
                <c:pt idx="2">
                  <c:v>All wetlands</c:v>
                </c:pt>
                <c:pt idx="3">
                  <c:v>Lakes</c:v>
                </c:pt>
              </c:strCache>
            </c:strRef>
          </c:cat>
          <c:val>
            <c:numRef>
              <c:f>'Chart Data'!$B$2:$B$5</c:f>
              <c:numCache>
                <c:formatCode>0"%"</c:formatCode>
                <c:ptCount val="4"/>
                <c:pt idx="0">
                  <c:v>40</c:v>
                </c:pt>
                <c:pt idx="1">
                  <c:v>-67</c:v>
                </c:pt>
                <c:pt idx="2">
                  <c:v>-36</c:v>
                </c:pt>
                <c:pt idx="3">
                  <c:v>177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98D-9C4B-81CD-3599A53D30F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00"/>
          <c:min val="-10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&quot;%&quot;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9EFB50-8E96-8245-A267-1D2FDE2783AF}" type="doc">
      <dgm:prSet loTypeId="urn:microsoft.com/office/officeart/2008/layout/HalfCircleOrganizationChart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F5431EE-6375-FB49-9091-D0E68A6DCBEF}">
      <dgm:prSet phldrT="[Text]"/>
      <dgm:spPr/>
      <dgm:t>
        <a:bodyPr/>
        <a:lstStyle/>
        <a:p>
          <a:r>
            <a:rPr lang="en-US" dirty="0">
              <a:solidFill>
                <a:srgbClr val="FFFF00"/>
              </a:solidFill>
            </a:rPr>
            <a:t>Nuclear Reactions</a:t>
          </a:r>
        </a:p>
      </dgm:t>
    </dgm:pt>
    <dgm:pt modelId="{F44F5E20-A7AE-9545-9006-9A211FDADEDC}" type="parTrans" cxnId="{087E3826-77F0-7148-86B1-996A07A0EF08}">
      <dgm:prSet/>
      <dgm:spPr/>
      <dgm:t>
        <a:bodyPr/>
        <a:lstStyle/>
        <a:p>
          <a:endParaRPr lang="en-US"/>
        </a:p>
      </dgm:t>
    </dgm:pt>
    <dgm:pt modelId="{F9451C6B-EF72-E143-8018-8BC8B0773401}" type="sibTrans" cxnId="{087E3826-77F0-7148-86B1-996A07A0EF08}">
      <dgm:prSet/>
      <dgm:spPr/>
      <dgm:t>
        <a:bodyPr/>
        <a:lstStyle/>
        <a:p>
          <a:endParaRPr lang="en-US"/>
        </a:p>
      </dgm:t>
    </dgm:pt>
    <dgm:pt modelId="{B2B3E70A-ECE9-824B-8EB1-7920BBF0A3A4}" type="asst">
      <dgm:prSet phldrT="[Text]"/>
      <dgm:spPr/>
      <dgm:t>
        <a:bodyPr/>
        <a:lstStyle/>
        <a:p>
          <a:r>
            <a:rPr lang="en-US" dirty="0">
              <a:solidFill>
                <a:srgbClr val="FFFF00"/>
              </a:solidFill>
            </a:rPr>
            <a:t>Nuclear Fission</a:t>
          </a:r>
        </a:p>
      </dgm:t>
    </dgm:pt>
    <dgm:pt modelId="{9C8042A7-E6A1-D443-BDF5-0BA0D65A2670}" type="parTrans" cxnId="{DD85D2C8-A008-AC40-BA19-EF923436EC97}">
      <dgm:prSet/>
      <dgm:spPr/>
      <dgm:t>
        <a:bodyPr/>
        <a:lstStyle/>
        <a:p>
          <a:endParaRPr lang="en-US"/>
        </a:p>
      </dgm:t>
    </dgm:pt>
    <dgm:pt modelId="{0DF4250C-29C7-6342-AF46-FCF1321144B5}" type="sibTrans" cxnId="{DD85D2C8-A008-AC40-BA19-EF923436EC97}">
      <dgm:prSet/>
      <dgm:spPr/>
      <dgm:t>
        <a:bodyPr/>
        <a:lstStyle/>
        <a:p>
          <a:endParaRPr lang="en-US"/>
        </a:p>
      </dgm:t>
    </dgm:pt>
    <dgm:pt modelId="{A03C1C2F-F01A-A248-B77F-5731162C7E71}" type="asst">
      <dgm:prSet phldrT="[Text]"/>
      <dgm:spPr/>
      <dgm:t>
        <a:bodyPr/>
        <a:lstStyle/>
        <a:p>
          <a:r>
            <a:rPr lang="en-US" dirty="0">
              <a:solidFill>
                <a:srgbClr val="FFFF00"/>
              </a:solidFill>
            </a:rPr>
            <a:t>Nuclear Fusion</a:t>
          </a:r>
        </a:p>
      </dgm:t>
    </dgm:pt>
    <dgm:pt modelId="{16B90322-F5E0-4E4A-B22C-5723C9C7B6DE}" type="parTrans" cxnId="{0C31B611-EAD4-EE44-9D6A-D3DF92A95149}">
      <dgm:prSet/>
      <dgm:spPr/>
      <dgm:t>
        <a:bodyPr/>
        <a:lstStyle/>
        <a:p>
          <a:endParaRPr lang="en-US"/>
        </a:p>
      </dgm:t>
    </dgm:pt>
    <dgm:pt modelId="{FACF96C7-8FF5-8746-A5AB-F71AD1FE87DB}" type="sibTrans" cxnId="{0C31B611-EAD4-EE44-9D6A-D3DF92A95149}">
      <dgm:prSet/>
      <dgm:spPr/>
      <dgm:t>
        <a:bodyPr/>
        <a:lstStyle/>
        <a:p>
          <a:endParaRPr lang="en-US"/>
        </a:p>
      </dgm:t>
    </dgm:pt>
    <dgm:pt modelId="{AFA24F15-B03B-894A-AE37-841CCB3217B6}" type="pres">
      <dgm:prSet presAssocID="{949EFB50-8E96-8245-A267-1D2FDE2783AF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570A4FC-8EE1-4441-9F8D-D75F829BE391}" type="pres">
      <dgm:prSet presAssocID="{2F5431EE-6375-FB49-9091-D0E68A6DCBEF}" presName="hierRoot1" presStyleCnt="0">
        <dgm:presLayoutVars>
          <dgm:hierBranch val="init"/>
        </dgm:presLayoutVars>
      </dgm:prSet>
      <dgm:spPr/>
    </dgm:pt>
    <dgm:pt modelId="{0C17D8CA-2A24-6B47-8166-E442BD2284D4}" type="pres">
      <dgm:prSet presAssocID="{2F5431EE-6375-FB49-9091-D0E68A6DCBEF}" presName="rootComposite1" presStyleCnt="0"/>
      <dgm:spPr/>
    </dgm:pt>
    <dgm:pt modelId="{4547836D-C8E9-AE46-A040-D59A6B2FFE69}" type="pres">
      <dgm:prSet presAssocID="{2F5431EE-6375-FB49-9091-D0E68A6DCBEF}" presName="rootText1" presStyleLbl="alignAcc1" presStyleIdx="0" presStyleCnt="0">
        <dgm:presLayoutVars>
          <dgm:chPref val="3"/>
        </dgm:presLayoutVars>
      </dgm:prSet>
      <dgm:spPr/>
    </dgm:pt>
    <dgm:pt modelId="{1AEB4FCA-E859-DC4D-83B5-0CD40E9A1FE6}" type="pres">
      <dgm:prSet presAssocID="{2F5431EE-6375-FB49-9091-D0E68A6DCBEF}" presName="topArc1" presStyleLbl="parChTrans1D1" presStyleIdx="0" presStyleCnt="6"/>
      <dgm:spPr/>
    </dgm:pt>
    <dgm:pt modelId="{067D6158-CF3B-AD47-A67B-7532A560B67C}" type="pres">
      <dgm:prSet presAssocID="{2F5431EE-6375-FB49-9091-D0E68A6DCBEF}" presName="bottomArc1" presStyleLbl="parChTrans1D1" presStyleIdx="1" presStyleCnt="6"/>
      <dgm:spPr/>
    </dgm:pt>
    <dgm:pt modelId="{C398FFA5-A3FB-DE4C-B7E8-53743F2ABA4B}" type="pres">
      <dgm:prSet presAssocID="{2F5431EE-6375-FB49-9091-D0E68A6DCBEF}" presName="topConnNode1" presStyleLbl="node1" presStyleIdx="0" presStyleCnt="0"/>
      <dgm:spPr/>
    </dgm:pt>
    <dgm:pt modelId="{A45D834F-DBB7-4947-AC7E-FE7A743CB7D0}" type="pres">
      <dgm:prSet presAssocID="{2F5431EE-6375-FB49-9091-D0E68A6DCBEF}" presName="hierChild2" presStyleCnt="0"/>
      <dgm:spPr/>
    </dgm:pt>
    <dgm:pt modelId="{47296052-044E-FF4F-9044-351D786F22C6}" type="pres">
      <dgm:prSet presAssocID="{2F5431EE-6375-FB49-9091-D0E68A6DCBEF}" presName="hierChild3" presStyleCnt="0"/>
      <dgm:spPr/>
    </dgm:pt>
    <dgm:pt modelId="{543F360E-5C5D-AA4C-A04F-47705144E37A}" type="pres">
      <dgm:prSet presAssocID="{9C8042A7-E6A1-D443-BDF5-0BA0D65A2670}" presName="Name101" presStyleLbl="parChTrans1D2" presStyleIdx="0" presStyleCnt="2"/>
      <dgm:spPr/>
    </dgm:pt>
    <dgm:pt modelId="{5878BFFD-B086-2647-B6F5-BB953E22D31D}" type="pres">
      <dgm:prSet presAssocID="{B2B3E70A-ECE9-824B-8EB1-7920BBF0A3A4}" presName="hierRoot3" presStyleCnt="0">
        <dgm:presLayoutVars>
          <dgm:hierBranch val="init"/>
        </dgm:presLayoutVars>
      </dgm:prSet>
      <dgm:spPr/>
    </dgm:pt>
    <dgm:pt modelId="{34A22718-2135-F14C-9995-75B2FCE6EFFC}" type="pres">
      <dgm:prSet presAssocID="{B2B3E70A-ECE9-824B-8EB1-7920BBF0A3A4}" presName="rootComposite3" presStyleCnt="0"/>
      <dgm:spPr/>
    </dgm:pt>
    <dgm:pt modelId="{47BF1907-E9B9-3946-BDE5-87DF21045A4E}" type="pres">
      <dgm:prSet presAssocID="{B2B3E70A-ECE9-824B-8EB1-7920BBF0A3A4}" presName="rootText3" presStyleLbl="alignAcc1" presStyleIdx="0" presStyleCnt="0">
        <dgm:presLayoutVars>
          <dgm:chPref val="3"/>
        </dgm:presLayoutVars>
      </dgm:prSet>
      <dgm:spPr/>
    </dgm:pt>
    <dgm:pt modelId="{0E4ABE25-2A52-554E-8EE2-77190A293AE2}" type="pres">
      <dgm:prSet presAssocID="{B2B3E70A-ECE9-824B-8EB1-7920BBF0A3A4}" presName="topArc3" presStyleLbl="parChTrans1D1" presStyleIdx="2" presStyleCnt="6"/>
      <dgm:spPr/>
    </dgm:pt>
    <dgm:pt modelId="{80549523-D2C3-7F43-BD86-AB176EE5B41C}" type="pres">
      <dgm:prSet presAssocID="{B2B3E70A-ECE9-824B-8EB1-7920BBF0A3A4}" presName="bottomArc3" presStyleLbl="parChTrans1D1" presStyleIdx="3" presStyleCnt="6"/>
      <dgm:spPr/>
    </dgm:pt>
    <dgm:pt modelId="{AD144F12-DEDF-CE47-A494-4AD7AA6AC63F}" type="pres">
      <dgm:prSet presAssocID="{B2B3E70A-ECE9-824B-8EB1-7920BBF0A3A4}" presName="topConnNode3" presStyleLbl="asst1" presStyleIdx="0" presStyleCnt="0"/>
      <dgm:spPr/>
    </dgm:pt>
    <dgm:pt modelId="{65B90F3F-7466-074C-8CB0-02CB7FA6A216}" type="pres">
      <dgm:prSet presAssocID="{B2B3E70A-ECE9-824B-8EB1-7920BBF0A3A4}" presName="hierChild6" presStyleCnt="0"/>
      <dgm:spPr/>
    </dgm:pt>
    <dgm:pt modelId="{A900EF04-343F-C04B-98F7-7A62D9083DDA}" type="pres">
      <dgm:prSet presAssocID="{B2B3E70A-ECE9-824B-8EB1-7920BBF0A3A4}" presName="hierChild7" presStyleCnt="0"/>
      <dgm:spPr/>
    </dgm:pt>
    <dgm:pt modelId="{A26EF4EF-C500-3641-AC9A-BA363985AA9F}" type="pres">
      <dgm:prSet presAssocID="{16B90322-F5E0-4E4A-B22C-5723C9C7B6DE}" presName="Name101" presStyleLbl="parChTrans1D2" presStyleIdx="1" presStyleCnt="2"/>
      <dgm:spPr/>
    </dgm:pt>
    <dgm:pt modelId="{27EE1A7D-0395-684A-8822-CB7437866017}" type="pres">
      <dgm:prSet presAssocID="{A03C1C2F-F01A-A248-B77F-5731162C7E71}" presName="hierRoot3" presStyleCnt="0">
        <dgm:presLayoutVars>
          <dgm:hierBranch val="init"/>
        </dgm:presLayoutVars>
      </dgm:prSet>
      <dgm:spPr/>
    </dgm:pt>
    <dgm:pt modelId="{AC967AB6-3AA2-614E-9A97-B0284F8C8AA8}" type="pres">
      <dgm:prSet presAssocID="{A03C1C2F-F01A-A248-B77F-5731162C7E71}" presName="rootComposite3" presStyleCnt="0"/>
      <dgm:spPr/>
    </dgm:pt>
    <dgm:pt modelId="{5F1FF37C-ABC2-434D-9F76-25AB96E00EAA}" type="pres">
      <dgm:prSet presAssocID="{A03C1C2F-F01A-A248-B77F-5731162C7E71}" presName="rootText3" presStyleLbl="alignAcc1" presStyleIdx="0" presStyleCnt="0">
        <dgm:presLayoutVars>
          <dgm:chPref val="3"/>
        </dgm:presLayoutVars>
      </dgm:prSet>
      <dgm:spPr/>
    </dgm:pt>
    <dgm:pt modelId="{6F480A7E-25DD-674E-91BB-100606FD8CAE}" type="pres">
      <dgm:prSet presAssocID="{A03C1C2F-F01A-A248-B77F-5731162C7E71}" presName="topArc3" presStyleLbl="parChTrans1D1" presStyleIdx="4" presStyleCnt="6"/>
      <dgm:spPr/>
    </dgm:pt>
    <dgm:pt modelId="{D9CE40B9-860B-0849-B507-19BCA16A4BA1}" type="pres">
      <dgm:prSet presAssocID="{A03C1C2F-F01A-A248-B77F-5731162C7E71}" presName="bottomArc3" presStyleLbl="parChTrans1D1" presStyleIdx="5" presStyleCnt="6"/>
      <dgm:spPr/>
    </dgm:pt>
    <dgm:pt modelId="{EBB81231-7B4B-464F-8D3A-5278B1D076F4}" type="pres">
      <dgm:prSet presAssocID="{A03C1C2F-F01A-A248-B77F-5731162C7E71}" presName="topConnNode3" presStyleLbl="asst1" presStyleIdx="0" presStyleCnt="0"/>
      <dgm:spPr/>
    </dgm:pt>
    <dgm:pt modelId="{9EEBDBA3-43EA-F843-9B27-467D134B6D7E}" type="pres">
      <dgm:prSet presAssocID="{A03C1C2F-F01A-A248-B77F-5731162C7E71}" presName="hierChild6" presStyleCnt="0"/>
      <dgm:spPr/>
    </dgm:pt>
    <dgm:pt modelId="{FA6ECF08-907B-7640-A459-FE28BC5543D8}" type="pres">
      <dgm:prSet presAssocID="{A03C1C2F-F01A-A248-B77F-5731162C7E71}" presName="hierChild7" presStyleCnt="0"/>
      <dgm:spPr/>
    </dgm:pt>
  </dgm:ptLst>
  <dgm:cxnLst>
    <dgm:cxn modelId="{CFC38205-ABB9-B94F-B5A6-FA7068FDCBF8}" type="presOf" srcId="{2F5431EE-6375-FB49-9091-D0E68A6DCBEF}" destId="{4547836D-C8E9-AE46-A040-D59A6B2FFE69}" srcOrd="0" destOrd="0" presId="urn:microsoft.com/office/officeart/2008/layout/HalfCircleOrganizationChart"/>
    <dgm:cxn modelId="{0C31B611-EAD4-EE44-9D6A-D3DF92A95149}" srcId="{2F5431EE-6375-FB49-9091-D0E68A6DCBEF}" destId="{A03C1C2F-F01A-A248-B77F-5731162C7E71}" srcOrd="1" destOrd="0" parTransId="{16B90322-F5E0-4E4A-B22C-5723C9C7B6DE}" sibTransId="{FACF96C7-8FF5-8746-A5AB-F71AD1FE87DB}"/>
    <dgm:cxn modelId="{087E3826-77F0-7148-86B1-996A07A0EF08}" srcId="{949EFB50-8E96-8245-A267-1D2FDE2783AF}" destId="{2F5431EE-6375-FB49-9091-D0E68A6DCBEF}" srcOrd="0" destOrd="0" parTransId="{F44F5E20-A7AE-9545-9006-9A211FDADEDC}" sibTransId="{F9451C6B-EF72-E143-8018-8BC8B0773401}"/>
    <dgm:cxn modelId="{CE9A7E30-C3F2-9C47-BED0-96CF2505615E}" type="presOf" srcId="{B2B3E70A-ECE9-824B-8EB1-7920BBF0A3A4}" destId="{47BF1907-E9B9-3946-BDE5-87DF21045A4E}" srcOrd="0" destOrd="0" presId="urn:microsoft.com/office/officeart/2008/layout/HalfCircleOrganizationChart"/>
    <dgm:cxn modelId="{F610C959-9E91-1249-8F36-FF08EB61532D}" type="presOf" srcId="{A03C1C2F-F01A-A248-B77F-5731162C7E71}" destId="{5F1FF37C-ABC2-434D-9F76-25AB96E00EAA}" srcOrd="0" destOrd="0" presId="urn:microsoft.com/office/officeart/2008/layout/HalfCircleOrganizationChart"/>
    <dgm:cxn modelId="{12B7685E-DE81-B043-8796-8E0ED93FB5CD}" type="presOf" srcId="{16B90322-F5E0-4E4A-B22C-5723C9C7B6DE}" destId="{A26EF4EF-C500-3641-AC9A-BA363985AA9F}" srcOrd="0" destOrd="0" presId="urn:microsoft.com/office/officeart/2008/layout/HalfCircleOrganizationChart"/>
    <dgm:cxn modelId="{21BAEA64-A2E2-604C-87A3-D362E231992A}" type="presOf" srcId="{2F5431EE-6375-FB49-9091-D0E68A6DCBEF}" destId="{C398FFA5-A3FB-DE4C-B7E8-53743F2ABA4B}" srcOrd="1" destOrd="0" presId="urn:microsoft.com/office/officeart/2008/layout/HalfCircleOrganizationChart"/>
    <dgm:cxn modelId="{FAE19671-0F23-4F46-97C4-0400B4D0396E}" type="presOf" srcId="{B2B3E70A-ECE9-824B-8EB1-7920BBF0A3A4}" destId="{AD144F12-DEDF-CE47-A494-4AD7AA6AC63F}" srcOrd="1" destOrd="0" presId="urn:microsoft.com/office/officeart/2008/layout/HalfCircleOrganizationChart"/>
    <dgm:cxn modelId="{14678F73-9237-464F-843F-AF3DCF1C76C8}" type="presOf" srcId="{9C8042A7-E6A1-D443-BDF5-0BA0D65A2670}" destId="{543F360E-5C5D-AA4C-A04F-47705144E37A}" srcOrd="0" destOrd="0" presId="urn:microsoft.com/office/officeart/2008/layout/HalfCircleOrganizationChart"/>
    <dgm:cxn modelId="{27F3EE8D-7296-2F4B-9B4D-C11F49D4C131}" type="presOf" srcId="{949EFB50-8E96-8245-A267-1D2FDE2783AF}" destId="{AFA24F15-B03B-894A-AE37-841CCB3217B6}" srcOrd="0" destOrd="0" presId="urn:microsoft.com/office/officeart/2008/layout/HalfCircleOrganizationChart"/>
    <dgm:cxn modelId="{DD85D2C8-A008-AC40-BA19-EF923436EC97}" srcId="{2F5431EE-6375-FB49-9091-D0E68A6DCBEF}" destId="{B2B3E70A-ECE9-824B-8EB1-7920BBF0A3A4}" srcOrd="0" destOrd="0" parTransId="{9C8042A7-E6A1-D443-BDF5-0BA0D65A2670}" sibTransId="{0DF4250C-29C7-6342-AF46-FCF1321144B5}"/>
    <dgm:cxn modelId="{5FDFFAF2-73EB-3A49-B739-3F0C0C45A361}" type="presOf" srcId="{A03C1C2F-F01A-A248-B77F-5731162C7E71}" destId="{EBB81231-7B4B-464F-8D3A-5278B1D076F4}" srcOrd="1" destOrd="0" presId="urn:microsoft.com/office/officeart/2008/layout/HalfCircleOrganizationChart"/>
    <dgm:cxn modelId="{FEA55B44-399B-134F-B793-865C107F9645}" type="presParOf" srcId="{AFA24F15-B03B-894A-AE37-841CCB3217B6}" destId="{1570A4FC-8EE1-4441-9F8D-D75F829BE391}" srcOrd="0" destOrd="0" presId="urn:microsoft.com/office/officeart/2008/layout/HalfCircleOrganizationChart"/>
    <dgm:cxn modelId="{5EF9B25D-02A9-2446-A966-4A71A04BBAC3}" type="presParOf" srcId="{1570A4FC-8EE1-4441-9F8D-D75F829BE391}" destId="{0C17D8CA-2A24-6B47-8166-E442BD2284D4}" srcOrd="0" destOrd="0" presId="urn:microsoft.com/office/officeart/2008/layout/HalfCircleOrganizationChart"/>
    <dgm:cxn modelId="{0B68DFDF-E369-FF4B-8794-1C08F7C40AA2}" type="presParOf" srcId="{0C17D8CA-2A24-6B47-8166-E442BD2284D4}" destId="{4547836D-C8E9-AE46-A040-D59A6B2FFE69}" srcOrd="0" destOrd="0" presId="urn:microsoft.com/office/officeart/2008/layout/HalfCircleOrganizationChart"/>
    <dgm:cxn modelId="{759CCCB6-D26F-A84B-8939-0A0886920DC8}" type="presParOf" srcId="{0C17D8CA-2A24-6B47-8166-E442BD2284D4}" destId="{1AEB4FCA-E859-DC4D-83B5-0CD40E9A1FE6}" srcOrd="1" destOrd="0" presId="urn:microsoft.com/office/officeart/2008/layout/HalfCircleOrganizationChart"/>
    <dgm:cxn modelId="{B4488664-9E77-014F-B94F-5AC61BDA0DE5}" type="presParOf" srcId="{0C17D8CA-2A24-6B47-8166-E442BD2284D4}" destId="{067D6158-CF3B-AD47-A67B-7532A560B67C}" srcOrd="2" destOrd="0" presId="urn:microsoft.com/office/officeart/2008/layout/HalfCircleOrganizationChart"/>
    <dgm:cxn modelId="{A06BE0DB-577A-7A4D-B6A5-211B2864FCD6}" type="presParOf" srcId="{0C17D8CA-2A24-6B47-8166-E442BD2284D4}" destId="{C398FFA5-A3FB-DE4C-B7E8-53743F2ABA4B}" srcOrd="3" destOrd="0" presId="urn:microsoft.com/office/officeart/2008/layout/HalfCircleOrganizationChart"/>
    <dgm:cxn modelId="{1FB0D02C-F12A-A444-BAC9-AFB29EB725F6}" type="presParOf" srcId="{1570A4FC-8EE1-4441-9F8D-D75F829BE391}" destId="{A45D834F-DBB7-4947-AC7E-FE7A743CB7D0}" srcOrd="1" destOrd="0" presId="urn:microsoft.com/office/officeart/2008/layout/HalfCircleOrganizationChart"/>
    <dgm:cxn modelId="{B1214716-6DBE-4846-BFCC-EB209E1CB9C2}" type="presParOf" srcId="{1570A4FC-8EE1-4441-9F8D-D75F829BE391}" destId="{47296052-044E-FF4F-9044-351D786F22C6}" srcOrd="2" destOrd="0" presId="urn:microsoft.com/office/officeart/2008/layout/HalfCircleOrganizationChart"/>
    <dgm:cxn modelId="{7D383B5F-3DE2-1A4B-A5FD-88F538EE550E}" type="presParOf" srcId="{47296052-044E-FF4F-9044-351D786F22C6}" destId="{543F360E-5C5D-AA4C-A04F-47705144E37A}" srcOrd="0" destOrd="0" presId="urn:microsoft.com/office/officeart/2008/layout/HalfCircleOrganizationChart"/>
    <dgm:cxn modelId="{81E3BD5D-07F8-C34E-AA14-F306C7838469}" type="presParOf" srcId="{47296052-044E-FF4F-9044-351D786F22C6}" destId="{5878BFFD-B086-2647-B6F5-BB953E22D31D}" srcOrd="1" destOrd="0" presId="urn:microsoft.com/office/officeart/2008/layout/HalfCircleOrganizationChart"/>
    <dgm:cxn modelId="{D2390BA9-2D2C-7A46-BF98-464A938609B7}" type="presParOf" srcId="{5878BFFD-B086-2647-B6F5-BB953E22D31D}" destId="{34A22718-2135-F14C-9995-75B2FCE6EFFC}" srcOrd="0" destOrd="0" presId="urn:microsoft.com/office/officeart/2008/layout/HalfCircleOrganizationChart"/>
    <dgm:cxn modelId="{FD87E1FF-8FDA-9F42-BFFA-63528993F5E9}" type="presParOf" srcId="{34A22718-2135-F14C-9995-75B2FCE6EFFC}" destId="{47BF1907-E9B9-3946-BDE5-87DF21045A4E}" srcOrd="0" destOrd="0" presId="urn:microsoft.com/office/officeart/2008/layout/HalfCircleOrganizationChart"/>
    <dgm:cxn modelId="{6C80E2D4-DF31-5544-A47E-2ED6E71AD704}" type="presParOf" srcId="{34A22718-2135-F14C-9995-75B2FCE6EFFC}" destId="{0E4ABE25-2A52-554E-8EE2-77190A293AE2}" srcOrd="1" destOrd="0" presId="urn:microsoft.com/office/officeart/2008/layout/HalfCircleOrganizationChart"/>
    <dgm:cxn modelId="{2F6AADEB-B770-6F46-A74A-AF34C99A0E59}" type="presParOf" srcId="{34A22718-2135-F14C-9995-75B2FCE6EFFC}" destId="{80549523-D2C3-7F43-BD86-AB176EE5B41C}" srcOrd="2" destOrd="0" presId="urn:microsoft.com/office/officeart/2008/layout/HalfCircleOrganizationChart"/>
    <dgm:cxn modelId="{8389E94A-D875-DE4E-884D-DEB67638983A}" type="presParOf" srcId="{34A22718-2135-F14C-9995-75B2FCE6EFFC}" destId="{AD144F12-DEDF-CE47-A494-4AD7AA6AC63F}" srcOrd="3" destOrd="0" presId="urn:microsoft.com/office/officeart/2008/layout/HalfCircleOrganizationChart"/>
    <dgm:cxn modelId="{E4ECAD62-516B-6146-A2AE-9FC415EDFAFD}" type="presParOf" srcId="{5878BFFD-B086-2647-B6F5-BB953E22D31D}" destId="{65B90F3F-7466-074C-8CB0-02CB7FA6A216}" srcOrd="1" destOrd="0" presId="urn:microsoft.com/office/officeart/2008/layout/HalfCircleOrganizationChart"/>
    <dgm:cxn modelId="{5FCDF776-98B7-D64C-A8B9-7AD77CD701EA}" type="presParOf" srcId="{5878BFFD-B086-2647-B6F5-BB953E22D31D}" destId="{A900EF04-343F-C04B-98F7-7A62D9083DDA}" srcOrd="2" destOrd="0" presId="urn:microsoft.com/office/officeart/2008/layout/HalfCircleOrganizationChart"/>
    <dgm:cxn modelId="{464C5604-A7C8-A844-9D6F-0742DB96D6F4}" type="presParOf" srcId="{47296052-044E-FF4F-9044-351D786F22C6}" destId="{A26EF4EF-C500-3641-AC9A-BA363985AA9F}" srcOrd="2" destOrd="0" presId="urn:microsoft.com/office/officeart/2008/layout/HalfCircleOrganizationChart"/>
    <dgm:cxn modelId="{E2754947-3044-D647-9CCE-167C78D2FD7A}" type="presParOf" srcId="{47296052-044E-FF4F-9044-351D786F22C6}" destId="{27EE1A7D-0395-684A-8822-CB7437866017}" srcOrd="3" destOrd="0" presId="urn:microsoft.com/office/officeart/2008/layout/HalfCircleOrganizationChart"/>
    <dgm:cxn modelId="{7266FBEA-86F7-1841-9C2B-F3C73FB30ACA}" type="presParOf" srcId="{27EE1A7D-0395-684A-8822-CB7437866017}" destId="{AC967AB6-3AA2-614E-9A97-B0284F8C8AA8}" srcOrd="0" destOrd="0" presId="urn:microsoft.com/office/officeart/2008/layout/HalfCircleOrganizationChart"/>
    <dgm:cxn modelId="{91AE6C16-CCDC-D649-AADC-EBCDC3E7CB18}" type="presParOf" srcId="{AC967AB6-3AA2-614E-9A97-B0284F8C8AA8}" destId="{5F1FF37C-ABC2-434D-9F76-25AB96E00EAA}" srcOrd="0" destOrd="0" presId="urn:microsoft.com/office/officeart/2008/layout/HalfCircleOrganizationChart"/>
    <dgm:cxn modelId="{1D59371E-D4B7-FD41-9C26-001A7575DFA6}" type="presParOf" srcId="{AC967AB6-3AA2-614E-9A97-B0284F8C8AA8}" destId="{6F480A7E-25DD-674E-91BB-100606FD8CAE}" srcOrd="1" destOrd="0" presId="urn:microsoft.com/office/officeart/2008/layout/HalfCircleOrganizationChart"/>
    <dgm:cxn modelId="{649D583C-37E9-F940-BE48-023CBD22198E}" type="presParOf" srcId="{AC967AB6-3AA2-614E-9A97-B0284F8C8AA8}" destId="{D9CE40B9-860B-0849-B507-19BCA16A4BA1}" srcOrd="2" destOrd="0" presId="urn:microsoft.com/office/officeart/2008/layout/HalfCircleOrganizationChart"/>
    <dgm:cxn modelId="{32B24F14-D034-AD45-8269-021F7E81A479}" type="presParOf" srcId="{AC967AB6-3AA2-614E-9A97-B0284F8C8AA8}" destId="{EBB81231-7B4B-464F-8D3A-5278B1D076F4}" srcOrd="3" destOrd="0" presId="urn:microsoft.com/office/officeart/2008/layout/HalfCircleOrganizationChart"/>
    <dgm:cxn modelId="{CE71C022-088C-6D49-B0E2-8F23FBFA2CBD}" type="presParOf" srcId="{27EE1A7D-0395-684A-8822-CB7437866017}" destId="{9EEBDBA3-43EA-F843-9B27-467D134B6D7E}" srcOrd="1" destOrd="0" presId="urn:microsoft.com/office/officeart/2008/layout/HalfCircleOrganizationChart"/>
    <dgm:cxn modelId="{CEC6DC4E-B9A2-7743-BE8C-8CCBBC72DEC7}" type="presParOf" srcId="{27EE1A7D-0395-684A-8822-CB7437866017}" destId="{FA6ECF08-907B-7640-A459-FE28BC5543D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6EF4EF-C500-3641-AC9A-BA363985AA9F}">
      <dsp:nvSpPr>
        <dsp:cNvPr id="0" name=""/>
        <dsp:cNvSpPr/>
      </dsp:nvSpPr>
      <dsp:spPr>
        <a:xfrm>
          <a:off x="5144647" y="767626"/>
          <a:ext cx="636573" cy="4601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0173"/>
              </a:lnTo>
              <a:lnTo>
                <a:pt x="636573" y="460173"/>
              </a:lnTo>
            </a:path>
          </a:pathLst>
        </a:cu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43F360E-5C5D-AA4C-A04F-47705144E37A}">
      <dsp:nvSpPr>
        <dsp:cNvPr id="0" name=""/>
        <dsp:cNvSpPr/>
      </dsp:nvSpPr>
      <dsp:spPr>
        <a:xfrm>
          <a:off x="4508074" y="767626"/>
          <a:ext cx="636573" cy="460173"/>
        </a:xfrm>
        <a:custGeom>
          <a:avLst/>
          <a:gdLst/>
          <a:ahLst/>
          <a:cxnLst/>
          <a:rect l="0" t="0" r="0" b="0"/>
          <a:pathLst>
            <a:path>
              <a:moveTo>
                <a:pt x="636573" y="0"/>
              </a:moveTo>
              <a:lnTo>
                <a:pt x="636573" y="460173"/>
              </a:lnTo>
              <a:lnTo>
                <a:pt x="0" y="460173"/>
              </a:lnTo>
            </a:path>
          </a:pathLst>
        </a:cu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EB4FCA-E859-DC4D-83B5-0CD40E9A1FE6}">
      <dsp:nvSpPr>
        <dsp:cNvPr id="0" name=""/>
        <dsp:cNvSpPr/>
      </dsp:nvSpPr>
      <dsp:spPr>
        <a:xfrm>
          <a:off x="4761169" y="671"/>
          <a:ext cx="766955" cy="766955"/>
        </a:xfrm>
        <a:prstGeom prst="arc">
          <a:avLst>
            <a:gd name="adj1" fmla="val 13200000"/>
            <a:gd name="adj2" fmla="val 192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7D6158-CF3B-AD47-A67B-7532A560B67C}">
      <dsp:nvSpPr>
        <dsp:cNvPr id="0" name=""/>
        <dsp:cNvSpPr/>
      </dsp:nvSpPr>
      <dsp:spPr>
        <a:xfrm>
          <a:off x="4761169" y="671"/>
          <a:ext cx="766955" cy="766955"/>
        </a:xfrm>
        <a:prstGeom prst="arc">
          <a:avLst>
            <a:gd name="adj1" fmla="val 2400000"/>
            <a:gd name="adj2" fmla="val 84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47836D-C8E9-AE46-A040-D59A6B2FFE69}">
      <dsp:nvSpPr>
        <dsp:cNvPr id="0" name=""/>
        <dsp:cNvSpPr/>
      </dsp:nvSpPr>
      <dsp:spPr>
        <a:xfrm>
          <a:off x="4377691" y="138723"/>
          <a:ext cx="1533911" cy="490851"/>
        </a:xfrm>
        <a:prstGeom prst="rect">
          <a:avLst/>
        </a:prstGeom>
        <a:noFill/>
        <a:ln w="19050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FFF00"/>
              </a:solidFill>
            </a:rPr>
            <a:t>Nuclear Reactions</a:t>
          </a:r>
        </a:p>
      </dsp:txBody>
      <dsp:txXfrm>
        <a:off x="4377691" y="138723"/>
        <a:ext cx="1533911" cy="490851"/>
      </dsp:txXfrm>
    </dsp:sp>
    <dsp:sp modelId="{0E4ABE25-2A52-554E-8EE2-77190A293AE2}">
      <dsp:nvSpPr>
        <dsp:cNvPr id="0" name=""/>
        <dsp:cNvSpPr/>
      </dsp:nvSpPr>
      <dsp:spPr>
        <a:xfrm>
          <a:off x="3833153" y="1089748"/>
          <a:ext cx="766955" cy="766955"/>
        </a:xfrm>
        <a:prstGeom prst="arc">
          <a:avLst>
            <a:gd name="adj1" fmla="val 13200000"/>
            <a:gd name="adj2" fmla="val 192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549523-D2C3-7F43-BD86-AB176EE5B41C}">
      <dsp:nvSpPr>
        <dsp:cNvPr id="0" name=""/>
        <dsp:cNvSpPr/>
      </dsp:nvSpPr>
      <dsp:spPr>
        <a:xfrm>
          <a:off x="3833153" y="1089748"/>
          <a:ext cx="766955" cy="766955"/>
        </a:xfrm>
        <a:prstGeom prst="arc">
          <a:avLst>
            <a:gd name="adj1" fmla="val 2400000"/>
            <a:gd name="adj2" fmla="val 84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BF1907-E9B9-3946-BDE5-87DF21045A4E}">
      <dsp:nvSpPr>
        <dsp:cNvPr id="0" name=""/>
        <dsp:cNvSpPr/>
      </dsp:nvSpPr>
      <dsp:spPr>
        <a:xfrm>
          <a:off x="3449675" y="1227800"/>
          <a:ext cx="1533911" cy="490851"/>
        </a:xfrm>
        <a:prstGeom prst="rect">
          <a:avLst/>
        </a:prstGeom>
        <a:noFill/>
        <a:ln w="19050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FFF00"/>
              </a:solidFill>
            </a:rPr>
            <a:t>Nuclear Fission</a:t>
          </a:r>
        </a:p>
      </dsp:txBody>
      <dsp:txXfrm>
        <a:off x="3449675" y="1227800"/>
        <a:ext cx="1533911" cy="490851"/>
      </dsp:txXfrm>
    </dsp:sp>
    <dsp:sp modelId="{6F480A7E-25DD-674E-91BB-100606FD8CAE}">
      <dsp:nvSpPr>
        <dsp:cNvPr id="0" name=""/>
        <dsp:cNvSpPr/>
      </dsp:nvSpPr>
      <dsp:spPr>
        <a:xfrm>
          <a:off x="5689186" y="1089748"/>
          <a:ext cx="766955" cy="766955"/>
        </a:xfrm>
        <a:prstGeom prst="arc">
          <a:avLst>
            <a:gd name="adj1" fmla="val 13200000"/>
            <a:gd name="adj2" fmla="val 192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CE40B9-860B-0849-B507-19BCA16A4BA1}">
      <dsp:nvSpPr>
        <dsp:cNvPr id="0" name=""/>
        <dsp:cNvSpPr/>
      </dsp:nvSpPr>
      <dsp:spPr>
        <a:xfrm>
          <a:off x="5689186" y="1089748"/>
          <a:ext cx="766955" cy="766955"/>
        </a:xfrm>
        <a:prstGeom prst="arc">
          <a:avLst>
            <a:gd name="adj1" fmla="val 2400000"/>
            <a:gd name="adj2" fmla="val 84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1FF37C-ABC2-434D-9F76-25AB96E00EAA}">
      <dsp:nvSpPr>
        <dsp:cNvPr id="0" name=""/>
        <dsp:cNvSpPr/>
      </dsp:nvSpPr>
      <dsp:spPr>
        <a:xfrm>
          <a:off x="5305708" y="1227800"/>
          <a:ext cx="1533911" cy="490851"/>
        </a:xfrm>
        <a:prstGeom prst="rect">
          <a:avLst/>
        </a:prstGeom>
        <a:noFill/>
        <a:ln w="19050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FFF00"/>
              </a:solidFill>
            </a:rPr>
            <a:t>Nuclear Fusion</a:t>
          </a:r>
        </a:p>
      </dsp:txBody>
      <dsp:txXfrm>
        <a:off x="5305708" y="1227800"/>
        <a:ext cx="1533911" cy="490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FC2A810-E7AB-407C-96BB-A9A1642E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873864-8EA6-4BAE-AD23-DF7D1EE8D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45B93AD-B8E9-48E0-9BA9-1FAD5388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BDACB8-D0FE-4835-A57B-FDA02114A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DF97DC7-05A4-4842-9B74-F90566C57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82DFCE-CE18-4F48-9BF1-C732E208B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90E0A77-5948-4F1C-96D3-941CC09D0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415746A-0452-4F01-BDD2-C85034C37A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079AD55-2821-4492-AA75-50CBE9E1F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F8C9763-2CE0-43CD-995B-A816677B3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FC2A810-E7AB-407C-96BB-A9A1642E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873864-8EA6-4BAE-AD23-DF7D1EE8D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45B93AD-B8E9-48E0-9BA9-1FAD5388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BDACB8-D0FE-4835-A57B-FDA02114A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DF97DC7-05A4-4842-9B74-F90566C57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82DFCE-CE18-4F48-9BF1-C732E208B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90E0A77-5948-4F1C-96D3-941CC09D0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415746A-0452-4F01-BDD2-C85034C37A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079AD55-2821-4492-AA75-50CBE9E1F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F8C9763-2CE0-43CD-995B-A816677B3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9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3" Type="http://schemas.openxmlformats.org/officeDocument/2006/relationships/chart" Target="../charts/chart1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3" Type="http://schemas.openxmlformats.org/officeDocument/2006/relationships/hyperlink" Target="https://emohellebi.github.io/teaching/courses/environmental-science/exam-center/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ExamCenter" Type="http://schemas.openxmlformats.org/officeDocument/2006/relationships/hyperlink" Target="https://emohellebi.github.io/teaching/courses/environmental-science/exam-cent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85766C-4620-421C-ADA1-555E75E55B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C0CE82-646D-43CC-BEBA-EB091DE2E41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OPENING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54B029-465C-455C-8A5B-086DA350825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01 / 61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90346D-6EB2-49F0-8702-50B897EB81B9}"/>
              </a:ext>
            </a:extLst>
          </p:cNvPr>
          <p:cNvSpPr>
            <a:spLocks noGrp="1"/>
          </p:cNvSpPr>
          <p:nvPr/>
        </p:nvSpPr>
        <p:spPr>
          <a:xfrm>
            <a:off x="609600" y="1476375"/>
            <a:ext cx="6191250" cy="2571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Fossil Fuels</a:t>
            </a:r>
          </a:p>
          <a:p>
            <a:pPr>
              <a:buNone/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Nuclear</a:t>
            </a:r>
          </a:p>
          <a:p>
            <a:pPr>
              <a:buNone/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Energy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BC88CC-ABEA-4076-B7A6-595BA1E5DA92}"/>
              </a:ext>
            </a:extLst>
          </p:cNvPr>
          <p:cNvSpPr>
            <a:spLocks noGrp="1"/>
          </p:cNvSpPr>
          <p:nvPr/>
        </p:nvSpPr>
        <p:spPr>
          <a:xfrm>
            <a:off x="609600" y="4063005"/>
            <a:ext cx="7239000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Follow the energy.</a:t>
            </a:r>
          </a:p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Account for the consequences.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2392D0-C23B-27EC-5505-57AFC3C1767C}"/>
              </a:ext>
            </a:extLst>
          </p:cNvPr>
          <p:cNvSpPr>
            <a:spLocks noGrp="1"/>
          </p:cNvSpPr>
          <p:nvPr/>
        </p:nvSpPr>
        <p:spPr>
          <a:xfrm>
            <a:off x="609600" y="5048181"/>
            <a:ext cx="5698016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25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hidden system behind the light switch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D3A647-5700-1EF1-ED47-3BEE09BD3BAD}"/>
              </a:ext>
            </a:extLst>
          </p:cNvPr>
          <p:cNvSpPr txBox="1"/>
          <p:nvPr/>
        </p:nvSpPr>
        <p:spPr>
          <a:xfrm>
            <a:off x="87085" y="6117545"/>
            <a:ext cx="118436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Main Source:</a:t>
            </a:r>
          </a:p>
          <a:p>
            <a:r>
              <a:rPr lang="en-US" sz="1200" dirty="0">
                <a:solidFill>
                  <a:schemeClr val="bg1"/>
                </a:solidFill>
              </a:rPr>
              <a:t>Manuel Molles and Brendan Borrell. Environment: Science, Issues, Solutions. W. H. Freeman, 2016. Chapter 9, printed pp. 262–263</a:t>
            </a:r>
          </a:p>
        </p:txBody>
      </p:sp>
    </p:spTree>
    <p:extLst>
      <p:ext uri="{BB962C8B-B14F-4D97-AF65-F5344CB8AC3E}">
        <p14:creationId xmlns:p14="http://schemas.microsoft.com/office/powerpoint/2010/main" val="524612123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E095BBB-AB86-4729-8CB8-567E475A634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CENTRAL QUESTION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107BEC-DDF5-4BBA-ABE2-0FA2E94DC3A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02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5652BD-EADF-4710-8953-C9C79B9BA734}"/>
              </a:ext>
            </a:extLst>
          </p:cNvPr>
          <p:cNvSpPr>
            <a:spLocks noGrp="1"/>
          </p:cNvSpPr>
          <p:nvPr/>
        </p:nvSpPr>
        <p:spPr>
          <a:xfrm>
            <a:off x="609600" y="906073"/>
            <a:ext cx="10953750" cy="70104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can we reduce the harm?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32E418-204B-4E0B-AE51-4482FFB59929}"/>
              </a:ext>
            </a:extLst>
          </p:cNvPr>
          <p:cNvSpPr>
            <a:spLocks noGrp="1"/>
          </p:cNvSpPr>
          <p:nvPr/>
        </p:nvSpPr>
        <p:spPr>
          <a:xfrm>
            <a:off x="1950720" y="1487553"/>
            <a:ext cx="9231630" cy="9810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4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4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8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How </a:t>
            </a:r>
            <a:r>
              <a:rPr sz="2800" b="1" dirty="0">
                <a:solidFill>
                  <a:srgbClr val="FFBD82"/>
                </a:solidFill>
                <a:latin typeface="Arial"/>
                <a:ea typeface="Arial"/>
                <a:cs typeface="Arial"/>
              </a:rPr>
              <a:t>can</a:t>
            </a:r>
            <a:r>
              <a:rPr sz="28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 we manage nonrenewable energy resources in a way that reduces environmental harm?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B8BE70-29AB-4925-90FD-610BC0B15918}"/>
              </a:ext>
            </a:extLst>
          </p:cNvPr>
          <p:cNvSpPr>
            <a:spLocks noGrp="1"/>
          </p:cNvSpPr>
          <p:nvPr/>
        </p:nvSpPr>
        <p:spPr>
          <a:xfrm>
            <a:off x="609600" y="6314625"/>
            <a:ext cx="10572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SCIENCE  →  ISSUES  →  SOLUTIONS  →  TAKEAWAYS</a:t>
            </a:r>
          </a:p>
        </p:txBody>
      </p:sp>
      <p:sp>
        <p:nvSpPr>
          <p:cNvPr id="6" name="SCIENCE">
            <a:extLst>
              <a:ext uri="{FF2B5EF4-FFF2-40B4-BE49-F238E27FC236}">
                <a16:creationId xmlns:a16="http://schemas.microsoft.com/office/drawing/2014/main" id="{C1E74F71-0E20-36D7-92F7-EB1FA1D714CD}"/>
              </a:ext>
            </a:extLst>
          </p:cNvPr>
          <p:cNvSpPr>
            <a:spLocks noGrp="1"/>
          </p:cNvSpPr>
          <p:nvPr/>
        </p:nvSpPr>
        <p:spPr>
          <a:xfrm>
            <a:off x="609600" y="2954843"/>
            <a:ext cx="1745307" cy="49485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SCIENCE</a:t>
            </a:r>
          </a:p>
        </p:txBody>
      </p:sp>
      <p:sp>
        <p:nvSpPr>
          <p:cNvPr id="7" name="Where does the energy come from, and how&#10;does a power p">
            <a:extLst>
              <a:ext uri="{FF2B5EF4-FFF2-40B4-BE49-F238E27FC236}">
                <a16:creationId xmlns:a16="http://schemas.microsoft.com/office/drawing/2014/main" id="{41564F15-1369-E254-0CCE-6F5961AA817D}"/>
              </a:ext>
            </a:extLst>
          </p:cNvPr>
          <p:cNvSpPr>
            <a:spLocks noGrp="1"/>
          </p:cNvSpPr>
          <p:nvPr/>
        </p:nvSpPr>
        <p:spPr>
          <a:xfrm>
            <a:off x="2581275" y="2954843"/>
            <a:ext cx="8450961" cy="61302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Where does the energy come from, and </a:t>
            </a:r>
            <a:r>
              <a:rPr lang="en-US"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can you identify and describe the main Fossil Fuels used in our society today?</a:t>
            </a:r>
            <a:endParaRPr sz="2000" b="0" dirty="0">
              <a:solidFill>
                <a:srgbClr val="EAF1F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C0B90EA6-D5AA-27C6-F808-215C5EF4895D}"/>
              </a:ext>
            </a:extLst>
          </p:cNvPr>
          <p:cNvSpPr>
            <a:spLocks noGrp="1"/>
          </p:cNvSpPr>
          <p:nvPr/>
        </p:nvSpPr>
        <p:spPr>
          <a:xfrm>
            <a:off x="609601" y="3935918"/>
            <a:ext cx="10334056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 sz="1050"/>
          </a:p>
        </p:txBody>
      </p:sp>
      <p:sp>
        <p:nvSpPr>
          <p:cNvPr id="10" name="ISSUES">
            <a:extLst>
              <a:ext uri="{FF2B5EF4-FFF2-40B4-BE49-F238E27FC236}">
                <a16:creationId xmlns:a16="http://schemas.microsoft.com/office/drawing/2014/main" id="{0E237D2D-D4E3-067B-5AD7-1DD841C1F32E}"/>
              </a:ext>
            </a:extLst>
          </p:cNvPr>
          <p:cNvSpPr>
            <a:spLocks noGrp="1"/>
          </p:cNvSpPr>
          <p:nvPr/>
        </p:nvSpPr>
        <p:spPr>
          <a:xfrm>
            <a:off x="609600" y="4088318"/>
            <a:ext cx="1745307" cy="49485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</a:p>
        </p:txBody>
      </p:sp>
      <p:sp>
        <p:nvSpPr>
          <p:cNvPr id="11" name="Which harms arise across extraction, use, and waste,&#10;an">
            <a:extLst>
              <a:ext uri="{FF2B5EF4-FFF2-40B4-BE49-F238E27FC236}">
                <a16:creationId xmlns:a16="http://schemas.microsoft.com/office/drawing/2014/main" id="{D848C61E-DD35-F25C-AB75-F7E044DE542F}"/>
              </a:ext>
            </a:extLst>
          </p:cNvPr>
          <p:cNvSpPr>
            <a:spLocks noGrp="1"/>
          </p:cNvSpPr>
          <p:nvPr/>
        </p:nvSpPr>
        <p:spPr>
          <a:xfrm>
            <a:off x="2581275" y="4088318"/>
            <a:ext cx="8450961" cy="61302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</a:t>
            </a:r>
            <a:r>
              <a:rPr lang="en-US"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at are the consequences of extraction, use, and waste of Fossil Fuels</a:t>
            </a:r>
            <a:r>
              <a:rPr lang="en-US" sz="20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, </a:t>
            </a: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who experiences those harms?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6D76A93-A777-0783-F412-54E32E298C59}"/>
              </a:ext>
            </a:extLst>
          </p:cNvPr>
          <p:cNvSpPr>
            <a:spLocks noGrp="1"/>
          </p:cNvSpPr>
          <p:nvPr/>
        </p:nvSpPr>
        <p:spPr>
          <a:xfrm>
            <a:off x="609601" y="5069393"/>
            <a:ext cx="10334056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 sz="1050"/>
          </a:p>
        </p:txBody>
      </p:sp>
      <p:sp>
        <p:nvSpPr>
          <p:cNvPr id="13" name="SOLUTIONS">
            <a:extLst>
              <a:ext uri="{FF2B5EF4-FFF2-40B4-BE49-F238E27FC236}">
                <a16:creationId xmlns:a16="http://schemas.microsoft.com/office/drawing/2014/main" id="{189B461B-8E80-7683-4E50-EC8BAAB88AF9}"/>
              </a:ext>
            </a:extLst>
          </p:cNvPr>
          <p:cNvSpPr>
            <a:spLocks noGrp="1"/>
          </p:cNvSpPr>
          <p:nvPr/>
        </p:nvSpPr>
        <p:spPr>
          <a:xfrm>
            <a:off x="609600" y="5221793"/>
            <a:ext cx="1745307" cy="49485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14" name="Which safeguards reduce those harms, and which&#10;losses o">
            <a:extLst>
              <a:ext uri="{FF2B5EF4-FFF2-40B4-BE49-F238E27FC236}">
                <a16:creationId xmlns:a16="http://schemas.microsoft.com/office/drawing/2014/main" id="{9FC61201-01AD-AA81-F582-A14212D92B89}"/>
              </a:ext>
            </a:extLst>
          </p:cNvPr>
          <p:cNvSpPr>
            <a:spLocks noGrp="1"/>
          </p:cNvSpPr>
          <p:nvPr/>
        </p:nvSpPr>
        <p:spPr>
          <a:xfrm>
            <a:off x="2581275" y="5221793"/>
            <a:ext cx="8450961" cy="61302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safeguards reduce those harms?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2F12A90-FD92-40EE-9C4E-9B85B11F0E8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7E6435-2798-4445-A725-7F9152AC836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03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0B2166-5C8A-4B44-87CB-B5B835C691A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Combustible Materials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A3B6A2-2047-4F8A-B8FF-BD0CFCA13A85}"/>
              </a:ext>
            </a:extLst>
          </p:cNvPr>
          <p:cNvSpPr>
            <a:spLocks noGrp="1"/>
          </p:cNvSpPr>
          <p:nvPr/>
        </p:nvSpPr>
        <p:spPr>
          <a:xfrm>
            <a:off x="2353593" y="6143625"/>
            <a:ext cx="7465763" cy="40485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rgbClr val="FFBC83"/>
                </a:solidFill>
                <a:latin typeface="Arial"/>
                <a:cs typeface="Arial"/>
              </a:rPr>
              <a:t>C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hemical Energy                              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" name="Picture 11" descr="Reconstructed coal-fired steam power plant with separate steam-water and cooling-water circuits.">
            <a:extLst>
              <a:ext uri="{FF2B5EF4-FFF2-40B4-BE49-F238E27FC236}">
                <a16:creationId xmlns:a16="http://schemas.microsoft.com/office/drawing/2014/main" id="{F6B35268-8E24-0F72-C81E-C6F15DA27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E78D5B96-F2F6-E67A-295E-6AAA602F713A}"/>
              </a:ext>
            </a:extLst>
          </p:cNvPr>
          <p:cNvSpPr/>
          <p:nvPr/>
        </p:nvSpPr>
        <p:spPr>
          <a:xfrm>
            <a:off x="4932645" y="6191250"/>
            <a:ext cx="2410690" cy="370360"/>
          </a:xfrm>
          <a:prstGeom prst="rightArrow">
            <a:avLst>
              <a:gd name="adj1" fmla="val 45606"/>
              <a:gd name="adj2" fmla="val 1334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POWER9_caption">
            <a:extLst>
              <a:ext uri="{FF2B5EF4-FFF2-40B4-BE49-F238E27FC236}">
                <a16:creationId xmlns:a16="http://schemas.microsoft.com/office/drawing/2014/main" id="{05438B26-9A62-48FB-95DC-D9FB8147C804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9.14, reconstructed. Burning fuel produces steam that turns a turbine and drives the electric generator.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E908B8-C531-EC85-CB06-2A2D6FB67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BC26B0-F228-F230-69C6-F81BA7AFE04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1E168-AAFF-6346-45C8-04D9D7954AA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04 / 61</a:t>
            </a:r>
          </a:p>
        </p:txBody>
      </p:sp>
      <p:sp>
        <p:nvSpPr>
          <p:cNvPr id="5" name="Electricity generation from combustible fuels">
            <a:extLst>
              <a:ext uri="{FF2B5EF4-FFF2-40B4-BE49-F238E27FC236}">
                <a16:creationId xmlns:a16="http://schemas.microsoft.com/office/drawing/2014/main" id="{77127D5F-D984-22C3-041D-D40D9813F88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 of e</a:t>
            </a:r>
            <a:r>
              <a:rPr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lectricity generation from combustible fuels</a:t>
            </a:r>
          </a:p>
        </p:txBody>
      </p:sp>
      <p:sp>
        <p:nvSpPr>
          <p:cNvPr id="6" name="CHEMICAL ENERGY">
            <a:extLst>
              <a:ext uri="{FF2B5EF4-FFF2-40B4-BE49-F238E27FC236}">
                <a16:creationId xmlns:a16="http://schemas.microsoft.com/office/drawing/2014/main" id="{65F0AC59-946F-9506-BF01-5663BB2D4D9E}"/>
              </a:ext>
            </a:extLst>
          </p:cNvPr>
          <p:cNvSpPr>
            <a:spLocks noGrp="1"/>
          </p:cNvSpPr>
          <p:nvPr/>
        </p:nvSpPr>
        <p:spPr>
          <a:xfrm>
            <a:off x="619125" y="2013562"/>
            <a:ext cx="2152994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CHEMICAL ENERGY</a:t>
            </a:r>
          </a:p>
        </p:txBody>
      </p:sp>
      <p:sp>
        <p:nvSpPr>
          <p:cNvPr id="7" name="THERMAL ENERGY">
            <a:extLst>
              <a:ext uri="{FF2B5EF4-FFF2-40B4-BE49-F238E27FC236}">
                <a16:creationId xmlns:a16="http://schemas.microsoft.com/office/drawing/2014/main" id="{1ECA025C-F360-5614-6611-D1E5D0A102FB}"/>
              </a:ext>
            </a:extLst>
          </p:cNvPr>
          <p:cNvSpPr>
            <a:spLocks noGrp="1"/>
          </p:cNvSpPr>
          <p:nvPr/>
        </p:nvSpPr>
        <p:spPr>
          <a:xfrm>
            <a:off x="3517106" y="2000250"/>
            <a:ext cx="2147888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THERMAL ENERGY</a:t>
            </a:r>
          </a:p>
        </p:txBody>
      </p:sp>
      <p:sp>
        <p:nvSpPr>
          <p:cNvPr id="8" name="MECHANICAL">
            <a:extLst>
              <a:ext uri="{FF2B5EF4-FFF2-40B4-BE49-F238E27FC236}">
                <a16:creationId xmlns:a16="http://schemas.microsoft.com/office/drawing/2014/main" id="{83126D67-0D04-9450-D3BA-BFFF317DADC2}"/>
              </a:ext>
            </a:extLst>
          </p:cNvPr>
          <p:cNvSpPr>
            <a:spLocks noGrp="1"/>
          </p:cNvSpPr>
          <p:nvPr/>
        </p:nvSpPr>
        <p:spPr>
          <a:xfrm>
            <a:off x="6527220" y="2006447"/>
            <a:ext cx="1528333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MECHANICAL</a:t>
            </a:r>
          </a:p>
        </p:txBody>
      </p:sp>
      <p:sp>
        <p:nvSpPr>
          <p:cNvPr id="10" name="ELECTRICAL">
            <a:extLst>
              <a:ext uri="{FF2B5EF4-FFF2-40B4-BE49-F238E27FC236}">
                <a16:creationId xmlns:a16="http://schemas.microsoft.com/office/drawing/2014/main" id="{A6C1A3D9-6926-9A4F-B235-592260387D21}"/>
              </a:ext>
            </a:extLst>
          </p:cNvPr>
          <p:cNvSpPr>
            <a:spLocks noGrp="1"/>
          </p:cNvSpPr>
          <p:nvPr/>
        </p:nvSpPr>
        <p:spPr>
          <a:xfrm>
            <a:off x="9491662" y="2012873"/>
            <a:ext cx="15049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F7D675"/>
                </a:solidFill>
                <a:latin typeface="Arial"/>
                <a:ea typeface="Arial"/>
                <a:cs typeface="Arial"/>
              </a:rPr>
              <a:t>ELECTRICAL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C5631C-75CE-D7D3-9A79-B492E49677D8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9050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FBC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Fuel + oxygen">
            <a:extLst>
              <a:ext uri="{FF2B5EF4-FFF2-40B4-BE49-F238E27FC236}">
                <a16:creationId xmlns:a16="http://schemas.microsoft.com/office/drawing/2014/main" id="{DB2F4962-A2C2-791D-0A29-680B82984654}"/>
              </a:ext>
            </a:extLst>
          </p:cNvPr>
          <p:cNvSpPr>
            <a:spLocks noGrp="1"/>
          </p:cNvSpPr>
          <p:nvPr/>
        </p:nvSpPr>
        <p:spPr>
          <a:xfrm>
            <a:off x="838200" y="2952750"/>
            <a:ext cx="1714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Fuel + oxygen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E955BD-1C1D-38CD-CFC8-B0BE600E15DE}"/>
              </a:ext>
            </a:extLst>
          </p:cNvPr>
          <p:cNvSpPr>
            <a:spLocks noGrp="1"/>
          </p:cNvSpPr>
          <p:nvPr/>
        </p:nvSpPr>
        <p:spPr>
          <a:xfrm>
            <a:off x="3505200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FBC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Boiler">
            <a:extLst>
              <a:ext uri="{FF2B5EF4-FFF2-40B4-BE49-F238E27FC236}">
                <a16:creationId xmlns:a16="http://schemas.microsoft.com/office/drawing/2014/main" id="{C163D4B6-2F30-D3A9-082E-95CBF7A404B6}"/>
              </a:ext>
            </a:extLst>
          </p:cNvPr>
          <p:cNvSpPr>
            <a:spLocks noGrp="1"/>
          </p:cNvSpPr>
          <p:nvPr/>
        </p:nvSpPr>
        <p:spPr>
          <a:xfrm>
            <a:off x="3600450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Boiler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E0B647-693C-DE50-47FE-FC50A912DA8F}"/>
              </a:ext>
            </a:extLst>
          </p:cNvPr>
          <p:cNvSpPr>
            <a:spLocks noGrp="1"/>
          </p:cNvSpPr>
          <p:nvPr/>
        </p:nvSpPr>
        <p:spPr>
          <a:xfrm>
            <a:off x="6315075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Steam&#10;turbine">
            <a:extLst>
              <a:ext uri="{FF2B5EF4-FFF2-40B4-BE49-F238E27FC236}">
                <a16:creationId xmlns:a16="http://schemas.microsoft.com/office/drawing/2014/main" id="{D9B0B566-86E0-59AA-5808-7C588BF21045}"/>
              </a:ext>
            </a:extLst>
          </p:cNvPr>
          <p:cNvSpPr>
            <a:spLocks noGrp="1"/>
          </p:cNvSpPr>
          <p:nvPr/>
        </p:nvSpPr>
        <p:spPr>
          <a:xfrm>
            <a:off x="6410325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Steam</a:t>
            </a:r>
          </a:p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turbine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F27973-5952-C5C8-523C-AF9E56044413}"/>
              </a:ext>
            </a:extLst>
          </p:cNvPr>
          <p:cNvSpPr>
            <a:spLocks noGrp="1"/>
          </p:cNvSpPr>
          <p:nvPr/>
        </p:nvSpPr>
        <p:spPr>
          <a:xfrm>
            <a:off x="9124950" y="2857500"/>
            <a:ext cx="20955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7D6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Generator">
            <a:extLst>
              <a:ext uri="{FF2B5EF4-FFF2-40B4-BE49-F238E27FC236}">
                <a16:creationId xmlns:a16="http://schemas.microsoft.com/office/drawing/2014/main" id="{7815DA80-1F4C-7911-EF74-2D12A3A7475C}"/>
              </a:ext>
            </a:extLst>
          </p:cNvPr>
          <p:cNvSpPr>
            <a:spLocks noGrp="1"/>
          </p:cNvSpPr>
          <p:nvPr/>
        </p:nvSpPr>
        <p:spPr>
          <a:xfrm>
            <a:off x="9220200" y="2952750"/>
            <a:ext cx="19050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7D675"/>
                </a:solidFill>
                <a:latin typeface="Arial"/>
                <a:ea typeface="Arial"/>
                <a:cs typeface="Arial"/>
              </a:rPr>
              <a:t>Generator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0943E67-832D-9EBF-7F7B-1D7D712AD1C3}"/>
              </a:ext>
            </a:extLst>
          </p:cNvPr>
          <p:cNvSpPr>
            <a:spLocks noGrp="1"/>
          </p:cNvSpPr>
          <p:nvPr/>
        </p:nvSpPr>
        <p:spPr>
          <a:xfrm>
            <a:off x="2705100" y="3209925"/>
            <a:ext cx="723900" cy="20955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D1CBE61B-1C6F-243B-D4D9-D05CE461B930}"/>
              </a:ext>
            </a:extLst>
          </p:cNvPr>
          <p:cNvSpPr>
            <a:spLocks noGrp="1"/>
          </p:cNvSpPr>
          <p:nvPr/>
        </p:nvSpPr>
        <p:spPr>
          <a:xfrm>
            <a:off x="5514975" y="3209925"/>
            <a:ext cx="723900" cy="20955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A72CEEBB-07F1-F358-A8CF-1644EA998EE1}"/>
              </a:ext>
            </a:extLst>
          </p:cNvPr>
          <p:cNvSpPr>
            <a:spLocks noGrp="1"/>
          </p:cNvSpPr>
          <p:nvPr/>
        </p:nvSpPr>
        <p:spPr>
          <a:xfrm>
            <a:off x="8324850" y="3209925"/>
            <a:ext cx="723900" cy="20955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ombustion releases heat">
            <a:extLst>
              <a:ext uri="{FF2B5EF4-FFF2-40B4-BE49-F238E27FC236}">
                <a16:creationId xmlns:a16="http://schemas.microsoft.com/office/drawing/2014/main" id="{B7F23B6A-A287-7575-9A60-096BB4AC47E4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2714625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Combustion releases heat</a:t>
            </a:r>
          </a:p>
        </p:txBody>
      </p:sp>
      <p:sp>
        <p:nvSpPr>
          <p:cNvPr id="26" name="Steam expands&#10;and turns the shaft">
            <a:extLst>
              <a:ext uri="{FF2B5EF4-FFF2-40B4-BE49-F238E27FC236}">
                <a16:creationId xmlns:a16="http://schemas.microsoft.com/office/drawing/2014/main" id="{5F5980AF-46C1-C124-C9AB-43F30058F061}"/>
              </a:ext>
            </a:extLst>
          </p:cNvPr>
          <p:cNvSpPr>
            <a:spLocks noGrp="1"/>
          </p:cNvSpPr>
          <p:nvPr/>
        </p:nvSpPr>
        <p:spPr>
          <a:xfrm>
            <a:off x="6257925" y="3943350"/>
            <a:ext cx="2190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Steam expands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turns the shaft</a:t>
            </a:r>
          </a:p>
        </p:txBody>
      </p:sp>
      <p:sp>
        <p:nvSpPr>
          <p:cNvPr id="27" name="Magnetic induction&#10;produces current">
            <a:extLst>
              <a:ext uri="{FF2B5EF4-FFF2-40B4-BE49-F238E27FC236}">
                <a16:creationId xmlns:a16="http://schemas.microsoft.com/office/drawing/2014/main" id="{1C7F9749-BB0F-D00D-F94F-992A8EA1268E}"/>
              </a:ext>
            </a:extLst>
          </p:cNvPr>
          <p:cNvSpPr>
            <a:spLocks noGrp="1"/>
          </p:cNvSpPr>
          <p:nvPr/>
        </p:nvSpPr>
        <p:spPr>
          <a:xfrm>
            <a:off x="9067800" y="3943350"/>
            <a:ext cx="23526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Magnetic induction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produces current</a:t>
            </a:r>
          </a:p>
        </p:txBody>
      </p:sp>
      <p:sp>
        <p:nvSpPr>
          <p:cNvPr id="28" name="Flue gas leaves the stack.&#10;Ash remains after combustion">
            <a:extLst>
              <a:ext uri="{FF2B5EF4-FFF2-40B4-BE49-F238E27FC236}">
                <a16:creationId xmlns:a16="http://schemas.microsoft.com/office/drawing/2014/main" id="{467361E2-3832-851E-2248-D736E5D59E14}"/>
              </a:ext>
            </a:extLst>
          </p:cNvPr>
          <p:cNvSpPr>
            <a:spLocks noGrp="1"/>
          </p:cNvSpPr>
          <p:nvPr/>
        </p:nvSpPr>
        <p:spPr>
          <a:xfrm>
            <a:off x="685800" y="4886325"/>
            <a:ext cx="4095750" cy="6953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Flue gas leaves the stack.</a:t>
            </a:r>
          </a:p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Ash remains after combustion.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FA6170-7CBD-C22F-ABD2-2F19DAFCD466}"/>
              </a:ext>
            </a:extLst>
          </p:cNvPr>
          <p:cNvSpPr>
            <a:spLocks noGrp="1"/>
          </p:cNvSpPr>
          <p:nvPr/>
        </p:nvSpPr>
        <p:spPr>
          <a:xfrm>
            <a:off x="6296025" y="4905375"/>
            <a:ext cx="197167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Condenser">
            <a:extLst>
              <a:ext uri="{FF2B5EF4-FFF2-40B4-BE49-F238E27FC236}">
                <a16:creationId xmlns:a16="http://schemas.microsoft.com/office/drawing/2014/main" id="{4BD28F6D-B05D-28A3-492C-6D2E3B4FC4A0}"/>
              </a:ext>
            </a:extLst>
          </p:cNvPr>
          <p:cNvSpPr>
            <a:spLocks noGrp="1"/>
          </p:cNvSpPr>
          <p:nvPr/>
        </p:nvSpPr>
        <p:spPr>
          <a:xfrm>
            <a:off x="6391275" y="5000625"/>
            <a:ext cx="17811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Condenser</a:t>
            </a: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E0AB26FB-7AD2-5B5F-7C08-0E0E0D3A7004}"/>
              </a:ext>
            </a:extLst>
          </p:cNvPr>
          <p:cNvSpPr>
            <a:spLocks noGrp="1"/>
          </p:cNvSpPr>
          <p:nvPr/>
        </p:nvSpPr>
        <p:spPr>
          <a:xfrm>
            <a:off x="7134225" y="4533900"/>
            <a:ext cx="266700" cy="285750"/>
          </a:xfrm>
          <a:prstGeom prst="down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4726C7B-5591-6766-92D7-FC4995F18466}"/>
              </a:ext>
            </a:extLst>
          </p:cNvPr>
          <p:cNvSpPr>
            <a:spLocks noGrp="1"/>
          </p:cNvSpPr>
          <p:nvPr/>
        </p:nvSpPr>
        <p:spPr>
          <a:xfrm>
            <a:off x="9191625" y="4905375"/>
            <a:ext cx="202882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Cooling system">
            <a:extLst>
              <a:ext uri="{FF2B5EF4-FFF2-40B4-BE49-F238E27FC236}">
                <a16:creationId xmlns:a16="http://schemas.microsoft.com/office/drawing/2014/main" id="{4FA2E41F-365F-D523-7EE6-F5F302B346DE}"/>
              </a:ext>
            </a:extLst>
          </p:cNvPr>
          <p:cNvSpPr>
            <a:spLocks noGrp="1"/>
          </p:cNvSpPr>
          <p:nvPr/>
        </p:nvSpPr>
        <p:spPr>
          <a:xfrm>
            <a:off x="9286875" y="5000625"/>
            <a:ext cx="183832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Cooling system</a:t>
            </a:r>
          </a:p>
        </p:txBody>
      </p:sp>
      <p:sp>
        <p:nvSpPr>
          <p:cNvPr id="34" name="Right Arrow 33">
            <a:extLst>
              <a:ext uri="{FF2B5EF4-FFF2-40B4-BE49-F238E27FC236}">
                <a16:creationId xmlns:a16="http://schemas.microsoft.com/office/drawing/2014/main" id="{71467371-D210-66EA-E4DE-159F40C76D1D}"/>
              </a:ext>
            </a:extLst>
          </p:cNvPr>
          <p:cNvSpPr>
            <a:spLocks noGrp="1"/>
          </p:cNvSpPr>
          <p:nvPr/>
        </p:nvSpPr>
        <p:spPr>
          <a:xfrm>
            <a:off x="8343900" y="5105400"/>
            <a:ext cx="752475" cy="19050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Straight Connector 34">
            <a:extLst>
              <a:ext uri="{FF2B5EF4-FFF2-40B4-BE49-F238E27FC236}">
                <a16:creationId xmlns:a16="http://schemas.microsoft.com/office/drawing/2014/main" id="{432660D2-5B61-C185-F5DF-7C806ED4F44C}"/>
              </a:ext>
            </a:extLst>
          </p:cNvPr>
          <p:cNvSpPr>
            <a:spLocks noGrp="1"/>
          </p:cNvSpPr>
          <p:nvPr/>
        </p:nvSpPr>
        <p:spPr>
          <a:xfrm>
            <a:off x="4476750" y="5219700"/>
            <a:ext cx="1752600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9053882B-8939-F504-42E8-8CD41519FEBF}"/>
              </a:ext>
            </a:extLst>
          </p:cNvPr>
          <p:cNvSpPr>
            <a:spLocks noGrp="1"/>
          </p:cNvSpPr>
          <p:nvPr/>
        </p:nvSpPr>
        <p:spPr>
          <a:xfrm>
            <a:off x="4476750" y="3857625"/>
            <a:ext cx="0" cy="13620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Up Arrow 36">
            <a:extLst>
              <a:ext uri="{FF2B5EF4-FFF2-40B4-BE49-F238E27FC236}">
                <a16:creationId xmlns:a16="http://schemas.microsoft.com/office/drawing/2014/main" id="{9D04BA02-546F-63F9-0012-F58734166EAC}"/>
              </a:ext>
            </a:extLst>
          </p:cNvPr>
          <p:cNvSpPr>
            <a:spLocks noGrp="1"/>
          </p:cNvSpPr>
          <p:nvPr/>
        </p:nvSpPr>
        <p:spPr>
          <a:xfrm>
            <a:off x="4371975" y="3819525"/>
            <a:ext cx="219075" cy="333375"/>
          </a:xfrm>
          <a:prstGeom prst="up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Liquid water returns">
            <a:extLst>
              <a:ext uri="{FF2B5EF4-FFF2-40B4-BE49-F238E27FC236}">
                <a16:creationId xmlns:a16="http://schemas.microsoft.com/office/drawing/2014/main" id="{3414762C-EB6C-C5C2-F4EF-F30528646A7F}"/>
              </a:ext>
            </a:extLst>
          </p:cNvPr>
          <p:cNvSpPr>
            <a:spLocks noGrp="1"/>
          </p:cNvSpPr>
          <p:nvPr/>
        </p:nvSpPr>
        <p:spPr>
          <a:xfrm>
            <a:off x="4267200" y="5572125"/>
            <a:ext cx="269557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Liquid water returns</a:t>
            </a:r>
          </a:p>
        </p:txBody>
      </p:sp>
      <p:sp>
        <p:nvSpPr>
          <p:cNvPr id="39" name="Waste heat → environment">
            <a:extLst>
              <a:ext uri="{FF2B5EF4-FFF2-40B4-BE49-F238E27FC236}">
                <a16:creationId xmlns:a16="http://schemas.microsoft.com/office/drawing/2014/main" id="{544AF79C-2ABC-3C0C-3504-9C39B8A0F515}"/>
              </a:ext>
            </a:extLst>
          </p:cNvPr>
          <p:cNvSpPr>
            <a:spLocks noGrp="1"/>
          </p:cNvSpPr>
          <p:nvPr/>
        </p:nvSpPr>
        <p:spPr>
          <a:xfrm>
            <a:off x="8591550" y="5572125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Waste heat → environment</a:t>
            </a:r>
          </a:p>
        </p:txBody>
      </p:sp>
      <p:sp>
        <p:nvSpPr>
          <p:cNvPr id="40" name="Fig. 9.14, redrawn: burning fuel supplies the heat that">
            <a:extLst>
              <a:ext uri="{FF2B5EF4-FFF2-40B4-BE49-F238E27FC236}">
                <a16:creationId xmlns:a16="http://schemas.microsoft.com/office/drawing/2014/main" id="{162596C5-A32C-A8A0-7A35-47BD2AB3AEDF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9.14, redrawn: burning fuel supplies the heat that produces steam, turns a turbine, and drives an electrical generator.</a:t>
            </a:r>
          </a:p>
        </p:txBody>
      </p:sp>
    </p:spTree>
    <p:extLst>
      <p:ext uri="{BB962C8B-B14F-4D97-AF65-F5344CB8AC3E}">
        <p14:creationId xmlns:p14="http://schemas.microsoft.com/office/powerpoint/2010/main" val="1310609603"/>
      </p:ext>
    </p:extLst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0A379-EBE5-40E8-12E0-820B53A8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3C06E66-56FB-8AD5-4663-D5B06419834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D31DB3-2B0D-1C08-1153-249EBFCEED7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05 / 61</a:t>
            </a:r>
          </a:p>
        </p:txBody>
      </p:sp>
      <p:sp>
        <p:nvSpPr>
          <p:cNvPr id="5" name="How an electrical generator works">
            <a:extLst>
              <a:ext uri="{FF2B5EF4-FFF2-40B4-BE49-F238E27FC236}">
                <a16:creationId xmlns:a16="http://schemas.microsoft.com/office/drawing/2014/main" id="{56A1DE36-ACB9-B39C-5EFF-B63D1A4BE208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an electrical generator works</a:t>
            </a:r>
          </a:p>
        </p:txBody>
      </p:sp>
      <p:pic>
        <p:nvPicPr>
          <p:cNvPr id="100" name="GENERATOR9_figure">
            <a:extLst>
              <a:ext uri="{FF2B5EF4-FFF2-40B4-BE49-F238E27FC236}">
                <a16:creationId xmlns:a16="http://schemas.microsoft.com/office/drawing/2014/main" id="{633621E9-A905-4ECA-AFD6-F5271F4A2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55929" y="1714500"/>
            <a:ext cx="10480142" cy="4191000"/>
          </a:xfrm>
          <a:prstGeom prst="rect">
            <a:avLst/>
          </a:prstGeom>
        </p:spPr>
      </p:pic>
      <p:sp>
        <p:nvSpPr>
          <p:cNvPr id="101" name="GENERATOR9_caption">
            <a:extLst>
              <a:ext uri="{FF2B5EF4-FFF2-40B4-BE49-F238E27FC236}">
                <a16:creationId xmlns:a16="http://schemas.microsoft.com/office/drawing/2014/main" id="{43655CEE-8FD4-4D3B-B397-8EEC1E813246}"/>
              </a:ext>
            </a:extLst>
          </p:cNvPr>
          <p:cNvSpPr>
            <a:spLocks noGrp="1"/>
          </p:cNvSpPr>
          <p:nvPr/>
        </p:nvSpPr>
        <p:spPr>
          <a:xfrm>
            <a:off x="695325" y="5943600"/>
            <a:ext cx="108108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9.12, reconstructed. Rotation changes magnetic flux and induces voltage. A closed circuit allows current to flow.</a:t>
            </a:r>
          </a:p>
        </p:txBody>
      </p:sp>
      <p:sp>
        <p:nvSpPr>
          <p:cNvPr id="102" name="GENERATOR9_energy">
            <a:extLst>
              <a:ext uri="{FF2B5EF4-FFF2-40B4-BE49-F238E27FC236}">
                <a16:creationId xmlns:a16="http://schemas.microsoft.com/office/drawing/2014/main" id="{1B5D4AD9-B2F9-4C4D-9AEC-7BC4CA884403}"/>
              </a:ext>
            </a:extLst>
          </p:cNvPr>
          <p:cNvSpPr>
            <a:spLocks noGrp="1"/>
          </p:cNvSpPr>
          <p:nvPr/>
        </p:nvSpPr>
        <p:spPr>
          <a:xfrm>
            <a:off x="1714500" y="6248400"/>
            <a:ext cx="8763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ctr">
              <a:defRPr sz="240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FBC83"/>
                </a:solidFill>
                <a:latin typeface="Arial"/>
                <a:ea typeface="Arial"/>
                <a:cs typeface="Arial"/>
              </a:rPr>
              <a:t>Mechanical energy → electrical energy</a:t>
            </a:r>
          </a:p>
        </p:txBody>
      </p:sp>
    </p:spTree>
    <p:extLst>
      <p:ext uri="{BB962C8B-B14F-4D97-AF65-F5344CB8AC3E}">
        <p14:creationId xmlns:p14="http://schemas.microsoft.com/office/powerpoint/2010/main" val="1754822188"/>
      </p:ext>
    </p:extLst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85505-730C-F23F-FBF1-94120910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5FA39A8-E4B1-C4FA-67B4-A4A0C0651CC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1644FF-7C71-3687-8095-7626635765E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06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3A9832-A036-735F-6C92-43EB2DF9109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Fossil Fuels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ancient chemical energy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590817-E275-F7A6-71CB-AA7FDC253DF0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rgbClr val="FFBC83"/>
                </a:solidFill>
                <a:latin typeface="Arial"/>
                <a:cs typeface="Arial"/>
              </a:rPr>
              <a:t>Coal: buried plant materia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l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E8244C-9E02-5937-045E-307FB09478DA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Oil: transformed organic matter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83F9E-33B9-0830-F830-8AB90841ABFF}"/>
              </a:ext>
            </a:extLst>
          </p:cNvPr>
          <p:cNvSpPr>
            <a:spLocks noGrp="1"/>
          </p:cNvSpPr>
          <p:nvPr/>
        </p:nvSpPr>
        <p:spPr>
          <a:xfrm>
            <a:off x="647700" y="45434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Natural gas: predominantly methane</a:t>
            </a:r>
          </a:p>
        </p:txBody>
      </p:sp>
    </p:spTree>
    <p:extLst>
      <p:ext uri="{BB962C8B-B14F-4D97-AF65-F5344CB8AC3E}">
        <p14:creationId xmlns:p14="http://schemas.microsoft.com/office/powerpoint/2010/main" val="371790062"/>
      </p:ext>
    </p:extLst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5E905F-0CC1-F359-F701-6A3CC2490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B6694A-0F2A-6A65-BBF6-F714D13F036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4BBC02-85CF-89D7-AEE0-539CAF73840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07 / 61</a:t>
            </a:r>
          </a:p>
        </p:txBody>
      </p:sp>
      <p:sp>
        <p:nvSpPr>
          <p:cNvPr id="7" name="Coal formation: buried plant material">
            <a:extLst>
              <a:ext uri="{FF2B5EF4-FFF2-40B4-BE49-F238E27FC236}">
                <a16:creationId xmlns:a16="http://schemas.microsoft.com/office/drawing/2014/main" id="{4055A486-634C-AAAC-31BE-5D663510A4B0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formation: buried plant material</a:t>
            </a:r>
          </a:p>
        </p:txBody>
      </p:sp>
      <p:pic>
        <p:nvPicPr>
          <p:cNvPr id="100" name="Figure 9.1 reconstructed">
            <a:extLst>
              <a:ext uri="{FF2B5EF4-FFF2-40B4-BE49-F238E27FC236}">
                <a16:creationId xmlns:a16="http://schemas.microsoft.com/office/drawing/2014/main" id="{EF5E56C5-CA0D-4E75-B1AB-7E1F16AD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43354"/>
            <a:ext cx="10953750" cy="4057141"/>
          </a:xfrm>
          <a:prstGeom prst="rect">
            <a:avLst/>
          </a:prstGeom>
        </p:spPr>
      </p:pic>
      <p:sp>
        <p:nvSpPr>
          <p:cNvPr id="37" name="Fig. 9.1, redrawn: plant remains buried in ancient swam">
            <a:extLst>
              <a:ext uri="{FF2B5EF4-FFF2-40B4-BE49-F238E27FC236}">
                <a16:creationId xmlns:a16="http://schemas.microsoft.com/office/drawing/2014/main" id="{A197ED01-0D2B-B3D0-9969-CF0687F6ABEF}"/>
              </a:ext>
            </a:extLst>
          </p:cNvPr>
          <p:cNvSpPr>
            <a:spLocks noGrp="1"/>
          </p:cNvSpPr>
          <p:nvPr/>
        </p:nvSpPr>
        <p:spPr>
          <a:xfrm>
            <a:off x="704850" y="619125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9.1, reconstructed: plant remains buried in ancient swamp sediments become coal over millions of years. Layers are schematic.</a:t>
            </a:r>
          </a:p>
        </p:txBody>
      </p:sp>
    </p:spTree>
    <p:extLst>
      <p:ext uri="{BB962C8B-B14F-4D97-AF65-F5344CB8AC3E}">
        <p14:creationId xmlns:p14="http://schemas.microsoft.com/office/powerpoint/2010/main" val="3677404313"/>
      </p:ext>
    </p:extLst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25822-ABF6-1FCD-8924-F0E6E269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484984A-60EF-C9D8-8EB9-892586EF9BF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42FFBC-18F8-5ACC-B746-86687089C61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08 / 61</a:t>
            </a:r>
          </a:p>
        </p:txBody>
      </p:sp>
      <p:sp>
        <p:nvSpPr>
          <p:cNvPr id="8" name="Coal grades differ in carbon and energy content">
            <a:extLst>
              <a:ext uri="{FF2B5EF4-FFF2-40B4-BE49-F238E27FC236}">
                <a16:creationId xmlns:a16="http://schemas.microsoft.com/office/drawing/2014/main" id="{C079CCFB-ADA4-4EEC-8188-82CEC4BC9ED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grades differ in carbon and energy content</a:t>
            </a:r>
          </a:p>
        </p:txBody>
      </p:sp>
      <p:sp>
        <p:nvSpPr>
          <p:cNvPr id="11" name="Energy content (kJ/kg) · approximate heights read from ">
            <a:extLst>
              <a:ext uri="{FF2B5EF4-FFF2-40B4-BE49-F238E27FC236}">
                <a16:creationId xmlns:a16="http://schemas.microsoft.com/office/drawing/2014/main" id="{492C55A6-236D-1C64-7EED-1B3A476F9830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Energy content (kJ/kg) · approximate heights read from the book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8D04EE29-D1B5-A70D-485B-E0306290B0E9}"/>
              </a:ext>
            </a:extLst>
          </p:cNvPr>
          <p:cNvGraphicFramePr/>
          <p:nvPr/>
        </p:nvGraphicFramePr>
        <p:xfrm>
          <a:off x="714375" y="2428875"/>
          <a:ext cx="10715625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Carbon content and hardness increase across these grade">
            <a:extLst>
              <a:ext uri="{FF2B5EF4-FFF2-40B4-BE49-F238E27FC236}">
                <a16:creationId xmlns:a16="http://schemas.microsoft.com/office/drawing/2014/main" id="{40EF37DF-DD27-3410-3F89-9BF6AB6A4443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Carbon content and hardness increase across these grades.</a:t>
            </a:r>
          </a:p>
        </p:txBody>
      </p:sp>
      <p:sp>
        <p:nvSpPr>
          <p:cNvPr id="14" name="Fig. 9.2, redrawn approximately: energy content rises f">
            <a:extLst>
              <a:ext uri="{FF2B5EF4-FFF2-40B4-BE49-F238E27FC236}">
                <a16:creationId xmlns:a16="http://schemas.microsoft.com/office/drawing/2014/main" id="{3C250B3D-8F11-EDE0-1A91-9980BA38F842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9.2, redrawn approximately: energy content rises from lignite to bituminous coal, then decreases slightly for anthracite.</a:t>
            </a:r>
          </a:p>
        </p:txBody>
      </p:sp>
    </p:spTree>
    <p:extLst>
      <p:ext uri="{BB962C8B-B14F-4D97-AF65-F5344CB8AC3E}">
        <p14:creationId xmlns:p14="http://schemas.microsoft.com/office/powerpoint/2010/main" val="3985704348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5CCCC-A4C1-3966-260B-B13323F8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3F387B8-C5F6-DAE7-8997-25B498C8E31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25D9E0-0BAF-3D5A-071B-551880DD46B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09 / 61</a:t>
            </a:r>
          </a:p>
        </p:txBody>
      </p:sp>
      <p:sp>
        <p:nvSpPr>
          <p:cNvPr id="3" name="Coal reserves are geographically concentrated">
            <a:extLst>
              <a:ext uri="{FF2B5EF4-FFF2-40B4-BE49-F238E27FC236}">
                <a16:creationId xmlns:a16="http://schemas.microsoft.com/office/drawing/2014/main" id="{D6463072-448D-114B-03EF-6178AFE9A4C9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reserves are geographically concentrated</a:t>
            </a:r>
          </a:p>
        </p:txBody>
      </p:sp>
      <p:sp>
        <p:nvSpPr>
          <p:cNvPr id="4" name="Share of global reserves (%) · 2008 book data · approxi">
            <a:extLst>
              <a:ext uri="{FF2B5EF4-FFF2-40B4-BE49-F238E27FC236}">
                <a16:creationId xmlns:a16="http://schemas.microsoft.com/office/drawing/2014/main" id="{0365656F-A59C-B152-F0D8-12BD828C8AD1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reserves (%) · 2008 book data · approximate bar readings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C1518B1B-D806-C3BD-8690-6CA4330EFA6F}"/>
              </a:ext>
            </a:extLst>
          </p:cNvPr>
          <p:cNvGraphicFramePr/>
          <p:nvPr/>
        </p:nvGraphicFramePr>
        <p:xfrm>
          <a:off x="714375" y="2428875"/>
          <a:ext cx="10715625" cy="288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Nine countries hold more than 90% in the book’s dataset">
            <a:extLst>
              <a:ext uri="{FF2B5EF4-FFF2-40B4-BE49-F238E27FC236}">
                <a16:creationId xmlns:a16="http://schemas.microsoft.com/office/drawing/2014/main" id="{5B188388-65A0-7DE4-9905-C8356852CB5F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Nine countries hold more than 90% </a:t>
            </a:r>
            <a:r>
              <a:rPr lang="en-US" sz="202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of the global coal reserve</a:t>
            </a:r>
            <a:r>
              <a:rPr sz="202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7" name="Fig. 9.3, national panel redrawn: known coal reserves c">
            <a:extLst>
              <a:ext uri="{FF2B5EF4-FFF2-40B4-BE49-F238E27FC236}">
                <a16:creationId xmlns:a16="http://schemas.microsoft.com/office/drawing/2014/main" id="{98445994-555F-384B-BE59-DD62E4B8F1E5}"/>
              </a:ext>
            </a:extLst>
          </p:cNvPr>
          <p:cNvSpPr>
            <a:spLocks noGrp="1"/>
          </p:cNvSpPr>
          <p:nvPr/>
        </p:nvSpPr>
        <p:spPr>
          <a:xfrm>
            <a:off x="451105" y="6096000"/>
            <a:ext cx="1131227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9.3, national panel redrawn: known coal reserves cluster in a small number of countries. Regional pie/map omitted; full reference remains in the book.</a:t>
            </a:r>
          </a:p>
        </p:txBody>
      </p:sp>
    </p:spTree>
    <p:extLst>
      <p:ext uri="{BB962C8B-B14F-4D97-AF65-F5344CB8AC3E}">
        <p14:creationId xmlns:p14="http://schemas.microsoft.com/office/powerpoint/2010/main" val="1599435418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FEE99F-886D-FC9E-8FF2-10A7DED4B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26B9800-3645-F5CA-AEF5-3329AB88C14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81BF0D-6C46-DD3C-A34D-3D86E7DB8BD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10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4D76592F-1963-432A-B3BA-05432AABDA3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coal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9B9941D5-1EB5-419E-99CB-F15B1ADD4E78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2008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A3A65866-1AEC-4637-BA3E-F73A86036E75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D9FA70FE-96A9-4B12-BAC2-8612192B79E3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Most coal reserves lie in Northern Eurasia, Asia Pacific and North America.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8FBE32EE-8EB2-4DE6-BD5B-3862A5E2F2D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975471058"/>
      </p:ext>
    </p:extLst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847FD-8E47-BDCA-19A9-FACB9700E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EB02F6-CE66-C8F3-C9FD-7DA785EAD34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E324E5-DAED-2167-AA54-2ECCEB61F9E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11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7963BD-3B55-A04F-1FC9-0AE881DC057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fuels, ancient chemical energy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657CAB-D2B6-47AC-B732-9DF3BED20EFD}"/>
              </a:ext>
            </a:extLst>
          </p:cNvPr>
          <p:cNvSpPr>
            <a:spLocks noGrp="1"/>
          </p:cNvSpPr>
          <p:nvPr/>
        </p:nvSpPr>
        <p:spPr>
          <a:xfrm>
            <a:off x="647700" y="45434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Natural gas: predominantly methane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13C49C-AADA-3691-88DB-3BF3FB5FC932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chemeClr val="bg1"/>
                </a:solidFill>
                <a:latin typeface="Arial"/>
                <a:cs typeface="Arial"/>
              </a:rPr>
              <a:t>Coal: buried plant materia</a:t>
            </a:r>
            <a:r>
              <a:rPr lang="en-US" sz="2400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F92D07-2B49-0774-200A-C1F64C497323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FFBD82"/>
                </a:solidFill>
                <a:latin typeface="Arial"/>
                <a:ea typeface="Arial"/>
                <a:cs typeface="Arial"/>
              </a:rPr>
              <a:t>Oil: transformed organic matter</a:t>
            </a:r>
          </a:p>
        </p:txBody>
      </p:sp>
    </p:spTree>
    <p:extLst>
      <p:ext uri="{BB962C8B-B14F-4D97-AF65-F5344CB8AC3E}">
        <p14:creationId xmlns:p14="http://schemas.microsoft.com/office/powerpoint/2010/main" val="2691815746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236BEA-899E-4A01-5195-9B131802F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9C4B508-7731-6B47-C8EE-3CE9C4A2B55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4EA3F1-22D5-09BB-4075-EE7E6017201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12 / 61</a:t>
            </a:r>
          </a:p>
        </p:txBody>
      </p:sp>
      <p:sp>
        <p:nvSpPr>
          <p:cNvPr id="4" name="Petroleum formation: buried marine organisms">
            <a:extLst>
              <a:ext uri="{FF2B5EF4-FFF2-40B4-BE49-F238E27FC236}">
                <a16:creationId xmlns:a16="http://schemas.microsoft.com/office/drawing/2014/main" id="{E5F969B2-DF37-2B5E-5682-9944A8BFB174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Petroleum formation: buried marine organisms</a:t>
            </a:r>
          </a:p>
        </p:txBody>
      </p:sp>
      <p:pic>
        <p:nvPicPr>
          <p:cNvPr id="100" name="Figure 9.4 reconstructed">
            <a:extLst>
              <a:ext uri="{FF2B5EF4-FFF2-40B4-BE49-F238E27FC236}">
                <a16:creationId xmlns:a16="http://schemas.microsoft.com/office/drawing/2014/main" id="{93F81D38-F7C8-4E7D-B33E-983140624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43354"/>
            <a:ext cx="10953750" cy="4057141"/>
          </a:xfrm>
          <a:prstGeom prst="rect">
            <a:avLst/>
          </a:prstGeom>
        </p:spPr>
      </p:pic>
      <p:sp>
        <p:nvSpPr>
          <p:cNvPr id="37" name="Fig. 9.4, redrawn: petroleum originates from buried mar">
            <a:extLst>
              <a:ext uri="{FF2B5EF4-FFF2-40B4-BE49-F238E27FC236}">
                <a16:creationId xmlns:a16="http://schemas.microsoft.com/office/drawing/2014/main" id="{599B6735-82F5-D246-AE8E-AE438136BC49}"/>
              </a:ext>
            </a:extLst>
          </p:cNvPr>
          <p:cNvSpPr>
            <a:spLocks noGrp="1"/>
          </p:cNvSpPr>
          <p:nvPr/>
        </p:nvSpPr>
        <p:spPr>
          <a:xfrm>
            <a:off x="704850" y="619125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9.4, reconstructed: petroleum originates from buried marine organisms transformed over millions of years. Layers are schematic.</a:t>
            </a:r>
          </a:p>
        </p:txBody>
      </p:sp>
    </p:spTree>
    <p:extLst>
      <p:ext uri="{BB962C8B-B14F-4D97-AF65-F5344CB8AC3E}">
        <p14:creationId xmlns:p14="http://schemas.microsoft.com/office/powerpoint/2010/main" val="461743630"/>
      </p:ext>
    </p:extLst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04C37A-3D09-1ABE-745A-65BE4BAB3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F41B946-B5BA-C67C-3A52-39A8F30A609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996A0C-1C30-DFA6-DBA4-A3FA13DD443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13 / 61</a:t>
            </a:r>
          </a:p>
        </p:txBody>
      </p:sp>
      <p:sp>
        <p:nvSpPr>
          <p:cNvPr id="3" name="Oil refining separates useful fractions">
            <a:extLst>
              <a:ext uri="{FF2B5EF4-FFF2-40B4-BE49-F238E27FC236}">
                <a16:creationId xmlns:a16="http://schemas.microsoft.com/office/drawing/2014/main" id="{138A1E06-208A-5B29-99DF-7B190C7DF97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 refining separates useful fractions</a:t>
            </a:r>
          </a:p>
        </p:txBody>
      </p:sp>
      <p:sp>
        <p:nvSpPr>
          <p:cNvPr id="69" name="Fig. 9.5, redrawn: a fractionating column separates cru">
            <a:extLst>
              <a:ext uri="{FF2B5EF4-FFF2-40B4-BE49-F238E27FC236}">
                <a16:creationId xmlns:a16="http://schemas.microsoft.com/office/drawing/2014/main" id="{14ED0A9D-CEF9-F8C6-CA92-64B401C2498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9.5, redrawn: a fractionating column separates crude oil into useful fractions by their different boiling ranges; lighter fractions rise higher.</a:t>
            </a:r>
          </a:p>
        </p:txBody>
      </p:sp>
      <p:pic>
        <p:nvPicPr>
          <p:cNvPr id="100" name="FIGURE95_approved_reconstruction">
            <a:extLst>
              <a:ext uri="{FF2B5EF4-FFF2-40B4-BE49-F238E27FC236}">
                <a16:creationId xmlns:a16="http://schemas.microsoft.com/office/drawing/2014/main" id="{53C820B2-30C1-4C56-BD54-A8A903AB0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377173" y="1714500"/>
            <a:ext cx="9418604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42026"/>
      </p:ext>
    </p:extLst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08545-1EA2-D79A-428C-4B6E14A97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208F02B-B3DE-D9B2-3004-0226817C7EE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329692-F2D1-7C81-7E92-26BE13F02BA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14 / 61</a:t>
            </a:r>
          </a:p>
        </p:txBody>
      </p:sp>
      <p:sp>
        <p:nvSpPr>
          <p:cNvPr id="4" name="Oil reserves: a different geographic pattern">
            <a:extLst>
              <a:ext uri="{FF2B5EF4-FFF2-40B4-BE49-F238E27FC236}">
                <a16:creationId xmlns:a16="http://schemas.microsoft.com/office/drawing/2014/main" id="{168F7791-A22E-3215-6B85-AE6911BDC39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 reserves: a different geographic pattern</a:t>
            </a:r>
          </a:p>
        </p:txBody>
      </p:sp>
      <p:sp>
        <p:nvSpPr>
          <p:cNvPr id="5" name="Share of global reserves (%) · 2011 book data · approxi">
            <a:extLst>
              <a:ext uri="{FF2B5EF4-FFF2-40B4-BE49-F238E27FC236}">
                <a16:creationId xmlns:a16="http://schemas.microsoft.com/office/drawing/2014/main" id="{5756D22E-76D8-DD73-3507-2E09C6D903EF}"/>
              </a:ext>
            </a:extLst>
          </p:cNvPr>
          <p:cNvSpPr>
            <a:spLocks noGrp="1"/>
          </p:cNvSpPr>
          <p:nvPr/>
        </p:nvSpPr>
        <p:spPr>
          <a:xfrm>
            <a:off x="714375" y="1962150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reserves (%) · 2011 book data · approximate bar readings</a:t>
            </a:r>
          </a:p>
        </p:txBody>
      </p:sp>
      <p:graphicFrame>
        <p:nvGraphicFramePr>
          <p:cNvPr id="11" name="Chart">
            <a:extLst>
              <a:ext uri="{FF2B5EF4-FFF2-40B4-BE49-F238E27FC236}">
                <a16:creationId xmlns:a16="http://schemas.microsoft.com/office/drawing/2014/main" id="{C04151DA-75F9-8737-07E3-D1971D297AFB}"/>
              </a:ext>
            </a:extLst>
          </p:cNvPr>
          <p:cNvGraphicFramePr/>
          <p:nvPr/>
        </p:nvGraphicFramePr>
        <p:xfrm>
          <a:off x="714375" y="2419350"/>
          <a:ext cx="10715625" cy="312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he book locates just over half of proven reserves in t">
            <a:extLst>
              <a:ext uri="{FF2B5EF4-FFF2-40B4-BE49-F238E27FC236}">
                <a16:creationId xmlns:a16="http://schemas.microsoft.com/office/drawing/2014/main" id="{59A2106F-FE45-60A9-D6CE-B6C295DE7BC6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 book locates just over half of proven reserves in the Middle East.</a:t>
            </a:r>
          </a:p>
        </p:txBody>
      </p:sp>
      <p:sp>
        <p:nvSpPr>
          <p:cNvPr id="14" name="Fig. 9.6, national panel redrawn: 15 countries hold mor">
            <a:extLst>
              <a:ext uri="{FF2B5EF4-FFF2-40B4-BE49-F238E27FC236}">
                <a16:creationId xmlns:a16="http://schemas.microsoft.com/office/drawing/2014/main" id="{A2B74854-947F-CF68-3AC3-A245790DA636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9.6, national panel redrawn: 15 countries hold more than 90% of known oil reserves in this historical dataset.</a:t>
            </a:r>
          </a:p>
        </p:txBody>
      </p:sp>
    </p:spTree>
    <p:extLst>
      <p:ext uri="{BB962C8B-B14F-4D97-AF65-F5344CB8AC3E}">
        <p14:creationId xmlns:p14="http://schemas.microsoft.com/office/powerpoint/2010/main" val="2841057976"/>
      </p:ext>
    </p:extLst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9507F-AEAA-6409-DF15-FE584464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A18967E-95A0-D166-B239-5000CB744C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C34955-45FF-78C6-4F0C-A40534BBD813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15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7BC991BF-AD3D-4D43-AC1E-2936E00EB83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oil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38F4A8D3-4ACB-4929-9D9E-777A1BA772C1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2011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9CC1BC37-EBBE-4E45-9D65-70D9EB2F0826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3939144B-D711-428A-917D-575213B5B70F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 Middle East holds just over half of the reserves in this book figure.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43732B8D-1F2B-4A58-A54A-79EE6038CCF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9.6,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3902083234"/>
      </p:ext>
    </p:extLst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B87FF-D1C9-A3CC-EDB8-57289317A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C5DD4AA-FA90-CFB0-A10B-58DBCC04614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4E2024-EEC1-B88F-969C-E80639A67F5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16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AAEE08-428F-F078-D490-11012C3F236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fuels, ancient chemical energy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FAF935-9D7C-D8CA-870A-7FF7C317143A}"/>
              </a:ext>
            </a:extLst>
          </p:cNvPr>
          <p:cNvSpPr>
            <a:spLocks noGrp="1"/>
          </p:cNvSpPr>
          <p:nvPr/>
        </p:nvSpPr>
        <p:spPr>
          <a:xfrm>
            <a:off x="647700" y="45434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FFBD82"/>
                </a:solidFill>
                <a:latin typeface="Arial"/>
                <a:ea typeface="Arial"/>
                <a:cs typeface="Arial"/>
              </a:rPr>
              <a:t>Natural gas: predominantly methane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DA81F9-9B2A-E02C-5A1F-3607E257FE51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chemeClr val="bg1"/>
                </a:solidFill>
                <a:latin typeface="Arial"/>
                <a:cs typeface="Arial"/>
              </a:rPr>
              <a:t>Coal: buried plant materia</a:t>
            </a:r>
            <a:r>
              <a:rPr lang="en-US" sz="2400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7A9714-256B-99D7-C0E0-CF2A5AD6D413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Oil: transformed organic matter</a:t>
            </a:r>
          </a:p>
        </p:txBody>
      </p:sp>
    </p:spTree>
    <p:extLst>
      <p:ext uri="{BB962C8B-B14F-4D97-AF65-F5344CB8AC3E}">
        <p14:creationId xmlns:p14="http://schemas.microsoft.com/office/powerpoint/2010/main" val="277269139"/>
      </p:ext>
    </p:extLst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E455FD-AE8A-2654-D5D5-970193B3A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DD88298-72C6-60B3-6FDA-9B104EB883D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48E1EF-86C4-CBB6-E3D4-D2FA50ECC02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17 / 61</a:t>
            </a:r>
          </a:p>
        </p:txBody>
      </p:sp>
      <p:sp>
        <p:nvSpPr>
          <p:cNvPr id="82" name="Natural gas contains several hydrocarbons">
            <a:extLst>
              <a:ext uri="{FF2B5EF4-FFF2-40B4-BE49-F238E27FC236}">
                <a16:creationId xmlns:a16="http://schemas.microsoft.com/office/drawing/2014/main" id="{4CB907C1-6D13-46E0-CE51-3330F25B84D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 gas contains several hydrocarbons</a:t>
            </a:r>
          </a:p>
        </p:txBody>
      </p:sp>
      <p:sp>
        <p:nvSpPr>
          <p:cNvPr id="83" name="Methane">
            <a:extLst>
              <a:ext uri="{FF2B5EF4-FFF2-40B4-BE49-F238E27FC236}">
                <a16:creationId xmlns:a16="http://schemas.microsoft.com/office/drawing/2014/main" id="{4841AA11-DE00-43F1-C041-6B4DB74DFDB2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Methane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85A231C-204C-DC07-C274-B323838516CC}"/>
              </a:ext>
            </a:extLst>
          </p:cNvPr>
          <p:cNvSpPr>
            <a:spLocks noGrp="1"/>
          </p:cNvSpPr>
          <p:nvPr/>
        </p:nvSpPr>
        <p:spPr>
          <a:xfrm>
            <a:off x="178117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5" name="C">
            <a:extLst>
              <a:ext uri="{FF2B5EF4-FFF2-40B4-BE49-F238E27FC236}">
                <a16:creationId xmlns:a16="http://schemas.microsoft.com/office/drawing/2014/main" id="{87821F7E-E5FC-028D-7646-4250DA6BE5CC}"/>
              </a:ext>
            </a:extLst>
          </p:cNvPr>
          <p:cNvSpPr>
            <a:spLocks noGrp="1"/>
          </p:cNvSpPr>
          <p:nvPr/>
        </p:nvSpPr>
        <p:spPr>
          <a:xfrm>
            <a:off x="183832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86" name="CH₄">
            <a:extLst>
              <a:ext uri="{FF2B5EF4-FFF2-40B4-BE49-F238E27FC236}">
                <a16:creationId xmlns:a16="http://schemas.microsoft.com/office/drawing/2014/main" id="{F2A6FD80-15A2-81CF-206F-5A759C616AF6}"/>
              </a:ext>
            </a:extLst>
          </p:cNvPr>
          <p:cNvSpPr>
            <a:spLocks noGrp="1"/>
          </p:cNvSpPr>
          <p:nvPr/>
        </p:nvSpPr>
        <p:spPr>
          <a:xfrm>
            <a:off x="67627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CH₄</a:t>
            </a:r>
          </a:p>
        </p:txBody>
      </p:sp>
      <p:sp>
        <p:nvSpPr>
          <p:cNvPr id="87" name="Electricity, heating,&#10;and cooking">
            <a:extLst>
              <a:ext uri="{FF2B5EF4-FFF2-40B4-BE49-F238E27FC236}">
                <a16:creationId xmlns:a16="http://schemas.microsoft.com/office/drawing/2014/main" id="{7822C475-EEEC-2354-54A9-8D41602FCDF3}"/>
              </a:ext>
            </a:extLst>
          </p:cNvPr>
          <p:cNvSpPr>
            <a:spLocks noGrp="1"/>
          </p:cNvSpPr>
          <p:nvPr/>
        </p:nvSpPr>
        <p:spPr>
          <a:xfrm>
            <a:off x="71437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Electricity, heating,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cooking</a:t>
            </a:r>
          </a:p>
        </p:txBody>
      </p:sp>
      <p:sp>
        <p:nvSpPr>
          <p:cNvPr id="88" name="Ethane">
            <a:extLst>
              <a:ext uri="{FF2B5EF4-FFF2-40B4-BE49-F238E27FC236}">
                <a16:creationId xmlns:a16="http://schemas.microsoft.com/office/drawing/2014/main" id="{E345C41E-3089-7C55-5DF1-89B333F38283}"/>
              </a:ext>
            </a:extLst>
          </p:cNvPr>
          <p:cNvSpPr>
            <a:spLocks noGrp="1"/>
          </p:cNvSpPr>
          <p:nvPr/>
        </p:nvSpPr>
        <p:spPr>
          <a:xfrm>
            <a:off x="355282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Ethane</a:t>
            </a:r>
          </a:p>
        </p:txBody>
      </p:sp>
      <p:sp>
        <p:nvSpPr>
          <p:cNvPr id="89" name="Straight Connector 88">
            <a:extLst>
              <a:ext uri="{FF2B5EF4-FFF2-40B4-BE49-F238E27FC236}">
                <a16:creationId xmlns:a16="http://schemas.microsoft.com/office/drawing/2014/main" id="{767C028B-4095-B4D4-35CF-4D0C752D77F8}"/>
              </a:ext>
            </a:extLst>
          </p:cNvPr>
          <p:cNvSpPr>
            <a:spLocks noGrp="1"/>
          </p:cNvSpPr>
          <p:nvPr/>
        </p:nvSpPr>
        <p:spPr>
          <a:xfrm>
            <a:off x="457200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FACAA7F5-D775-2A37-1F65-B121F8D1B421}"/>
              </a:ext>
            </a:extLst>
          </p:cNvPr>
          <p:cNvSpPr>
            <a:spLocks noGrp="1"/>
          </p:cNvSpPr>
          <p:nvPr/>
        </p:nvSpPr>
        <p:spPr>
          <a:xfrm>
            <a:off x="440055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" name="C">
            <a:extLst>
              <a:ext uri="{FF2B5EF4-FFF2-40B4-BE49-F238E27FC236}">
                <a16:creationId xmlns:a16="http://schemas.microsoft.com/office/drawing/2014/main" id="{CF96FF33-43A2-98E6-9D70-152FD9B9B740}"/>
              </a:ext>
            </a:extLst>
          </p:cNvPr>
          <p:cNvSpPr>
            <a:spLocks noGrp="1"/>
          </p:cNvSpPr>
          <p:nvPr/>
        </p:nvSpPr>
        <p:spPr>
          <a:xfrm>
            <a:off x="445770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FEC6228-9BE7-3B15-73A6-352CD012D727}"/>
              </a:ext>
            </a:extLst>
          </p:cNvPr>
          <p:cNvSpPr>
            <a:spLocks noGrp="1"/>
          </p:cNvSpPr>
          <p:nvPr/>
        </p:nvSpPr>
        <p:spPr>
          <a:xfrm>
            <a:off x="483870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3" name="C">
            <a:extLst>
              <a:ext uri="{FF2B5EF4-FFF2-40B4-BE49-F238E27FC236}">
                <a16:creationId xmlns:a16="http://schemas.microsoft.com/office/drawing/2014/main" id="{F2825858-B853-AF03-BDD3-F4732A1995AC}"/>
              </a:ext>
            </a:extLst>
          </p:cNvPr>
          <p:cNvSpPr>
            <a:spLocks noGrp="1"/>
          </p:cNvSpPr>
          <p:nvPr/>
        </p:nvSpPr>
        <p:spPr>
          <a:xfrm>
            <a:off x="489585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94" name="CH₃–CH₃">
            <a:extLst>
              <a:ext uri="{FF2B5EF4-FFF2-40B4-BE49-F238E27FC236}">
                <a16:creationId xmlns:a16="http://schemas.microsoft.com/office/drawing/2014/main" id="{D24DF961-A5B0-3C4D-7582-7833DB69259C}"/>
              </a:ext>
            </a:extLst>
          </p:cNvPr>
          <p:cNvSpPr>
            <a:spLocks noGrp="1"/>
          </p:cNvSpPr>
          <p:nvPr/>
        </p:nvSpPr>
        <p:spPr>
          <a:xfrm>
            <a:off x="351472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CH₃–CH₃</a:t>
            </a:r>
          </a:p>
        </p:txBody>
      </p:sp>
      <p:sp>
        <p:nvSpPr>
          <p:cNvPr id="95" name="Chemical&#10;feedstocks">
            <a:extLst>
              <a:ext uri="{FF2B5EF4-FFF2-40B4-BE49-F238E27FC236}">
                <a16:creationId xmlns:a16="http://schemas.microsoft.com/office/drawing/2014/main" id="{164BE8D0-83F4-245A-B611-BC4BC397F30E}"/>
              </a:ext>
            </a:extLst>
          </p:cNvPr>
          <p:cNvSpPr>
            <a:spLocks noGrp="1"/>
          </p:cNvSpPr>
          <p:nvPr/>
        </p:nvSpPr>
        <p:spPr>
          <a:xfrm>
            <a:off x="355282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Chemical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feedstocks</a:t>
            </a:r>
          </a:p>
        </p:txBody>
      </p:sp>
      <p:sp>
        <p:nvSpPr>
          <p:cNvPr id="96" name="Propane">
            <a:extLst>
              <a:ext uri="{FF2B5EF4-FFF2-40B4-BE49-F238E27FC236}">
                <a16:creationId xmlns:a16="http://schemas.microsoft.com/office/drawing/2014/main" id="{A24CEC80-4CAF-63F6-DBE0-5F474F6B697C}"/>
              </a:ext>
            </a:extLst>
          </p:cNvPr>
          <p:cNvSpPr>
            <a:spLocks noGrp="1"/>
          </p:cNvSpPr>
          <p:nvPr/>
        </p:nvSpPr>
        <p:spPr>
          <a:xfrm>
            <a:off x="639127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Propane</a:t>
            </a:r>
          </a:p>
        </p:txBody>
      </p:sp>
      <p:sp>
        <p:nvSpPr>
          <p:cNvPr id="97" name="Straight Connector 96">
            <a:extLst>
              <a:ext uri="{FF2B5EF4-FFF2-40B4-BE49-F238E27FC236}">
                <a16:creationId xmlns:a16="http://schemas.microsoft.com/office/drawing/2014/main" id="{6AF8316C-5BAF-D909-9DD8-4F3F6816C622}"/>
              </a:ext>
            </a:extLst>
          </p:cNvPr>
          <p:cNvSpPr>
            <a:spLocks noGrp="1"/>
          </p:cNvSpPr>
          <p:nvPr/>
        </p:nvSpPr>
        <p:spPr>
          <a:xfrm>
            <a:off x="7191375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29BF2E69-BA4A-9A8F-1371-0EDBBBF7CDAC}"/>
              </a:ext>
            </a:extLst>
          </p:cNvPr>
          <p:cNvSpPr>
            <a:spLocks noGrp="1"/>
          </p:cNvSpPr>
          <p:nvPr/>
        </p:nvSpPr>
        <p:spPr>
          <a:xfrm>
            <a:off x="701992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C">
            <a:extLst>
              <a:ext uri="{FF2B5EF4-FFF2-40B4-BE49-F238E27FC236}">
                <a16:creationId xmlns:a16="http://schemas.microsoft.com/office/drawing/2014/main" id="{90BEBCD8-A57F-AF0F-B836-E296B6010D8F}"/>
              </a:ext>
            </a:extLst>
          </p:cNvPr>
          <p:cNvSpPr>
            <a:spLocks noGrp="1"/>
          </p:cNvSpPr>
          <p:nvPr/>
        </p:nvSpPr>
        <p:spPr>
          <a:xfrm>
            <a:off x="707707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0" name="Straight Connector 99">
            <a:extLst>
              <a:ext uri="{FF2B5EF4-FFF2-40B4-BE49-F238E27FC236}">
                <a16:creationId xmlns:a16="http://schemas.microsoft.com/office/drawing/2014/main" id="{21CFE7D1-495E-1686-DD8F-4EC6BD953F51}"/>
              </a:ext>
            </a:extLst>
          </p:cNvPr>
          <p:cNvSpPr>
            <a:spLocks noGrp="1"/>
          </p:cNvSpPr>
          <p:nvPr/>
        </p:nvSpPr>
        <p:spPr>
          <a:xfrm>
            <a:off x="7629525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FAC6E38-A1B1-2A69-AA13-AA54B28B839A}"/>
              </a:ext>
            </a:extLst>
          </p:cNvPr>
          <p:cNvSpPr>
            <a:spLocks noGrp="1"/>
          </p:cNvSpPr>
          <p:nvPr/>
        </p:nvSpPr>
        <p:spPr>
          <a:xfrm>
            <a:off x="745807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C">
            <a:extLst>
              <a:ext uri="{FF2B5EF4-FFF2-40B4-BE49-F238E27FC236}">
                <a16:creationId xmlns:a16="http://schemas.microsoft.com/office/drawing/2014/main" id="{DEA5DEAE-05AE-4054-E739-F30A1BF8DAAF}"/>
              </a:ext>
            </a:extLst>
          </p:cNvPr>
          <p:cNvSpPr>
            <a:spLocks noGrp="1"/>
          </p:cNvSpPr>
          <p:nvPr/>
        </p:nvSpPr>
        <p:spPr>
          <a:xfrm>
            <a:off x="751522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8C7925F5-5620-2E99-4D49-69B24BB0E74D}"/>
              </a:ext>
            </a:extLst>
          </p:cNvPr>
          <p:cNvSpPr>
            <a:spLocks noGrp="1"/>
          </p:cNvSpPr>
          <p:nvPr/>
        </p:nvSpPr>
        <p:spPr>
          <a:xfrm>
            <a:off x="789622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">
            <a:extLst>
              <a:ext uri="{FF2B5EF4-FFF2-40B4-BE49-F238E27FC236}">
                <a16:creationId xmlns:a16="http://schemas.microsoft.com/office/drawing/2014/main" id="{A2EC3481-5B81-118A-FCFC-503904CA7CEB}"/>
              </a:ext>
            </a:extLst>
          </p:cNvPr>
          <p:cNvSpPr>
            <a:spLocks noGrp="1"/>
          </p:cNvSpPr>
          <p:nvPr/>
        </p:nvSpPr>
        <p:spPr>
          <a:xfrm>
            <a:off x="795337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5" name="CH₃–CH₂–CH₃">
            <a:extLst>
              <a:ext uri="{FF2B5EF4-FFF2-40B4-BE49-F238E27FC236}">
                <a16:creationId xmlns:a16="http://schemas.microsoft.com/office/drawing/2014/main" id="{0A24A875-27FD-4232-646B-8965592DC9F2}"/>
              </a:ext>
            </a:extLst>
          </p:cNvPr>
          <p:cNvSpPr>
            <a:spLocks noGrp="1"/>
          </p:cNvSpPr>
          <p:nvPr/>
        </p:nvSpPr>
        <p:spPr>
          <a:xfrm>
            <a:off x="635317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CH₃–CH₂–CH₃</a:t>
            </a:r>
          </a:p>
        </p:txBody>
      </p:sp>
      <p:sp>
        <p:nvSpPr>
          <p:cNvPr id="106" name="Heating, cooking,&#10;and bottled fuel">
            <a:extLst>
              <a:ext uri="{FF2B5EF4-FFF2-40B4-BE49-F238E27FC236}">
                <a16:creationId xmlns:a16="http://schemas.microsoft.com/office/drawing/2014/main" id="{F2F9E1DB-60A7-C51D-D7DD-A33FF43E27F7}"/>
              </a:ext>
            </a:extLst>
          </p:cNvPr>
          <p:cNvSpPr>
            <a:spLocks noGrp="1"/>
          </p:cNvSpPr>
          <p:nvPr/>
        </p:nvSpPr>
        <p:spPr>
          <a:xfrm>
            <a:off x="639127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Heating, cooking,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bottled fuel</a:t>
            </a:r>
          </a:p>
        </p:txBody>
      </p:sp>
      <p:sp>
        <p:nvSpPr>
          <p:cNvPr id="107" name="Butane">
            <a:extLst>
              <a:ext uri="{FF2B5EF4-FFF2-40B4-BE49-F238E27FC236}">
                <a16:creationId xmlns:a16="http://schemas.microsoft.com/office/drawing/2014/main" id="{9D4DA59D-63C4-CF6F-13F4-E8DA11632C37}"/>
              </a:ext>
            </a:extLst>
          </p:cNvPr>
          <p:cNvSpPr>
            <a:spLocks noGrp="1"/>
          </p:cNvSpPr>
          <p:nvPr/>
        </p:nvSpPr>
        <p:spPr>
          <a:xfrm>
            <a:off x="922972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Butane</a:t>
            </a:r>
          </a:p>
        </p:txBody>
      </p:sp>
      <p:sp>
        <p:nvSpPr>
          <p:cNvPr id="108" name="Straight Connector 107">
            <a:extLst>
              <a:ext uri="{FF2B5EF4-FFF2-40B4-BE49-F238E27FC236}">
                <a16:creationId xmlns:a16="http://schemas.microsoft.com/office/drawing/2014/main" id="{9A740436-8C8B-7112-5C92-DB5C6B57E094}"/>
              </a:ext>
            </a:extLst>
          </p:cNvPr>
          <p:cNvSpPr>
            <a:spLocks noGrp="1"/>
          </p:cNvSpPr>
          <p:nvPr/>
        </p:nvSpPr>
        <p:spPr>
          <a:xfrm>
            <a:off x="981075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0229D3E-4C03-A441-0C38-2D294EE1148B}"/>
              </a:ext>
            </a:extLst>
          </p:cNvPr>
          <p:cNvSpPr>
            <a:spLocks noGrp="1"/>
          </p:cNvSpPr>
          <p:nvPr/>
        </p:nvSpPr>
        <p:spPr>
          <a:xfrm>
            <a:off x="963930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C">
            <a:extLst>
              <a:ext uri="{FF2B5EF4-FFF2-40B4-BE49-F238E27FC236}">
                <a16:creationId xmlns:a16="http://schemas.microsoft.com/office/drawing/2014/main" id="{3227FC8C-902A-FBAA-0A5E-6B215F8CF9EE}"/>
              </a:ext>
            </a:extLst>
          </p:cNvPr>
          <p:cNvSpPr>
            <a:spLocks noGrp="1"/>
          </p:cNvSpPr>
          <p:nvPr/>
        </p:nvSpPr>
        <p:spPr>
          <a:xfrm>
            <a:off x="969645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1" name="Straight Connector 110">
            <a:extLst>
              <a:ext uri="{FF2B5EF4-FFF2-40B4-BE49-F238E27FC236}">
                <a16:creationId xmlns:a16="http://schemas.microsoft.com/office/drawing/2014/main" id="{084521F9-8446-3389-49E3-9EA4BC044BCE}"/>
              </a:ext>
            </a:extLst>
          </p:cNvPr>
          <p:cNvSpPr>
            <a:spLocks noGrp="1"/>
          </p:cNvSpPr>
          <p:nvPr/>
        </p:nvSpPr>
        <p:spPr>
          <a:xfrm>
            <a:off x="1024890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0388279-02EC-0B4F-5C8F-FDADCC0036DA}"/>
              </a:ext>
            </a:extLst>
          </p:cNvPr>
          <p:cNvSpPr>
            <a:spLocks noGrp="1"/>
          </p:cNvSpPr>
          <p:nvPr/>
        </p:nvSpPr>
        <p:spPr>
          <a:xfrm>
            <a:off x="1007745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C">
            <a:extLst>
              <a:ext uri="{FF2B5EF4-FFF2-40B4-BE49-F238E27FC236}">
                <a16:creationId xmlns:a16="http://schemas.microsoft.com/office/drawing/2014/main" id="{A9BEA287-8109-A6AA-5A3B-F930AD5016C3}"/>
              </a:ext>
            </a:extLst>
          </p:cNvPr>
          <p:cNvSpPr>
            <a:spLocks noGrp="1"/>
          </p:cNvSpPr>
          <p:nvPr/>
        </p:nvSpPr>
        <p:spPr>
          <a:xfrm>
            <a:off x="1013460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4" name="Straight Connector 113">
            <a:extLst>
              <a:ext uri="{FF2B5EF4-FFF2-40B4-BE49-F238E27FC236}">
                <a16:creationId xmlns:a16="http://schemas.microsoft.com/office/drawing/2014/main" id="{637595EB-3EA1-770A-16AF-2B7A54212E77}"/>
              </a:ext>
            </a:extLst>
          </p:cNvPr>
          <p:cNvSpPr>
            <a:spLocks noGrp="1"/>
          </p:cNvSpPr>
          <p:nvPr/>
        </p:nvSpPr>
        <p:spPr>
          <a:xfrm>
            <a:off x="1068705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31F0DBA2-00AC-3A16-1148-A97FCE3572BA}"/>
              </a:ext>
            </a:extLst>
          </p:cNvPr>
          <p:cNvSpPr>
            <a:spLocks noGrp="1"/>
          </p:cNvSpPr>
          <p:nvPr/>
        </p:nvSpPr>
        <p:spPr>
          <a:xfrm>
            <a:off x="1051560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C">
            <a:extLst>
              <a:ext uri="{FF2B5EF4-FFF2-40B4-BE49-F238E27FC236}">
                <a16:creationId xmlns:a16="http://schemas.microsoft.com/office/drawing/2014/main" id="{45692491-7213-ED2B-FFE7-D3AF7802C8AE}"/>
              </a:ext>
            </a:extLst>
          </p:cNvPr>
          <p:cNvSpPr>
            <a:spLocks noGrp="1"/>
          </p:cNvSpPr>
          <p:nvPr/>
        </p:nvSpPr>
        <p:spPr>
          <a:xfrm>
            <a:off x="1057275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6E500DF6-8023-E8E6-ED3A-FACD038B30A1}"/>
              </a:ext>
            </a:extLst>
          </p:cNvPr>
          <p:cNvSpPr>
            <a:spLocks noGrp="1"/>
          </p:cNvSpPr>
          <p:nvPr/>
        </p:nvSpPr>
        <p:spPr>
          <a:xfrm>
            <a:off x="1095375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C">
            <a:extLst>
              <a:ext uri="{FF2B5EF4-FFF2-40B4-BE49-F238E27FC236}">
                <a16:creationId xmlns:a16="http://schemas.microsoft.com/office/drawing/2014/main" id="{10442792-3853-7176-3B40-9428AF02A92E}"/>
              </a:ext>
            </a:extLst>
          </p:cNvPr>
          <p:cNvSpPr>
            <a:spLocks noGrp="1"/>
          </p:cNvSpPr>
          <p:nvPr/>
        </p:nvSpPr>
        <p:spPr>
          <a:xfrm>
            <a:off x="1101090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9" name="CH₃–CH₂–CH₂–CH₃">
            <a:extLst>
              <a:ext uri="{FF2B5EF4-FFF2-40B4-BE49-F238E27FC236}">
                <a16:creationId xmlns:a16="http://schemas.microsoft.com/office/drawing/2014/main" id="{9302DDE1-8FE0-EDDC-A121-2AE922FD7748}"/>
              </a:ext>
            </a:extLst>
          </p:cNvPr>
          <p:cNvSpPr>
            <a:spLocks noGrp="1"/>
          </p:cNvSpPr>
          <p:nvPr/>
        </p:nvSpPr>
        <p:spPr>
          <a:xfrm>
            <a:off x="919162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CH₃–CH₂–CH₂–CH₃</a:t>
            </a:r>
          </a:p>
        </p:txBody>
      </p:sp>
      <p:sp>
        <p:nvSpPr>
          <p:cNvPr id="120" name="Fuel and industrial&#10;feedstocks">
            <a:extLst>
              <a:ext uri="{FF2B5EF4-FFF2-40B4-BE49-F238E27FC236}">
                <a16:creationId xmlns:a16="http://schemas.microsoft.com/office/drawing/2014/main" id="{E551BC38-18EA-AB03-3315-E1039058222A}"/>
              </a:ext>
            </a:extLst>
          </p:cNvPr>
          <p:cNvSpPr>
            <a:spLocks noGrp="1"/>
          </p:cNvSpPr>
          <p:nvPr/>
        </p:nvSpPr>
        <p:spPr>
          <a:xfrm>
            <a:off x="922972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Fuel and industrial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feedstocks</a:t>
            </a:r>
          </a:p>
        </p:txBody>
      </p:sp>
      <p:sp>
        <p:nvSpPr>
          <p:cNvPr id="121" name="Fig. 9.7, redrawn: natural gas is a mixture of gaseous ">
            <a:extLst>
              <a:ext uri="{FF2B5EF4-FFF2-40B4-BE49-F238E27FC236}">
                <a16:creationId xmlns:a16="http://schemas.microsoft.com/office/drawing/2014/main" id="{CC530C1D-5DCB-5D21-49BC-6369E4520A05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9.7, redrawn: natural gas contains hydrocarbons, usually dominated by methane. All C–H and C–C bonds are shown. Flat structural diagrams do not show 3D bond angles.</a:t>
            </a:r>
          </a:p>
        </p:txBody>
      </p:sp>
      <p:sp>
        <p:nvSpPr>
          <p:cNvPr id="122" name="Methane C1 upper H bond">
            <a:extLst>
              <a:ext uri="{FF2B5EF4-FFF2-40B4-BE49-F238E27FC236}">
                <a16:creationId xmlns:a16="http://schemas.microsoft.com/office/drawing/2014/main" id="{B1B9DA2B-FD55-6D25-EA1A-0814E283F794}"/>
              </a:ext>
            </a:extLst>
          </p:cNvPr>
          <p:cNvSpPr>
            <a:spLocks noGrp="1"/>
          </p:cNvSpPr>
          <p:nvPr/>
        </p:nvSpPr>
        <p:spPr>
          <a:xfrm>
            <a:off x="195262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3" name="Methane C1 upper H atom">
            <a:extLst>
              <a:ext uri="{FF2B5EF4-FFF2-40B4-BE49-F238E27FC236}">
                <a16:creationId xmlns:a16="http://schemas.microsoft.com/office/drawing/2014/main" id="{437BC491-2769-1611-6682-81DDCA8F0A9A}"/>
              </a:ext>
            </a:extLst>
          </p:cNvPr>
          <p:cNvSpPr>
            <a:spLocks noGrp="1"/>
          </p:cNvSpPr>
          <p:nvPr/>
        </p:nvSpPr>
        <p:spPr>
          <a:xfrm>
            <a:off x="182880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Methane C1 upper H label">
            <a:extLst>
              <a:ext uri="{FF2B5EF4-FFF2-40B4-BE49-F238E27FC236}">
                <a16:creationId xmlns:a16="http://schemas.microsoft.com/office/drawing/2014/main" id="{4563A64A-13A2-0007-003E-10035265832C}"/>
              </a:ext>
            </a:extLst>
          </p:cNvPr>
          <p:cNvSpPr>
            <a:spLocks noGrp="1"/>
          </p:cNvSpPr>
          <p:nvPr/>
        </p:nvSpPr>
        <p:spPr>
          <a:xfrm>
            <a:off x="182880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5" name="Methane C1 lower H bond">
            <a:extLst>
              <a:ext uri="{FF2B5EF4-FFF2-40B4-BE49-F238E27FC236}">
                <a16:creationId xmlns:a16="http://schemas.microsoft.com/office/drawing/2014/main" id="{4C46B30F-A8E9-F0DD-AFA4-18EF75777DB4}"/>
              </a:ext>
            </a:extLst>
          </p:cNvPr>
          <p:cNvSpPr>
            <a:spLocks noGrp="1"/>
          </p:cNvSpPr>
          <p:nvPr/>
        </p:nvSpPr>
        <p:spPr>
          <a:xfrm>
            <a:off x="195262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6" name="Methane C1 lower H atom">
            <a:extLst>
              <a:ext uri="{FF2B5EF4-FFF2-40B4-BE49-F238E27FC236}">
                <a16:creationId xmlns:a16="http://schemas.microsoft.com/office/drawing/2014/main" id="{44A20FF5-7946-F0C3-D639-5ED92C1D4C11}"/>
              </a:ext>
            </a:extLst>
          </p:cNvPr>
          <p:cNvSpPr>
            <a:spLocks noGrp="1"/>
          </p:cNvSpPr>
          <p:nvPr/>
        </p:nvSpPr>
        <p:spPr>
          <a:xfrm>
            <a:off x="182880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Methane C1 lower H label">
            <a:extLst>
              <a:ext uri="{FF2B5EF4-FFF2-40B4-BE49-F238E27FC236}">
                <a16:creationId xmlns:a16="http://schemas.microsoft.com/office/drawing/2014/main" id="{47BF574F-C0F6-3DD3-F104-E87822785F37}"/>
              </a:ext>
            </a:extLst>
          </p:cNvPr>
          <p:cNvSpPr>
            <a:spLocks noGrp="1"/>
          </p:cNvSpPr>
          <p:nvPr/>
        </p:nvSpPr>
        <p:spPr>
          <a:xfrm>
            <a:off x="182880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8" name="Methane left H bond">
            <a:extLst>
              <a:ext uri="{FF2B5EF4-FFF2-40B4-BE49-F238E27FC236}">
                <a16:creationId xmlns:a16="http://schemas.microsoft.com/office/drawing/2014/main" id="{13A79874-F018-CD5A-BF7C-3C97BC759976}"/>
              </a:ext>
            </a:extLst>
          </p:cNvPr>
          <p:cNvSpPr>
            <a:spLocks noGrp="1"/>
          </p:cNvSpPr>
          <p:nvPr/>
        </p:nvSpPr>
        <p:spPr>
          <a:xfrm>
            <a:off x="163830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9" name="Methane left H atom">
            <a:extLst>
              <a:ext uri="{FF2B5EF4-FFF2-40B4-BE49-F238E27FC236}">
                <a16:creationId xmlns:a16="http://schemas.microsoft.com/office/drawing/2014/main" id="{8C498145-5705-B654-DA0B-11203D2EE2D7}"/>
              </a:ext>
            </a:extLst>
          </p:cNvPr>
          <p:cNvSpPr>
            <a:spLocks noGrp="1"/>
          </p:cNvSpPr>
          <p:nvPr/>
        </p:nvSpPr>
        <p:spPr>
          <a:xfrm>
            <a:off x="139065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Methane left H label">
            <a:extLst>
              <a:ext uri="{FF2B5EF4-FFF2-40B4-BE49-F238E27FC236}">
                <a16:creationId xmlns:a16="http://schemas.microsoft.com/office/drawing/2014/main" id="{97C99307-0D33-1D93-03AD-D0E1891E97D5}"/>
              </a:ext>
            </a:extLst>
          </p:cNvPr>
          <p:cNvSpPr>
            <a:spLocks noGrp="1"/>
          </p:cNvSpPr>
          <p:nvPr/>
        </p:nvSpPr>
        <p:spPr>
          <a:xfrm>
            <a:off x="139065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31" name="Methane right H bond">
            <a:extLst>
              <a:ext uri="{FF2B5EF4-FFF2-40B4-BE49-F238E27FC236}">
                <a16:creationId xmlns:a16="http://schemas.microsoft.com/office/drawing/2014/main" id="{5A372166-048B-A6CF-8820-7210BC06CAB7}"/>
              </a:ext>
            </a:extLst>
          </p:cNvPr>
          <p:cNvSpPr>
            <a:spLocks noGrp="1"/>
          </p:cNvSpPr>
          <p:nvPr/>
        </p:nvSpPr>
        <p:spPr>
          <a:xfrm>
            <a:off x="212407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2" name="Methane right H atom">
            <a:extLst>
              <a:ext uri="{FF2B5EF4-FFF2-40B4-BE49-F238E27FC236}">
                <a16:creationId xmlns:a16="http://schemas.microsoft.com/office/drawing/2014/main" id="{89789F27-8C9F-47B2-216A-C044C3979634}"/>
              </a:ext>
            </a:extLst>
          </p:cNvPr>
          <p:cNvSpPr>
            <a:spLocks noGrp="1"/>
          </p:cNvSpPr>
          <p:nvPr/>
        </p:nvSpPr>
        <p:spPr>
          <a:xfrm>
            <a:off x="226695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3" name="Methane right H label">
            <a:extLst>
              <a:ext uri="{FF2B5EF4-FFF2-40B4-BE49-F238E27FC236}">
                <a16:creationId xmlns:a16="http://schemas.microsoft.com/office/drawing/2014/main" id="{23A5A5AF-66D3-13EB-3C93-BD056165B244}"/>
              </a:ext>
            </a:extLst>
          </p:cNvPr>
          <p:cNvSpPr>
            <a:spLocks noGrp="1"/>
          </p:cNvSpPr>
          <p:nvPr/>
        </p:nvSpPr>
        <p:spPr>
          <a:xfrm>
            <a:off x="226695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34" name="Ethane C1 upper H bond">
            <a:extLst>
              <a:ext uri="{FF2B5EF4-FFF2-40B4-BE49-F238E27FC236}">
                <a16:creationId xmlns:a16="http://schemas.microsoft.com/office/drawing/2014/main" id="{97FC83B6-D05A-B2AA-0A57-C2E4887A7E58}"/>
              </a:ext>
            </a:extLst>
          </p:cNvPr>
          <p:cNvSpPr>
            <a:spLocks noGrp="1"/>
          </p:cNvSpPr>
          <p:nvPr/>
        </p:nvSpPr>
        <p:spPr>
          <a:xfrm>
            <a:off x="457200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5" name="Ethane C1 upper H atom">
            <a:extLst>
              <a:ext uri="{FF2B5EF4-FFF2-40B4-BE49-F238E27FC236}">
                <a16:creationId xmlns:a16="http://schemas.microsoft.com/office/drawing/2014/main" id="{293ADCDD-76DE-02E4-A95A-1BCD7049C05F}"/>
              </a:ext>
            </a:extLst>
          </p:cNvPr>
          <p:cNvSpPr>
            <a:spLocks noGrp="1"/>
          </p:cNvSpPr>
          <p:nvPr/>
        </p:nvSpPr>
        <p:spPr>
          <a:xfrm>
            <a:off x="444817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6" name="Ethane C1 upper H label">
            <a:extLst>
              <a:ext uri="{FF2B5EF4-FFF2-40B4-BE49-F238E27FC236}">
                <a16:creationId xmlns:a16="http://schemas.microsoft.com/office/drawing/2014/main" id="{9832E45E-C261-2081-96F2-D9F9A5102A87}"/>
              </a:ext>
            </a:extLst>
          </p:cNvPr>
          <p:cNvSpPr>
            <a:spLocks noGrp="1"/>
          </p:cNvSpPr>
          <p:nvPr/>
        </p:nvSpPr>
        <p:spPr>
          <a:xfrm>
            <a:off x="444817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37" name="Ethane C1 lower H bond">
            <a:extLst>
              <a:ext uri="{FF2B5EF4-FFF2-40B4-BE49-F238E27FC236}">
                <a16:creationId xmlns:a16="http://schemas.microsoft.com/office/drawing/2014/main" id="{FDB0638A-D056-B74F-D3F8-62F95356DCFA}"/>
              </a:ext>
            </a:extLst>
          </p:cNvPr>
          <p:cNvSpPr>
            <a:spLocks noGrp="1"/>
          </p:cNvSpPr>
          <p:nvPr/>
        </p:nvSpPr>
        <p:spPr>
          <a:xfrm>
            <a:off x="457200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8" name="Ethane C1 lower H atom">
            <a:extLst>
              <a:ext uri="{FF2B5EF4-FFF2-40B4-BE49-F238E27FC236}">
                <a16:creationId xmlns:a16="http://schemas.microsoft.com/office/drawing/2014/main" id="{26DC2DCC-D2F4-AD50-44AE-2DBFCDC60220}"/>
              </a:ext>
            </a:extLst>
          </p:cNvPr>
          <p:cNvSpPr>
            <a:spLocks noGrp="1"/>
          </p:cNvSpPr>
          <p:nvPr/>
        </p:nvSpPr>
        <p:spPr>
          <a:xfrm>
            <a:off x="444817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9" name="Ethane C1 lower H label">
            <a:extLst>
              <a:ext uri="{FF2B5EF4-FFF2-40B4-BE49-F238E27FC236}">
                <a16:creationId xmlns:a16="http://schemas.microsoft.com/office/drawing/2014/main" id="{11489E43-4451-C02C-09CD-31E144273D8A}"/>
              </a:ext>
            </a:extLst>
          </p:cNvPr>
          <p:cNvSpPr>
            <a:spLocks noGrp="1"/>
          </p:cNvSpPr>
          <p:nvPr/>
        </p:nvSpPr>
        <p:spPr>
          <a:xfrm>
            <a:off x="444817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0" name="Ethane left H bond">
            <a:extLst>
              <a:ext uri="{FF2B5EF4-FFF2-40B4-BE49-F238E27FC236}">
                <a16:creationId xmlns:a16="http://schemas.microsoft.com/office/drawing/2014/main" id="{93E0B6AC-4303-6F8B-5DBF-DA9A3006739C}"/>
              </a:ext>
            </a:extLst>
          </p:cNvPr>
          <p:cNvSpPr>
            <a:spLocks noGrp="1"/>
          </p:cNvSpPr>
          <p:nvPr/>
        </p:nvSpPr>
        <p:spPr>
          <a:xfrm>
            <a:off x="425767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1" name="Ethane left H atom">
            <a:extLst>
              <a:ext uri="{FF2B5EF4-FFF2-40B4-BE49-F238E27FC236}">
                <a16:creationId xmlns:a16="http://schemas.microsoft.com/office/drawing/2014/main" id="{DAD6BDC6-29A0-2F79-9295-BA1A7147E28C}"/>
              </a:ext>
            </a:extLst>
          </p:cNvPr>
          <p:cNvSpPr>
            <a:spLocks noGrp="1"/>
          </p:cNvSpPr>
          <p:nvPr/>
        </p:nvSpPr>
        <p:spPr>
          <a:xfrm>
            <a:off x="401002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Ethane left H label">
            <a:extLst>
              <a:ext uri="{FF2B5EF4-FFF2-40B4-BE49-F238E27FC236}">
                <a16:creationId xmlns:a16="http://schemas.microsoft.com/office/drawing/2014/main" id="{EEBC633C-38AD-3D7F-5183-D849C6826E3F}"/>
              </a:ext>
            </a:extLst>
          </p:cNvPr>
          <p:cNvSpPr>
            <a:spLocks noGrp="1"/>
          </p:cNvSpPr>
          <p:nvPr/>
        </p:nvSpPr>
        <p:spPr>
          <a:xfrm>
            <a:off x="401002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3" name="Ethane C2 upper H bond">
            <a:extLst>
              <a:ext uri="{FF2B5EF4-FFF2-40B4-BE49-F238E27FC236}">
                <a16:creationId xmlns:a16="http://schemas.microsoft.com/office/drawing/2014/main" id="{5DA84223-1925-0645-BF28-AAC9E3850334}"/>
              </a:ext>
            </a:extLst>
          </p:cNvPr>
          <p:cNvSpPr>
            <a:spLocks noGrp="1"/>
          </p:cNvSpPr>
          <p:nvPr/>
        </p:nvSpPr>
        <p:spPr>
          <a:xfrm>
            <a:off x="501015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4" name="Ethane C2 upper H atom">
            <a:extLst>
              <a:ext uri="{FF2B5EF4-FFF2-40B4-BE49-F238E27FC236}">
                <a16:creationId xmlns:a16="http://schemas.microsoft.com/office/drawing/2014/main" id="{B8630717-E741-27BE-46C3-1CA999E4AB95}"/>
              </a:ext>
            </a:extLst>
          </p:cNvPr>
          <p:cNvSpPr>
            <a:spLocks noGrp="1"/>
          </p:cNvSpPr>
          <p:nvPr/>
        </p:nvSpPr>
        <p:spPr>
          <a:xfrm>
            <a:off x="488632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Ethane C2 upper H label">
            <a:extLst>
              <a:ext uri="{FF2B5EF4-FFF2-40B4-BE49-F238E27FC236}">
                <a16:creationId xmlns:a16="http://schemas.microsoft.com/office/drawing/2014/main" id="{626A87D6-EA16-35EC-0620-170F290E15DF}"/>
              </a:ext>
            </a:extLst>
          </p:cNvPr>
          <p:cNvSpPr>
            <a:spLocks noGrp="1"/>
          </p:cNvSpPr>
          <p:nvPr/>
        </p:nvSpPr>
        <p:spPr>
          <a:xfrm>
            <a:off x="488632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6" name="Ethane C2 lower H bond">
            <a:extLst>
              <a:ext uri="{FF2B5EF4-FFF2-40B4-BE49-F238E27FC236}">
                <a16:creationId xmlns:a16="http://schemas.microsoft.com/office/drawing/2014/main" id="{906842BB-00F9-9228-AA07-E54037A0BD33}"/>
              </a:ext>
            </a:extLst>
          </p:cNvPr>
          <p:cNvSpPr>
            <a:spLocks noGrp="1"/>
          </p:cNvSpPr>
          <p:nvPr/>
        </p:nvSpPr>
        <p:spPr>
          <a:xfrm>
            <a:off x="501015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7" name="Ethane C2 lower H atom">
            <a:extLst>
              <a:ext uri="{FF2B5EF4-FFF2-40B4-BE49-F238E27FC236}">
                <a16:creationId xmlns:a16="http://schemas.microsoft.com/office/drawing/2014/main" id="{65A1C851-6463-B656-5336-8B8BA8CDDA2E}"/>
              </a:ext>
            </a:extLst>
          </p:cNvPr>
          <p:cNvSpPr>
            <a:spLocks noGrp="1"/>
          </p:cNvSpPr>
          <p:nvPr/>
        </p:nvSpPr>
        <p:spPr>
          <a:xfrm>
            <a:off x="488632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8" name="Ethane C2 lower H label">
            <a:extLst>
              <a:ext uri="{FF2B5EF4-FFF2-40B4-BE49-F238E27FC236}">
                <a16:creationId xmlns:a16="http://schemas.microsoft.com/office/drawing/2014/main" id="{B86F7C28-11ED-0DDF-1567-F9FB89BB18AC}"/>
              </a:ext>
            </a:extLst>
          </p:cNvPr>
          <p:cNvSpPr>
            <a:spLocks noGrp="1"/>
          </p:cNvSpPr>
          <p:nvPr/>
        </p:nvSpPr>
        <p:spPr>
          <a:xfrm>
            <a:off x="488632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9" name="Ethane right H bond">
            <a:extLst>
              <a:ext uri="{FF2B5EF4-FFF2-40B4-BE49-F238E27FC236}">
                <a16:creationId xmlns:a16="http://schemas.microsoft.com/office/drawing/2014/main" id="{DAEB3D83-E0D4-3AAD-17F6-885150FF7A22}"/>
              </a:ext>
            </a:extLst>
          </p:cNvPr>
          <p:cNvSpPr>
            <a:spLocks noGrp="1"/>
          </p:cNvSpPr>
          <p:nvPr/>
        </p:nvSpPr>
        <p:spPr>
          <a:xfrm>
            <a:off x="518160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0" name="Ethane right H atom">
            <a:extLst>
              <a:ext uri="{FF2B5EF4-FFF2-40B4-BE49-F238E27FC236}">
                <a16:creationId xmlns:a16="http://schemas.microsoft.com/office/drawing/2014/main" id="{BB75FA13-9735-FCD9-FAA0-511D25AF6899}"/>
              </a:ext>
            </a:extLst>
          </p:cNvPr>
          <p:cNvSpPr>
            <a:spLocks noGrp="1"/>
          </p:cNvSpPr>
          <p:nvPr/>
        </p:nvSpPr>
        <p:spPr>
          <a:xfrm>
            <a:off x="532447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1" name="Ethane right H label">
            <a:extLst>
              <a:ext uri="{FF2B5EF4-FFF2-40B4-BE49-F238E27FC236}">
                <a16:creationId xmlns:a16="http://schemas.microsoft.com/office/drawing/2014/main" id="{EDE620FF-7C83-1A20-C24E-4925DB999F64}"/>
              </a:ext>
            </a:extLst>
          </p:cNvPr>
          <p:cNvSpPr>
            <a:spLocks noGrp="1"/>
          </p:cNvSpPr>
          <p:nvPr/>
        </p:nvSpPr>
        <p:spPr>
          <a:xfrm>
            <a:off x="532447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52" name="Propane C1 upper H bond">
            <a:extLst>
              <a:ext uri="{FF2B5EF4-FFF2-40B4-BE49-F238E27FC236}">
                <a16:creationId xmlns:a16="http://schemas.microsoft.com/office/drawing/2014/main" id="{D2FED802-9341-5C09-DAAE-126DAFF2B43A}"/>
              </a:ext>
            </a:extLst>
          </p:cNvPr>
          <p:cNvSpPr>
            <a:spLocks noGrp="1"/>
          </p:cNvSpPr>
          <p:nvPr/>
        </p:nvSpPr>
        <p:spPr>
          <a:xfrm>
            <a:off x="719137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3" name="Propane C1 upper H atom">
            <a:extLst>
              <a:ext uri="{FF2B5EF4-FFF2-40B4-BE49-F238E27FC236}">
                <a16:creationId xmlns:a16="http://schemas.microsoft.com/office/drawing/2014/main" id="{1F24F391-C427-9CF6-01FB-7BD223A34858}"/>
              </a:ext>
            </a:extLst>
          </p:cNvPr>
          <p:cNvSpPr>
            <a:spLocks noGrp="1"/>
          </p:cNvSpPr>
          <p:nvPr/>
        </p:nvSpPr>
        <p:spPr>
          <a:xfrm>
            <a:off x="706755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4" name="Propane C1 upper H label">
            <a:extLst>
              <a:ext uri="{FF2B5EF4-FFF2-40B4-BE49-F238E27FC236}">
                <a16:creationId xmlns:a16="http://schemas.microsoft.com/office/drawing/2014/main" id="{7E1F3616-3CA4-FDC9-D184-362479B6ECE4}"/>
              </a:ext>
            </a:extLst>
          </p:cNvPr>
          <p:cNvSpPr>
            <a:spLocks noGrp="1"/>
          </p:cNvSpPr>
          <p:nvPr/>
        </p:nvSpPr>
        <p:spPr>
          <a:xfrm>
            <a:off x="706755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55" name="Propane C1 lower H bond">
            <a:extLst>
              <a:ext uri="{FF2B5EF4-FFF2-40B4-BE49-F238E27FC236}">
                <a16:creationId xmlns:a16="http://schemas.microsoft.com/office/drawing/2014/main" id="{D2DCB71A-F3F1-3A65-C983-82154577F42F}"/>
              </a:ext>
            </a:extLst>
          </p:cNvPr>
          <p:cNvSpPr>
            <a:spLocks noGrp="1"/>
          </p:cNvSpPr>
          <p:nvPr/>
        </p:nvSpPr>
        <p:spPr>
          <a:xfrm>
            <a:off x="719137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6" name="Propane C1 lower H atom">
            <a:extLst>
              <a:ext uri="{FF2B5EF4-FFF2-40B4-BE49-F238E27FC236}">
                <a16:creationId xmlns:a16="http://schemas.microsoft.com/office/drawing/2014/main" id="{012C281E-9F41-CC2E-AF3E-19F45E9E96EA}"/>
              </a:ext>
            </a:extLst>
          </p:cNvPr>
          <p:cNvSpPr>
            <a:spLocks noGrp="1"/>
          </p:cNvSpPr>
          <p:nvPr/>
        </p:nvSpPr>
        <p:spPr>
          <a:xfrm>
            <a:off x="706755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7" name="Propane C1 lower H label">
            <a:extLst>
              <a:ext uri="{FF2B5EF4-FFF2-40B4-BE49-F238E27FC236}">
                <a16:creationId xmlns:a16="http://schemas.microsoft.com/office/drawing/2014/main" id="{1C693A04-B17B-0865-B3F0-F275953E742C}"/>
              </a:ext>
            </a:extLst>
          </p:cNvPr>
          <p:cNvSpPr>
            <a:spLocks noGrp="1"/>
          </p:cNvSpPr>
          <p:nvPr/>
        </p:nvSpPr>
        <p:spPr>
          <a:xfrm>
            <a:off x="706755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58" name="Propane left H bond">
            <a:extLst>
              <a:ext uri="{FF2B5EF4-FFF2-40B4-BE49-F238E27FC236}">
                <a16:creationId xmlns:a16="http://schemas.microsoft.com/office/drawing/2014/main" id="{21A12CF7-DE20-2826-CD57-304D4AC2D865}"/>
              </a:ext>
            </a:extLst>
          </p:cNvPr>
          <p:cNvSpPr>
            <a:spLocks noGrp="1"/>
          </p:cNvSpPr>
          <p:nvPr/>
        </p:nvSpPr>
        <p:spPr>
          <a:xfrm>
            <a:off x="687705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9" name="Propane left H atom">
            <a:extLst>
              <a:ext uri="{FF2B5EF4-FFF2-40B4-BE49-F238E27FC236}">
                <a16:creationId xmlns:a16="http://schemas.microsoft.com/office/drawing/2014/main" id="{B69F34D3-6262-BEA9-7FE5-486F3F0090C8}"/>
              </a:ext>
            </a:extLst>
          </p:cNvPr>
          <p:cNvSpPr>
            <a:spLocks noGrp="1"/>
          </p:cNvSpPr>
          <p:nvPr/>
        </p:nvSpPr>
        <p:spPr>
          <a:xfrm>
            <a:off x="662940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" name="Propane left H label">
            <a:extLst>
              <a:ext uri="{FF2B5EF4-FFF2-40B4-BE49-F238E27FC236}">
                <a16:creationId xmlns:a16="http://schemas.microsoft.com/office/drawing/2014/main" id="{EA47B06C-3927-2294-6DB3-4C40C75B3D33}"/>
              </a:ext>
            </a:extLst>
          </p:cNvPr>
          <p:cNvSpPr>
            <a:spLocks noGrp="1"/>
          </p:cNvSpPr>
          <p:nvPr/>
        </p:nvSpPr>
        <p:spPr>
          <a:xfrm>
            <a:off x="662940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61" name="Propane C2 upper H bond">
            <a:extLst>
              <a:ext uri="{FF2B5EF4-FFF2-40B4-BE49-F238E27FC236}">
                <a16:creationId xmlns:a16="http://schemas.microsoft.com/office/drawing/2014/main" id="{8594D3BC-C524-1052-99C0-846B8E6098D9}"/>
              </a:ext>
            </a:extLst>
          </p:cNvPr>
          <p:cNvSpPr>
            <a:spLocks noGrp="1"/>
          </p:cNvSpPr>
          <p:nvPr/>
        </p:nvSpPr>
        <p:spPr>
          <a:xfrm>
            <a:off x="762952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2" name="Propane C2 upper H atom">
            <a:extLst>
              <a:ext uri="{FF2B5EF4-FFF2-40B4-BE49-F238E27FC236}">
                <a16:creationId xmlns:a16="http://schemas.microsoft.com/office/drawing/2014/main" id="{64BC691F-1225-9C66-80F4-CD82E61CB442}"/>
              </a:ext>
            </a:extLst>
          </p:cNvPr>
          <p:cNvSpPr>
            <a:spLocks noGrp="1"/>
          </p:cNvSpPr>
          <p:nvPr/>
        </p:nvSpPr>
        <p:spPr>
          <a:xfrm>
            <a:off x="750570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3" name="Propane C2 upper H label">
            <a:extLst>
              <a:ext uri="{FF2B5EF4-FFF2-40B4-BE49-F238E27FC236}">
                <a16:creationId xmlns:a16="http://schemas.microsoft.com/office/drawing/2014/main" id="{581214A5-8F9F-9E6A-8546-C20BD374344A}"/>
              </a:ext>
            </a:extLst>
          </p:cNvPr>
          <p:cNvSpPr>
            <a:spLocks noGrp="1"/>
          </p:cNvSpPr>
          <p:nvPr/>
        </p:nvSpPr>
        <p:spPr>
          <a:xfrm>
            <a:off x="750570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64" name="Propane C2 lower H bond">
            <a:extLst>
              <a:ext uri="{FF2B5EF4-FFF2-40B4-BE49-F238E27FC236}">
                <a16:creationId xmlns:a16="http://schemas.microsoft.com/office/drawing/2014/main" id="{03D8F443-D379-FCD1-8C60-344376D98369}"/>
              </a:ext>
            </a:extLst>
          </p:cNvPr>
          <p:cNvSpPr>
            <a:spLocks noGrp="1"/>
          </p:cNvSpPr>
          <p:nvPr/>
        </p:nvSpPr>
        <p:spPr>
          <a:xfrm>
            <a:off x="762952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5" name="Propane C2 lower H atom">
            <a:extLst>
              <a:ext uri="{FF2B5EF4-FFF2-40B4-BE49-F238E27FC236}">
                <a16:creationId xmlns:a16="http://schemas.microsoft.com/office/drawing/2014/main" id="{FA8450E9-12AC-3549-6F23-326523762373}"/>
              </a:ext>
            </a:extLst>
          </p:cNvPr>
          <p:cNvSpPr>
            <a:spLocks noGrp="1"/>
          </p:cNvSpPr>
          <p:nvPr/>
        </p:nvSpPr>
        <p:spPr>
          <a:xfrm>
            <a:off x="750570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6" name="Propane C2 lower H label">
            <a:extLst>
              <a:ext uri="{FF2B5EF4-FFF2-40B4-BE49-F238E27FC236}">
                <a16:creationId xmlns:a16="http://schemas.microsoft.com/office/drawing/2014/main" id="{F4D02140-E617-206F-3E38-963D5A788673}"/>
              </a:ext>
            </a:extLst>
          </p:cNvPr>
          <p:cNvSpPr>
            <a:spLocks noGrp="1"/>
          </p:cNvSpPr>
          <p:nvPr/>
        </p:nvSpPr>
        <p:spPr>
          <a:xfrm>
            <a:off x="750570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67" name="Propane C3 upper H bond">
            <a:extLst>
              <a:ext uri="{FF2B5EF4-FFF2-40B4-BE49-F238E27FC236}">
                <a16:creationId xmlns:a16="http://schemas.microsoft.com/office/drawing/2014/main" id="{DA017F87-C41C-AC1D-C84A-FC227858A5F2}"/>
              </a:ext>
            </a:extLst>
          </p:cNvPr>
          <p:cNvSpPr>
            <a:spLocks noGrp="1"/>
          </p:cNvSpPr>
          <p:nvPr/>
        </p:nvSpPr>
        <p:spPr>
          <a:xfrm>
            <a:off x="806767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8" name="Propane C3 upper H atom">
            <a:extLst>
              <a:ext uri="{FF2B5EF4-FFF2-40B4-BE49-F238E27FC236}">
                <a16:creationId xmlns:a16="http://schemas.microsoft.com/office/drawing/2014/main" id="{4934EF98-B193-51A0-D00C-58AC807A3F08}"/>
              </a:ext>
            </a:extLst>
          </p:cNvPr>
          <p:cNvSpPr>
            <a:spLocks noGrp="1"/>
          </p:cNvSpPr>
          <p:nvPr/>
        </p:nvSpPr>
        <p:spPr>
          <a:xfrm>
            <a:off x="794385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9" name="Propane C3 upper H label">
            <a:extLst>
              <a:ext uri="{FF2B5EF4-FFF2-40B4-BE49-F238E27FC236}">
                <a16:creationId xmlns:a16="http://schemas.microsoft.com/office/drawing/2014/main" id="{D509C286-F086-6EE6-F228-2C84CF77E841}"/>
              </a:ext>
            </a:extLst>
          </p:cNvPr>
          <p:cNvSpPr>
            <a:spLocks noGrp="1"/>
          </p:cNvSpPr>
          <p:nvPr/>
        </p:nvSpPr>
        <p:spPr>
          <a:xfrm>
            <a:off x="794385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0" name="Propane C3 lower H bond">
            <a:extLst>
              <a:ext uri="{FF2B5EF4-FFF2-40B4-BE49-F238E27FC236}">
                <a16:creationId xmlns:a16="http://schemas.microsoft.com/office/drawing/2014/main" id="{B79D8946-0B5F-25D2-65C7-F815AC3D195E}"/>
              </a:ext>
            </a:extLst>
          </p:cNvPr>
          <p:cNvSpPr>
            <a:spLocks noGrp="1"/>
          </p:cNvSpPr>
          <p:nvPr/>
        </p:nvSpPr>
        <p:spPr>
          <a:xfrm>
            <a:off x="806767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1" name="Propane C3 lower H atom">
            <a:extLst>
              <a:ext uri="{FF2B5EF4-FFF2-40B4-BE49-F238E27FC236}">
                <a16:creationId xmlns:a16="http://schemas.microsoft.com/office/drawing/2014/main" id="{BDB0D81C-58F2-7CE1-5920-160AAB05059F}"/>
              </a:ext>
            </a:extLst>
          </p:cNvPr>
          <p:cNvSpPr>
            <a:spLocks noGrp="1"/>
          </p:cNvSpPr>
          <p:nvPr/>
        </p:nvSpPr>
        <p:spPr>
          <a:xfrm>
            <a:off x="794385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2" name="Propane C3 lower H label">
            <a:extLst>
              <a:ext uri="{FF2B5EF4-FFF2-40B4-BE49-F238E27FC236}">
                <a16:creationId xmlns:a16="http://schemas.microsoft.com/office/drawing/2014/main" id="{22D3AF80-6BF1-2D4D-37BE-A0BCF2D8FE97}"/>
              </a:ext>
            </a:extLst>
          </p:cNvPr>
          <p:cNvSpPr>
            <a:spLocks noGrp="1"/>
          </p:cNvSpPr>
          <p:nvPr/>
        </p:nvSpPr>
        <p:spPr>
          <a:xfrm>
            <a:off x="794385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3" name="Propane right H bond">
            <a:extLst>
              <a:ext uri="{FF2B5EF4-FFF2-40B4-BE49-F238E27FC236}">
                <a16:creationId xmlns:a16="http://schemas.microsoft.com/office/drawing/2014/main" id="{10945186-BB58-6FCB-9DE6-090B56EEE987}"/>
              </a:ext>
            </a:extLst>
          </p:cNvPr>
          <p:cNvSpPr>
            <a:spLocks noGrp="1"/>
          </p:cNvSpPr>
          <p:nvPr/>
        </p:nvSpPr>
        <p:spPr>
          <a:xfrm>
            <a:off x="823912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4" name="Propane right H atom">
            <a:extLst>
              <a:ext uri="{FF2B5EF4-FFF2-40B4-BE49-F238E27FC236}">
                <a16:creationId xmlns:a16="http://schemas.microsoft.com/office/drawing/2014/main" id="{478C68F8-5164-D368-6371-5AD326CDB712}"/>
              </a:ext>
            </a:extLst>
          </p:cNvPr>
          <p:cNvSpPr>
            <a:spLocks noGrp="1"/>
          </p:cNvSpPr>
          <p:nvPr/>
        </p:nvSpPr>
        <p:spPr>
          <a:xfrm>
            <a:off x="838200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5" name="Propane right H label">
            <a:extLst>
              <a:ext uri="{FF2B5EF4-FFF2-40B4-BE49-F238E27FC236}">
                <a16:creationId xmlns:a16="http://schemas.microsoft.com/office/drawing/2014/main" id="{2D6A7516-D135-0C13-733A-D34CEED4E4AB}"/>
              </a:ext>
            </a:extLst>
          </p:cNvPr>
          <p:cNvSpPr>
            <a:spLocks noGrp="1"/>
          </p:cNvSpPr>
          <p:nvPr/>
        </p:nvSpPr>
        <p:spPr>
          <a:xfrm>
            <a:off x="838200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6" name="Butane C1 upper H bond">
            <a:extLst>
              <a:ext uri="{FF2B5EF4-FFF2-40B4-BE49-F238E27FC236}">
                <a16:creationId xmlns:a16="http://schemas.microsoft.com/office/drawing/2014/main" id="{E6ACB676-93B5-3C12-B613-FA08B28B8EB7}"/>
              </a:ext>
            </a:extLst>
          </p:cNvPr>
          <p:cNvSpPr>
            <a:spLocks noGrp="1"/>
          </p:cNvSpPr>
          <p:nvPr/>
        </p:nvSpPr>
        <p:spPr>
          <a:xfrm>
            <a:off x="981075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7" name="Butane C1 upper H atom">
            <a:extLst>
              <a:ext uri="{FF2B5EF4-FFF2-40B4-BE49-F238E27FC236}">
                <a16:creationId xmlns:a16="http://schemas.microsoft.com/office/drawing/2014/main" id="{0A244C81-DDAF-C82B-69B4-24E3C9817DD4}"/>
              </a:ext>
            </a:extLst>
          </p:cNvPr>
          <p:cNvSpPr>
            <a:spLocks noGrp="1"/>
          </p:cNvSpPr>
          <p:nvPr/>
        </p:nvSpPr>
        <p:spPr>
          <a:xfrm>
            <a:off x="968692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8" name="Butane C1 upper H label">
            <a:extLst>
              <a:ext uri="{FF2B5EF4-FFF2-40B4-BE49-F238E27FC236}">
                <a16:creationId xmlns:a16="http://schemas.microsoft.com/office/drawing/2014/main" id="{46314E85-C6B1-8528-D47A-5691C5823DF1}"/>
              </a:ext>
            </a:extLst>
          </p:cNvPr>
          <p:cNvSpPr>
            <a:spLocks noGrp="1"/>
          </p:cNvSpPr>
          <p:nvPr/>
        </p:nvSpPr>
        <p:spPr>
          <a:xfrm>
            <a:off x="968692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9" name="Butane C1 lower H bond">
            <a:extLst>
              <a:ext uri="{FF2B5EF4-FFF2-40B4-BE49-F238E27FC236}">
                <a16:creationId xmlns:a16="http://schemas.microsoft.com/office/drawing/2014/main" id="{4838B68C-8BE8-DFF7-7490-DC006DF30C0C}"/>
              </a:ext>
            </a:extLst>
          </p:cNvPr>
          <p:cNvSpPr>
            <a:spLocks noGrp="1"/>
          </p:cNvSpPr>
          <p:nvPr/>
        </p:nvSpPr>
        <p:spPr>
          <a:xfrm>
            <a:off x="981075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0" name="Butane C1 lower H atom">
            <a:extLst>
              <a:ext uri="{FF2B5EF4-FFF2-40B4-BE49-F238E27FC236}">
                <a16:creationId xmlns:a16="http://schemas.microsoft.com/office/drawing/2014/main" id="{4572B046-30A5-DE07-8915-A28CE4605977}"/>
              </a:ext>
            </a:extLst>
          </p:cNvPr>
          <p:cNvSpPr>
            <a:spLocks noGrp="1"/>
          </p:cNvSpPr>
          <p:nvPr/>
        </p:nvSpPr>
        <p:spPr>
          <a:xfrm>
            <a:off x="968692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1" name="Butane C1 lower H label">
            <a:extLst>
              <a:ext uri="{FF2B5EF4-FFF2-40B4-BE49-F238E27FC236}">
                <a16:creationId xmlns:a16="http://schemas.microsoft.com/office/drawing/2014/main" id="{0556DE2B-6D80-C7EB-B220-9879A038D727}"/>
              </a:ext>
            </a:extLst>
          </p:cNvPr>
          <p:cNvSpPr>
            <a:spLocks noGrp="1"/>
          </p:cNvSpPr>
          <p:nvPr/>
        </p:nvSpPr>
        <p:spPr>
          <a:xfrm>
            <a:off x="968692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82" name="Butane left H bond">
            <a:extLst>
              <a:ext uri="{FF2B5EF4-FFF2-40B4-BE49-F238E27FC236}">
                <a16:creationId xmlns:a16="http://schemas.microsoft.com/office/drawing/2014/main" id="{5E886A02-41B2-693C-9AB8-190A38F51AD7}"/>
              </a:ext>
            </a:extLst>
          </p:cNvPr>
          <p:cNvSpPr>
            <a:spLocks noGrp="1"/>
          </p:cNvSpPr>
          <p:nvPr/>
        </p:nvSpPr>
        <p:spPr>
          <a:xfrm>
            <a:off x="949642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3" name="Butane left H atom">
            <a:extLst>
              <a:ext uri="{FF2B5EF4-FFF2-40B4-BE49-F238E27FC236}">
                <a16:creationId xmlns:a16="http://schemas.microsoft.com/office/drawing/2014/main" id="{FBF28847-35C8-C456-A8D3-7D5F389912BD}"/>
              </a:ext>
            </a:extLst>
          </p:cNvPr>
          <p:cNvSpPr>
            <a:spLocks noGrp="1"/>
          </p:cNvSpPr>
          <p:nvPr/>
        </p:nvSpPr>
        <p:spPr>
          <a:xfrm>
            <a:off x="924877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4" name="Butane left H label">
            <a:extLst>
              <a:ext uri="{FF2B5EF4-FFF2-40B4-BE49-F238E27FC236}">
                <a16:creationId xmlns:a16="http://schemas.microsoft.com/office/drawing/2014/main" id="{902993A1-3168-C18F-31CE-2CDDAFFD2068}"/>
              </a:ext>
            </a:extLst>
          </p:cNvPr>
          <p:cNvSpPr>
            <a:spLocks noGrp="1"/>
          </p:cNvSpPr>
          <p:nvPr/>
        </p:nvSpPr>
        <p:spPr>
          <a:xfrm>
            <a:off x="924877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85" name="Butane C2 upper H bond">
            <a:extLst>
              <a:ext uri="{FF2B5EF4-FFF2-40B4-BE49-F238E27FC236}">
                <a16:creationId xmlns:a16="http://schemas.microsoft.com/office/drawing/2014/main" id="{29A8D094-9525-52FF-BFA8-218AC74374B4}"/>
              </a:ext>
            </a:extLst>
          </p:cNvPr>
          <p:cNvSpPr>
            <a:spLocks noGrp="1"/>
          </p:cNvSpPr>
          <p:nvPr/>
        </p:nvSpPr>
        <p:spPr>
          <a:xfrm>
            <a:off x="1024890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6" name="Butane C2 upper H atom">
            <a:extLst>
              <a:ext uri="{FF2B5EF4-FFF2-40B4-BE49-F238E27FC236}">
                <a16:creationId xmlns:a16="http://schemas.microsoft.com/office/drawing/2014/main" id="{9BF9CBC0-1EAA-24D5-F253-B6E7053DE899}"/>
              </a:ext>
            </a:extLst>
          </p:cNvPr>
          <p:cNvSpPr>
            <a:spLocks noGrp="1"/>
          </p:cNvSpPr>
          <p:nvPr/>
        </p:nvSpPr>
        <p:spPr>
          <a:xfrm>
            <a:off x="1012507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7" name="Butane C2 upper H label">
            <a:extLst>
              <a:ext uri="{FF2B5EF4-FFF2-40B4-BE49-F238E27FC236}">
                <a16:creationId xmlns:a16="http://schemas.microsoft.com/office/drawing/2014/main" id="{1DEF485B-B683-4DD7-77FD-42165C525789}"/>
              </a:ext>
            </a:extLst>
          </p:cNvPr>
          <p:cNvSpPr>
            <a:spLocks noGrp="1"/>
          </p:cNvSpPr>
          <p:nvPr/>
        </p:nvSpPr>
        <p:spPr>
          <a:xfrm>
            <a:off x="1012507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88" name="Butane C2 lower H bond">
            <a:extLst>
              <a:ext uri="{FF2B5EF4-FFF2-40B4-BE49-F238E27FC236}">
                <a16:creationId xmlns:a16="http://schemas.microsoft.com/office/drawing/2014/main" id="{93946880-AFAF-25B5-F101-30BC23B50799}"/>
              </a:ext>
            </a:extLst>
          </p:cNvPr>
          <p:cNvSpPr>
            <a:spLocks noGrp="1"/>
          </p:cNvSpPr>
          <p:nvPr/>
        </p:nvSpPr>
        <p:spPr>
          <a:xfrm>
            <a:off x="1024890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9" name="Butane C2 lower H atom">
            <a:extLst>
              <a:ext uri="{FF2B5EF4-FFF2-40B4-BE49-F238E27FC236}">
                <a16:creationId xmlns:a16="http://schemas.microsoft.com/office/drawing/2014/main" id="{FDEFD0CC-231C-2FD5-0BE1-2E51D3B29D53}"/>
              </a:ext>
            </a:extLst>
          </p:cNvPr>
          <p:cNvSpPr>
            <a:spLocks noGrp="1"/>
          </p:cNvSpPr>
          <p:nvPr/>
        </p:nvSpPr>
        <p:spPr>
          <a:xfrm>
            <a:off x="1012507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0" name="Butane C2 lower H label">
            <a:extLst>
              <a:ext uri="{FF2B5EF4-FFF2-40B4-BE49-F238E27FC236}">
                <a16:creationId xmlns:a16="http://schemas.microsoft.com/office/drawing/2014/main" id="{C6003215-25A1-6F16-8983-92115F6C0C1C}"/>
              </a:ext>
            </a:extLst>
          </p:cNvPr>
          <p:cNvSpPr>
            <a:spLocks noGrp="1"/>
          </p:cNvSpPr>
          <p:nvPr/>
        </p:nvSpPr>
        <p:spPr>
          <a:xfrm>
            <a:off x="1012507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91" name="Butane C3 upper H bond">
            <a:extLst>
              <a:ext uri="{FF2B5EF4-FFF2-40B4-BE49-F238E27FC236}">
                <a16:creationId xmlns:a16="http://schemas.microsoft.com/office/drawing/2014/main" id="{DEF0279C-556E-8190-9AEE-81811BBC5D7C}"/>
              </a:ext>
            </a:extLst>
          </p:cNvPr>
          <p:cNvSpPr>
            <a:spLocks noGrp="1"/>
          </p:cNvSpPr>
          <p:nvPr/>
        </p:nvSpPr>
        <p:spPr>
          <a:xfrm>
            <a:off x="1068705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2" name="Butane C3 upper H atom">
            <a:extLst>
              <a:ext uri="{FF2B5EF4-FFF2-40B4-BE49-F238E27FC236}">
                <a16:creationId xmlns:a16="http://schemas.microsoft.com/office/drawing/2014/main" id="{70B6FFD0-6D49-7690-F4F0-FA2142B9A4C8}"/>
              </a:ext>
            </a:extLst>
          </p:cNvPr>
          <p:cNvSpPr>
            <a:spLocks noGrp="1"/>
          </p:cNvSpPr>
          <p:nvPr/>
        </p:nvSpPr>
        <p:spPr>
          <a:xfrm>
            <a:off x="1056322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3" name="Butane C3 upper H label">
            <a:extLst>
              <a:ext uri="{FF2B5EF4-FFF2-40B4-BE49-F238E27FC236}">
                <a16:creationId xmlns:a16="http://schemas.microsoft.com/office/drawing/2014/main" id="{0B7E8E77-FC84-2809-08CC-70CB16796820}"/>
              </a:ext>
            </a:extLst>
          </p:cNvPr>
          <p:cNvSpPr>
            <a:spLocks noGrp="1"/>
          </p:cNvSpPr>
          <p:nvPr/>
        </p:nvSpPr>
        <p:spPr>
          <a:xfrm>
            <a:off x="1056322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94" name="Butane C3 lower H bond">
            <a:extLst>
              <a:ext uri="{FF2B5EF4-FFF2-40B4-BE49-F238E27FC236}">
                <a16:creationId xmlns:a16="http://schemas.microsoft.com/office/drawing/2014/main" id="{B7449378-227B-6E98-6EFC-8C79D68FA12C}"/>
              </a:ext>
            </a:extLst>
          </p:cNvPr>
          <p:cNvSpPr>
            <a:spLocks noGrp="1"/>
          </p:cNvSpPr>
          <p:nvPr/>
        </p:nvSpPr>
        <p:spPr>
          <a:xfrm>
            <a:off x="1068705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5" name="Butane C3 lower H atom">
            <a:extLst>
              <a:ext uri="{FF2B5EF4-FFF2-40B4-BE49-F238E27FC236}">
                <a16:creationId xmlns:a16="http://schemas.microsoft.com/office/drawing/2014/main" id="{799176EB-2B18-C446-7262-73507B9D87A2}"/>
              </a:ext>
            </a:extLst>
          </p:cNvPr>
          <p:cNvSpPr>
            <a:spLocks noGrp="1"/>
          </p:cNvSpPr>
          <p:nvPr/>
        </p:nvSpPr>
        <p:spPr>
          <a:xfrm>
            <a:off x="1056322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6" name="Butane C3 lower H label">
            <a:extLst>
              <a:ext uri="{FF2B5EF4-FFF2-40B4-BE49-F238E27FC236}">
                <a16:creationId xmlns:a16="http://schemas.microsoft.com/office/drawing/2014/main" id="{8B6E6D4A-9A2A-142A-E71F-3C09BBC2AF93}"/>
              </a:ext>
            </a:extLst>
          </p:cNvPr>
          <p:cNvSpPr>
            <a:spLocks noGrp="1"/>
          </p:cNvSpPr>
          <p:nvPr/>
        </p:nvSpPr>
        <p:spPr>
          <a:xfrm>
            <a:off x="1056322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97" name="Butane C4 upper H bond">
            <a:extLst>
              <a:ext uri="{FF2B5EF4-FFF2-40B4-BE49-F238E27FC236}">
                <a16:creationId xmlns:a16="http://schemas.microsoft.com/office/drawing/2014/main" id="{3F1E7E89-F84E-A838-FA2A-2E6C733EBD7B}"/>
              </a:ext>
            </a:extLst>
          </p:cNvPr>
          <p:cNvSpPr>
            <a:spLocks noGrp="1"/>
          </p:cNvSpPr>
          <p:nvPr/>
        </p:nvSpPr>
        <p:spPr>
          <a:xfrm>
            <a:off x="1112520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8" name="Butane C4 upper H atom">
            <a:extLst>
              <a:ext uri="{FF2B5EF4-FFF2-40B4-BE49-F238E27FC236}">
                <a16:creationId xmlns:a16="http://schemas.microsoft.com/office/drawing/2014/main" id="{20A3CF3E-810D-25CF-0255-36CF54D13FF5}"/>
              </a:ext>
            </a:extLst>
          </p:cNvPr>
          <p:cNvSpPr>
            <a:spLocks noGrp="1"/>
          </p:cNvSpPr>
          <p:nvPr/>
        </p:nvSpPr>
        <p:spPr>
          <a:xfrm>
            <a:off x="1100137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9" name="Butane C4 upper H label">
            <a:extLst>
              <a:ext uri="{FF2B5EF4-FFF2-40B4-BE49-F238E27FC236}">
                <a16:creationId xmlns:a16="http://schemas.microsoft.com/office/drawing/2014/main" id="{4A3FEC42-1851-3AFB-DDAF-80B15A93AE30}"/>
              </a:ext>
            </a:extLst>
          </p:cNvPr>
          <p:cNvSpPr>
            <a:spLocks noGrp="1"/>
          </p:cNvSpPr>
          <p:nvPr/>
        </p:nvSpPr>
        <p:spPr>
          <a:xfrm>
            <a:off x="1100137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00" name="Butane C4 lower H bond">
            <a:extLst>
              <a:ext uri="{FF2B5EF4-FFF2-40B4-BE49-F238E27FC236}">
                <a16:creationId xmlns:a16="http://schemas.microsoft.com/office/drawing/2014/main" id="{9B0D47E5-CB63-DF3C-2EF0-AA0E3AD63706}"/>
              </a:ext>
            </a:extLst>
          </p:cNvPr>
          <p:cNvSpPr>
            <a:spLocks noGrp="1"/>
          </p:cNvSpPr>
          <p:nvPr/>
        </p:nvSpPr>
        <p:spPr>
          <a:xfrm>
            <a:off x="1112520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Butane C4 lower H atom">
            <a:extLst>
              <a:ext uri="{FF2B5EF4-FFF2-40B4-BE49-F238E27FC236}">
                <a16:creationId xmlns:a16="http://schemas.microsoft.com/office/drawing/2014/main" id="{C01F6BCD-896D-A15D-1DE4-390ECB058BD8}"/>
              </a:ext>
            </a:extLst>
          </p:cNvPr>
          <p:cNvSpPr>
            <a:spLocks noGrp="1"/>
          </p:cNvSpPr>
          <p:nvPr/>
        </p:nvSpPr>
        <p:spPr>
          <a:xfrm>
            <a:off x="1100137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Butane C4 lower H label">
            <a:extLst>
              <a:ext uri="{FF2B5EF4-FFF2-40B4-BE49-F238E27FC236}">
                <a16:creationId xmlns:a16="http://schemas.microsoft.com/office/drawing/2014/main" id="{A55760F2-CD86-A594-CC86-CF568DC3824D}"/>
              </a:ext>
            </a:extLst>
          </p:cNvPr>
          <p:cNvSpPr>
            <a:spLocks noGrp="1"/>
          </p:cNvSpPr>
          <p:nvPr/>
        </p:nvSpPr>
        <p:spPr>
          <a:xfrm>
            <a:off x="1100137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03" name="Butane right H bond">
            <a:extLst>
              <a:ext uri="{FF2B5EF4-FFF2-40B4-BE49-F238E27FC236}">
                <a16:creationId xmlns:a16="http://schemas.microsoft.com/office/drawing/2014/main" id="{472E5830-92CD-9D9A-1DC5-BAB255C86A76}"/>
              </a:ext>
            </a:extLst>
          </p:cNvPr>
          <p:cNvSpPr>
            <a:spLocks noGrp="1"/>
          </p:cNvSpPr>
          <p:nvPr/>
        </p:nvSpPr>
        <p:spPr>
          <a:xfrm>
            <a:off x="1129665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Butane right H atom">
            <a:extLst>
              <a:ext uri="{FF2B5EF4-FFF2-40B4-BE49-F238E27FC236}">
                <a16:creationId xmlns:a16="http://schemas.microsoft.com/office/drawing/2014/main" id="{BAC7C2F1-6A95-CBA6-C729-9CD24D916E26}"/>
              </a:ext>
            </a:extLst>
          </p:cNvPr>
          <p:cNvSpPr>
            <a:spLocks noGrp="1"/>
          </p:cNvSpPr>
          <p:nvPr/>
        </p:nvSpPr>
        <p:spPr>
          <a:xfrm>
            <a:off x="1143952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Butane right H label">
            <a:extLst>
              <a:ext uri="{FF2B5EF4-FFF2-40B4-BE49-F238E27FC236}">
                <a16:creationId xmlns:a16="http://schemas.microsoft.com/office/drawing/2014/main" id="{DE0F1D4F-437F-318A-2E4A-B5D27F381F74}"/>
              </a:ext>
            </a:extLst>
          </p:cNvPr>
          <p:cNvSpPr>
            <a:spLocks noGrp="1"/>
          </p:cNvSpPr>
          <p:nvPr/>
        </p:nvSpPr>
        <p:spPr>
          <a:xfrm>
            <a:off x="1143952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544522066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50CF8-4B01-3F9C-622D-708C186E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F1B4F8-AAC9-072F-EEDF-D1794BA25BD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67EFDB-CF1C-8C4F-B301-18212CDA31B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18 / 61</a:t>
            </a:r>
          </a:p>
        </p:txBody>
      </p:sp>
      <p:sp>
        <p:nvSpPr>
          <p:cNvPr id="3" name="Natural gas reserves are also concentrated">
            <a:extLst>
              <a:ext uri="{FF2B5EF4-FFF2-40B4-BE49-F238E27FC236}">
                <a16:creationId xmlns:a16="http://schemas.microsoft.com/office/drawing/2014/main" id="{C2EDE165-385B-22BE-BA2F-3B0BDABB8A3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 gas reserves are also concentrated</a:t>
            </a:r>
          </a:p>
        </p:txBody>
      </p:sp>
      <p:sp>
        <p:nvSpPr>
          <p:cNvPr id="4" name="Share of global reserves (%) · 2011 book data · approxi">
            <a:extLst>
              <a:ext uri="{FF2B5EF4-FFF2-40B4-BE49-F238E27FC236}">
                <a16:creationId xmlns:a16="http://schemas.microsoft.com/office/drawing/2014/main" id="{D6A66760-3C20-B8CD-8561-7C5611C0A314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reserves (%) · 2011 book data · approximate bar readings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078817E7-E5C4-198F-B16A-14A2F0A09A96}"/>
              </a:ext>
            </a:extLst>
          </p:cNvPr>
          <p:cNvGraphicFramePr/>
          <p:nvPr/>
        </p:nvGraphicFramePr>
        <p:xfrm>
          <a:off x="714375" y="2428875"/>
          <a:ext cx="10715625" cy="288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ussia, Iran, and Qatar hold more than half in the book">
            <a:extLst>
              <a:ext uri="{FF2B5EF4-FFF2-40B4-BE49-F238E27FC236}">
                <a16:creationId xmlns:a16="http://schemas.microsoft.com/office/drawing/2014/main" id="{523F9490-DD4A-8650-593F-46264D4E4785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Russia, Iran, and Qatar hold more than half in the book’s dataset.</a:t>
            </a:r>
          </a:p>
        </p:txBody>
      </p:sp>
      <p:sp>
        <p:nvSpPr>
          <p:cNvPr id="7" name="Fig. 9.10, national panel redrawn: a few countries cont">
            <a:extLst>
              <a:ext uri="{FF2B5EF4-FFF2-40B4-BE49-F238E27FC236}">
                <a16:creationId xmlns:a16="http://schemas.microsoft.com/office/drawing/2014/main" id="{EEFA0BCF-4441-CCD6-0FD2-3EE11DC7452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9.10, national panel redrawn: a few countries control a large share of known gas reserves. Historical distribution, not a current ranking.</a:t>
            </a:r>
          </a:p>
        </p:txBody>
      </p:sp>
    </p:spTree>
    <p:extLst>
      <p:ext uri="{BB962C8B-B14F-4D97-AF65-F5344CB8AC3E}">
        <p14:creationId xmlns:p14="http://schemas.microsoft.com/office/powerpoint/2010/main" val="663416270"/>
      </p:ext>
    </p:extLst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19CA09-5A0C-880F-5D70-533E8E39B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D359631-BA6C-3655-1877-34E75958A07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F6443D-9BC4-3960-18FC-6B68D94D3C6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19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426AEFBE-428D-4E29-886C-18A7E36489D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natural gas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4F44A504-3950-4D78-B23F-F37B0721F39A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2011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06266C6E-45F2-4700-B8F3-513593FEEC73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02E6CEC6-1190-437A-A13B-9E3DE4C8563B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 Middle East and Northern Eurasia dominate this historical distribution.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F19E53D0-CC1A-4BA7-A20A-F1E6C99C9A8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9.10,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3153136726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FB4D86-5086-8FC6-AE7E-D315AE681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EE77F04-C245-C8E4-A7A8-BC633609BB2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2B5F16-3EE2-39B6-39E1-4B37AA04748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20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EFC6B25A-53E9-4084-93C8-8DAC4081936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28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 gas deposits, oil and coal beds</a:t>
            </a:r>
          </a:p>
        </p:txBody>
      </p:sp>
      <p:sp>
        <p:nvSpPr>
          <p:cNvPr id="11" name="REBUILT9_subtitle">
            <a:extLst>
              <a:ext uri="{FF2B5EF4-FFF2-40B4-BE49-F238E27FC236}">
                <a16:creationId xmlns:a16="http://schemas.microsoft.com/office/drawing/2014/main" id="{04E11BF2-5A94-4E8D-BC31-BDA512BF4902}"/>
              </a:ext>
            </a:extLst>
          </p:cNvPr>
          <p:cNvSpPr>
            <a:spLocks noGrp="1"/>
          </p:cNvSpPr>
          <p:nvPr/>
        </p:nvSpPr>
        <p:spPr>
          <a:xfrm>
            <a:off x="647700" y="1704975"/>
            <a:ext cx="1081087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Gas can migrate through porous rock and collect beneath an impermeable layer.</a:t>
            </a:r>
          </a:p>
        </p:txBody>
      </p:sp>
      <p:pic>
        <p:nvPicPr>
          <p:cNvPr id="12" name="REBUILT9_GAS" descr="Coastal geology: coal bed higher on land, oil lower beneath the sea, gas trapped beneath cap rock.">
            <a:extLst>
              <a:ext uri="{FF2B5EF4-FFF2-40B4-BE49-F238E27FC236}">
                <a16:creationId xmlns:a16="http://schemas.microsoft.com/office/drawing/2014/main" id="{AE5FA3C8-9361-4BDE-9AEC-5093914A3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2134152"/>
            <a:ext cx="10953750" cy="4380395"/>
          </a:xfrm>
          <a:prstGeom prst="rect">
            <a:avLst/>
          </a:prstGeom>
        </p:spPr>
      </p:pic>
      <p:sp>
        <p:nvSpPr>
          <p:cNvPr id="13" name="REBUILT9_caption">
            <a:extLst>
              <a:ext uri="{FF2B5EF4-FFF2-40B4-BE49-F238E27FC236}">
                <a16:creationId xmlns:a16="http://schemas.microsoft.com/office/drawing/2014/main" id="{D2D3CF17-364D-4EC3-99F4-557E8391DBE0}"/>
              </a:ext>
            </a:extLst>
          </p:cNvPr>
          <p:cNvSpPr>
            <a:spLocks noGrp="1"/>
          </p:cNvSpPr>
          <p:nvPr/>
        </p:nvSpPr>
        <p:spPr>
          <a:xfrm>
            <a:off x="723900" y="6496050"/>
            <a:ext cx="10715625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9.8, reconstructed teaching schematic. Colored zones represent fluids in rock pores, not open caverns.</a:t>
            </a:r>
          </a:p>
        </p:txBody>
      </p:sp>
    </p:spTree>
    <p:extLst>
      <p:ext uri="{BB962C8B-B14F-4D97-AF65-F5344CB8AC3E}">
        <p14:creationId xmlns:p14="http://schemas.microsoft.com/office/powerpoint/2010/main" val="3170172936"/>
      </p:ext>
    </p:extLst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91F918-D54A-C8BC-7BA4-06A50DC41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0696F3C-798E-779D-0499-C0571F42DAA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DDF68C-17BE-B1E0-A917-64F8C94A1D6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21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788345-FE3C-6FA5-A9AB-581E2359630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Nuclear Power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2512B7-DC9F-B0CE-2CA0-944D84C15CE3}"/>
              </a:ext>
            </a:extLst>
          </p:cNvPr>
          <p:cNvSpPr>
            <a:spLocks noGrp="1"/>
          </p:cNvSpPr>
          <p:nvPr/>
        </p:nvSpPr>
        <p:spPr>
          <a:xfrm>
            <a:off x="2473557" y="6143625"/>
            <a:ext cx="7225836" cy="54636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Nuclear Energy ---------------------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Reconstructed pressurized-water nuclear plant with three separate water circuits.">
            <a:extLst>
              <a:ext uri="{FF2B5EF4-FFF2-40B4-BE49-F238E27FC236}">
                <a16:creationId xmlns:a16="http://schemas.microsoft.com/office/drawing/2014/main" id="{459753C8-17F3-CD21-C5CF-6FBDC8525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10" name="POWER9_caption">
            <a:extLst>
              <a:ext uri="{FF2B5EF4-FFF2-40B4-BE49-F238E27FC236}">
                <a16:creationId xmlns:a16="http://schemas.microsoft.com/office/drawing/2014/main" id="{8ADD1328-7464-4C5A-8EBA-00ADF3764570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9.17, reconstructed. Fission supplies heat. Three separate water circuits transfer heat without mixing.</a:t>
            </a:r>
          </a:p>
        </p:txBody>
      </p:sp>
    </p:spTree>
    <p:extLst>
      <p:ext uri="{BB962C8B-B14F-4D97-AF65-F5344CB8AC3E}">
        <p14:creationId xmlns:p14="http://schemas.microsoft.com/office/powerpoint/2010/main" val="3980193032"/>
      </p:ext>
    </p:extLst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1DFFC-5898-80D2-BCDC-8F9CF3C9C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A9BBFF8-55A5-779A-6CFC-31C896E7E21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24DD88-E113-32AD-DE7A-F1858DC613A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22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3949DC-C731-DBAF-FAD7-64EDF8BB1C8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Nuclear Power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NUCLEAR ENERGY">
            <a:extLst>
              <a:ext uri="{FF2B5EF4-FFF2-40B4-BE49-F238E27FC236}">
                <a16:creationId xmlns:a16="http://schemas.microsoft.com/office/drawing/2014/main" id="{1B1FB183-DCF8-223D-FA8C-EDCF8ED9AE65}"/>
              </a:ext>
            </a:extLst>
          </p:cNvPr>
          <p:cNvSpPr>
            <a:spLocks noGrp="1"/>
          </p:cNvSpPr>
          <p:nvPr/>
        </p:nvSpPr>
        <p:spPr>
          <a:xfrm>
            <a:off x="733425" y="2000250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NUCLEAR ENERGY</a:t>
            </a:r>
          </a:p>
        </p:txBody>
      </p:sp>
      <p:sp>
        <p:nvSpPr>
          <p:cNvPr id="7" name="THERMAL ENERGY">
            <a:extLst>
              <a:ext uri="{FF2B5EF4-FFF2-40B4-BE49-F238E27FC236}">
                <a16:creationId xmlns:a16="http://schemas.microsoft.com/office/drawing/2014/main" id="{3A1F3416-CE05-A06D-5C22-F3115BB1FAD7}"/>
              </a:ext>
            </a:extLst>
          </p:cNvPr>
          <p:cNvSpPr>
            <a:spLocks noGrp="1"/>
          </p:cNvSpPr>
          <p:nvPr/>
        </p:nvSpPr>
        <p:spPr>
          <a:xfrm>
            <a:off x="4152900" y="2000250"/>
            <a:ext cx="233362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THERMAL ENERGY</a:t>
            </a:r>
          </a:p>
        </p:txBody>
      </p:sp>
      <p:sp>
        <p:nvSpPr>
          <p:cNvPr id="8" name="MECHANICAL">
            <a:extLst>
              <a:ext uri="{FF2B5EF4-FFF2-40B4-BE49-F238E27FC236}">
                <a16:creationId xmlns:a16="http://schemas.microsoft.com/office/drawing/2014/main" id="{F560F66B-EAB6-18AD-47CD-613D6B3F0B4E}"/>
              </a:ext>
            </a:extLst>
          </p:cNvPr>
          <p:cNvSpPr>
            <a:spLocks noGrp="1"/>
          </p:cNvSpPr>
          <p:nvPr/>
        </p:nvSpPr>
        <p:spPr>
          <a:xfrm>
            <a:off x="6762750" y="2000250"/>
            <a:ext cx="214312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MECHANICAL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3B5752-F247-EB9D-7D5F-43289F5B9144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9050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B7A0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actor core">
            <a:extLst>
              <a:ext uri="{FF2B5EF4-FFF2-40B4-BE49-F238E27FC236}">
                <a16:creationId xmlns:a16="http://schemas.microsoft.com/office/drawing/2014/main" id="{7391DEF0-1CE1-B1BF-9C5D-C7255E89DD79}"/>
              </a:ext>
            </a:extLst>
          </p:cNvPr>
          <p:cNvSpPr>
            <a:spLocks noGrp="1"/>
          </p:cNvSpPr>
          <p:nvPr/>
        </p:nvSpPr>
        <p:spPr>
          <a:xfrm>
            <a:off x="838200" y="2952750"/>
            <a:ext cx="1714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Reactor core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592F2-9D90-48F1-4DB7-67671233BD99}"/>
              </a:ext>
            </a:extLst>
          </p:cNvPr>
          <p:cNvSpPr>
            <a:spLocks noGrp="1"/>
          </p:cNvSpPr>
          <p:nvPr/>
        </p:nvSpPr>
        <p:spPr>
          <a:xfrm>
            <a:off x="3505200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FBC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team&#10;generator">
            <a:extLst>
              <a:ext uri="{FF2B5EF4-FFF2-40B4-BE49-F238E27FC236}">
                <a16:creationId xmlns:a16="http://schemas.microsoft.com/office/drawing/2014/main" id="{DA6132DD-22B6-5C1D-922A-A9E89BC21F3A}"/>
              </a:ext>
            </a:extLst>
          </p:cNvPr>
          <p:cNvSpPr>
            <a:spLocks noGrp="1"/>
          </p:cNvSpPr>
          <p:nvPr/>
        </p:nvSpPr>
        <p:spPr>
          <a:xfrm>
            <a:off x="3600450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Steam</a:t>
            </a:r>
          </a:p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generator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2F3B0A-5197-612D-34A4-14623C20C71F}"/>
              </a:ext>
            </a:extLst>
          </p:cNvPr>
          <p:cNvSpPr>
            <a:spLocks noGrp="1"/>
          </p:cNvSpPr>
          <p:nvPr/>
        </p:nvSpPr>
        <p:spPr>
          <a:xfrm>
            <a:off x="6315075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Steam&#10;turbine">
            <a:extLst>
              <a:ext uri="{FF2B5EF4-FFF2-40B4-BE49-F238E27FC236}">
                <a16:creationId xmlns:a16="http://schemas.microsoft.com/office/drawing/2014/main" id="{B2BE87A4-4165-9BF0-DEAD-9827336417A9}"/>
              </a:ext>
            </a:extLst>
          </p:cNvPr>
          <p:cNvSpPr>
            <a:spLocks noGrp="1"/>
          </p:cNvSpPr>
          <p:nvPr/>
        </p:nvSpPr>
        <p:spPr>
          <a:xfrm>
            <a:off x="6410325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Steam</a:t>
            </a:r>
          </a:p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turbine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7826DC-C296-5840-6671-50B5FF919534}"/>
              </a:ext>
            </a:extLst>
          </p:cNvPr>
          <p:cNvSpPr>
            <a:spLocks noGrp="1"/>
          </p:cNvSpPr>
          <p:nvPr/>
        </p:nvSpPr>
        <p:spPr>
          <a:xfrm>
            <a:off x="9124950" y="2857500"/>
            <a:ext cx="20955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7D6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Generator">
            <a:extLst>
              <a:ext uri="{FF2B5EF4-FFF2-40B4-BE49-F238E27FC236}">
                <a16:creationId xmlns:a16="http://schemas.microsoft.com/office/drawing/2014/main" id="{0C77ECE1-97ED-6681-AD88-2D6893A3BF63}"/>
              </a:ext>
            </a:extLst>
          </p:cNvPr>
          <p:cNvSpPr>
            <a:spLocks noGrp="1"/>
          </p:cNvSpPr>
          <p:nvPr/>
        </p:nvSpPr>
        <p:spPr>
          <a:xfrm>
            <a:off x="9220200" y="2952750"/>
            <a:ext cx="19050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7D675"/>
                </a:solidFill>
                <a:latin typeface="Arial"/>
                <a:ea typeface="Arial"/>
                <a:cs typeface="Arial"/>
              </a:rPr>
              <a:t>Generator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DF12FDEA-0CB2-C111-3E64-9BEE1091709F}"/>
              </a:ext>
            </a:extLst>
          </p:cNvPr>
          <p:cNvSpPr>
            <a:spLocks noGrp="1"/>
          </p:cNvSpPr>
          <p:nvPr/>
        </p:nvSpPr>
        <p:spPr>
          <a:xfrm>
            <a:off x="2705100" y="3209925"/>
            <a:ext cx="723900" cy="209550"/>
          </a:xfrm>
          <a:prstGeom prst="rightArrow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DE159816-718F-15D2-EE01-8A91E5277872}"/>
              </a:ext>
            </a:extLst>
          </p:cNvPr>
          <p:cNvSpPr>
            <a:spLocks noGrp="1"/>
          </p:cNvSpPr>
          <p:nvPr/>
        </p:nvSpPr>
        <p:spPr>
          <a:xfrm>
            <a:off x="5514975" y="3209925"/>
            <a:ext cx="723900" cy="20955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E7769DD9-73F6-B25A-C6DB-C51AFC8069FC}"/>
              </a:ext>
            </a:extLst>
          </p:cNvPr>
          <p:cNvSpPr>
            <a:spLocks noGrp="1"/>
          </p:cNvSpPr>
          <p:nvPr/>
        </p:nvSpPr>
        <p:spPr>
          <a:xfrm>
            <a:off x="8324850" y="3209925"/>
            <a:ext cx="723900" cy="20955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Fission releases heat">
            <a:extLst>
              <a:ext uri="{FF2B5EF4-FFF2-40B4-BE49-F238E27FC236}">
                <a16:creationId xmlns:a16="http://schemas.microsoft.com/office/drawing/2014/main" id="{B3C5A679-3D1D-E6E1-EF4C-0008CE64DB7B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2714625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Fission releases heat</a:t>
            </a:r>
          </a:p>
        </p:txBody>
      </p:sp>
      <p:sp>
        <p:nvSpPr>
          <p:cNvPr id="24" name="Steam expands&#10;and turns the shaft">
            <a:extLst>
              <a:ext uri="{FF2B5EF4-FFF2-40B4-BE49-F238E27FC236}">
                <a16:creationId xmlns:a16="http://schemas.microsoft.com/office/drawing/2014/main" id="{64E70C02-F364-2DAA-1793-99F9CD1A49DC}"/>
              </a:ext>
            </a:extLst>
          </p:cNvPr>
          <p:cNvSpPr>
            <a:spLocks noGrp="1"/>
          </p:cNvSpPr>
          <p:nvPr/>
        </p:nvSpPr>
        <p:spPr>
          <a:xfrm>
            <a:off x="6257925" y="3943350"/>
            <a:ext cx="2190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Steam expands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turns the shaft</a:t>
            </a:r>
          </a:p>
        </p:txBody>
      </p:sp>
      <p:sp>
        <p:nvSpPr>
          <p:cNvPr id="25" name="Magnetic induction&#10;produces current">
            <a:extLst>
              <a:ext uri="{FF2B5EF4-FFF2-40B4-BE49-F238E27FC236}">
                <a16:creationId xmlns:a16="http://schemas.microsoft.com/office/drawing/2014/main" id="{1EC6A127-A44C-F066-BCC1-91DD45A437E1}"/>
              </a:ext>
            </a:extLst>
          </p:cNvPr>
          <p:cNvSpPr>
            <a:spLocks noGrp="1"/>
          </p:cNvSpPr>
          <p:nvPr/>
        </p:nvSpPr>
        <p:spPr>
          <a:xfrm>
            <a:off x="9067800" y="3943350"/>
            <a:ext cx="23526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Magnetic induction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produces current</a:t>
            </a:r>
          </a:p>
        </p:txBody>
      </p:sp>
      <p:sp>
        <p:nvSpPr>
          <p:cNvPr id="26" name="Primary coolant loop&#10;transfers heat; water stays separa">
            <a:extLst>
              <a:ext uri="{FF2B5EF4-FFF2-40B4-BE49-F238E27FC236}">
                <a16:creationId xmlns:a16="http://schemas.microsoft.com/office/drawing/2014/main" id="{171BB206-7F21-9695-9A06-CDDE2897777C}"/>
              </a:ext>
            </a:extLst>
          </p:cNvPr>
          <p:cNvSpPr>
            <a:spLocks noGrp="1"/>
          </p:cNvSpPr>
          <p:nvPr/>
        </p:nvSpPr>
        <p:spPr>
          <a:xfrm>
            <a:off x="685800" y="4886325"/>
            <a:ext cx="3952875" cy="6953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7A0F5"/>
                </a:solidFill>
                <a:latin typeface="Arial"/>
                <a:ea typeface="Arial"/>
                <a:cs typeface="Arial"/>
              </a:rPr>
              <a:t>Primary coolant loop</a:t>
            </a:r>
          </a:p>
          <a:p>
            <a:pPr algn="l">
              <a:defRPr sz="1650" b="0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7A0F5"/>
                </a:solidFill>
                <a:latin typeface="Arial"/>
                <a:ea typeface="Arial"/>
                <a:cs typeface="Arial"/>
              </a:rPr>
              <a:t>transfers heat; water stays separate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CAE5DC0-9C56-9630-1976-3BBD2C482C2C}"/>
              </a:ext>
            </a:extLst>
          </p:cNvPr>
          <p:cNvSpPr>
            <a:spLocks noGrp="1"/>
          </p:cNvSpPr>
          <p:nvPr/>
        </p:nvSpPr>
        <p:spPr>
          <a:xfrm>
            <a:off x="6296025" y="4905375"/>
            <a:ext cx="197167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Condenser">
            <a:extLst>
              <a:ext uri="{FF2B5EF4-FFF2-40B4-BE49-F238E27FC236}">
                <a16:creationId xmlns:a16="http://schemas.microsoft.com/office/drawing/2014/main" id="{F407743D-62E7-2051-DCF0-65595F68461D}"/>
              </a:ext>
            </a:extLst>
          </p:cNvPr>
          <p:cNvSpPr>
            <a:spLocks noGrp="1"/>
          </p:cNvSpPr>
          <p:nvPr/>
        </p:nvSpPr>
        <p:spPr>
          <a:xfrm>
            <a:off x="6391275" y="5000625"/>
            <a:ext cx="17811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Condenser</a:t>
            </a:r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C7DAEFFB-D1FE-B0BC-76BA-CBE0367559E6}"/>
              </a:ext>
            </a:extLst>
          </p:cNvPr>
          <p:cNvSpPr>
            <a:spLocks noGrp="1"/>
          </p:cNvSpPr>
          <p:nvPr/>
        </p:nvSpPr>
        <p:spPr>
          <a:xfrm>
            <a:off x="7134225" y="4533900"/>
            <a:ext cx="266700" cy="285750"/>
          </a:xfrm>
          <a:prstGeom prst="down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CB0212-8F89-11BE-4540-B49059BE339C}"/>
              </a:ext>
            </a:extLst>
          </p:cNvPr>
          <p:cNvSpPr>
            <a:spLocks noGrp="1"/>
          </p:cNvSpPr>
          <p:nvPr/>
        </p:nvSpPr>
        <p:spPr>
          <a:xfrm>
            <a:off x="9191625" y="4905375"/>
            <a:ext cx="202882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Cooling system">
            <a:extLst>
              <a:ext uri="{FF2B5EF4-FFF2-40B4-BE49-F238E27FC236}">
                <a16:creationId xmlns:a16="http://schemas.microsoft.com/office/drawing/2014/main" id="{E78AC6A6-74B7-B2CD-DF25-0F956C1F82D8}"/>
              </a:ext>
            </a:extLst>
          </p:cNvPr>
          <p:cNvSpPr>
            <a:spLocks noGrp="1"/>
          </p:cNvSpPr>
          <p:nvPr/>
        </p:nvSpPr>
        <p:spPr>
          <a:xfrm>
            <a:off x="9286875" y="5000625"/>
            <a:ext cx="183832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Cooling system</a:t>
            </a:r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681AB695-9810-316C-D66A-2C70F2A22ECC}"/>
              </a:ext>
            </a:extLst>
          </p:cNvPr>
          <p:cNvSpPr>
            <a:spLocks noGrp="1"/>
          </p:cNvSpPr>
          <p:nvPr/>
        </p:nvSpPr>
        <p:spPr>
          <a:xfrm>
            <a:off x="8343900" y="5105400"/>
            <a:ext cx="752475" cy="19050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74FAA775-6DA8-9B41-D87F-82A69606F352}"/>
              </a:ext>
            </a:extLst>
          </p:cNvPr>
          <p:cNvSpPr>
            <a:spLocks noGrp="1"/>
          </p:cNvSpPr>
          <p:nvPr/>
        </p:nvSpPr>
        <p:spPr>
          <a:xfrm>
            <a:off x="4476750" y="5219700"/>
            <a:ext cx="1752600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F0BBE419-4E57-179D-67E0-D47E1B197785}"/>
              </a:ext>
            </a:extLst>
          </p:cNvPr>
          <p:cNvSpPr>
            <a:spLocks noGrp="1"/>
          </p:cNvSpPr>
          <p:nvPr/>
        </p:nvSpPr>
        <p:spPr>
          <a:xfrm>
            <a:off x="4476750" y="3857625"/>
            <a:ext cx="0" cy="13620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Up Arrow 34">
            <a:extLst>
              <a:ext uri="{FF2B5EF4-FFF2-40B4-BE49-F238E27FC236}">
                <a16:creationId xmlns:a16="http://schemas.microsoft.com/office/drawing/2014/main" id="{9E74F852-3767-6628-F76B-92F0EBE962C4}"/>
              </a:ext>
            </a:extLst>
          </p:cNvPr>
          <p:cNvSpPr>
            <a:spLocks noGrp="1"/>
          </p:cNvSpPr>
          <p:nvPr/>
        </p:nvSpPr>
        <p:spPr>
          <a:xfrm>
            <a:off x="4371975" y="3819525"/>
            <a:ext cx="219075" cy="333375"/>
          </a:xfrm>
          <a:prstGeom prst="up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Liquid water returns">
            <a:extLst>
              <a:ext uri="{FF2B5EF4-FFF2-40B4-BE49-F238E27FC236}">
                <a16:creationId xmlns:a16="http://schemas.microsoft.com/office/drawing/2014/main" id="{EE9BDEA9-1FB2-25B5-49E0-53199E165FFE}"/>
              </a:ext>
            </a:extLst>
          </p:cNvPr>
          <p:cNvSpPr>
            <a:spLocks noGrp="1"/>
          </p:cNvSpPr>
          <p:nvPr/>
        </p:nvSpPr>
        <p:spPr>
          <a:xfrm>
            <a:off x="4267200" y="5572125"/>
            <a:ext cx="269557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Liquid water returns</a:t>
            </a:r>
          </a:p>
        </p:txBody>
      </p:sp>
      <p:sp>
        <p:nvSpPr>
          <p:cNvPr id="37" name="Fig. 9.17, redrawn: controlled fission supplies heat fo">
            <a:extLst>
              <a:ext uri="{FF2B5EF4-FFF2-40B4-BE49-F238E27FC236}">
                <a16:creationId xmlns:a16="http://schemas.microsoft.com/office/drawing/2014/main" id="{2793620E-A3B7-7B07-4C2C-B8B49A653C1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9.17, redrawn: controlled fission supplies heat for steam-driven electricity generation. The cooling loop removes waste heat.</a:t>
            </a:r>
          </a:p>
        </p:txBody>
      </p:sp>
    </p:spTree>
    <p:extLst>
      <p:ext uri="{BB962C8B-B14F-4D97-AF65-F5344CB8AC3E}">
        <p14:creationId xmlns:p14="http://schemas.microsoft.com/office/powerpoint/2010/main" val="2890494142"/>
      </p:ext>
    </p:extLst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A189A9-EB52-D5BD-B71D-2ACEFAFE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7EF31E-1A23-E763-3DEE-D47028A702C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FB4C8B-16DB-7B14-F79A-40501B0E039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23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095F35-280A-3741-2DF4-2AC70BDA4E8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Nuclear E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nergy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DEBA141-B29F-A6F8-6375-8955BD355697}"/>
              </a:ext>
            </a:extLst>
          </p:cNvPr>
          <p:cNvGraphicFramePr/>
          <p:nvPr/>
        </p:nvGraphicFramePr>
        <p:xfrm>
          <a:off x="951352" y="904875"/>
          <a:ext cx="10289295" cy="1857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REBUILT9_NUCLEAR" descr="Schematic fission and fusion reactions. Hydrogen-1 and Hydrogen-2 symbols have matching sizes; symbols are not to scale.">
            <a:extLst>
              <a:ext uri="{FF2B5EF4-FFF2-40B4-BE49-F238E27FC236}">
                <a16:creationId xmlns:a16="http://schemas.microsoft.com/office/drawing/2014/main" id="{28D73DDA-A670-47DF-AD2D-7FA2479F6F3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5000" b="15000"/>
          <a:stretch/>
        </p:blipFill>
        <p:spPr>
          <a:xfrm>
            <a:off x="476250" y="3219450"/>
            <a:ext cx="11239500" cy="3143250"/>
          </a:xfrm>
          <a:prstGeom prst="rect">
            <a:avLst/>
          </a:prstGeom>
        </p:spPr>
      </p:pic>
      <p:sp>
        <p:nvSpPr>
          <p:cNvPr id="11" name="REBUILT9_caption">
            <a:extLst>
              <a:ext uri="{FF2B5EF4-FFF2-40B4-BE49-F238E27FC236}">
                <a16:creationId xmlns:a16="http://schemas.microsoft.com/office/drawing/2014/main" id="{23F995E1-2662-4F2D-9FEA-D6BE4BFE2EF6}"/>
              </a:ext>
            </a:extLst>
          </p:cNvPr>
          <p:cNvSpPr>
            <a:spLocks noGrp="1"/>
          </p:cNvSpPr>
          <p:nvPr/>
        </p:nvSpPr>
        <p:spPr>
          <a:xfrm>
            <a:off x="723900" y="6467475"/>
            <a:ext cx="10715625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9.15, reconstructed with full isotope names. Fission splits nuclei. Fusion combines nuclei.</a:t>
            </a:r>
          </a:p>
        </p:txBody>
      </p:sp>
    </p:spTree>
    <p:extLst>
      <p:ext uri="{BB962C8B-B14F-4D97-AF65-F5344CB8AC3E}">
        <p14:creationId xmlns:p14="http://schemas.microsoft.com/office/powerpoint/2010/main" val="1823160468"/>
      </p:ext>
    </p:extLst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94DFB7-9B32-9A4A-3F72-C31E342C6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57B92D-8F6A-E77F-FA3C-BDF68E73FFE0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29591-6E3B-32CB-5839-F34FA7FACEB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24 / 61</a:t>
            </a:r>
          </a:p>
        </p:txBody>
      </p:sp>
      <p:sp>
        <p:nvSpPr>
          <p:cNvPr id="10" name="Share of global recoverable uranium (%) · 2012 book dat">
            <a:extLst>
              <a:ext uri="{FF2B5EF4-FFF2-40B4-BE49-F238E27FC236}">
                <a16:creationId xmlns:a16="http://schemas.microsoft.com/office/drawing/2014/main" id="{A82A01B5-4A33-9579-A2E6-2DE294625028}"/>
              </a:ext>
            </a:extLst>
          </p:cNvPr>
          <p:cNvSpPr>
            <a:spLocks noGrp="1"/>
          </p:cNvSpPr>
          <p:nvPr/>
        </p:nvSpPr>
        <p:spPr>
          <a:xfrm>
            <a:off x="714375" y="1962150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recoverable uranium (%) · 2012 book data · approximate bar readings</a:t>
            </a:r>
          </a:p>
        </p:txBody>
      </p:sp>
      <p:graphicFrame>
        <p:nvGraphicFramePr>
          <p:cNvPr id="11" name="Chart">
            <a:extLst>
              <a:ext uri="{FF2B5EF4-FFF2-40B4-BE49-F238E27FC236}">
                <a16:creationId xmlns:a16="http://schemas.microsoft.com/office/drawing/2014/main" id="{6E2874FA-DD49-E549-AEE4-C8114CB6D495}"/>
              </a:ext>
            </a:extLst>
          </p:cNvPr>
          <p:cNvGraphicFramePr/>
          <p:nvPr/>
        </p:nvGraphicFramePr>
        <p:xfrm>
          <a:off x="714375" y="2419350"/>
          <a:ext cx="10715625" cy="312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Australia accounts for nearly one-third in this histori">
            <a:extLst>
              <a:ext uri="{FF2B5EF4-FFF2-40B4-BE49-F238E27FC236}">
                <a16:creationId xmlns:a16="http://schemas.microsoft.com/office/drawing/2014/main" id="{6E4F0ECA-7B19-ABBD-AE97-474CF0EF29A7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Australia accounts for nearly one-third in this historical inventory.</a:t>
            </a:r>
          </a:p>
        </p:txBody>
      </p:sp>
      <p:sp>
        <p:nvSpPr>
          <p:cNvPr id="13" name="Fig. 9.16, national panel redrawn: recoverable uranium ">
            <a:extLst>
              <a:ext uri="{FF2B5EF4-FFF2-40B4-BE49-F238E27FC236}">
                <a16:creationId xmlns:a16="http://schemas.microsoft.com/office/drawing/2014/main" id="{72952FBE-0931-1094-D252-4A2FE1511332}"/>
              </a:ext>
            </a:extLst>
          </p:cNvPr>
          <p:cNvSpPr>
            <a:spLocks noGrp="1"/>
          </p:cNvSpPr>
          <p:nvPr/>
        </p:nvSpPr>
        <p:spPr>
          <a:xfrm>
            <a:off x="557212" y="6139543"/>
            <a:ext cx="1105852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9.16, national panel redrawn: recoverable uranium reserves concentrate in relatively few countries. Bars show the 14 countries plotted in the book.</a:t>
            </a:r>
          </a:p>
        </p:txBody>
      </p:sp>
      <p:sp>
        <p:nvSpPr>
          <p:cNvPr id="14" name="Uranium is a finite and unevenly distributed fuel">
            <a:extLst>
              <a:ext uri="{FF2B5EF4-FFF2-40B4-BE49-F238E27FC236}">
                <a16:creationId xmlns:a16="http://schemas.microsoft.com/office/drawing/2014/main" id="{9253EA71-8FDE-15C7-D265-F238BC58977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Uranium is a finite and unevenly distributed fuel</a:t>
            </a:r>
          </a:p>
        </p:txBody>
      </p:sp>
    </p:spTree>
    <p:extLst>
      <p:ext uri="{BB962C8B-B14F-4D97-AF65-F5344CB8AC3E}">
        <p14:creationId xmlns:p14="http://schemas.microsoft.com/office/powerpoint/2010/main" val="3598296821"/>
      </p:ext>
    </p:extLst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F830C6-E74E-E41D-7CA0-D7007F965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68186-2A79-EA49-C783-929C6DC7BFB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E08140-ABEC-0201-1FAA-2D1160B4595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25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7748CFC9-D175-4802-92E2-31D690B4FF69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uranium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E7B6D124-968A-46AF-AC0B-C8088F7F402D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2012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31AB08AC-276C-49B3-87ED-670C63634855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A6D6CE49-FFA4-4931-B613-A1EAFF98381C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Asia Pacific has the largest regional share in the book’s distribution.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7F320BE7-6B5D-4722-A1D8-A08E79F1841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9.16,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3139848905"/>
      </p:ext>
    </p:extLst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1AEEB1-67CB-ACE4-2B3B-38AB181EC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9504AD3-9CFD-1DB6-7662-E19E5C6D898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A85A4F-4017-9409-128E-8D620542551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26 / 61</a:t>
            </a:r>
          </a:p>
        </p:txBody>
      </p:sp>
      <p:sp>
        <p:nvSpPr>
          <p:cNvPr id="3" name="Electricity mixes differ among regions">
            <a:extLst>
              <a:ext uri="{FF2B5EF4-FFF2-40B4-BE49-F238E27FC236}">
                <a16:creationId xmlns:a16="http://schemas.microsoft.com/office/drawing/2014/main" id="{A64B211E-484F-51A3-F4DE-A240EDAFCDB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Electricity mixes differ among regions</a:t>
            </a:r>
          </a:p>
        </p:txBody>
      </p:sp>
      <p:sp>
        <p:nvSpPr>
          <p:cNvPr id="6" name="Share of electrical generation (%) · printed percentage">
            <a:extLst>
              <a:ext uri="{FF2B5EF4-FFF2-40B4-BE49-F238E27FC236}">
                <a16:creationId xmlns:a16="http://schemas.microsoft.com/office/drawing/2014/main" id="{BD56FED3-BED7-9D16-66CC-2D8EA7B84A26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electrical generation (%)</a:t>
            </a:r>
          </a:p>
        </p:txBody>
      </p:sp>
      <p:sp>
        <p:nvSpPr>
          <p:cNvPr id="8" name="Fig. 9.13, redrawn: fossil fuels dominate the world/U.S">
            <a:extLst>
              <a:ext uri="{FF2B5EF4-FFF2-40B4-BE49-F238E27FC236}">
                <a16:creationId xmlns:a16="http://schemas.microsoft.com/office/drawing/2014/main" id="{24B2EE10-6C12-A0FF-75A8-1C6F828DF95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9.13, redrawn. Fossil fuels dominate the world/U.S. examples, while renewables dominate Brazil.</a:t>
            </a:r>
          </a:p>
          <a:p>
            <a:pPr algn="l">
              <a:buNone/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Book values retained. Rounded shares total 100%, 99%, and 98%, respectively. Brazil’s year is unspecified.</a:t>
            </a:r>
          </a:p>
        </p:txBody>
      </p:sp>
      <p:graphicFrame>
        <p:nvGraphicFramePr>
          <p:cNvPr id="11" name="Chart">
            <a:extLst>
              <a:ext uri="{FF2B5EF4-FFF2-40B4-BE49-F238E27FC236}">
                <a16:creationId xmlns:a16="http://schemas.microsoft.com/office/drawing/2014/main" id="{05087A24-0003-0B3A-49F9-EE09B2B965B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0215588"/>
              </p:ext>
            </p:extLst>
          </p:nvPr>
        </p:nvGraphicFramePr>
        <p:xfrm>
          <a:off x="685800" y="2438400"/>
          <a:ext cx="5762625" cy="338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C0750B7-419B-0F67-033E-B0035EECE13B}"/>
              </a:ext>
            </a:extLst>
          </p:cNvPr>
          <p:cNvGraphicFramePr/>
          <p:nvPr/>
        </p:nvGraphicFramePr>
        <p:xfrm>
          <a:off x="6772275" y="2466975"/>
          <a:ext cx="4714875" cy="3301638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World</a:t>
                      </a:r>
                    </a:p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2011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U.S.</a:t>
                      </a:r>
                    </a:p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2013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Brazil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41%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39%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Natural gas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27%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6%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Oil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5%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3%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Nuclear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13%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19%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3%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Biomass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5%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Other renewables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18%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12%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80%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677303"/>
      </p:ext>
    </p:extLst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F82CAD-62D5-963F-8B6E-1BD2AD4DE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C263E0-4222-4BE6-3B73-7571C951672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1235EF-DB13-F914-5903-6DFC68CEA3D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27 / 61</a:t>
            </a:r>
          </a:p>
        </p:txBody>
      </p:sp>
      <p:sp>
        <p:nvSpPr>
          <p:cNvPr id="3" name="Electricity mixes differ among regions">
            <a:extLst>
              <a:ext uri="{FF2B5EF4-FFF2-40B4-BE49-F238E27FC236}">
                <a16:creationId xmlns:a16="http://schemas.microsoft.com/office/drawing/2014/main" id="{5DCCB36A-82F9-2827-D833-57A274AAA409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Electricity mixes differ among regions</a:t>
            </a:r>
          </a:p>
        </p:txBody>
      </p:sp>
      <p:sp>
        <p:nvSpPr>
          <p:cNvPr id="6" name="Share of electrical generation (%) · printed percentage">
            <a:extLst>
              <a:ext uri="{FF2B5EF4-FFF2-40B4-BE49-F238E27FC236}">
                <a16:creationId xmlns:a16="http://schemas.microsoft.com/office/drawing/2014/main" id="{09FA0C02-4C78-F2F6-B142-62E5870CCD31}"/>
              </a:ext>
            </a:extLst>
          </p:cNvPr>
          <p:cNvSpPr>
            <a:spLocks noGrp="1"/>
          </p:cNvSpPr>
          <p:nvPr/>
        </p:nvSpPr>
        <p:spPr>
          <a:xfrm>
            <a:off x="714375" y="1695450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electrical generation (%)</a:t>
            </a:r>
          </a:p>
        </p:txBody>
      </p:sp>
      <p:graphicFrame>
        <p:nvGraphicFramePr>
          <p:cNvPr id="10" name="REV9_PIE_1">
            <a:extLst>
              <a:ext uri="{FF2B5EF4-FFF2-40B4-BE49-F238E27FC236}">
                <a16:creationId xmlns:a16="http://schemas.microsoft.com/office/drawing/2014/main" id="{31819DF7-F6BD-4D30-AC21-425E7DF28353}"/>
              </a:ext>
            </a:extLst>
          </p:cNvPr>
          <p:cNvGraphicFramePr/>
          <p:nvPr/>
        </p:nvGraphicFramePr>
        <p:xfrm>
          <a:off x="590550" y="2019300"/>
          <a:ext cx="3571875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REV9_PIE_2">
            <a:extLst>
              <a:ext uri="{FF2B5EF4-FFF2-40B4-BE49-F238E27FC236}">
                <a16:creationId xmlns:a16="http://schemas.microsoft.com/office/drawing/2014/main" id="{BC1ADE88-7EBD-4A1B-A336-F7832EFAC090}"/>
              </a:ext>
            </a:extLst>
          </p:cNvPr>
          <p:cNvGraphicFramePr/>
          <p:nvPr/>
        </p:nvGraphicFramePr>
        <p:xfrm>
          <a:off x="4305300" y="2019300"/>
          <a:ext cx="3571875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REV9_PIE_3">
            <a:extLst>
              <a:ext uri="{FF2B5EF4-FFF2-40B4-BE49-F238E27FC236}">
                <a16:creationId xmlns:a16="http://schemas.microsoft.com/office/drawing/2014/main" id="{47557DD7-4033-4EB6-8865-95C5C526EA05}"/>
              </a:ext>
            </a:extLst>
          </p:cNvPr>
          <p:cNvGraphicFramePr/>
          <p:nvPr/>
        </p:nvGraphicFramePr>
        <p:xfrm>
          <a:off x="8020050" y="2019300"/>
          <a:ext cx="3571875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REV9_caption">
            <a:extLst>
              <a:ext uri="{FF2B5EF4-FFF2-40B4-BE49-F238E27FC236}">
                <a16:creationId xmlns:a16="http://schemas.microsoft.com/office/drawing/2014/main" id="{CFA6AC62-5541-4FC6-B672-2225079CA737}"/>
              </a:ext>
            </a:extLst>
          </p:cNvPr>
          <p:cNvSpPr>
            <a:spLocks noGrp="1"/>
          </p:cNvSpPr>
          <p:nvPr/>
        </p:nvSpPr>
        <p:spPr>
          <a:xfrm>
            <a:off x="695325" y="6296025"/>
            <a:ext cx="10810875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9.13. Printed shares total 100%, 99% and 98%. Pie areas scale to each total; labels retain book values.</a:t>
            </a:r>
          </a:p>
        </p:txBody>
      </p:sp>
      <p:sp>
        <p:nvSpPr>
          <p:cNvPr id="14" name="REV9_caption2">
            <a:extLst>
              <a:ext uri="{FF2B5EF4-FFF2-40B4-BE49-F238E27FC236}">
                <a16:creationId xmlns:a16="http://schemas.microsoft.com/office/drawing/2014/main" id="{5A5FB346-ABE6-4B6B-B7B9-3DACDFB0DCF3}"/>
              </a:ext>
            </a:extLst>
          </p:cNvPr>
          <p:cNvSpPr>
            <a:spLocks noGrp="1"/>
          </p:cNvSpPr>
          <p:nvPr/>
        </p:nvSpPr>
        <p:spPr>
          <a:xfrm>
            <a:off x="695325" y="6534150"/>
            <a:ext cx="10810875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Brazil’s year is not specified in the book. These are historical electricity-generation shares.</a:t>
            </a:r>
          </a:p>
        </p:txBody>
      </p:sp>
    </p:spTree>
    <p:extLst>
      <p:ext uri="{BB962C8B-B14F-4D97-AF65-F5344CB8AC3E}">
        <p14:creationId xmlns:p14="http://schemas.microsoft.com/office/powerpoint/2010/main" val="262809435"/>
      </p:ext>
    </p:extLst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31D710-02AE-8D9C-0818-5DD74F3E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A95DB3D-DBD4-E830-7E55-D4D10B56571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AD5945-226A-F894-DE16-6FD47E1095B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28 / 61</a:t>
            </a:r>
          </a:p>
        </p:txBody>
      </p:sp>
      <p:sp>
        <p:nvSpPr>
          <p:cNvPr id="3" name="Quick quiz: where does the energy go?">
            <a:extLst>
              <a:ext uri="{FF2B5EF4-FFF2-40B4-BE49-F238E27FC236}">
                <a16:creationId xmlns:a16="http://schemas.microsoft.com/office/drawing/2014/main" id="{7437CDBB-C72A-D44B-5F39-4DF05653507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Quick quiz: where does the energy go?</a:t>
            </a:r>
          </a:p>
        </p:txBody>
      </p:sp>
      <p:sp>
        <p:nvSpPr>
          <p:cNvPr id="6" name="A steam power plant receives 100 units of fuel energy.&#10;">
            <a:extLst>
              <a:ext uri="{FF2B5EF4-FFF2-40B4-BE49-F238E27FC236}">
                <a16:creationId xmlns:a16="http://schemas.microsoft.com/office/drawing/2014/main" id="{EDCB80F5-ED99-995B-A6EF-2A8881700CC4}"/>
              </a:ext>
            </a:extLst>
          </p:cNvPr>
          <p:cNvSpPr>
            <a:spLocks noGrp="1"/>
          </p:cNvSpPr>
          <p:nvPr/>
        </p:nvSpPr>
        <p:spPr>
          <a:xfrm>
            <a:off x="733425" y="2190750"/>
            <a:ext cx="10668000" cy="1066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steam power plant receives 100 units of fuel energy.</a:t>
            </a:r>
          </a:p>
          <a:p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 35% efficiency, how many units become electricity?</a:t>
            </a:r>
          </a:p>
        </p:txBody>
      </p:sp>
      <p:sp>
        <p:nvSpPr>
          <p:cNvPr id="8" name="A   35 units">
            <a:extLst>
              <a:ext uri="{FF2B5EF4-FFF2-40B4-BE49-F238E27FC236}">
                <a16:creationId xmlns:a16="http://schemas.microsoft.com/office/drawing/2014/main" id="{847AFAA1-6EC7-51B4-0E4A-9C0DFA84256C}"/>
              </a:ext>
            </a:extLst>
          </p:cNvPr>
          <p:cNvSpPr>
            <a:spLocks noGrp="1"/>
          </p:cNvSpPr>
          <p:nvPr/>
        </p:nvSpPr>
        <p:spPr>
          <a:xfrm>
            <a:off x="762000" y="3752850"/>
            <a:ext cx="30765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6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   35 units</a:t>
            </a:r>
          </a:p>
        </p:txBody>
      </p:sp>
      <p:sp>
        <p:nvSpPr>
          <p:cNvPr id="11" name="B   65 units">
            <a:extLst>
              <a:ext uri="{FF2B5EF4-FFF2-40B4-BE49-F238E27FC236}">
                <a16:creationId xmlns:a16="http://schemas.microsoft.com/office/drawing/2014/main" id="{7581CD7C-A30C-3C9E-E51E-8E9D8B2D0C6F}"/>
              </a:ext>
            </a:extLst>
          </p:cNvPr>
          <p:cNvSpPr>
            <a:spLocks noGrp="1"/>
          </p:cNvSpPr>
          <p:nvPr/>
        </p:nvSpPr>
        <p:spPr>
          <a:xfrm>
            <a:off x="4457700" y="3752850"/>
            <a:ext cx="30765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6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B   65 units</a:t>
            </a:r>
          </a:p>
        </p:txBody>
      </p:sp>
      <p:sp>
        <p:nvSpPr>
          <p:cNvPr id="12" name="C   100 units">
            <a:extLst>
              <a:ext uri="{FF2B5EF4-FFF2-40B4-BE49-F238E27FC236}">
                <a16:creationId xmlns:a16="http://schemas.microsoft.com/office/drawing/2014/main" id="{6085AD2A-84CF-CEDF-C3A1-EBFE91346B32}"/>
              </a:ext>
            </a:extLst>
          </p:cNvPr>
          <p:cNvSpPr>
            <a:spLocks noGrp="1"/>
          </p:cNvSpPr>
          <p:nvPr/>
        </p:nvSpPr>
        <p:spPr>
          <a:xfrm>
            <a:off x="8143875" y="3752850"/>
            <a:ext cx="3238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62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2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C   100 units</a:t>
            </a:r>
          </a:p>
        </p:txBody>
      </p:sp>
      <p:sp>
        <p:nvSpPr>
          <p:cNvPr id="13" name="reveal-energy">
            <a:extLst>
              <a:ext uri="{FF2B5EF4-FFF2-40B4-BE49-F238E27FC236}">
                <a16:creationId xmlns:a16="http://schemas.microsoft.com/office/drawing/2014/main" id="{AC8CEEF3-181C-A1AC-6C0B-E5C0B062FD20}"/>
              </a:ext>
            </a:extLst>
          </p:cNvPr>
          <p:cNvSpPr>
            <a:spLocks noGrp="1"/>
          </p:cNvSpPr>
          <p:nvPr/>
        </p:nvSpPr>
        <p:spPr>
          <a:xfrm>
            <a:off x="742950" y="5076825"/>
            <a:ext cx="1066800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Answer: 35 units of electricity; 65 units leave mainly as heat.</a:t>
            </a:r>
          </a:p>
        </p:txBody>
      </p:sp>
      <p:sp>
        <p:nvSpPr>
          <p:cNvPr id="14" name="Classroom calculation based on the book’s illustrative ">
            <a:extLst>
              <a:ext uri="{FF2B5EF4-FFF2-40B4-BE49-F238E27FC236}">
                <a16:creationId xmlns:a16="http://schemas.microsoft.com/office/drawing/2014/main" id="{D1BE1569-F9CD-18FE-CCAE-20F9F41F5531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Classroom calculation based on the book’s illustrative 35% conversion efficiency. Real plants and technologies differ.</a:t>
            </a:r>
          </a:p>
        </p:txBody>
      </p:sp>
    </p:spTree>
    <p:extLst>
      <p:ext uri="{BB962C8B-B14F-4D97-AF65-F5344CB8AC3E}">
        <p14:creationId xmlns:p14="http://schemas.microsoft.com/office/powerpoint/2010/main" val="374596140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7637D4-9459-4D8D-47F0-7E128BC3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C5BBD99-E962-AD48-29A5-A07FE5B93C7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35F979-8BD4-A077-9046-0A24BDD450F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29 / 61</a:t>
            </a:r>
          </a:p>
        </p:txBody>
      </p:sp>
      <p:sp>
        <p:nvSpPr>
          <p:cNvPr id="4" name="Science summary">
            <a:extLst>
              <a:ext uri="{FF2B5EF4-FFF2-40B4-BE49-F238E27FC236}">
                <a16:creationId xmlns:a16="http://schemas.microsoft.com/office/drawing/2014/main" id="{07C2FFDA-AC4B-A762-2D84-9F7F807040C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Science summary</a:t>
            </a:r>
          </a:p>
        </p:txBody>
      </p:sp>
      <p:sp>
        <p:nvSpPr>
          <p:cNvPr id="5" name="9.1">
            <a:extLst>
              <a:ext uri="{FF2B5EF4-FFF2-40B4-BE49-F238E27FC236}">
                <a16:creationId xmlns:a16="http://schemas.microsoft.com/office/drawing/2014/main" id="{90C7DB82-8B5B-08B7-B616-C3252A65165D}"/>
              </a:ext>
            </a:extLst>
          </p:cNvPr>
          <p:cNvSpPr>
            <a:spLocks noGrp="1"/>
          </p:cNvSpPr>
          <p:nvPr/>
        </p:nvSpPr>
        <p:spPr>
          <a:xfrm>
            <a:off x="714375" y="2217968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9.1</a:t>
            </a:r>
          </a:p>
        </p:txBody>
      </p:sp>
      <p:sp>
        <p:nvSpPr>
          <p:cNvPr id="7" name="Coal, oil, and natural gas store chemical energy.&#10;Their">
            <a:extLst>
              <a:ext uri="{FF2B5EF4-FFF2-40B4-BE49-F238E27FC236}">
                <a16:creationId xmlns:a16="http://schemas.microsoft.com/office/drawing/2014/main" id="{F940C6A2-B604-2814-D84F-5336F0B75E51}"/>
              </a:ext>
            </a:extLst>
          </p:cNvPr>
          <p:cNvSpPr>
            <a:spLocks noGrp="1"/>
          </p:cNvSpPr>
          <p:nvPr/>
        </p:nvSpPr>
        <p:spPr>
          <a:xfrm>
            <a:off x="2686050" y="2217968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Coal, oil, and natural gas store chemical energy.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Their formation takes millions of years.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A34ED19-D0CD-621E-7185-0015C083793B}"/>
              </a:ext>
            </a:extLst>
          </p:cNvPr>
          <p:cNvSpPr>
            <a:spLocks noGrp="1"/>
          </p:cNvSpPr>
          <p:nvPr/>
        </p:nvSpPr>
        <p:spPr>
          <a:xfrm>
            <a:off x="714375" y="3199043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9.2">
            <a:extLst>
              <a:ext uri="{FF2B5EF4-FFF2-40B4-BE49-F238E27FC236}">
                <a16:creationId xmlns:a16="http://schemas.microsoft.com/office/drawing/2014/main" id="{D26986DB-9931-D812-9C76-524A912FF143}"/>
              </a:ext>
            </a:extLst>
          </p:cNvPr>
          <p:cNvSpPr>
            <a:spLocks noGrp="1"/>
          </p:cNvSpPr>
          <p:nvPr/>
        </p:nvSpPr>
        <p:spPr>
          <a:xfrm>
            <a:off x="714375" y="3351443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9.2</a:t>
            </a:r>
          </a:p>
        </p:txBody>
      </p:sp>
      <p:sp>
        <p:nvSpPr>
          <p:cNvPr id="16" name="Power plants convert heat to motion and electricity.&#10;Ve">
            <a:extLst>
              <a:ext uri="{FF2B5EF4-FFF2-40B4-BE49-F238E27FC236}">
                <a16:creationId xmlns:a16="http://schemas.microsoft.com/office/drawing/2014/main" id="{8D9605AF-3E60-D362-5B15-31F2EB7841A5}"/>
              </a:ext>
            </a:extLst>
          </p:cNvPr>
          <p:cNvSpPr>
            <a:spLocks noGrp="1"/>
          </p:cNvSpPr>
          <p:nvPr/>
        </p:nvSpPr>
        <p:spPr>
          <a:xfrm>
            <a:off x="2686050" y="3351443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Power plants convert heat to motion and electricity.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Vehicle engines convert combustion energy to motion.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4CE757F3-10B5-623B-9A6F-D605045605D9}"/>
              </a:ext>
            </a:extLst>
          </p:cNvPr>
          <p:cNvSpPr>
            <a:spLocks noGrp="1"/>
          </p:cNvSpPr>
          <p:nvPr/>
        </p:nvSpPr>
        <p:spPr>
          <a:xfrm>
            <a:off x="714375" y="4332518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9.3">
            <a:extLst>
              <a:ext uri="{FF2B5EF4-FFF2-40B4-BE49-F238E27FC236}">
                <a16:creationId xmlns:a16="http://schemas.microsoft.com/office/drawing/2014/main" id="{2FBFC729-B068-4A72-FE53-D2912116D1BF}"/>
              </a:ext>
            </a:extLst>
          </p:cNvPr>
          <p:cNvSpPr>
            <a:spLocks noGrp="1"/>
          </p:cNvSpPr>
          <p:nvPr/>
        </p:nvSpPr>
        <p:spPr>
          <a:xfrm>
            <a:off x="714375" y="4484918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9.3</a:t>
            </a:r>
          </a:p>
        </p:txBody>
      </p:sp>
      <p:sp>
        <p:nvSpPr>
          <p:cNvPr id="19" name="Fission supplies intense heat for electricity generatio">
            <a:extLst>
              <a:ext uri="{FF2B5EF4-FFF2-40B4-BE49-F238E27FC236}">
                <a16:creationId xmlns:a16="http://schemas.microsoft.com/office/drawing/2014/main" id="{22CE8446-1E3B-2EED-5DF8-C5FE2CF4B9CE}"/>
              </a:ext>
            </a:extLst>
          </p:cNvPr>
          <p:cNvSpPr>
            <a:spLocks noGrp="1"/>
          </p:cNvSpPr>
          <p:nvPr/>
        </p:nvSpPr>
        <p:spPr>
          <a:xfrm>
            <a:off x="2686050" y="4484918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Fission supplies intense heat for electricity generation.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Safe use requires reaction control, cooling, and containment.</a:t>
            </a:r>
          </a:p>
        </p:txBody>
      </p:sp>
    </p:spTree>
    <p:extLst>
      <p:ext uri="{BB962C8B-B14F-4D97-AF65-F5344CB8AC3E}">
        <p14:creationId xmlns:p14="http://schemas.microsoft.com/office/powerpoint/2010/main" val="2445733808"/>
      </p:ext>
    </p:extLst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F041F3-060E-2529-6B7E-AA2D4FBE5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D42E73D-B149-9EE0-8FC2-C31BF5C4801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</a:t>
            </a:r>
            <a:r>
              <a:rPr lang="en-US"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  <a:endParaRPr sz="1500" b="1" dirty="0">
              <a:solidFill>
                <a:srgbClr val="FFBC8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4EEE6-7340-798A-FF07-D04B205762F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30 / 61</a:t>
            </a:r>
          </a:p>
        </p:txBody>
      </p:sp>
      <p:sp>
        <p:nvSpPr>
          <p:cNvPr id="5" name="Energy demand grew in the book’s historical record">
            <a:extLst>
              <a:ext uri="{FF2B5EF4-FFF2-40B4-BE49-F238E27FC236}">
                <a16:creationId xmlns:a16="http://schemas.microsoft.com/office/drawing/2014/main" id="{0F387F66-B627-9DEC-8891-719AE0FB64D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World consumption of energy resources</a:t>
            </a:r>
          </a:p>
        </p:txBody>
      </p:sp>
      <p:sp>
        <p:nvSpPr>
          <p:cNvPr id="6" name="Million metric tons of oil equivalent (Mtoe)">
            <a:extLst>
              <a:ext uri="{FF2B5EF4-FFF2-40B4-BE49-F238E27FC236}">
                <a16:creationId xmlns:a16="http://schemas.microsoft.com/office/drawing/2014/main" id="{58879F2C-4F11-47D5-47E4-50334DEF2675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685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Million metric tons of oil equivalent (Mtoe)</a:t>
            </a:r>
          </a:p>
        </p:txBody>
      </p:sp>
      <p:sp>
        <p:nvSpPr>
          <p:cNvPr id="7" name="1998–2014">
            <a:extLst>
              <a:ext uri="{FF2B5EF4-FFF2-40B4-BE49-F238E27FC236}">
                <a16:creationId xmlns:a16="http://schemas.microsoft.com/office/drawing/2014/main" id="{C4E02F80-C1F6-BC9F-69E8-F7F2D761CF05}"/>
              </a:ext>
            </a:extLst>
          </p:cNvPr>
          <p:cNvSpPr>
            <a:spLocks noGrp="1"/>
          </p:cNvSpPr>
          <p:nvPr/>
        </p:nvSpPr>
        <p:spPr>
          <a:xfrm>
            <a:off x="9334500" y="1971675"/>
            <a:ext cx="21431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r">
              <a:defRPr sz="165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65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1998–2014</a:t>
            </a:r>
          </a:p>
        </p:txBody>
      </p:sp>
      <p:graphicFrame>
        <p:nvGraphicFramePr>
          <p:cNvPr id="8" name="Chart">
            <a:extLst>
              <a:ext uri="{FF2B5EF4-FFF2-40B4-BE49-F238E27FC236}">
                <a16:creationId xmlns:a16="http://schemas.microsoft.com/office/drawing/2014/main" id="{28FCE811-8571-1BC6-D03A-9667AE430278}"/>
              </a:ext>
            </a:extLst>
          </p:cNvPr>
          <p:cNvGraphicFramePr/>
          <p:nvPr/>
        </p:nvGraphicFramePr>
        <p:xfrm>
          <a:off x="704850" y="2390775"/>
          <a:ext cx="10782300" cy="3295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Coal and natural gas account for much of the growth sho">
            <a:extLst>
              <a:ext uri="{FF2B5EF4-FFF2-40B4-BE49-F238E27FC236}">
                <a16:creationId xmlns:a16="http://schemas.microsoft.com/office/drawing/2014/main" id="{6BB6B8D0-8BC3-98FF-46DD-813BF557A8F0}"/>
              </a:ext>
            </a:extLst>
          </p:cNvPr>
          <p:cNvSpPr>
            <a:spLocks noGrp="1"/>
          </p:cNvSpPr>
          <p:nvPr/>
        </p:nvSpPr>
        <p:spPr>
          <a:xfrm>
            <a:off x="714375" y="5762625"/>
            <a:ext cx="107442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Coal and natural gas account for much of the growth shown.</a:t>
            </a:r>
          </a:p>
        </p:txBody>
      </p:sp>
      <p:sp>
        <p:nvSpPr>
          <p:cNvPr id="11" name="Fig. 9.18, redrawn from the book’s graph. Annual values">
            <a:extLst>
              <a:ext uri="{FF2B5EF4-FFF2-40B4-BE49-F238E27FC236}">
                <a16:creationId xmlns:a16="http://schemas.microsoft.com/office/drawing/2014/main" id="{FA071948-815D-3AEE-6193-07BD7AE2614E}"/>
              </a:ext>
            </a:extLst>
          </p:cNvPr>
          <p:cNvSpPr>
            <a:spLocks noGrp="1"/>
          </p:cNvSpPr>
          <p:nvPr/>
        </p:nvSpPr>
        <p:spPr>
          <a:xfrm>
            <a:off x="704850" y="6181725"/>
            <a:ext cx="107823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9.18, redrawn from the book’s graph. Annual values are approximate readings, not raw BP data.</a:t>
            </a:r>
          </a:p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Source: Molles &amp; Borrell, p. 275, citing BP (2009, 2011, 2013, 2015).</a:t>
            </a:r>
          </a:p>
        </p:txBody>
      </p:sp>
    </p:spTree>
    <p:extLst>
      <p:ext uri="{BB962C8B-B14F-4D97-AF65-F5344CB8AC3E}">
        <p14:creationId xmlns:p14="http://schemas.microsoft.com/office/powerpoint/2010/main" val="2600611725"/>
      </p:ext>
    </p:extLst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3B073B-DF5C-7BFA-6FFD-F092DD3B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5180BF5-811A-6AA8-CED4-9D3F63A40A8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</a:t>
            </a:r>
            <a:r>
              <a:rPr lang="en-US"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  <a:endParaRPr sz="1500" b="1" dirty="0">
              <a:solidFill>
                <a:srgbClr val="FFBC8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E046A8-9CC9-A1E2-6283-7C6EC98895B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31 / 61</a:t>
            </a:r>
          </a:p>
        </p:txBody>
      </p:sp>
      <p:sp>
        <p:nvSpPr>
          <p:cNvPr id="5" name="Oil production (billion barrels/year) · approximate red">
            <a:extLst>
              <a:ext uri="{FF2B5EF4-FFF2-40B4-BE49-F238E27FC236}">
                <a16:creationId xmlns:a16="http://schemas.microsoft.com/office/drawing/2014/main" id="{C7303A7E-97A8-686C-0E28-0E9BCEB48182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Oil production (billion barrels/year) · approximate redrawing of the book’s model curves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39DDBFE3-6050-5AEB-2FAC-425999FB1475}"/>
              </a:ext>
            </a:extLst>
          </p:cNvPr>
          <p:cNvGraphicFramePr/>
          <p:nvPr/>
        </p:nvGraphicFramePr>
        <p:xfrm>
          <a:off x="714375" y="2428875"/>
          <a:ext cx="10715625" cy="2895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hese are historical forecasts—not a prediction for tod">
            <a:extLst>
              <a:ext uri="{FF2B5EF4-FFF2-40B4-BE49-F238E27FC236}">
                <a16:creationId xmlns:a16="http://schemas.microsoft.com/office/drawing/2014/main" id="{6053B93B-0FA6-41CB-E7C6-A2EECE8BA202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These are historical forecasts—not a prediction for today.</a:t>
            </a:r>
          </a:p>
        </p:txBody>
      </p:sp>
      <p:sp>
        <p:nvSpPr>
          <p:cNvPr id="10" name="Fig. 9.21, model curves redrawn approximately: assumed ">
            <a:extLst>
              <a:ext uri="{FF2B5EF4-FFF2-40B4-BE49-F238E27FC236}">
                <a16:creationId xmlns:a16="http://schemas.microsoft.com/office/drawing/2014/main" id="{19643C58-6F12-F1E4-9DDD-62E84A9E6B2D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9.21, model curves redrawn approximately: assumed total recoverable oil shifts the timing and height of the projected peak. After Maggio &amp; Cacciola (2009).</a:t>
            </a:r>
          </a:p>
        </p:txBody>
      </p:sp>
      <p:sp>
        <p:nvSpPr>
          <p:cNvPr id="11" name="Peak oil forecasts depend on their assumptions">
            <a:extLst>
              <a:ext uri="{FF2B5EF4-FFF2-40B4-BE49-F238E27FC236}">
                <a16:creationId xmlns:a16="http://schemas.microsoft.com/office/drawing/2014/main" id="{4272CFE5-69F8-4DCF-D3E0-5089FB097C3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oil forecasts depend on their assumptions</a:t>
            </a:r>
          </a:p>
        </p:txBody>
      </p:sp>
    </p:spTree>
    <p:extLst>
      <p:ext uri="{BB962C8B-B14F-4D97-AF65-F5344CB8AC3E}">
        <p14:creationId xmlns:p14="http://schemas.microsoft.com/office/powerpoint/2010/main" val="215413301"/>
      </p:ext>
    </p:extLst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798D4-FB25-383D-5FAE-4C96E239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2D5852-7979-E671-C233-F284135416B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DD0553-699B-D12A-C72C-245E30E6CCA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32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7E0CE-43AF-2B2E-A598-9B6667E741C1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Nuclear Power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8F185A-32F2-5427-11FD-E3C43B120DAF}"/>
              </a:ext>
            </a:extLst>
          </p:cNvPr>
          <p:cNvSpPr>
            <a:spLocks noGrp="1"/>
          </p:cNvSpPr>
          <p:nvPr/>
        </p:nvSpPr>
        <p:spPr>
          <a:xfrm>
            <a:off x="2363118" y="6143625"/>
            <a:ext cx="7465763" cy="54636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Nuclear Energy                                 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Picture 4" descr="Reconstructed pressurized-water nuclear plant with three separate water circuits.">
            <a:extLst>
              <a:ext uri="{FF2B5EF4-FFF2-40B4-BE49-F238E27FC236}">
                <a16:creationId xmlns:a16="http://schemas.microsoft.com/office/drawing/2014/main" id="{B85B2A66-A1A4-BD82-5F6E-7F39834A7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BE5C7988-BF29-90FD-1815-67A95B02224C}"/>
              </a:ext>
            </a:extLst>
          </p:cNvPr>
          <p:cNvSpPr/>
          <p:nvPr/>
        </p:nvSpPr>
        <p:spPr>
          <a:xfrm>
            <a:off x="4647502" y="6191250"/>
            <a:ext cx="2699500" cy="370360"/>
          </a:xfrm>
          <a:prstGeom prst="rightArrow">
            <a:avLst>
              <a:gd name="adj1" fmla="val 45606"/>
              <a:gd name="adj2" fmla="val 1334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POWER9_caption">
            <a:extLst>
              <a:ext uri="{FF2B5EF4-FFF2-40B4-BE49-F238E27FC236}">
                <a16:creationId xmlns:a16="http://schemas.microsoft.com/office/drawing/2014/main" id="{07661E62-DD6C-441C-87A8-40D2A5411757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9.17, reconstructed. Fission supplies heat. Three separate water circuits transfer heat without mixing.</a:t>
            </a:r>
          </a:p>
        </p:txBody>
      </p:sp>
    </p:spTree>
    <p:extLst>
      <p:ext uri="{BB962C8B-B14F-4D97-AF65-F5344CB8AC3E}">
        <p14:creationId xmlns:p14="http://schemas.microsoft.com/office/powerpoint/2010/main" val="21880779"/>
      </p:ext>
    </p:extLst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FB485-F1E0-CF61-7288-CE5FBBF7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E65416-C37E-D2EA-C681-9585CC46FB7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397C7D-F06C-5F57-6259-EDD9BF93A151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33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FC5DAE-2AEB-88CE-8201-DD9B041ACBF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Combustible Materials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" name="Picture 11" descr="Reconstructed coal-fired steam power plant with separate steam-water and cooling-water circuits.">
            <a:extLst>
              <a:ext uri="{FF2B5EF4-FFF2-40B4-BE49-F238E27FC236}">
                <a16:creationId xmlns:a16="http://schemas.microsoft.com/office/drawing/2014/main" id="{DA7ECB8D-8545-254E-310D-DF7C5F085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10A01C-D210-AEB8-445D-B5BFF7DBE4B4}"/>
              </a:ext>
            </a:extLst>
          </p:cNvPr>
          <p:cNvSpPr>
            <a:spLocks noGrp="1"/>
          </p:cNvSpPr>
          <p:nvPr/>
        </p:nvSpPr>
        <p:spPr>
          <a:xfrm>
            <a:off x="2353593" y="6143625"/>
            <a:ext cx="7465763" cy="40485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rgbClr val="FFBC83"/>
                </a:solidFill>
                <a:latin typeface="Arial"/>
                <a:cs typeface="Arial"/>
              </a:rPr>
              <a:t>C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hemical Energy                              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8255B91-E120-49D5-B313-08348A86C86A}"/>
              </a:ext>
            </a:extLst>
          </p:cNvPr>
          <p:cNvSpPr/>
          <p:nvPr/>
        </p:nvSpPr>
        <p:spPr>
          <a:xfrm>
            <a:off x="4932645" y="6191250"/>
            <a:ext cx="2410690" cy="370360"/>
          </a:xfrm>
          <a:prstGeom prst="rightArrow">
            <a:avLst>
              <a:gd name="adj1" fmla="val 45606"/>
              <a:gd name="adj2" fmla="val 1334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POWER9_caption">
            <a:extLst>
              <a:ext uri="{FF2B5EF4-FFF2-40B4-BE49-F238E27FC236}">
                <a16:creationId xmlns:a16="http://schemas.microsoft.com/office/drawing/2014/main" id="{BEF61199-40A6-4AE4-BDCF-424A59685273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9.14, reconstructed. Burning fuel produces steam that turns a turbine and drives the electric generator.</a:t>
            </a:r>
          </a:p>
        </p:txBody>
      </p:sp>
    </p:spTree>
    <p:extLst>
      <p:ext uri="{BB962C8B-B14F-4D97-AF65-F5344CB8AC3E}">
        <p14:creationId xmlns:p14="http://schemas.microsoft.com/office/powerpoint/2010/main" val="932009999"/>
      </p:ext>
    </p:extLst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613354B6-D65B-4109-828E-8C0E217EFF4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BB90449A-4238-4877-9F13-595C7089D3E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34 / 61</a:t>
            </a:r>
          </a:p>
        </p:txBody>
      </p:sp>
      <p:sp>
        <p:nvSpPr>
          <p:cNvPr id="3" name="The chapter’s main environmental issues">
            <a:extLst>
              <a:ext uri="{FF2B5EF4-FFF2-40B4-BE49-F238E27FC236}">
                <a16:creationId xmlns:a16="http://schemas.microsoft.com/office/drawing/2014/main" id="{3E7D5534-AEEF-4B4C-8F82-0587E1B47D48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ain environmental issues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E3E750-4DEB-4C4F-B7A3-F7AFC25AFD47}"/>
              </a:ext>
            </a:extLst>
          </p:cNvPr>
          <p:cNvSpPr>
            <a:spLocks noGrp="1"/>
          </p:cNvSpPr>
          <p:nvPr/>
        </p:nvSpPr>
        <p:spPr>
          <a:xfrm>
            <a:off x="752475" y="2057400"/>
            <a:ext cx="10668000" cy="3800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Finite resources and unequal access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Forest loss, habitat fragmentation, and buried streams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Air pollutants, toxic metals, and climate-warming emissions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Water depletion and contamination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Oil spills, coal sludge, and fly ash waste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Uranium-mine residues and long-lived spent fuel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Major accidents and lasting costs to communities</a:t>
            </a:r>
          </a:p>
        </p:txBody>
      </p:sp>
      <p:sp>
        <p:nvSpPr>
          <p:cNvPr id="5" name="Expanded issue list from §§9.4–9.6. Impacts occur durin">
            <a:extLst>
              <a:ext uri="{FF2B5EF4-FFF2-40B4-BE49-F238E27FC236}">
                <a16:creationId xmlns:a16="http://schemas.microsoft.com/office/drawing/2014/main" id="{48A03B29-A0EE-44B7-9628-68DDE33B57C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Expanded issue list from §§9.4–9.6. Impacts occur during extraction, transport, use, and waste management.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ISSUES">
            <a:extLst>
              <a:ext uri="{FF2B5EF4-FFF2-40B4-BE49-F238E27FC236}">
                <a16:creationId xmlns:a16="http://schemas.microsoft.com/office/drawing/2014/main" id="{00EB7249-A9BB-4AB3-B53C-D27945CF242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D23D4481-A3AE-469A-B0E6-BE62BE46188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35 / 61</a:t>
            </a:r>
          </a:p>
        </p:txBody>
      </p:sp>
      <p:sp>
        <p:nvSpPr>
          <p:cNvPr id="3" name="Mountaintop removal changes entire watersheds">
            <a:extLst>
              <a:ext uri="{FF2B5EF4-FFF2-40B4-BE49-F238E27FC236}">
                <a16:creationId xmlns:a16="http://schemas.microsoft.com/office/drawing/2014/main" id="{86768736-2EC5-4AE1-8944-B17A3D6F89D0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Mountaintop removal changes entire watersheds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E0004D-8DBD-40E3-B722-261882D252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00" t="2000" r="14000" b="2000"/>
          <a:stretch/>
        </p:blipFill>
        <p:spPr>
          <a:xfrm>
            <a:off x="723900" y="2152650"/>
            <a:ext cx="6962775" cy="3552825"/>
          </a:xfrm>
          <a:prstGeom prst="rect">
            <a:avLst/>
          </a:prstGeom>
        </p:spPr>
      </p:pic>
      <p:sp>
        <p:nvSpPr>
          <p:cNvPr id="5" name="Forests removed">
            <a:extLst>
              <a:ext uri="{FF2B5EF4-FFF2-40B4-BE49-F238E27FC236}">
                <a16:creationId xmlns:a16="http://schemas.microsoft.com/office/drawing/2014/main" id="{42DA2A7F-745B-474E-A377-2DE8BA1587D0}"/>
              </a:ext>
            </a:extLst>
          </p:cNvPr>
          <p:cNvSpPr>
            <a:spLocks noGrp="1"/>
          </p:cNvSpPr>
          <p:nvPr/>
        </p:nvSpPr>
        <p:spPr>
          <a:xfrm>
            <a:off x="8077200" y="2295525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Forests removed</a:t>
            </a:r>
          </a:p>
        </p:txBody>
      </p:sp>
      <p:sp>
        <p:nvSpPr>
          <p:cNvPr id="6" name="Rock fills bury valleys&#10;and headwater streams.">
            <a:extLst>
              <a:ext uri="{FF2B5EF4-FFF2-40B4-BE49-F238E27FC236}">
                <a16:creationId xmlns:a16="http://schemas.microsoft.com/office/drawing/2014/main" id="{3F3AB36D-DA44-43E0-98AC-4F547ACAD182}"/>
              </a:ext>
            </a:extLst>
          </p:cNvPr>
          <p:cNvSpPr>
            <a:spLocks noGrp="1"/>
          </p:cNvSpPr>
          <p:nvPr/>
        </p:nvSpPr>
        <p:spPr>
          <a:xfrm>
            <a:off x="8077200" y="3067050"/>
            <a:ext cx="3419475" cy="885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Rock fills bury valleys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headwater streams.</a:t>
            </a:r>
          </a:p>
        </p:txBody>
      </p:sp>
      <p:sp>
        <p:nvSpPr>
          <p:cNvPr id="7" name="Dust and polluted runoff&#10;affect ecosystems and&#10;nearby c">
            <a:extLst>
              <a:ext uri="{FF2B5EF4-FFF2-40B4-BE49-F238E27FC236}">
                <a16:creationId xmlns:a16="http://schemas.microsoft.com/office/drawing/2014/main" id="{1153A2F1-6F4F-40EA-8A0C-CBAC3D7890D3}"/>
              </a:ext>
            </a:extLst>
          </p:cNvPr>
          <p:cNvSpPr>
            <a:spLocks noGrp="1"/>
          </p:cNvSpPr>
          <p:nvPr/>
        </p:nvSpPr>
        <p:spPr>
          <a:xfrm>
            <a:off x="8077200" y="4305300"/>
            <a:ext cx="3419475" cy="1257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Dust and polluted runoff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affect ecosystems and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nearby communities.</a:t>
            </a:r>
          </a:p>
        </p:txBody>
      </p:sp>
      <p:sp>
        <p:nvSpPr>
          <p:cNvPr id="8" name="Mountaintop removal in West Virginia. Photo: Mary Huffo">
            <a:extLst>
              <a:ext uri="{FF2B5EF4-FFF2-40B4-BE49-F238E27FC236}">
                <a16:creationId xmlns:a16="http://schemas.microsoft.com/office/drawing/2014/main" id="{93F788D7-F824-4B38-A835-DA1C8960C65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Mountaintop removal in West Virginia. Photo: Mary Hufford / Library of Congress, via USGS (public domain). Companion to the mechanisms discussed with Fig. 9.23.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ISSUES">
            <a:extLst>
              <a:ext uri="{FF2B5EF4-FFF2-40B4-BE49-F238E27FC236}">
                <a16:creationId xmlns:a16="http://schemas.microsoft.com/office/drawing/2014/main" id="{EB424A4E-B46A-40DD-9D58-2BEFF867958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AB006FF3-795C-4BA0-98BC-9996E319024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36 / 61</a:t>
            </a:r>
          </a:p>
        </p:txBody>
      </p:sp>
      <p:sp>
        <p:nvSpPr>
          <p:cNvPr id="3" name="Satellite images show the mining footprint expanding">
            <a:extLst>
              <a:ext uri="{FF2B5EF4-FFF2-40B4-BE49-F238E27FC236}">
                <a16:creationId xmlns:a16="http://schemas.microsoft.com/office/drawing/2014/main" id="{1489E059-0238-4301-BFA9-CBFFDC073AE1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images show the mining footprint expanding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57CB8C-5101-4843-AD89-37C256CFB0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00" b="15100"/>
          <a:stretch>
            <a:fillRect/>
          </a:stretch>
        </p:blipFill>
        <p:spPr>
          <a:xfrm>
            <a:off x="800100" y="2362200"/>
            <a:ext cx="4762500" cy="33242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FE7A3A-5736-4855-97D5-8870867060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100" b="15100"/>
          <a:stretch>
            <a:fillRect/>
          </a:stretch>
        </p:blipFill>
        <p:spPr>
          <a:xfrm>
            <a:off x="6505575" y="2362200"/>
            <a:ext cx="4762500" cy="3324225"/>
          </a:xfrm>
          <a:prstGeom prst="rect">
            <a:avLst/>
          </a:prstGeom>
        </p:spPr>
      </p:pic>
      <p:sp>
        <p:nvSpPr>
          <p:cNvPr id="6" name="1987">
            <a:extLst>
              <a:ext uri="{FF2B5EF4-FFF2-40B4-BE49-F238E27FC236}">
                <a16:creationId xmlns:a16="http://schemas.microsoft.com/office/drawing/2014/main" id="{FEF94FE2-8795-4CB4-A6FF-02747D3F1674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4572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1987</a:t>
            </a:r>
          </a:p>
        </p:txBody>
      </p:sp>
      <p:sp>
        <p:nvSpPr>
          <p:cNvPr id="7" name="2011">
            <a:extLst>
              <a:ext uri="{FF2B5EF4-FFF2-40B4-BE49-F238E27FC236}">
                <a16:creationId xmlns:a16="http://schemas.microsoft.com/office/drawing/2014/main" id="{9B664F10-3F2A-4331-8A21-C16F5C0B498A}"/>
              </a:ext>
            </a:extLst>
          </p:cNvPr>
          <p:cNvSpPr>
            <a:spLocks noGrp="1"/>
          </p:cNvSpPr>
          <p:nvPr/>
        </p:nvSpPr>
        <p:spPr>
          <a:xfrm>
            <a:off x="6505575" y="1962150"/>
            <a:ext cx="4572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2011</a:t>
            </a:r>
          </a:p>
        </p:txBody>
      </p:sp>
      <p:sp>
        <p:nvSpPr>
          <p:cNvPr id="8" name="Same region, Landsat 5: June 6, 1987 and June 8, 2011. ">
            <a:extLst>
              <a:ext uri="{FF2B5EF4-FFF2-40B4-BE49-F238E27FC236}">
                <a16:creationId xmlns:a16="http://schemas.microsoft.com/office/drawing/2014/main" id="{89BFAA89-9CCD-41B7-BB80-2032223B006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Same region, Landsat 5: June 6, 1987 and June 8, 2011. Light disturbed areas expand among forested ridges. NASA / USGS.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PTER 9  /  ISSUES">
            <a:extLst>
              <a:ext uri="{FF2B5EF4-FFF2-40B4-BE49-F238E27FC236}">
                <a16:creationId xmlns:a16="http://schemas.microsoft.com/office/drawing/2014/main" id="{5FA3C61C-3BC6-4FA4-AB09-9C29C9CEFBF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FEDE1715-A0ED-4C4E-AEF3-11AA39DE43E1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37 / 61</a:t>
            </a:r>
          </a:p>
        </p:txBody>
      </p:sp>
      <p:sp>
        <p:nvSpPr>
          <p:cNvPr id="3" name="Coal waste can contaminate land and water">
            <a:extLst>
              <a:ext uri="{FF2B5EF4-FFF2-40B4-BE49-F238E27FC236}">
                <a16:creationId xmlns:a16="http://schemas.microsoft.com/office/drawing/2014/main" id="{6FCACD07-B92A-458D-9DB4-403BB2EFF72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waste can contaminate land and water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2A9CD-4F70-4C9F-B81A-838528DA29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00" t="11900" r="53500" b="59400"/>
          <a:stretch/>
        </p:blipFill>
        <p:spPr>
          <a:xfrm>
            <a:off x="742950" y="2133600"/>
            <a:ext cx="5657850" cy="37814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C051B4A-4DBE-444D-B6C6-AC5E509B0ADB}"/>
              </a:ext>
            </a:extLst>
          </p:cNvPr>
          <p:cNvSpPr>
            <a:spLocks noGrp="1"/>
          </p:cNvSpPr>
          <p:nvPr/>
        </p:nvSpPr>
        <p:spPr>
          <a:xfrm>
            <a:off x="6981825" y="2133600"/>
            <a:ext cx="4429125" cy="3514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Coal washing produces sludge.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Combustion produces fly ash.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Pond failures spread slurry across land and rivers.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Metals can also leach without a major spill.</a:t>
            </a:r>
          </a:p>
        </p:txBody>
      </p:sp>
      <p:sp>
        <p:nvSpPr>
          <p:cNvPr id="6" name="Fig. 9.24: the Kingston, Tennessee, ash-pond failure re">
            <a:extLst>
              <a:ext uri="{FF2B5EF4-FFF2-40B4-BE49-F238E27FC236}">
                <a16:creationId xmlns:a16="http://schemas.microsoft.com/office/drawing/2014/main" id="{FE2EFEF1-3F1D-4A40-BEBF-3E1F205CD7B1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9.24: the Kingston, Tennessee, ash-pond failure released about 4 million m³ of slurry in December 2008. Book photo: David Luttrell / TVA.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PTER 9  /  ISSUES">
            <a:extLst>
              <a:ext uri="{FF2B5EF4-FFF2-40B4-BE49-F238E27FC236}">
                <a16:creationId xmlns:a16="http://schemas.microsoft.com/office/drawing/2014/main" id="{03A9B2FF-1629-47FD-B6AE-25370C0CEE8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D0BD96D-AC54-4E70-8634-E4080EEE660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38 / 61</a:t>
            </a:r>
          </a:p>
        </p:txBody>
      </p:sp>
      <p:sp>
        <p:nvSpPr>
          <p:cNvPr id="3" name="Oil spills harm wildlife and human livelihoods">
            <a:extLst>
              <a:ext uri="{FF2B5EF4-FFF2-40B4-BE49-F238E27FC236}">
                <a16:creationId xmlns:a16="http://schemas.microsoft.com/office/drawing/2014/main" id="{9CFD891E-406A-4768-A16C-D1352381B0C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 spills harm wildlife and human livelihoods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AF588A-2BCF-4B61-9EBA-CABB0D839B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562" b="8562"/>
          <a:stretch>
            <a:fillRect/>
          </a:stretch>
        </p:blipFill>
        <p:spPr>
          <a:xfrm>
            <a:off x="714375" y="2038350"/>
            <a:ext cx="5210175" cy="3886200"/>
          </a:xfrm>
          <a:prstGeom prst="rect">
            <a:avLst/>
          </a:prstGeom>
        </p:spPr>
      </p:pic>
      <p:sp>
        <p:nvSpPr>
          <p:cNvPr id="5" name="Deepwater Horizon, 2010">
            <a:extLst>
              <a:ext uri="{FF2B5EF4-FFF2-40B4-BE49-F238E27FC236}">
                <a16:creationId xmlns:a16="http://schemas.microsoft.com/office/drawing/2014/main" id="{912EDBA7-4BF3-432E-9F60-119FF157826B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Deepwater Horizon, 2010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11EF1-25B5-43ED-906F-8A5E549758A4}"/>
              </a:ext>
            </a:extLst>
          </p:cNvPr>
          <p:cNvSpPr>
            <a:spLocks noGrp="1"/>
          </p:cNvSpPr>
          <p:nvPr/>
        </p:nvSpPr>
        <p:spPr>
          <a:xfrm>
            <a:off x="6343650" y="2771775"/>
            <a:ext cx="5057775" cy="2933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rig explosion killed 11 workers.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Oil contaminated wildlife and coastal habitats.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Fishing and tourism communities lost income.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Effects can persist after visible oil disappears.</a:t>
            </a:r>
          </a:p>
        </p:txBody>
      </p:sp>
      <p:sp>
        <p:nvSpPr>
          <p:cNvPr id="7" name="An oiled brown pelican is captured for cleaning after D">
            <a:extLst>
              <a:ext uri="{FF2B5EF4-FFF2-40B4-BE49-F238E27FC236}">
                <a16:creationId xmlns:a16="http://schemas.microsoft.com/office/drawing/2014/main" id="{AED3C70A-6AB6-448F-85C3-C7411259837A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An oiled brown pelican is captured for cleaning after Deepwater Horizon. Photo: Tom Mackenzie / USFWS (public domain).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ISSUES">
            <a:extLst>
              <a:ext uri="{FF2B5EF4-FFF2-40B4-BE49-F238E27FC236}">
                <a16:creationId xmlns:a16="http://schemas.microsoft.com/office/drawing/2014/main" id="{2C01575A-37B1-4F94-87B3-E4407D11FDA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17B4C468-C598-4E52-8BE0-3215BB5CE8B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39 / 61</a:t>
            </a:r>
          </a:p>
        </p:txBody>
      </p:sp>
      <p:sp>
        <p:nvSpPr>
          <p:cNvPr id="3" name="Oil-sands mining removes a living landscape">
            <a:extLst>
              <a:ext uri="{FF2B5EF4-FFF2-40B4-BE49-F238E27FC236}">
                <a16:creationId xmlns:a16="http://schemas.microsoft.com/office/drawing/2014/main" id="{2AD3F35D-AF5E-4267-BCF4-75E413B57D4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Oil-sands mining removes a living landscape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FAF094-45B7-4437-B76B-5BC4B64284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00" t="10800" r="40200" b="68100"/>
          <a:stretch/>
        </p:blipFill>
        <p:spPr>
          <a:xfrm>
            <a:off x="714375" y="2419350"/>
            <a:ext cx="5057775" cy="31432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A8BAE7-8DFE-4DDE-8BBF-6121256DD5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700" t="10800" r="3000" b="68100"/>
          <a:stretch/>
        </p:blipFill>
        <p:spPr>
          <a:xfrm>
            <a:off x="6448425" y="2419350"/>
            <a:ext cx="5057775" cy="3143250"/>
          </a:xfrm>
          <a:prstGeom prst="rect">
            <a:avLst/>
          </a:prstGeom>
        </p:spPr>
      </p:pic>
      <p:sp>
        <p:nvSpPr>
          <p:cNvPr id="6" name="Boreal forest and wetlands">
            <a:extLst>
              <a:ext uri="{FF2B5EF4-FFF2-40B4-BE49-F238E27FC236}">
                <a16:creationId xmlns:a16="http://schemas.microsoft.com/office/drawing/2014/main" id="{568BA80F-4AA7-4530-B120-E17923834D6D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5095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Boreal forest and wetlands</a:t>
            </a:r>
          </a:p>
        </p:txBody>
      </p:sp>
      <p:sp>
        <p:nvSpPr>
          <p:cNvPr id="7" name="Surface mine">
            <a:extLst>
              <a:ext uri="{FF2B5EF4-FFF2-40B4-BE49-F238E27FC236}">
                <a16:creationId xmlns:a16="http://schemas.microsoft.com/office/drawing/2014/main" id="{6C693BCF-273E-4C65-96BF-93AB12B7D1CD}"/>
              </a:ext>
            </a:extLst>
          </p:cNvPr>
          <p:cNvSpPr>
            <a:spLocks noGrp="1"/>
          </p:cNvSpPr>
          <p:nvPr/>
        </p:nvSpPr>
        <p:spPr>
          <a:xfrm>
            <a:off x="6448425" y="197167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Surface mine</a:t>
            </a:r>
          </a:p>
        </p:txBody>
      </p:sp>
      <p:sp>
        <p:nvSpPr>
          <p:cNvPr id="8" name="Fig. 9.25: oil-sands extraction removes the overlying f">
            <a:extLst>
              <a:ext uri="{FF2B5EF4-FFF2-40B4-BE49-F238E27FC236}">
                <a16:creationId xmlns:a16="http://schemas.microsoft.com/office/drawing/2014/main" id="{AFFCED64-C58F-47D9-AD27-D93950796B6F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9.25: oil-sands extraction removes the overlying forest, wetlands, and ponds. Book photos: Ashley Cooper / Alamy and Brett Gundlock / Bloomberg via Getty Images.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HAPTER 9  /  ISSUES">
            <a:extLst>
              <a:ext uri="{FF2B5EF4-FFF2-40B4-BE49-F238E27FC236}">
                <a16:creationId xmlns:a16="http://schemas.microsoft.com/office/drawing/2014/main" id="{CC0F408C-6387-414A-9390-1BBB269CBC4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23AC1537-54B6-4086-968F-15421FBD421D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40 / 61</a:t>
            </a:r>
          </a:p>
        </p:txBody>
      </p:sp>
      <p:sp>
        <p:nvSpPr>
          <p:cNvPr id="3" name="Fracking risks extend through the water cycle">
            <a:extLst>
              <a:ext uri="{FF2B5EF4-FFF2-40B4-BE49-F238E27FC236}">
                <a16:creationId xmlns:a16="http://schemas.microsoft.com/office/drawing/2014/main" id="{5C915FCA-7FF6-4685-8C46-3EC56548309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Fracking risks extend through the water cycle</a:t>
            </a:r>
          </a:p>
        </p:txBody>
      </p:sp>
      <p:sp>
        <p:nvSpPr>
          <p:cNvPr id="4" name="01">
            <a:extLst>
              <a:ext uri="{FF2B5EF4-FFF2-40B4-BE49-F238E27FC236}">
                <a16:creationId xmlns:a16="http://schemas.microsoft.com/office/drawing/2014/main" id="{219B7CF6-B1B2-4DE8-AFBD-9CF4E07FB890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F94975-82A7-440C-9702-9C71508F973E}"/>
              </a:ext>
            </a:extLst>
          </p:cNvPr>
          <p:cNvSpPr>
            <a:spLocks noGrp="1"/>
          </p:cNvSpPr>
          <p:nvPr/>
        </p:nvSpPr>
        <p:spPr>
          <a:xfrm>
            <a:off x="7239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Acquire water">
            <a:extLst>
              <a:ext uri="{FF2B5EF4-FFF2-40B4-BE49-F238E27FC236}">
                <a16:creationId xmlns:a16="http://schemas.microsoft.com/office/drawing/2014/main" id="{4824956C-6495-4DF2-9DE6-1A252D9B4346}"/>
              </a:ext>
            </a:extLst>
          </p:cNvPr>
          <p:cNvSpPr>
            <a:spLocks noGrp="1"/>
          </p:cNvSpPr>
          <p:nvPr/>
        </p:nvSpPr>
        <p:spPr>
          <a:xfrm>
            <a:off x="8191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Acquire water</a:t>
            </a:r>
          </a:p>
        </p:txBody>
      </p:sp>
      <p:sp>
        <p:nvSpPr>
          <p:cNvPr id="7" name="Competing demand">
            <a:extLst>
              <a:ext uri="{FF2B5EF4-FFF2-40B4-BE49-F238E27FC236}">
                <a16:creationId xmlns:a16="http://schemas.microsoft.com/office/drawing/2014/main" id="{A2C8084A-4504-4C57-8BEC-144F4A194937}"/>
              </a:ext>
            </a:extLst>
          </p:cNvPr>
          <p:cNvSpPr>
            <a:spLocks noGrp="1"/>
          </p:cNvSpPr>
          <p:nvPr/>
        </p:nvSpPr>
        <p:spPr>
          <a:xfrm>
            <a:off x="7239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Competing demand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6E64A99-2FEB-4FC7-83B0-201BC00A1AAF}"/>
              </a:ext>
            </a:extLst>
          </p:cNvPr>
          <p:cNvSpPr>
            <a:spLocks noGrp="1"/>
          </p:cNvSpPr>
          <p:nvPr/>
        </p:nvSpPr>
        <p:spPr>
          <a:xfrm>
            <a:off x="27051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02">
            <a:extLst>
              <a:ext uri="{FF2B5EF4-FFF2-40B4-BE49-F238E27FC236}">
                <a16:creationId xmlns:a16="http://schemas.microsoft.com/office/drawing/2014/main" id="{0C577D87-2C42-4C51-A033-08B3381EEE27}"/>
              </a:ext>
            </a:extLst>
          </p:cNvPr>
          <p:cNvSpPr>
            <a:spLocks noGrp="1"/>
          </p:cNvSpPr>
          <p:nvPr/>
        </p:nvSpPr>
        <p:spPr>
          <a:xfrm>
            <a:off x="29337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7FED86-B6C7-49CA-84C6-FB729706041E}"/>
              </a:ext>
            </a:extLst>
          </p:cNvPr>
          <p:cNvSpPr>
            <a:spLocks noGrp="1"/>
          </p:cNvSpPr>
          <p:nvPr/>
        </p:nvSpPr>
        <p:spPr>
          <a:xfrm>
            <a:off x="29337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Mix chemicals">
            <a:extLst>
              <a:ext uri="{FF2B5EF4-FFF2-40B4-BE49-F238E27FC236}">
                <a16:creationId xmlns:a16="http://schemas.microsoft.com/office/drawing/2014/main" id="{7D1EC568-0CE8-48AF-8A4C-11A81875F6A6}"/>
              </a:ext>
            </a:extLst>
          </p:cNvPr>
          <p:cNvSpPr>
            <a:spLocks noGrp="1"/>
          </p:cNvSpPr>
          <p:nvPr/>
        </p:nvSpPr>
        <p:spPr>
          <a:xfrm>
            <a:off x="30289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Mix chemicals</a:t>
            </a:r>
          </a:p>
        </p:txBody>
      </p:sp>
      <p:sp>
        <p:nvSpPr>
          <p:cNvPr id="12" name="Surface spills">
            <a:extLst>
              <a:ext uri="{FF2B5EF4-FFF2-40B4-BE49-F238E27FC236}">
                <a16:creationId xmlns:a16="http://schemas.microsoft.com/office/drawing/2014/main" id="{87C100AC-3B09-461B-BB1D-F174867E6DFC}"/>
              </a:ext>
            </a:extLst>
          </p:cNvPr>
          <p:cNvSpPr>
            <a:spLocks noGrp="1"/>
          </p:cNvSpPr>
          <p:nvPr/>
        </p:nvSpPr>
        <p:spPr>
          <a:xfrm>
            <a:off x="29337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Surface spills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F1B8DC0-68C0-4944-8FA3-A7D0D6D4F157}"/>
              </a:ext>
            </a:extLst>
          </p:cNvPr>
          <p:cNvSpPr>
            <a:spLocks noGrp="1"/>
          </p:cNvSpPr>
          <p:nvPr/>
        </p:nvSpPr>
        <p:spPr>
          <a:xfrm>
            <a:off x="49149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03">
            <a:extLst>
              <a:ext uri="{FF2B5EF4-FFF2-40B4-BE49-F238E27FC236}">
                <a16:creationId xmlns:a16="http://schemas.microsoft.com/office/drawing/2014/main" id="{EF1B11E0-2782-48C9-BC32-CAA7415D8DAD}"/>
              </a:ext>
            </a:extLst>
          </p:cNvPr>
          <p:cNvSpPr>
            <a:spLocks noGrp="1"/>
          </p:cNvSpPr>
          <p:nvPr/>
        </p:nvSpPr>
        <p:spPr>
          <a:xfrm>
            <a:off x="51435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FDA917-2761-4379-A5A4-6E1819393DE2}"/>
              </a:ext>
            </a:extLst>
          </p:cNvPr>
          <p:cNvSpPr>
            <a:spLocks noGrp="1"/>
          </p:cNvSpPr>
          <p:nvPr/>
        </p:nvSpPr>
        <p:spPr>
          <a:xfrm>
            <a:off x="51435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Inject into well">
            <a:extLst>
              <a:ext uri="{FF2B5EF4-FFF2-40B4-BE49-F238E27FC236}">
                <a16:creationId xmlns:a16="http://schemas.microsoft.com/office/drawing/2014/main" id="{D5C2CB94-0A88-4265-9DFB-E9B0210EA624}"/>
              </a:ext>
            </a:extLst>
          </p:cNvPr>
          <p:cNvSpPr>
            <a:spLocks noGrp="1"/>
          </p:cNvSpPr>
          <p:nvPr/>
        </p:nvSpPr>
        <p:spPr>
          <a:xfrm>
            <a:off x="52387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Inject into well</a:t>
            </a:r>
          </a:p>
        </p:txBody>
      </p:sp>
      <p:sp>
        <p:nvSpPr>
          <p:cNvPr id="17" name="Well integrity">
            <a:extLst>
              <a:ext uri="{FF2B5EF4-FFF2-40B4-BE49-F238E27FC236}">
                <a16:creationId xmlns:a16="http://schemas.microsoft.com/office/drawing/2014/main" id="{92290806-935E-4713-95BA-6CD2113F6769}"/>
              </a:ext>
            </a:extLst>
          </p:cNvPr>
          <p:cNvSpPr>
            <a:spLocks noGrp="1"/>
          </p:cNvSpPr>
          <p:nvPr/>
        </p:nvSpPr>
        <p:spPr>
          <a:xfrm>
            <a:off x="51435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Well integrity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90A1B569-9912-4217-9005-12A6A097D38D}"/>
              </a:ext>
            </a:extLst>
          </p:cNvPr>
          <p:cNvSpPr>
            <a:spLocks noGrp="1"/>
          </p:cNvSpPr>
          <p:nvPr/>
        </p:nvSpPr>
        <p:spPr>
          <a:xfrm>
            <a:off x="71247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04">
            <a:extLst>
              <a:ext uri="{FF2B5EF4-FFF2-40B4-BE49-F238E27FC236}">
                <a16:creationId xmlns:a16="http://schemas.microsoft.com/office/drawing/2014/main" id="{44D479BE-10C4-4A16-9D2C-705C7F37E050}"/>
              </a:ext>
            </a:extLst>
          </p:cNvPr>
          <p:cNvSpPr>
            <a:spLocks noGrp="1"/>
          </p:cNvSpPr>
          <p:nvPr/>
        </p:nvSpPr>
        <p:spPr>
          <a:xfrm>
            <a:off x="73533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589E33-C6A7-4BEE-A643-39C3DDA8494D}"/>
              </a:ext>
            </a:extLst>
          </p:cNvPr>
          <p:cNvSpPr>
            <a:spLocks noGrp="1"/>
          </p:cNvSpPr>
          <p:nvPr/>
        </p:nvSpPr>
        <p:spPr>
          <a:xfrm>
            <a:off x="73533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Collect wastewater">
            <a:extLst>
              <a:ext uri="{FF2B5EF4-FFF2-40B4-BE49-F238E27FC236}">
                <a16:creationId xmlns:a16="http://schemas.microsoft.com/office/drawing/2014/main" id="{C43B2962-70A6-4883-A3D0-9A54F48320FF}"/>
              </a:ext>
            </a:extLst>
          </p:cNvPr>
          <p:cNvSpPr>
            <a:spLocks noGrp="1"/>
          </p:cNvSpPr>
          <p:nvPr/>
        </p:nvSpPr>
        <p:spPr>
          <a:xfrm>
            <a:off x="74485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Collect wastewater</a:t>
            </a:r>
          </a:p>
        </p:txBody>
      </p:sp>
      <p:sp>
        <p:nvSpPr>
          <p:cNvPr id="22" name="Leaks and spills">
            <a:extLst>
              <a:ext uri="{FF2B5EF4-FFF2-40B4-BE49-F238E27FC236}">
                <a16:creationId xmlns:a16="http://schemas.microsoft.com/office/drawing/2014/main" id="{535274AD-1CEA-490D-8BE3-BE5F7F34AF01}"/>
              </a:ext>
            </a:extLst>
          </p:cNvPr>
          <p:cNvSpPr>
            <a:spLocks noGrp="1"/>
          </p:cNvSpPr>
          <p:nvPr/>
        </p:nvSpPr>
        <p:spPr>
          <a:xfrm>
            <a:off x="73533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Leaks and spills</a:t>
            </a: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8524BD3F-3875-4204-AFB9-867CDC998E2E}"/>
              </a:ext>
            </a:extLst>
          </p:cNvPr>
          <p:cNvSpPr>
            <a:spLocks noGrp="1"/>
          </p:cNvSpPr>
          <p:nvPr/>
        </p:nvSpPr>
        <p:spPr>
          <a:xfrm>
            <a:off x="93345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05">
            <a:extLst>
              <a:ext uri="{FF2B5EF4-FFF2-40B4-BE49-F238E27FC236}">
                <a16:creationId xmlns:a16="http://schemas.microsoft.com/office/drawing/2014/main" id="{5A85CD3D-A305-46FC-A2AF-9E230E0B793C}"/>
              </a:ext>
            </a:extLst>
          </p:cNvPr>
          <p:cNvSpPr>
            <a:spLocks noGrp="1"/>
          </p:cNvSpPr>
          <p:nvPr/>
        </p:nvSpPr>
        <p:spPr>
          <a:xfrm>
            <a:off x="95631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2C22A6-6A82-47C0-8E2B-B63A92199A7C}"/>
              </a:ext>
            </a:extLst>
          </p:cNvPr>
          <p:cNvSpPr>
            <a:spLocks noGrp="1"/>
          </p:cNvSpPr>
          <p:nvPr/>
        </p:nvSpPr>
        <p:spPr>
          <a:xfrm>
            <a:off x="95631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Treat / dispose">
            <a:extLst>
              <a:ext uri="{FF2B5EF4-FFF2-40B4-BE49-F238E27FC236}">
                <a16:creationId xmlns:a16="http://schemas.microsoft.com/office/drawing/2014/main" id="{F8051393-41EA-4DCD-A5E7-88FA1A9EFB8B}"/>
              </a:ext>
            </a:extLst>
          </p:cNvPr>
          <p:cNvSpPr>
            <a:spLocks noGrp="1"/>
          </p:cNvSpPr>
          <p:nvPr/>
        </p:nvSpPr>
        <p:spPr>
          <a:xfrm>
            <a:off x="96583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Treat / dispose</a:t>
            </a:r>
          </a:p>
        </p:txBody>
      </p:sp>
      <p:sp>
        <p:nvSpPr>
          <p:cNvPr id="27" name="Discharge; disposal">
            <a:extLst>
              <a:ext uri="{FF2B5EF4-FFF2-40B4-BE49-F238E27FC236}">
                <a16:creationId xmlns:a16="http://schemas.microsoft.com/office/drawing/2014/main" id="{84CEAE74-17DB-41F6-8146-DC3600129D32}"/>
              </a:ext>
            </a:extLst>
          </p:cNvPr>
          <p:cNvSpPr>
            <a:spLocks noGrp="1"/>
          </p:cNvSpPr>
          <p:nvPr/>
        </p:nvSpPr>
        <p:spPr>
          <a:xfrm>
            <a:off x="95631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Discharge; disposal</a:t>
            </a:r>
          </a:p>
        </p:txBody>
      </p:sp>
      <p:sp>
        <p:nvSpPr>
          <p:cNvPr id="28" name="A water-quality risk can arise at every stage—not only ">
            <a:extLst>
              <a:ext uri="{FF2B5EF4-FFF2-40B4-BE49-F238E27FC236}">
                <a16:creationId xmlns:a16="http://schemas.microsoft.com/office/drawing/2014/main" id="{26329869-C193-43E0-98B3-90BC4BE5C4C2}"/>
              </a:ext>
            </a:extLst>
          </p:cNvPr>
          <p:cNvSpPr>
            <a:spLocks noGrp="1"/>
          </p:cNvSpPr>
          <p:nvPr/>
        </p:nvSpPr>
        <p:spPr>
          <a:xfrm>
            <a:off x="733425" y="5362575"/>
            <a:ext cx="1062037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 water-quality risk can arise at every stage—not only deep underground.</a:t>
            </a:r>
          </a:p>
        </p:txBody>
      </p:sp>
      <p:sp>
        <p:nvSpPr>
          <p:cNvPr id="29" name="Fig. 9.26, redrawn: acquiring, mixing, injecting, recov">
            <a:extLst>
              <a:ext uri="{FF2B5EF4-FFF2-40B4-BE49-F238E27FC236}">
                <a16:creationId xmlns:a16="http://schemas.microsoft.com/office/drawing/2014/main" id="{B1A078F1-593B-4F3E-8177-0ADC661342E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9.26, redrawn: acquiring, mixing, injecting, recovering, and disposing of water can affect drinking-water resources. EPA’s final assessment (2016) supports this risk framework.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HAPTER 9  /  ISSUES">
            <a:extLst>
              <a:ext uri="{FF2B5EF4-FFF2-40B4-BE49-F238E27FC236}">
                <a16:creationId xmlns:a16="http://schemas.microsoft.com/office/drawing/2014/main" id="{87844144-2658-450C-8F7F-EB0A77AC229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E30D896E-ED92-4D44-92BF-B74CC8E9DE9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41 / 61</a:t>
            </a:r>
          </a:p>
        </p:txBody>
      </p:sp>
      <p:sp>
        <p:nvSpPr>
          <p:cNvPr id="3" name="Nuclear impacts extend beyond the reactor">
            <a:extLst>
              <a:ext uri="{FF2B5EF4-FFF2-40B4-BE49-F238E27FC236}">
                <a16:creationId xmlns:a16="http://schemas.microsoft.com/office/drawing/2014/main" id="{8A65FB60-F672-4EA6-A0C0-1183C0D8674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Nuclear impacts extend beyond the reactor</a:t>
            </a:r>
          </a:p>
        </p:txBody>
      </p:sp>
      <p:sp>
        <p:nvSpPr>
          <p:cNvPr id="4" name="Mining">
            <a:extLst>
              <a:ext uri="{FF2B5EF4-FFF2-40B4-BE49-F238E27FC236}">
                <a16:creationId xmlns:a16="http://schemas.microsoft.com/office/drawing/2014/main" id="{00A7B1C7-A553-41CF-8F37-36DA2BE56393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5" name="Tailings and contaminated sites can expose workers&#10;and ">
            <a:extLst>
              <a:ext uri="{FF2B5EF4-FFF2-40B4-BE49-F238E27FC236}">
                <a16:creationId xmlns:a16="http://schemas.microsoft.com/office/drawing/2014/main" id="{332CC799-47D1-44CF-9873-D0B2AC348CD5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Tailings and contaminated sites can expose workers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communities to radioactive materials.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D269971-C0CB-427E-9152-8B240ACCFBA6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Spent fuel">
            <a:extLst>
              <a:ext uri="{FF2B5EF4-FFF2-40B4-BE49-F238E27FC236}">
                <a16:creationId xmlns:a16="http://schemas.microsoft.com/office/drawing/2014/main" id="{BA615EE5-7CDC-4BC7-A37A-A74F55D3DA89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Spent fuel</a:t>
            </a:r>
          </a:p>
        </p:txBody>
      </p:sp>
      <p:sp>
        <p:nvSpPr>
          <p:cNvPr id="8" name="High radioactivity and decay heat require shielding,&#10;co">
            <a:extLst>
              <a:ext uri="{FF2B5EF4-FFF2-40B4-BE49-F238E27FC236}">
                <a16:creationId xmlns:a16="http://schemas.microsoft.com/office/drawing/2014/main" id="{FAC95087-4D65-466B-A95C-A86FFC72DC3B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High radioactivity and decay heat require shielding,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cooling, secure storage, and long-term isolation.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D64BB51F-A610-49A6-BA75-EE5DFDF1C7E0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Accidents">
            <a:extLst>
              <a:ext uri="{FF2B5EF4-FFF2-40B4-BE49-F238E27FC236}">
                <a16:creationId xmlns:a16="http://schemas.microsoft.com/office/drawing/2014/main" id="{6F02C895-F613-48CC-8653-39FD9F44713B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Accidents</a:t>
            </a:r>
          </a:p>
        </p:txBody>
      </p:sp>
      <p:sp>
        <p:nvSpPr>
          <p:cNvPr id="11" name="Loss of cooling or containment can damage fuel&#10;and rele">
            <a:extLst>
              <a:ext uri="{FF2B5EF4-FFF2-40B4-BE49-F238E27FC236}">
                <a16:creationId xmlns:a16="http://schemas.microsoft.com/office/drawing/2014/main" id="{C3CB5344-203C-4E07-922A-9DF516278412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Loss of cooling or containment can damage fuel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release radioactive material.</a:t>
            </a:r>
          </a:p>
        </p:txBody>
      </p:sp>
      <p:sp>
        <p:nvSpPr>
          <p:cNvPr id="12" name="Chapter synthesis, §9.6. A reactor’s lack of fossil-fue">
            <a:extLst>
              <a:ext uri="{FF2B5EF4-FFF2-40B4-BE49-F238E27FC236}">
                <a16:creationId xmlns:a16="http://schemas.microsoft.com/office/drawing/2014/main" id="{9060C6BE-EE3B-4D01-BAA3-3B00FEA62ED6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Chapter synthesis, §9.6. A reactor’s lack of fossil-fuel combustion does not remove its mining, waste, cooling, or accident obligations.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B78EFAB1-89D6-4329-88CC-CAB30FDB508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78E88271-86E2-4E0B-870B-46A4F7F098A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42 / 61</a:t>
            </a:r>
          </a:p>
        </p:txBody>
      </p:sp>
      <p:sp>
        <p:nvSpPr>
          <p:cNvPr id="3" name="Three nuclear accidents had different consequences">
            <a:extLst>
              <a:ext uri="{FF2B5EF4-FFF2-40B4-BE49-F238E27FC236}">
                <a16:creationId xmlns:a16="http://schemas.microsoft.com/office/drawing/2014/main" id="{FA925054-C484-4BB5-86F2-188BE7DBA890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nuclear accidents had different consequences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1B3C47-F68A-4E2B-B59B-0ABC07276A89}"/>
              </a:ext>
            </a:extLst>
          </p:cNvPr>
          <p:cNvGraphicFramePr/>
          <p:nvPr/>
        </p:nvGraphicFramePr>
        <p:xfrm>
          <a:off x="685800" y="2228850"/>
          <a:ext cx="10820400" cy="3513774"/>
        </p:xfrm>
        <a:graphic>
          <a:graphicData uri="http://schemas.openxmlformats.org/drawingml/2006/table">
            <a:tbl>
              <a:tblPr/>
              <a:tblGrid>
                <a:gridCol w="211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0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Accident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What failed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Environmental significance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Three Mile Island</a:t>
                      </a:r>
                    </a:p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1979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Coolant loss and misinterpreted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plant conditions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Partial meltdown; containment limited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release. NRC found negligible health effects.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Chernobyl</a:t>
                      </a:r>
                    </a:p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1986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Unsafe test, reactor-design flaws,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and explosion/fire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Large release without robust containment;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widespread fallout and long-term exclusion.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Fukushima Daiichi</a:t>
                      </a:r>
                    </a:p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2011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Earthquake and tsunami disabled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power and cooling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Core damage, hydrogen explosions, releases,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evacuations, and prolonged cleanup.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ynthesis accompanying Figs. 9.27–9.29: the initiating ">
            <a:extLst>
              <a:ext uri="{FF2B5EF4-FFF2-40B4-BE49-F238E27FC236}">
                <a16:creationId xmlns:a16="http://schemas.microsoft.com/office/drawing/2014/main" id="{2878BA06-A9C0-4300-99FD-5CE93B54766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Synthesis accompanying Figs. 9.27–9.29: the initiating events, reactor designs, containment performance, and releases differed.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CE769D9C-E132-421D-9E2B-8DF4F758D94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DFDFEB29-2837-4375-8DC3-9097050C0F3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43 / 61</a:t>
            </a:r>
          </a:p>
        </p:txBody>
      </p:sp>
      <p:sp>
        <p:nvSpPr>
          <p:cNvPr id="3" name="Compare complete pathways: extraction">
            <a:extLst>
              <a:ext uri="{FF2B5EF4-FFF2-40B4-BE49-F238E27FC236}">
                <a16:creationId xmlns:a16="http://schemas.microsoft.com/office/drawing/2014/main" id="{43FA566D-66E2-441F-9D95-48B7DEEDED2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 complete pathways: extraction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CDD468-A310-45CA-AA1F-47B20667267B}"/>
              </a:ext>
            </a:extLst>
          </p:cNvPr>
          <p:cNvGraphicFramePr/>
          <p:nvPr/>
        </p:nvGraphicFramePr>
        <p:xfrm>
          <a:off x="685800" y="2095500"/>
          <a:ext cx="10820400" cy="3676650"/>
        </p:xfrm>
        <a:graphic>
          <a:graphicData uri="http://schemas.openxmlformats.org/drawingml/2006/table">
            <a:tbl>
              <a:tblPr/>
              <a:tblGrid>
                <a:gridCol w="147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4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Extraction &amp; processing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Land, water &amp; community burdens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Strip mining; mountaintop removal;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 washing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Forest and stream loss; acid mine drainage;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dust; contaminated sludge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Oil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Drilling; oil-sands mining;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refining and transport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Spills; forest and peatland loss;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water use; contaminated habitats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Natural gas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Drilling; hydraulic fracturing;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gathering and transport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Water withdrawals; spills and well leakage;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methane loss; wastewater disposal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Nuclear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Uranium mining; milling;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enrichment and fuel fabrication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Mine disturbance; radioactive tailings;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worker and community exposure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Chapter synthesis, §§9.4–9.6: impacts start before a po">
            <a:extLst>
              <a:ext uri="{FF2B5EF4-FFF2-40B4-BE49-F238E27FC236}">
                <a16:creationId xmlns:a16="http://schemas.microsoft.com/office/drawing/2014/main" id="{96E030FC-E5BC-40A8-A387-10E85EEC4B6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Chapter synthesis, §§9.4–9.6: impacts start before a power plant operates. Wastewater injection can induce earthquakes; it is distinct from fracking.</a:t>
            </a:r>
          </a:p>
        </p:txBody>
      </p:sp>
    </p:spTree>
    <p:extLst>
      <p:ext uri="{BB962C8B-B14F-4D97-AF65-F5344CB8AC3E}">
        <p14:creationId xmlns:p14="http://schemas.microsoft.com/office/powerpoint/2010/main" val="3643337328"/>
      </p:ext>
    </p:extLst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B0200672-37AE-4761-8A9A-D67EF38A3B3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D391A9E6-E0AA-4E87-9872-056B55A7508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44 / 61</a:t>
            </a:r>
          </a:p>
        </p:txBody>
      </p:sp>
      <p:sp>
        <p:nvSpPr>
          <p:cNvPr id="3" name="Compare complete pathways: use and lasting waste">
            <a:extLst>
              <a:ext uri="{FF2B5EF4-FFF2-40B4-BE49-F238E27FC236}">
                <a16:creationId xmlns:a16="http://schemas.microsoft.com/office/drawing/2014/main" id="{9C5F63F2-9AF5-4F91-BAD6-FC0DA3CCB66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 complete pathways: use and lasting waste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75B93B-EB4F-45E9-87B9-C18503B3B554}"/>
              </a:ext>
            </a:extLst>
          </p:cNvPr>
          <p:cNvGraphicFramePr/>
          <p:nvPr/>
        </p:nvGraphicFramePr>
        <p:xfrm>
          <a:off x="685800" y="2095500"/>
          <a:ext cx="10820400" cy="367665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5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Use / operation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Waste, accidents &amp; continuing duties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CO₂; air pollutants and toxic metals;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cooling demand and waste heat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Ash and sludge containment; acid drainage;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mine reclamation and water monitoring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Oil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CO₂ and air pollutants from fuels;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refinery and transport impacts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Spill cleanup; contaminated sediments;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long recovery of affected ecosystems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Natural gas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CO₂ and nitrogen oxides;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methane leakage across the system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Manage flowback and produced water;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well integrity; disposal-induced seismicity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Nuclear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No combustion in the reactor;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cooling demand and waste heat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Spent fuel and tailings; accident preparedness;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secure storage and decommissioning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Expanded chapter synthesis, §§9.4–9.6. This inventory d">
            <a:extLst>
              <a:ext uri="{FF2B5EF4-FFF2-40B4-BE49-F238E27FC236}">
                <a16:creationId xmlns:a16="http://schemas.microsoft.com/office/drawing/2014/main" id="{5CAA60A1-E2FB-42D7-977B-0EC64544E94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Expanded chapter synthesis, §§9.4–9.6. This inventory does not imply equal impact magnitudes or equal accident probabilities.</a:t>
            </a:r>
          </a:p>
        </p:txBody>
      </p:sp>
    </p:spTree>
    <p:extLst>
      <p:ext uri="{BB962C8B-B14F-4D97-AF65-F5344CB8AC3E}">
        <p14:creationId xmlns:p14="http://schemas.microsoft.com/office/powerpoint/2010/main" val="2014963329"/>
      </p:ext>
    </p:extLst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PTER 9  /  ISSUES">
            <a:extLst>
              <a:ext uri="{FF2B5EF4-FFF2-40B4-BE49-F238E27FC236}">
                <a16:creationId xmlns:a16="http://schemas.microsoft.com/office/drawing/2014/main" id="{637349C3-685F-4F01-BFD9-83B6D6DF34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BE429638-C0FC-4B89-8690-0204DCA4C01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45 / 61</a:t>
            </a:r>
          </a:p>
        </p:txBody>
      </p:sp>
      <p:sp>
        <p:nvSpPr>
          <p:cNvPr id="3" name="Issues summary">
            <a:extLst>
              <a:ext uri="{FF2B5EF4-FFF2-40B4-BE49-F238E27FC236}">
                <a16:creationId xmlns:a16="http://schemas.microsoft.com/office/drawing/2014/main" id="{8F54FD78-F0E4-452B-B9EF-7065266F3B1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Issues summary</a:t>
            </a:r>
          </a:p>
        </p:txBody>
      </p:sp>
      <p:sp>
        <p:nvSpPr>
          <p:cNvPr id="4" name="9.4">
            <a:extLst>
              <a:ext uri="{FF2B5EF4-FFF2-40B4-BE49-F238E27FC236}">
                <a16:creationId xmlns:a16="http://schemas.microsoft.com/office/drawing/2014/main" id="{D7624E46-1099-49F0-97D0-932D4527CA7A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9.4</a:t>
            </a:r>
          </a:p>
        </p:txBody>
      </p:sp>
      <p:sp>
        <p:nvSpPr>
          <p:cNvPr id="5" name="Finite supplies and changing demand create pressure.&#10;Fo">
            <a:extLst>
              <a:ext uri="{FF2B5EF4-FFF2-40B4-BE49-F238E27FC236}">
                <a16:creationId xmlns:a16="http://schemas.microsoft.com/office/drawing/2014/main" id="{06D58A40-1B1F-409E-B4EE-9DB3A34EE09A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Finite supplies and changing demand create pressure.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Forecasts depend on uncertain assumptions.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A22FDB34-E69B-4243-AB95-61AC90474262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9.5">
            <a:extLst>
              <a:ext uri="{FF2B5EF4-FFF2-40B4-BE49-F238E27FC236}">
                <a16:creationId xmlns:a16="http://schemas.microsoft.com/office/drawing/2014/main" id="{838AC235-FABF-46A8-9653-62CE9761AB73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9.5</a:t>
            </a:r>
          </a:p>
        </p:txBody>
      </p:sp>
      <p:sp>
        <p:nvSpPr>
          <p:cNvPr id="8" name="Extraction, combustion, spills, and residues damage&#10;lan">
            <a:extLst>
              <a:ext uri="{FF2B5EF4-FFF2-40B4-BE49-F238E27FC236}">
                <a16:creationId xmlns:a16="http://schemas.microsoft.com/office/drawing/2014/main" id="{6E844B0F-F022-4C00-8CDB-4EE7452E45C1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Extraction, combustion, spills, and residues damage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land, water, air, and human well-being.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EB91BDC4-60F1-4657-8587-6F43F4769A0E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9.6">
            <a:extLst>
              <a:ext uri="{FF2B5EF4-FFF2-40B4-BE49-F238E27FC236}">
                <a16:creationId xmlns:a16="http://schemas.microsoft.com/office/drawing/2014/main" id="{B783F919-320A-479A-957A-821DA14AAAC1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9.6</a:t>
            </a:r>
          </a:p>
        </p:txBody>
      </p:sp>
      <p:sp>
        <p:nvSpPr>
          <p:cNvPr id="11" name="Nuclear energy carries mining and waste burdens.&#10;Major ">
            <a:extLst>
              <a:ext uri="{FF2B5EF4-FFF2-40B4-BE49-F238E27FC236}">
                <a16:creationId xmlns:a16="http://schemas.microsoft.com/office/drawing/2014/main" id="{A15463E9-69D9-446E-AF01-93A8C2F802A3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Nuclear energy carries mining and waste burdens.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Major accidents reveal the importance of cooling and containment.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HAPTER 9  /  SOLUTIONS">
            <a:extLst>
              <a:ext uri="{FF2B5EF4-FFF2-40B4-BE49-F238E27FC236}">
                <a16:creationId xmlns:a16="http://schemas.microsoft.com/office/drawing/2014/main" id="{C1AD4324-4068-4184-8F21-9D8C95D177F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5A169D6F-D9EF-4D03-AE8A-8E6EC11B9F0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46 / 61</a:t>
            </a:r>
          </a:p>
        </p:txBody>
      </p:sp>
      <p:sp>
        <p:nvSpPr>
          <p:cNvPr id="3" name="Preventing oil-industry harm">
            <a:extLst>
              <a:ext uri="{FF2B5EF4-FFF2-40B4-BE49-F238E27FC236}">
                <a16:creationId xmlns:a16="http://schemas.microsoft.com/office/drawing/2014/main" id="{8B24D60D-6704-4B31-9BC6-FBBF6133705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Preventing oil-industry harm</a:t>
            </a:r>
          </a:p>
        </p:txBody>
      </p:sp>
      <p:sp>
        <p:nvSpPr>
          <p:cNvPr id="4" name="Equipment">
            <a:extLst>
              <a:ext uri="{FF2B5EF4-FFF2-40B4-BE49-F238E27FC236}">
                <a16:creationId xmlns:a16="http://schemas.microsoft.com/office/drawing/2014/main" id="{D3D11E60-2D7D-4FD8-8B25-40A15F10D2AE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Equipment</a:t>
            </a:r>
          </a:p>
        </p:txBody>
      </p:sp>
      <p:sp>
        <p:nvSpPr>
          <p:cNvPr id="5" name="Double hulls, well integrity, maintenance,&#10;and reliable">
            <a:extLst>
              <a:ext uri="{FF2B5EF4-FFF2-40B4-BE49-F238E27FC236}">
                <a16:creationId xmlns:a16="http://schemas.microsoft.com/office/drawing/2014/main" id="{6930E10A-43FB-4999-9F62-075D566786D5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Double hulls, well integrity, maintenance,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reliable operating procedures reduce release risk.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56E75499-5F24-4B53-884C-938E52CED377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Planning">
            <a:extLst>
              <a:ext uri="{FF2B5EF4-FFF2-40B4-BE49-F238E27FC236}">
                <a16:creationId xmlns:a16="http://schemas.microsoft.com/office/drawing/2014/main" id="{8C1784D3-4AC5-4E4B-8525-0F3508C6C7BB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Planning</a:t>
            </a:r>
          </a:p>
        </p:txBody>
      </p:sp>
      <p:sp>
        <p:nvSpPr>
          <p:cNvPr id="8" name="Prevention and response plans establish responsibilitie">
            <a:extLst>
              <a:ext uri="{FF2B5EF4-FFF2-40B4-BE49-F238E27FC236}">
                <a16:creationId xmlns:a16="http://schemas.microsoft.com/office/drawing/2014/main" id="{E8AB7481-6DBD-4C5E-90C4-8659B02FFD31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Prevention and response plans establish responsibilities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before a spill and support rapid action afterward.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F9A212BD-C9A9-4A1F-9F40-5107639404CE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Location">
            <a:extLst>
              <a:ext uri="{FF2B5EF4-FFF2-40B4-BE49-F238E27FC236}">
                <a16:creationId xmlns:a16="http://schemas.microsoft.com/office/drawing/2014/main" id="{9617BE98-F505-4D18-AFF7-C03A38CD5026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Location</a:t>
            </a:r>
          </a:p>
        </p:txBody>
      </p:sp>
      <p:sp>
        <p:nvSpPr>
          <p:cNvPr id="11" name="Avoiding development in sensitive areas prevents&#10;new dr">
            <a:extLst>
              <a:ext uri="{FF2B5EF4-FFF2-40B4-BE49-F238E27FC236}">
                <a16:creationId xmlns:a16="http://schemas.microsoft.com/office/drawing/2014/main" id="{0B310CE6-9DC1-4AEF-A3E9-EF739123A112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Avoiding development in sensitive areas prevents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new drilling-related disturbance at those sites.</a:t>
            </a:r>
          </a:p>
        </p:txBody>
      </p:sp>
      <p:sp>
        <p:nvSpPr>
          <p:cNvPr id="12" name="From §9.7: prevention combines engineering, oversight, ">
            <a:extLst>
              <a:ext uri="{FF2B5EF4-FFF2-40B4-BE49-F238E27FC236}">
                <a16:creationId xmlns:a16="http://schemas.microsoft.com/office/drawing/2014/main" id="{CE5921D2-C34D-4CEF-B114-FAD5426475D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From §9.7: prevention combines engineering, oversight, preparedness, and decisions about where extraction should occur.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 9  /  SOLUTIONS">
            <a:extLst>
              <a:ext uri="{FF2B5EF4-FFF2-40B4-BE49-F238E27FC236}">
                <a16:creationId xmlns:a16="http://schemas.microsoft.com/office/drawing/2014/main" id="{6A560A3D-0D22-4C06-9AED-8C809F81A94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16CC2096-1418-40F9-879F-E644B195534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47 / 61</a:t>
            </a:r>
          </a:p>
        </p:txBody>
      </p:sp>
      <p:sp>
        <p:nvSpPr>
          <p:cNvPr id="3" name="Oil-spill response has several distinct jobs">
            <a:extLst>
              <a:ext uri="{FF2B5EF4-FFF2-40B4-BE49-F238E27FC236}">
                <a16:creationId xmlns:a16="http://schemas.microsoft.com/office/drawing/2014/main" id="{AFB57172-E4DD-4149-9931-F30249A965D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Oil-spill response has several distinct jobs</a:t>
            </a:r>
          </a:p>
        </p:txBody>
      </p:sp>
      <p:sp>
        <p:nvSpPr>
          <p:cNvPr id="4" name="PREVENT">
            <a:extLst>
              <a:ext uri="{FF2B5EF4-FFF2-40B4-BE49-F238E27FC236}">
                <a16:creationId xmlns:a16="http://schemas.microsoft.com/office/drawing/2014/main" id="{2BB5DF9C-A70F-4AA3-AD31-DA37CD2AA035}"/>
              </a:ext>
            </a:extLst>
          </p:cNvPr>
          <p:cNvSpPr>
            <a:spLocks noGrp="1"/>
          </p:cNvSpPr>
          <p:nvPr/>
        </p:nvSpPr>
        <p:spPr>
          <a:xfrm>
            <a:off x="7048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PREVENT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5CF43687-8DA4-4352-B1FD-CBBDFA90CD8C}"/>
              </a:ext>
            </a:extLst>
          </p:cNvPr>
          <p:cNvSpPr>
            <a:spLocks noGrp="1"/>
          </p:cNvSpPr>
          <p:nvPr/>
        </p:nvSpPr>
        <p:spPr>
          <a:xfrm>
            <a:off x="7048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Keep oil from escaping">
            <a:extLst>
              <a:ext uri="{FF2B5EF4-FFF2-40B4-BE49-F238E27FC236}">
                <a16:creationId xmlns:a16="http://schemas.microsoft.com/office/drawing/2014/main" id="{82FC6CF8-C946-449D-8C8D-25124F0D54A1}"/>
              </a:ext>
            </a:extLst>
          </p:cNvPr>
          <p:cNvSpPr>
            <a:spLocks noGrp="1"/>
          </p:cNvSpPr>
          <p:nvPr/>
        </p:nvSpPr>
        <p:spPr>
          <a:xfrm>
            <a:off x="7048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Keep oil from escaping</a:t>
            </a:r>
          </a:p>
        </p:txBody>
      </p:sp>
      <p:sp>
        <p:nvSpPr>
          <p:cNvPr id="7" name="Safer equipment; maintenance;&#10;response plans; double hu">
            <a:extLst>
              <a:ext uri="{FF2B5EF4-FFF2-40B4-BE49-F238E27FC236}">
                <a16:creationId xmlns:a16="http://schemas.microsoft.com/office/drawing/2014/main" id="{51EB2415-B2DF-4704-9613-E5E138E9A78D}"/>
              </a:ext>
            </a:extLst>
          </p:cNvPr>
          <p:cNvSpPr>
            <a:spLocks noGrp="1"/>
          </p:cNvSpPr>
          <p:nvPr/>
        </p:nvSpPr>
        <p:spPr>
          <a:xfrm>
            <a:off x="7048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Safer equipment; maintenance;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response plans; double hulls</a:t>
            </a:r>
          </a:p>
        </p:txBody>
      </p:sp>
      <p:sp>
        <p:nvSpPr>
          <p:cNvPr id="8" name="CONTAIN">
            <a:extLst>
              <a:ext uri="{FF2B5EF4-FFF2-40B4-BE49-F238E27FC236}">
                <a16:creationId xmlns:a16="http://schemas.microsoft.com/office/drawing/2014/main" id="{B6362C72-50B5-4228-9C19-9E7E341E5B5E}"/>
              </a:ext>
            </a:extLst>
          </p:cNvPr>
          <p:cNvSpPr>
            <a:spLocks noGrp="1"/>
          </p:cNvSpPr>
          <p:nvPr/>
        </p:nvSpPr>
        <p:spPr>
          <a:xfrm>
            <a:off x="35242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CONTAIN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6902E8E-35CC-4A6A-AE67-044E44FE5E36}"/>
              </a:ext>
            </a:extLst>
          </p:cNvPr>
          <p:cNvSpPr>
            <a:spLocks noGrp="1"/>
          </p:cNvSpPr>
          <p:nvPr/>
        </p:nvSpPr>
        <p:spPr>
          <a:xfrm>
            <a:off x="35242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Limit the affected area">
            <a:extLst>
              <a:ext uri="{FF2B5EF4-FFF2-40B4-BE49-F238E27FC236}">
                <a16:creationId xmlns:a16="http://schemas.microsoft.com/office/drawing/2014/main" id="{02BDC7CB-7207-4B1C-A928-17DFC1499C86}"/>
              </a:ext>
            </a:extLst>
          </p:cNvPr>
          <p:cNvSpPr>
            <a:spLocks noGrp="1"/>
          </p:cNvSpPr>
          <p:nvPr/>
        </p:nvSpPr>
        <p:spPr>
          <a:xfrm>
            <a:off x="35242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Limit the affected area</a:t>
            </a:r>
          </a:p>
        </p:txBody>
      </p:sp>
      <p:sp>
        <p:nvSpPr>
          <p:cNvPr id="11" name="Booms and barriers&#10;protect sensitive coastlines">
            <a:extLst>
              <a:ext uri="{FF2B5EF4-FFF2-40B4-BE49-F238E27FC236}">
                <a16:creationId xmlns:a16="http://schemas.microsoft.com/office/drawing/2014/main" id="{B81AFE81-1043-44CD-B623-4A943D8E80A7}"/>
              </a:ext>
            </a:extLst>
          </p:cNvPr>
          <p:cNvSpPr>
            <a:spLocks noGrp="1"/>
          </p:cNvSpPr>
          <p:nvPr/>
        </p:nvSpPr>
        <p:spPr>
          <a:xfrm>
            <a:off x="35242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Booms and barriers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protect sensitive coastlines</a:t>
            </a:r>
          </a:p>
        </p:txBody>
      </p:sp>
      <p:sp>
        <p:nvSpPr>
          <p:cNvPr id="12" name="RECOVER">
            <a:extLst>
              <a:ext uri="{FF2B5EF4-FFF2-40B4-BE49-F238E27FC236}">
                <a16:creationId xmlns:a16="http://schemas.microsoft.com/office/drawing/2014/main" id="{9AB61275-AC05-48E5-B158-9A6AA7700BB6}"/>
              </a:ext>
            </a:extLst>
          </p:cNvPr>
          <p:cNvSpPr>
            <a:spLocks noGrp="1"/>
          </p:cNvSpPr>
          <p:nvPr/>
        </p:nvSpPr>
        <p:spPr>
          <a:xfrm>
            <a:off x="63436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RECOVER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24D9266A-5C4C-42E3-8509-9B460FF312F5}"/>
              </a:ext>
            </a:extLst>
          </p:cNvPr>
          <p:cNvSpPr>
            <a:spLocks noGrp="1"/>
          </p:cNvSpPr>
          <p:nvPr/>
        </p:nvSpPr>
        <p:spPr>
          <a:xfrm>
            <a:off x="63436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move accessible oil">
            <a:extLst>
              <a:ext uri="{FF2B5EF4-FFF2-40B4-BE49-F238E27FC236}">
                <a16:creationId xmlns:a16="http://schemas.microsoft.com/office/drawing/2014/main" id="{4C15EB65-CF73-43B2-8CC8-8ADCEE05A902}"/>
              </a:ext>
            </a:extLst>
          </p:cNvPr>
          <p:cNvSpPr>
            <a:spLocks noGrp="1"/>
          </p:cNvSpPr>
          <p:nvPr/>
        </p:nvSpPr>
        <p:spPr>
          <a:xfrm>
            <a:off x="63436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Remove accessible oil</a:t>
            </a:r>
          </a:p>
        </p:txBody>
      </p:sp>
      <p:sp>
        <p:nvSpPr>
          <p:cNvPr id="15" name="Skimmers collect oil;&#10;dispersants redistribute it">
            <a:extLst>
              <a:ext uri="{FF2B5EF4-FFF2-40B4-BE49-F238E27FC236}">
                <a16:creationId xmlns:a16="http://schemas.microsoft.com/office/drawing/2014/main" id="{2BD35CCE-EAD0-4365-A517-BE95ACC069AC}"/>
              </a:ext>
            </a:extLst>
          </p:cNvPr>
          <p:cNvSpPr>
            <a:spLocks noGrp="1"/>
          </p:cNvSpPr>
          <p:nvPr/>
        </p:nvSpPr>
        <p:spPr>
          <a:xfrm>
            <a:off x="63436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Skimmers collect oil;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dispersants redistribute it</a:t>
            </a:r>
          </a:p>
        </p:txBody>
      </p:sp>
      <p:sp>
        <p:nvSpPr>
          <p:cNvPr id="16" name="MONITOR">
            <a:extLst>
              <a:ext uri="{FF2B5EF4-FFF2-40B4-BE49-F238E27FC236}">
                <a16:creationId xmlns:a16="http://schemas.microsoft.com/office/drawing/2014/main" id="{2D0CFA23-F9BB-470C-B42B-889E86D55DF1}"/>
              </a:ext>
            </a:extLst>
          </p:cNvPr>
          <p:cNvSpPr>
            <a:spLocks noGrp="1"/>
          </p:cNvSpPr>
          <p:nvPr/>
        </p:nvSpPr>
        <p:spPr>
          <a:xfrm>
            <a:off x="91630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MONITOR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8A6484A8-3C4D-4182-8C79-36407DC0936A}"/>
              </a:ext>
            </a:extLst>
          </p:cNvPr>
          <p:cNvSpPr>
            <a:spLocks noGrp="1"/>
          </p:cNvSpPr>
          <p:nvPr/>
        </p:nvSpPr>
        <p:spPr>
          <a:xfrm>
            <a:off x="91630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Test ecological recovery">
            <a:extLst>
              <a:ext uri="{FF2B5EF4-FFF2-40B4-BE49-F238E27FC236}">
                <a16:creationId xmlns:a16="http://schemas.microsoft.com/office/drawing/2014/main" id="{A9252CAB-5092-4F45-9439-52EFD4B07A1C}"/>
              </a:ext>
            </a:extLst>
          </p:cNvPr>
          <p:cNvSpPr>
            <a:spLocks noGrp="1"/>
          </p:cNvSpPr>
          <p:nvPr/>
        </p:nvSpPr>
        <p:spPr>
          <a:xfrm>
            <a:off x="91630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ecological recovery</a:t>
            </a:r>
          </a:p>
        </p:txBody>
      </p:sp>
      <p:sp>
        <p:nvSpPr>
          <p:cNvPr id="19" name="Water, sediments, wildlife,&#10;and ecosystem functions">
            <a:extLst>
              <a:ext uri="{FF2B5EF4-FFF2-40B4-BE49-F238E27FC236}">
                <a16:creationId xmlns:a16="http://schemas.microsoft.com/office/drawing/2014/main" id="{57F6FD1F-8600-410C-AA8A-42B1B09B0B1D}"/>
              </a:ext>
            </a:extLst>
          </p:cNvPr>
          <p:cNvSpPr>
            <a:spLocks noGrp="1"/>
          </p:cNvSpPr>
          <p:nvPr/>
        </p:nvSpPr>
        <p:spPr>
          <a:xfrm>
            <a:off x="91630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Water, sediments, wildlife,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ecosystem functions</a:t>
            </a:r>
          </a:p>
        </p:txBody>
      </p:sp>
      <p:sp>
        <p:nvSpPr>
          <p:cNvPr id="20" name="Chapter synthesis, §9.7: spill response combines preven">
            <a:extLst>
              <a:ext uri="{FF2B5EF4-FFF2-40B4-BE49-F238E27FC236}">
                <a16:creationId xmlns:a16="http://schemas.microsoft.com/office/drawing/2014/main" id="{94C808E1-3A1B-45D7-9E7C-A2F31E5ED3CF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Chapter synthesis, §9.7: spill response combines prevention, physical containment, removal, and long-term follow-up. Dispersal does not remove oil from the ecosystem.</a:t>
            </a:r>
          </a:p>
        </p:txBody>
      </p:sp>
    </p:spTree>
    <p:extLst>
      <p:ext uri="{BB962C8B-B14F-4D97-AF65-F5344CB8AC3E}">
        <p14:creationId xmlns:p14="http://schemas.microsoft.com/office/powerpoint/2010/main" val="1220560013"/>
      </p:ext>
    </p:extLst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HAPTER 9  /  SOLUTIONS">
            <a:extLst>
              <a:ext uri="{FF2B5EF4-FFF2-40B4-BE49-F238E27FC236}">
                <a16:creationId xmlns:a16="http://schemas.microsoft.com/office/drawing/2014/main" id="{EA14DF20-2DE3-416A-8A80-ED7DEEECDD0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D37A902-C541-4CFB-9D7D-FC991332C38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48 / 61</a:t>
            </a:r>
          </a:p>
        </p:txBody>
      </p:sp>
      <p:sp>
        <p:nvSpPr>
          <p:cNvPr id="3" name="Response-room challenge: which action fits?">
            <a:extLst>
              <a:ext uri="{FF2B5EF4-FFF2-40B4-BE49-F238E27FC236}">
                <a16:creationId xmlns:a16="http://schemas.microsoft.com/office/drawing/2014/main" id="{EB616CC8-F223-45A9-94BD-FD04A6606C6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Response-room challenge: which action fits?</a:t>
            </a:r>
          </a:p>
        </p:txBody>
      </p:sp>
      <p:sp>
        <p:nvSpPr>
          <p:cNvPr id="4" name="A slick approaches a sensitive shoreline.">
            <a:extLst>
              <a:ext uri="{FF2B5EF4-FFF2-40B4-BE49-F238E27FC236}">
                <a16:creationId xmlns:a16="http://schemas.microsoft.com/office/drawing/2014/main" id="{F58E8142-F0C8-485C-BB65-B73DD7725CDE}"/>
              </a:ext>
            </a:extLst>
          </p:cNvPr>
          <p:cNvSpPr>
            <a:spLocks noGrp="1"/>
          </p:cNvSpPr>
          <p:nvPr/>
        </p:nvSpPr>
        <p:spPr>
          <a:xfrm>
            <a:off x="733425" y="2181225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slick approaches a sensitive shoreline.</a:t>
            </a:r>
          </a:p>
        </p:txBody>
      </p:sp>
      <p:sp>
        <p:nvSpPr>
          <p:cNvPr id="5" name="reveal-spill-0">
            <a:extLst>
              <a:ext uri="{FF2B5EF4-FFF2-40B4-BE49-F238E27FC236}">
                <a16:creationId xmlns:a16="http://schemas.microsoft.com/office/drawing/2014/main" id="{1F1100CC-C394-4DA3-8B23-EAC0B5F07C3D}"/>
              </a:ext>
            </a:extLst>
          </p:cNvPr>
          <p:cNvSpPr>
            <a:spLocks noGrp="1"/>
          </p:cNvSpPr>
          <p:nvPr/>
        </p:nvSpPr>
        <p:spPr>
          <a:xfrm>
            <a:off x="733425" y="266700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Booms help protect the shoreline.</a:t>
            </a:r>
          </a:p>
        </p:txBody>
      </p:sp>
      <p:sp>
        <p:nvSpPr>
          <p:cNvPr id="6" name="Responders need to remove surface oil.">
            <a:extLst>
              <a:ext uri="{FF2B5EF4-FFF2-40B4-BE49-F238E27FC236}">
                <a16:creationId xmlns:a16="http://schemas.microsoft.com/office/drawing/2014/main" id="{18BE518A-F81C-47C3-BFA2-085864746DC1}"/>
              </a:ext>
            </a:extLst>
          </p:cNvPr>
          <p:cNvSpPr>
            <a:spLocks noGrp="1"/>
          </p:cNvSpPr>
          <p:nvPr/>
        </p:nvSpPr>
        <p:spPr>
          <a:xfrm>
            <a:off x="733425" y="3362325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Responders need to remove surface oil.</a:t>
            </a:r>
          </a:p>
        </p:txBody>
      </p:sp>
      <p:sp>
        <p:nvSpPr>
          <p:cNvPr id="7" name="reveal-spill-1">
            <a:extLst>
              <a:ext uri="{FF2B5EF4-FFF2-40B4-BE49-F238E27FC236}">
                <a16:creationId xmlns:a16="http://schemas.microsoft.com/office/drawing/2014/main" id="{A59B9B34-792F-4CD9-8F81-8356233C7C47}"/>
              </a:ext>
            </a:extLst>
          </p:cNvPr>
          <p:cNvSpPr>
            <a:spLocks noGrp="1"/>
          </p:cNvSpPr>
          <p:nvPr/>
        </p:nvSpPr>
        <p:spPr>
          <a:xfrm>
            <a:off x="733425" y="384810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Skimmers recover accessible oil.</a:t>
            </a:r>
          </a:p>
        </p:txBody>
      </p:sp>
      <p:sp>
        <p:nvSpPr>
          <p:cNvPr id="8" name="The surface looks clean. Has the ecosystem recovered?">
            <a:extLst>
              <a:ext uri="{FF2B5EF4-FFF2-40B4-BE49-F238E27FC236}">
                <a16:creationId xmlns:a16="http://schemas.microsoft.com/office/drawing/2014/main" id="{089FE400-3BAE-4823-B6AA-CC2C3F38C74E}"/>
              </a:ext>
            </a:extLst>
          </p:cNvPr>
          <p:cNvSpPr>
            <a:spLocks noGrp="1"/>
          </p:cNvSpPr>
          <p:nvPr/>
        </p:nvSpPr>
        <p:spPr>
          <a:xfrm>
            <a:off x="733425" y="4543425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surface looks clean. Has the ecosystem recovered?</a:t>
            </a:r>
          </a:p>
        </p:txBody>
      </p:sp>
      <p:sp>
        <p:nvSpPr>
          <p:cNvPr id="9" name="reveal-spill-2">
            <a:extLst>
              <a:ext uri="{FF2B5EF4-FFF2-40B4-BE49-F238E27FC236}">
                <a16:creationId xmlns:a16="http://schemas.microsoft.com/office/drawing/2014/main" id="{29C6A0D7-F5D6-4241-94F8-0D82057F3C82}"/>
              </a:ext>
            </a:extLst>
          </p:cNvPr>
          <p:cNvSpPr>
            <a:spLocks noGrp="1"/>
          </p:cNvSpPr>
          <p:nvPr/>
        </p:nvSpPr>
        <p:spPr>
          <a:xfrm>
            <a:off x="733425" y="502920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Test water, sediment, organisms, and ecosystem function.</a:t>
            </a:r>
          </a:p>
        </p:txBody>
      </p:sp>
      <p:sp>
        <p:nvSpPr>
          <p:cNvPr id="10" name="Discuss each scenario, then reveal the response. Condit">
            <a:extLst>
              <a:ext uri="{FF2B5EF4-FFF2-40B4-BE49-F238E27FC236}">
                <a16:creationId xmlns:a16="http://schemas.microsoft.com/office/drawing/2014/main" id="{E4D3D485-F87C-4D7F-A129-84D1099F4EDB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Discuss each scenario, then reveal the response. Conditions such as waves, currents, weather, and oil type affect which methods work.</a:t>
            </a:r>
          </a:p>
        </p:txBody>
      </p:sp>
    </p:spTree>
    <p:extLst>
      <p:ext uri="{BB962C8B-B14F-4D97-AF65-F5344CB8AC3E}">
        <p14:creationId xmlns:p14="http://schemas.microsoft.com/office/powerpoint/2010/main" val="87794769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SOLUTIONS">
            <a:extLst>
              <a:ext uri="{FF2B5EF4-FFF2-40B4-BE49-F238E27FC236}">
                <a16:creationId xmlns:a16="http://schemas.microsoft.com/office/drawing/2014/main" id="{89FE2C65-76DE-45AE-91D3-657D6E335E1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B2154F2C-04AF-40A1-890E-857D6EFF667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49 / 61</a:t>
            </a:r>
          </a:p>
        </p:txBody>
      </p:sp>
      <p:sp>
        <p:nvSpPr>
          <p:cNvPr id="3" name="Reducing the water risks of oil and gas extraction">
            <a:extLst>
              <a:ext uri="{FF2B5EF4-FFF2-40B4-BE49-F238E27FC236}">
                <a16:creationId xmlns:a16="http://schemas.microsoft.com/office/drawing/2014/main" id="{F47FC0B9-0C62-45BA-A848-AA15F2A79D4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Reducing the water risks of oil and gas extraction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A1A3F1-5BAD-41DF-8ACA-67BE9B5C5592}"/>
              </a:ext>
            </a:extLst>
          </p:cNvPr>
          <p:cNvGraphicFramePr/>
          <p:nvPr/>
        </p:nvGraphicFramePr>
        <p:xfrm>
          <a:off x="685800" y="2133600"/>
          <a:ext cx="10820400" cy="3794125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Risk point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Matching safeguard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Water withdrawal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Assess local supply and competing water needs.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Chemical mixing / storage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Disclose hazardous ingredients and contain surface spills.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Well injection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Verify casing, cement, and separation from aquifers.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Flowback and produced water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Use secure storage, suitable treatment, and accountable disposal.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Deep wastewater injection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Assess local geology, monitor seismicity, and adjust operations.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afeguards follow the risk points in Fig. 9.26 and §9.7">
            <a:extLst>
              <a:ext uri="{FF2B5EF4-FFF2-40B4-BE49-F238E27FC236}">
                <a16:creationId xmlns:a16="http://schemas.microsoft.com/office/drawing/2014/main" id="{11B37297-9B37-4A92-B49A-E4D78913CE91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Safeguards follow the risk points in Fig. 9.26 and §9.7. They reduce risk; they do not establish zero risk at every site.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PTER 9  /  SOLUTIONS">
            <a:extLst>
              <a:ext uri="{FF2B5EF4-FFF2-40B4-BE49-F238E27FC236}">
                <a16:creationId xmlns:a16="http://schemas.microsoft.com/office/drawing/2014/main" id="{95A89CEA-7037-4A6C-B09B-2CEE5F65D98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0B6187F1-683D-4908-8C60-DE27EDFF322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50 / 61</a:t>
            </a:r>
          </a:p>
        </p:txBody>
      </p:sp>
      <p:sp>
        <p:nvSpPr>
          <p:cNvPr id="3" name="Prairie restoration rebuilds soil and vegetation">
            <a:extLst>
              <a:ext uri="{FF2B5EF4-FFF2-40B4-BE49-F238E27FC236}">
                <a16:creationId xmlns:a16="http://schemas.microsoft.com/office/drawing/2014/main" id="{F919FED0-DD6B-4FA9-B6E7-8F690D6D1E6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Prairie restoration rebuilds soil and vegetation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C2EC3A-7DF0-447D-9849-B20587F4A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0" t="11700" r="61900" b="67300"/>
          <a:stretch/>
        </p:blipFill>
        <p:spPr>
          <a:xfrm>
            <a:off x="742950" y="2333625"/>
            <a:ext cx="4914900" cy="3009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10AC5C-72FA-4876-94EF-A13E3BB067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300" t="11700" r="24400" b="67300"/>
          <a:stretch/>
        </p:blipFill>
        <p:spPr>
          <a:xfrm>
            <a:off x="6581775" y="2333625"/>
            <a:ext cx="4914900" cy="3009900"/>
          </a:xfrm>
          <a:prstGeom prst="rect">
            <a:avLst/>
          </a:prstGeom>
        </p:spPr>
      </p:pic>
      <p:sp>
        <p:nvSpPr>
          <p:cNvPr id="6" name="Mined landscape">
            <a:extLst>
              <a:ext uri="{FF2B5EF4-FFF2-40B4-BE49-F238E27FC236}">
                <a16:creationId xmlns:a16="http://schemas.microsoft.com/office/drawing/2014/main" id="{F3DD4B93-F9E7-408F-A45F-5DFE010FF467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485775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Mined landscape</a:t>
            </a:r>
          </a:p>
        </p:txBody>
      </p:sp>
      <p:sp>
        <p:nvSpPr>
          <p:cNvPr id="7" name="Restored grassland">
            <a:extLst>
              <a:ext uri="{FF2B5EF4-FFF2-40B4-BE49-F238E27FC236}">
                <a16:creationId xmlns:a16="http://schemas.microsoft.com/office/drawing/2014/main" id="{AD0ACC6F-6579-49B9-8068-F543FF53F8EB}"/>
              </a:ext>
            </a:extLst>
          </p:cNvPr>
          <p:cNvSpPr>
            <a:spLocks noGrp="1"/>
          </p:cNvSpPr>
          <p:nvPr/>
        </p:nvSpPr>
        <p:spPr>
          <a:xfrm>
            <a:off x="6581775" y="1924050"/>
            <a:ext cx="485775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Restored grassland</a:t>
            </a:r>
          </a:p>
        </p:txBody>
      </p:sp>
      <p:sp>
        <p:nvSpPr>
          <p:cNvPr id="8" name="Save topsoil → reshape the land → replace soil → replan">
            <a:extLst>
              <a:ext uri="{FF2B5EF4-FFF2-40B4-BE49-F238E27FC236}">
                <a16:creationId xmlns:a16="http://schemas.microsoft.com/office/drawing/2014/main" id="{07EA4F25-3F6B-485A-AF3B-6EA1314D0F15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Save topsoil → reshape the land → replace soil → replant native vegetation</a:t>
            </a:r>
          </a:p>
        </p:txBody>
      </p:sp>
      <p:sp>
        <p:nvSpPr>
          <p:cNvPr id="9" name="Fig. 9.31: restoring Wyoming mine land can create produ">
            <a:extLst>
              <a:ext uri="{FF2B5EF4-FFF2-40B4-BE49-F238E27FC236}">
                <a16:creationId xmlns:a16="http://schemas.microsoft.com/office/drawing/2014/main" id="{1E500CA6-22BE-481F-891B-F52C6A05000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9.31: restoring Wyoming mine land can create productive grazing and wildlife habitat. Book photos: Bruce Gordon / EcoFlight and Lee Bachstam.</a:t>
            </a:r>
          </a:p>
        </p:txBody>
      </p:sp>
    </p:spTree>
    <p:extLst>
      <p:ext uri="{BB962C8B-B14F-4D97-AF65-F5344CB8AC3E}">
        <p14:creationId xmlns:p14="http://schemas.microsoft.com/office/powerpoint/2010/main" val="1053918009"/>
      </p:ext>
    </p:extLst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PTER 9  /  SOLUTIONS">
            <a:extLst>
              <a:ext uri="{FF2B5EF4-FFF2-40B4-BE49-F238E27FC236}">
                <a16:creationId xmlns:a16="http://schemas.microsoft.com/office/drawing/2014/main" id="{6E119FA6-F671-4795-8D74-B8BF71ACDD6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1A693B16-8A0E-4379-8314-AA7E72B78D4D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51 / 61</a:t>
            </a:r>
          </a:p>
        </p:txBody>
      </p:sp>
      <p:sp>
        <p:nvSpPr>
          <p:cNvPr id="3" name="Oil-sands restoration changes the ecosystem mix">
            <a:extLst>
              <a:ext uri="{FF2B5EF4-FFF2-40B4-BE49-F238E27FC236}">
                <a16:creationId xmlns:a16="http://schemas.microsoft.com/office/drawing/2014/main" id="{E34FB478-6E3F-4028-B6ED-B356A60E92FF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Oil-sands restoration changes the ecosystem mix</a:t>
            </a:r>
          </a:p>
        </p:txBody>
      </p:sp>
      <p:sp>
        <p:nvSpPr>
          <p:cNvPr id="4" name="Change in area after restoration (%) · values stated in">
            <a:extLst>
              <a:ext uri="{FF2B5EF4-FFF2-40B4-BE49-F238E27FC236}">
                <a16:creationId xmlns:a16="http://schemas.microsoft.com/office/drawing/2014/main" id="{327443D8-3AAC-454D-9275-09CBDA0C07DE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Change in area after restoration (%) · values stated in the text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AE1E0587-3147-4CEE-A9F9-731D1B8F21D4}"/>
              </a:ext>
            </a:extLst>
          </p:cNvPr>
          <p:cNvGraphicFramePr/>
          <p:nvPr/>
        </p:nvGraphicFramePr>
        <p:xfrm>
          <a:off x="714375" y="2428875"/>
          <a:ext cx="10715625" cy="288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More tree cover can coexist with a large loss of peat w">
            <a:extLst>
              <a:ext uri="{FF2B5EF4-FFF2-40B4-BE49-F238E27FC236}">
                <a16:creationId xmlns:a16="http://schemas.microsoft.com/office/drawing/2014/main" id="{E596539B-C15B-40AD-80C8-EE4A0DAED55D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More tree cover can coexist with a large loss of peat wetlands.</a:t>
            </a:r>
          </a:p>
        </p:txBody>
      </p:sp>
      <p:sp>
        <p:nvSpPr>
          <p:cNvPr id="7" name="Adapted from Fig. 9.32 and the text: projected restorat">
            <a:extLst>
              <a:ext uri="{FF2B5EF4-FFF2-40B4-BE49-F238E27FC236}">
                <a16:creationId xmlns:a16="http://schemas.microsoft.com/office/drawing/2014/main" id="{FC6433DB-1114-4D9D-97A9-9BD53013BAA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9.32 and the text: projected restoration increases forest/lake area but reduces peatlands. “All wetlands” includes peat wetlands; categories overlap.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SOLUTIONS">
            <a:extLst>
              <a:ext uri="{FF2B5EF4-FFF2-40B4-BE49-F238E27FC236}">
                <a16:creationId xmlns:a16="http://schemas.microsoft.com/office/drawing/2014/main" id="{F3D18E1D-27B4-40FD-A494-6DE3836582A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FE7377F3-3470-4FDD-8251-A6F1A9871FC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52 / 61</a:t>
            </a:r>
          </a:p>
        </p:txBody>
      </p:sp>
      <p:sp>
        <p:nvSpPr>
          <p:cNvPr id="3" name="Reclamation cannot replace a removed mountain">
            <a:extLst>
              <a:ext uri="{FF2B5EF4-FFF2-40B4-BE49-F238E27FC236}">
                <a16:creationId xmlns:a16="http://schemas.microsoft.com/office/drawing/2014/main" id="{678645E0-2586-4CE8-9EE1-940A04E253EE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Reclamation cannot replace a removed mountain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27D39-5210-433A-8D22-0D624A74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900" t="10800" r="27700" b="54600"/>
          <a:stretch/>
        </p:blipFill>
        <p:spPr>
          <a:xfrm>
            <a:off x="742950" y="2105025"/>
            <a:ext cx="6391275" cy="3819525"/>
          </a:xfrm>
          <a:prstGeom prst="rect">
            <a:avLst/>
          </a:prstGeom>
        </p:spPr>
      </p:pic>
      <p:sp>
        <p:nvSpPr>
          <p:cNvPr id="5" name="A flatter, greener surface">
            <a:extLst>
              <a:ext uri="{FF2B5EF4-FFF2-40B4-BE49-F238E27FC236}">
                <a16:creationId xmlns:a16="http://schemas.microsoft.com/office/drawing/2014/main" id="{7AA3D9B3-35DC-40AC-A918-23801F66B433}"/>
              </a:ext>
            </a:extLst>
          </p:cNvPr>
          <p:cNvSpPr>
            <a:spLocks noGrp="1"/>
          </p:cNvSpPr>
          <p:nvPr/>
        </p:nvSpPr>
        <p:spPr>
          <a:xfrm>
            <a:off x="7562850" y="2181225"/>
            <a:ext cx="3905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A flatter, greener surface</a:t>
            </a:r>
          </a:p>
        </p:txBody>
      </p:sp>
      <p:sp>
        <p:nvSpPr>
          <p:cNvPr id="6" name="can support grazing or&#10;economic uses.">
            <a:extLst>
              <a:ext uri="{FF2B5EF4-FFF2-40B4-BE49-F238E27FC236}">
                <a16:creationId xmlns:a16="http://schemas.microsoft.com/office/drawing/2014/main" id="{4C0EEF39-EDE9-4A08-8C15-0B98C632E0EE}"/>
              </a:ext>
            </a:extLst>
          </p:cNvPr>
          <p:cNvSpPr>
            <a:spLocks noGrp="1"/>
          </p:cNvSpPr>
          <p:nvPr/>
        </p:nvSpPr>
        <p:spPr>
          <a:xfrm>
            <a:off x="7562850" y="3143250"/>
            <a:ext cx="390525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can support grazing or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economic uses.</a:t>
            </a:r>
          </a:p>
        </p:txBody>
      </p:sp>
      <p:sp>
        <p:nvSpPr>
          <p:cNvPr id="7" name="Original relief, headwater&#10;streams, soils, and forest&#10;d">
            <a:extLst>
              <a:ext uri="{FF2B5EF4-FFF2-40B4-BE49-F238E27FC236}">
                <a16:creationId xmlns:a16="http://schemas.microsoft.com/office/drawing/2014/main" id="{E866B172-7F82-4C1A-A74D-18F741009B51}"/>
              </a:ext>
            </a:extLst>
          </p:cNvPr>
          <p:cNvSpPr>
            <a:spLocks noGrp="1"/>
          </p:cNvSpPr>
          <p:nvPr/>
        </p:nvSpPr>
        <p:spPr>
          <a:xfrm>
            <a:off x="7562850" y="4276725"/>
            <a:ext cx="391477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Original relief, headwater</a:t>
            </a:r>
          </a:p>
          <a:p>
            <a: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streams, soils, and forest</a:t>
            </a:r>
          </a:p>
          <a:p>
            <a: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diversity may remain lost.</a:t>
            </a:r>
          </a:p>
        </p:txBody>
      </p:sp>
      <p:sp>
        <p:nvSpPr>
          <p:cNvPr id="8" name="Fig. 9.33: reclaimed mountaintop mines commonly become ">
            <a:extLst>
              <a:ext uri="{FF2B5EF4-FFF2-40B4-BE49-F238E27FC236}">
                <a16:creationId xmlns:a16="http://schemas.microsoft.com/office/drawing/2014/main" id="{456E27B3-5436-42A9-A6B0-A6DF40C8BA1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9.33: reclaimed mountaintop mines commonly become level or gently sloping land with grasses and herbs. Photo: Kent Kessinger, flight courtesy of SouthWings.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SOLUTIONS">
            <a:extLst>
              <a:ext uri="{FF2B5EF4-FFF2-40B4-BE49-F238E27FC236}">
                <a16:creationId xmlns:a16="http://schemas.microsoft.com/office/drawing/2014/main" id="{640E1811-E032-4B8E-81D9-7C80D6989D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9521D8DA-6838-4367-96BA-2CC76A56230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53 / 61</a:t>
            </a:r>
          </a:p>
        </p:txBody>
      </p:sp>
      <p:sp>
        <p:nvSpPr>
          <p:cNvPr id="3" name="Existing nuclear plants need resilient safety systems">
            <a:extLst>
              <a:ext uri="{FF2B5EF4-FFF2-40B4-BE49-F238E27FC236}">
                <a16:creationId xmlns:a16="http://schemas.microsoft.com/office/drawing/2014/main" id="{6106DCD7-D78D-43DF-A435-1BC424AF9C1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Existing nuclear plants need resilient safety systems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9C52F9-B58C-48D0-AD84-794AB9B2CF6D}"/>
              </a:ext>
            </a:extLst>
          </p:cNvPr>
          <p:cNvSpPr>
            <a:spLocks noGrp="1"/>
          </p:cNvSpPr>
          <p:nvPr/>
        </p:nvSpPr>
        <p:spPr>
          <a:xfrm>
            <a:off x="742950" y="2114550"/>
            <a:ext cx="10668000" cy="3590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Plan for simultaneous failures and multiple hazards.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Protect backup power and long-duration cooling.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Monitor spent-fuel pools and maintain backup water supplies.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Improve reliable venting where the reactor design requires it.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Reassess earthquake, flood, and communication vulnerabilities.</a:t>
            </a:r>
          </a:p>
        </p:txBody>
      </p:sp>
      <p:sp>
        <p:nvSpPr>
          <p:cNvPr id="5" name="From §9.9: post-Fukushima recommendations address the s">
            <a:extLst>
              <a:ext uri="{FF2B5EF4-FFF2-40B4-BE49-F238E27FC236}">
                <a16:creationId xmlns:a16="http://schemas.microsoft.com/office/drawing/2014/main" id="{F4B39DDF-EF94-4C4B-9A6F-E5A1397FA1ED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From §9.9: post-Fukushima recommendations address the safety functions that must survive severe external events and extended power loss.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 9  /  SOLUTIONS">
            <a:extLst>
              <a:ext uri="{FF2B5EF4-FFF2-40B4-BE49-F238E27FC236}">
                <a16:creationId xmlns:a16="http://schemas.microsoft.com/office/drawing/2014/main" id="{4BE38A18-2E8D-467B-BC9B-1053850E0A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05661122-A91C-49A6-922D-2BCC1AEE7AC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54 / 61</a:t>
            </a:r>
          </a:p>
        </p:txBody>
      </p:sp>
      <p:sp>
        <p:nvSpPr>
          <p:cNvPr id="3" name="Passive safety: gravity and natural circulation">
            <a:extLst>
              <a:ext uri="{FF2B5EF4-FFF2-40B4-BE49-F238E27FC236}">
                <a16:creationId xmlns:a16="http://schemas.microsoft.com/office/drawing/2014/main" id="{378332FC-1749-4D2A-BB31-DFF7C3541EA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Passive safety: gravity and natural circulation</a:t>
            </a:r>
          </a:p>
        </p:txBody>
      </p:sp>
      <p:sp>
        <p:nvSpPr>
          <p:cNvPr id="4" name="Use natural forces to maintain cooling">
            <a:extLst>
              <a:ext uri="{FF2B5EF4-FFF2-40B4-BE49-F238E27FC236}">
                <a16:creationId xmlns:a16="http://schemas.microsoft.com/office/drawing/2014/main" id="{DD3034BA-0003-47C4-B072-5AA0D04A0137}"/>
              </a:ext>
            </a:extLst>
          </p:cNvPr>
          <p:cNvSpPr>
            <a:spLocks noGrp="1"/>
          </p:cNvSpPr>
          <p:nvPr/>
        </p:nvSpPr>
        <p:spPr>
          <a:xfrm>
            <a:off x="714375" y="1952625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Use natural forces to maintain cooling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FD8B4A-1891-4AFE-A3AC-AE995F3C8ACC}"/>
              </a:ext>
            </a:extLst>
          </p:cNvPr>
          <p:cNvSpPr>
            <a:spLocks noGrp="1"/>
          </p:cNvSpPr>
          <p:nvPr/>
        </p:nvSpPr>
        <p:spPr>
          <a:xfrm>
            <a:off x="1009650" y="2695575"/>
            <a:ext cx="3476625" cy="7239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Elevated water supply">
            <a:extLst>
              <a:ext uri="{FF2B5EF4-FFF2-40B4-BE49-F238E27FC236}">
                <a16:creationId xmlns:a16="http://schemas.microsoft.com/office/drawing/2014/main" id="{A7693BAD-3F99-4B46-A4FB-90728EF78740}"/>
              </a:ext>
            </a:extLst>
          </p:cNvPr>
          <p:cNvSpPr>
            <a:spLocks noGrp="1"/>
          </p:cNvSpPr>
          <p:nvPr/>
        </p:nvSpPr>
        <p:spPr>
          <a:xfrm>
            <a:off x="1104900" y="2790825"/>
            <a:ext cx="3286125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0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Elevated water supply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59F01F18-837D-4378-B2CE-5EAFF77372A3}"/>
              </a:ext>
            </a:extLst>
          </p:cNvPr>
          <p:cNvSpPr>
            <a:spLocks noGrp="1"/>
          </p:cNvSpPr>
          <p:nvPr/>
        </p:nvSpPr>
        <p:spPr>
          <a:xfrm>
            <a:off x="2438400" y="3552825"/>
            <a:ext cx="457200" cy="857250"/>
          </a:xfrm>
          <a:prstGeom prst="down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3CC951-DCDF-4C2B-8C24-725A10B15970}"/>
              </a:ext>
            </a:extLst>
          </p:cNvPr>
          <p:cNvSpPr>
            <a:spLocks noGrp="1"/>
          </p:cNvSpPr>
          <p:nvPr/>
        </p:nvSpPr>
        <p:spPr>
          <a:xfrm>
            <a:off x="714375" y="4524375"/>
            <a:ext cx="4076700" cy="762000"/>
          </a:xfrm>
          <a:prstGeom prst="rect">
            <a:avLst/>
          </a:prstGeom>
          <a:solidFill>
            <a:srgbClr val="102638"/>
          </a:solidFill>
          <a:ln w="19050">
            <a:solidFill>
              <a:srgbClr val="B7A0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actor / containment cooling">
            <a:extLst>
              <a:ext uri="{FF2B5EF4-FFF2-40B4-BE49-F238E27FC236}">
                <a16:creationId xmlns:a16="http://schemas.microsoft.com/office/drawing/2014/main" id="{F59D29F1-A223-4D86-9300-BD1F35E82151}"/>
              </a:ext>
            </a:extLst>
          </p:cNvPr>
          <p:cNvSpPr>
            <a:spLocks noGrp="1"/>
          </p:cNvSpPr>
          <p:nvPr/>
        </p:nvSpPr>
        <p:spPr>
          <a:xfrm>
            <a:off x="809625" y="4619625"/>
            <a:ext cx="38862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Reactor / containment cooling</a:t>
            </a:r>
          </a:p>
        </p:txBody>
      </p:sp>
      <p:sp>
        <p:nvSpPr>
          <p:cNvPr id="10" name="Gravity">
            <a:extLst>
              <a:ext uri="{FF2B5EF4-FFF2-40B4-BE49-F238E27FC236}">
                <a16:creationId xmlns:a16="http://schemas.microsoft.com/office/drawing/2014/main" id="{3717FAE2-4787-4F26-BA56-4BDDE23EA77D}"/>
              </a:ext>
            </a:extLst>
          </p:cNvPr>
          <p:cNvSpPr>
            <a:spLocks noGrp="1"/>
          </p:cNvSpPr>
          <p:nvPr/>
        </p:nvSpPr>
        <p:spPr>
          <a:xfrm>
            <a:off x="3028950" y="3714750"/>
            <a:ext cx="171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9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Gravity</a:t>
            </a:r>
          </a:p>
        </p:txBody>
      </p:sp>
      <p:sp>
        <p:nvSpPr>
          <p:cNvPr id="11" name="Stored water moves downward">
            <a:extLst>
              <a:ext uri="{FF2B5EF4-FFF2-40B4-BE49-F238E27FC236}">
                <a16:creationId xmlns:a16="http://schemas.microsoft.com/office/drawing/2014/main" id="{FF24AB5A-8D75-4B77-9ECF-0B2584CA59FF}"/>
              </a:ext>
            </a:extLst>
          </p:cNvPr>
          <p:cNvSpPr>
            <a:spLocks noGrp="1"/>
          </p:cNvSpPr>
          <p:nvPr/>
        </p:nvSpPr>
        <p:spPr>
          <a:xfrm>
            <a:off x="1009650" y="5381625"/>
            <a:ext cx="395287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Stored water moves downward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8DF1FE7D-6D1C-4B07-AC1C-6BCCAB9C1ED6}"/>
              </a:ext>
            </a:extLst>
          </p:cNvPr>
          <p:cNvSpPr>
            <a:spLocks noGrp="1"/>
          </p:cNvSpPr>
          <p:nvPr/>
        </p:nvSpPr>
        <p:spPr>
          <a:xfrm>
            <a:off x="5334000" y="2476500"/>
            <a:ext cx="0" cy="3190875"/>
          </a:xfrm>
          <a:prstGeom prst="line">
            <a:avLst/>
          </a:prstGeom>
          <a:noFill/>
          <a:ln w="19050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Natural circulation">
            <a:extLst>
              <a:ext uri="{FF2B5EF4-FFF2-40B4-BE49-F238E27FC236}">
                <a16:creationId xmlns:a16="http://schemas.microsoft.com/office/drawing/2014/main" id="{60B1DA83-AEBF-4E0D-8FE4-162B51064F10}"/>
              </a:ext>
            </a:extLst>
          </p:cNvPr>
          <p:cNvSpPr>
            <a:spLocks noGrp="1"/>
          </p:cNvSpPr>
          <p:nvPr/>
        </p:nvSpPr>
        <p:spPr>
          <a:xfrm>
            <a:off x="5915025" y="2686050"/>
            <a:ext cx="5143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Natural circulation</a:t>
            </a:r>
          </a:p>
        </p:txBody>
      </p:sp>
      <p:sp>
        <p:nvSpPr>
          <p:cNvPr id="14" name="Warm fluid rises; cooler fluid returns.&#10;Heat transfer c">
            <a:extLst>
              <a:ext uri="{FF2B5EF4-FFF2-40B4-BE49-F238E27FC236}">
                <a16:creationId xmlns:a16="http://schemas.microsoft.com/office/drawing/2014/main" id="{0F0B0FBD-10F7-4E9D-8EDC-57DD581E9259}"/>
              </a:ext>
            </a:extLst>
          </p:cNvPr>
          <p:cNvSpPr>
            <a:spLocks noGrp="1"/>
          </p:cNvSpPr>
          <p:nvPr/>
        </p:nvSpPr>
        <p:spPr>
          <a:xfrm>
            <a:off x="5915025" y="3371850"/>
            <a:ext cx="5238750" cy="1333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Warm fluid rises; cooler fluid returns.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Heat transfer can continue without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relying entirely on powered pumps.</a:t>
            </a:r>
          </a:p>
        </p:txBody>
      </p:sp>
      <p:sp>
        <p:nvSpPr>
          <p:cNvPr id="15" name="Passive does not mean unlimited.">
            <a:extLst>
              <a:ext uri="{FF2B5EF4-FFF2-40B4-BE49-F238E27FC236}">
                <a16:creationId xmlns:a16="http://schemas.microsoft.com/office/drawing/2014/main" id="{FBAACB95-FDA5-419A-A173-BF4AD62AD169}"/>
              </a:ext>
            </a:extLst>
          </p:cNvPr>
          <p:cNvSpPr>
            <a:spLocks noGrp="1"/>
          </p:cNvSpPr>
          <p:nvPr/>
        </p:nvSpPr>
        <p:spPr>
          <a:xfrm>
            <a:off x="5915025" y="5029200"/>
            <a:ext cx="5334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2828B"/>
                </a:solidFill>
                <a:latin typeface="Arial"/>
                <a:ea typeface="Arial"/>
                <a:cs typeface="Arial"/>
              </a:rPr>
              <a:t>Passive does not mean unlimited.</a:t>
            </a:r>
          </a:p>
        </p:txBody>
      </p:sp>
      <p:sp>
        <p:nvSpPr>
          <p:cNvPr id="16" name="Design limits, supplies, maintenance, and&#10;long-term hea">
            <a:extLst>
              <a:ext uri="{FF2B5EF4-FFF2-40B4-BE49-F238E27FC236}">
                <a16:creationId xmlns:a16="http://schemas.microsoft.com/office/drawing/2014/main" id="{6A1F6F4C-97A3-411E-B87D-F536245C8838}"/>
              </a:ext>
            </a:extLst>
          </p:cNvPr>
          <p:cNvSpPr>
            <a:spLocks noGrp="1"/>
          </p:cNvSpPr>
          <p:nvPr/>
        </p:nvSpPr>
        <p:spPr>
          <a:xfrm>
            <a:off x="5915025" y="5476875"/>
            <a:ext cx="5238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Design limits, supplies, maintenance, and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long-term heat removal still matter.</a:t>
            </a:r>
          </a:p>
        </p:txBody>
      </p:sp>
      <p:sp>
        <p:nvSpPr>
          <p:cNvPr id="17" name="Adapted from Fig. 9.34: simpler design and passive safe">
            <a:extLst>
              <a:ext uri="{FF2B5EF4-FFF2-40B4-BE49-F238E27FC236}">
                <a16:creationId xmlns:a16="http://schemas.microsoft.com/office/drawing/2014/main" id="{EEA25399-5AAE-4B8E-9409-D8BF5F164F5A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9.34: simpler design and passive safety features reduce dependence on active equipment. This is a principle diagram, not AP1000 piping.</a:t>
            </a:r>
          </a:p>
        </p:txBody>
      </p:sp>
    </p:spTree>
    <p:extLst>
      <p:ext uri="{BB962C8B-B14F-4D97-AF65-F5344CB8AC3E}">
        <p14:creationId xmlns:p14="http://schemas.microsoft.com/office/powerpoint/2010/main" val="375631485"/>
      </p:ext>
    </p:extLst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PTER 9  /  SOLUTIONS">
            <a:extLst>
              <a:ext uri="{FF2B5EF4-FFF2-40B4-BE49-F238E27FC236}">
                <a16:creationId xmlns:a16="http://schemas.microsoft.com/office/drawing/2014/main" id="{9B85D588-3615-4055-BDEB-C68413223BF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508A92BB-9226-447E-B113-5CD4816E5001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55 / 61</a:t>
            </a:r>
          </a:p>
        </p:txBody>
      </p:sp>
      <p:sp>
        <p:nvSpPr>
          <p:cNvPr id="3" name="Further nuclear options carry tradeoffs">
            <a:extLst>
              <a:ext uri="{FF2B5EF4-FFF2-40B4-BE49-F238E27FC236}">
                <a16:creationId xmlns:a16="http://schemas.microsoft.com/office/drawing/2014/main" id="{E89DBE6D-E12C-4DFA-A7FE-C486B8E2E7D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Further nuclear options carry tradeoffs</a:t>
            </a:r>
          </a:p>
        </p:txBody>
      </p:sp>
      <p:sp>
        <p:nvSpPr>
          <p:cNvPr id="4" name="Reprocessing spent fuel">
            <a:extLst>
              <a:ext uri="{FF2B5EF4-FFF2-40B4-BE49-F238E27FC236}">
                <a16:creationId xmlns:a16="http://schemas.microsoft.com/office/drawing/2014/main" id="{721648F6-1E0D-47A7-B999-7BC7A96E5ECD}"/>
              </a:ext>
            </a:extLst>
          </p:cNvPr>
          <p:cNvSpPr>
            <a:spLocks noGrp="1"/>
          </p:cNvSpPr>
          <p:nvPr/>
        </p:nvSpPr>
        <p:spPr>
          <a:xfrm>
            <a:off x="714375" y="2228850"/>
            <a:ext cx="5095875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Reprocessing spent fuel</a:t>
            </a:r>
          </a:p>
        </p:txBody>
      </p:sp>
      <p:sp>
        <p:nvSpPr>
          <p:cNvPr id="5" name="Recover uranium and plutonium&#10;for reuse in mixed-oxide ">
            <a:extLst>
              <a:ext uri="{FF2B5EF4-FFF2-40B4-BE49-F238E27FC236}">
                <a16:creationId xmlns:a16="http://schemas.microsoft.com/office/drawing/2014/main" id="{D5052254-3996-4FDA-9C4C-B20B15714748}"/>
              </a:ext>
            </a:extLst>
          </p:cNvPr>
          <p:cNvSpPr>
            <a:spLocks noGrp="1"/>
          </p:cNvSpPr>
          <p:nvPr/>
        </p:nvSpPr>
        <p:spPr>
          <a:xfrm>
            <a:off x="714375" y="3124200"/>
            <a:ext cx="5038725" cy="2619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Recover uranium and plutonium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for reuse in mixed-oxide fuel.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Potential benefit: more use of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existing nuclear material.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Continuing burdens: waste handling,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security, and proliferation concerns.</a:t>
            </a:r>
          </a:p>
        </p:txBody>
      </p:sp>
      <p:sp>
        <p:nvSpPr>
          <p:cNvPr id="6" name="Fusion research">
            <a:extLst>
              <a:ext uri="{FF2B5EF4-FFF2-40B4-BE49-F238E27FC236}">
                <a16:creationId xmlns:a16="http://schemas.microsoft.com/office/drawing/2014/main" id="{479FF295-A0C0-4F62-88CD-F8CCFC1594DD}"/>
              </a:ext>
            </a:extLst>
          </p:cNvPr>
          <p:cNvSpPr>
            <a:spLocks noGrp="1"/>
          </p:cNvSpPr>
          <p:nvPr/>
        </p:nvSpPr>
        <p:spPr>
          <a:xfrm>
            <a:off x="6315075" y="2228850"/>
            <a:ext cx="5095875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Fusion research</a:t>
            </a:r>
          </a:p>
        </p:txBody>
      </p:sp>
      <p:sp>
        <p:nvSpPr>
          <p:cNvPr id="7" name="Fuse light nuclei at extremely&#10;high temperatures.&#10;&#10;Pote">
            <a:extLst>
              <a:ext uri="{FF2B5EF4-FFF2-40B4-BE49-F238E27FC236}">
                <a16:creationId xmlns:a16="http://schemas.microsoft.com/office/drawing/2014/main" id="{2470324E-9212-43BA-8BB4-CCE90BF1BB9A}"/>
              </a:ext>
            </a:extLst>
          </p:cNvPr>
          <p:cNvSpPr>
            <a:spLocks noGrp="1"/>
          </p:cNvSpPr>
          <p:nvPr/>
        </p:nvSpPr>
        <p:spPr>
          <a:xfrm>
            <a:off x="6315075" y="3124200"/>
            <a:ext cx="5038725" cy="2619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Fuse light nuclei at extremely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high temperatures.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Potential benefit: a different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fuel cycle.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Scientific and engineering barriers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separate experiments from power supply.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7337E0E-6449-453F-AC21-E53F32F03948}"/>
              </a:ext>
            </a:extLst>
          </p:cNvPr>
          <p:cNvSpPr>
            <a:spLocks noGrp="1"/>
          </p:cNvSpPr>
          <p:nvPr/>
        </p:nvSpPr>
        <p:spPr>
          <a:xfrm>
            <a:off x="5953125" y="2181225"/>
            <a:ext cx="0" cy="3657600"/>
          </a:xfrm>
          <a:prstGeom prst="line">
            <a:avLst/>
          </a:prstGeom>
          <a:noFill/>
          <a:ln w="19050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From §9.9: recycling fuel and researching fusion do not">
            <a:extLst>
              <a:ext uri="{FF2B5EF4-FFF2-40B4-BE49-F238E27FC236}">
                <a16:creationId xmlns:a16="http://schemas.microsoft.com/office/drawing/2014/main" id="{2E5411FA-D5DD-46A5-B615-9B9D6DC70902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From §9.9: recycling fuel and researching fusion do not remove the need to manage present-day waste and reactor safety.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PTER 9  /  SOLUTIONS">
            <a:extLst>
              <a:ext uri="{FF2B5EF4-FFF2-40B4-BE49-F238E27FC236}">
                <a16:creationId xmlns:a16="http://schemas.microsoft.com/office/drawing/2014/main" id="{AC1E6CF0-D988-4C17-A34F-FE241738D2C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8DD9DE02-CAF0-48CC-A2A2-28815DF6C723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56 / 61</a:t>
            </a:r>
          </a:p>
        </p:txBody>
      </p:sp>
      <p:sp>
        <p:nvSpPr>
          <p:cNvPr id="3" name="Solutions summary">
            <a:extLst>
              <a:ext uri="{FF2B5EF4-FFF2-40B4-BE49-F238E27FC236}">
                <a16:creationId xmlns:a16="http://schemas.microsoft.com/office/drawing/2014/main" id="{4BCE024A-E24F-4FA4-91B1-EF890330AC94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Solutions summary</a:t>
            </a:r>
          </a:p>
        </p:txBody>
      </p:sp>
      <p:sp>
        <p:nvSpPr>
          <p:cNvPr id="4" name="9.7">
            <a:extLst>
              <a:ext uri="{FF2B5EF4-FFF2-40B4-BE49-F238E27FC236}">
                <a16:creationId xmlns:a16="http://schemas.microsoft.com/office/drawing/2014/main" id="{36905B20-5B6F-407B-B036-4E968888773E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9.7</a:t>
            </a:r>
          </a:p>
        </p:txBody>
      </p:sp>
      <p:sp>
        <p:nvSpPr>
          <p:cNvPr id="5" name="Prevent releases, prepare for accidents, and improve&#10;re">
            <a:extLst>
              <a:ext uri="{FF2B5EF4-FFF2-40B4-BE49-F238E27FC236}">
                <a16:creationId xmlns:a16="http://schemas.microsoft.com/office/drawing/2014/main" id="{27F2700D-286A-4E19-83EE-093FB73CC0F9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Prevent releases, prepare for accidents, and improve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response. Reduce unnecessary resource consumption.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F17D2CD7-ECF4-4696-8B04-67DCF88750D5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9.8">
            <a:extLst>
              <a:ext uri="{FF2B5EF4-FFF2-40B4-BE49-F238E27FC236}">
                <a16:creationId xmlns:a16="http://schemas.microsoft.com/office/drawing/2014/main" id="{9C300D17-2B43-44F8-BF9C-78C515F77688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9.8</a:t>
            </a:r>
          </a:p>
        </p:txBody>
      </p:sp>
      <p:sp>
        <p:nvSpPr>
          <p:cNvPr id="8" name="Restore soil, vegetation, and ecosystem function&#10;where ">
            <a:extLst>
              <a:ext uri="{FF2B5EF4-FFF2-40B4-BE49-F238E27FC236}">
                <a16:creationId xmlns:a16="http://schemas.microsoft.com/office/drawing/2014/main" id="{53C67CB9-DCE6-46EF-BAE0-E0FA8C2D4822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Restore soil, vegetation, and ecosystem function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where possible. Recognize irreversible losses.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C3E34873-473F-4899-B98B-34ECE5F5325E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9.9">
            <a:extLst>
              <a:ext uri="{FF2B5EF4-FFF2-40B4-BE49-F238E27FC236}">
                <a16:creationId xmlns:a16="http://schemas.microsoft.com/office/drawing/2014/main" id="{3A9466A1-40E5-4A14-A86B-820764C3B671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9.9</a:t>
            </a:r>
          </a:p>
        </p:txBody>
      </p:sp>
      <p:sp>
        <p:nvSpPr>
          <p:cNvPr id="11" name="Strengthen existing reactors’ safety functions.&#10;Use sim">
            <a:extLst>
              <a:ext uri="{FF2B5EF4-FFF2-40B4-BE49-F238E27FC236}">
                <a16:creationId xmlns:a16="http://schemas.microsoft.com/office/drawing/2014/main" id="{1DFA03D2-DE59-416A-8F60-0AE13A86151C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Strengthen existing reactors’ safety functions.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Use simpler designs and evaluate passive safeguards.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PTER 9  /  TAKEAWAYS">
            <a:extLst>
              <a:ext uri="{FF2B5EF4-FFF2-40B4-BE49-F238E27FC236}">
                <a16:creationId xmlns:a16="http://schemas.microsoft.com/office/drawing/2014/main" id="{5B3F8361-7D12-4D87-B747-63E7EC8B524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TAKEAWAYS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2C79E333-F232-4042-99A3-EC9752B5549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57 / 61</a:t>
            </a:r>
          </a:p>
        </p:txBody>
      </p:sp>
      <p:sp>
        <p:nvSpPr>
          <p:cNvPr id="3" name="The whole chapter in three questions">
            <a:extLst>
              <a:ext uri="{FF2B5EF4-FFF2-40B4-BE49-F238E27FC236}">
                <a16:creationId xmlns:a16="http://schemas.microsoft.com/office/drawing/2014/main" id="{456C0FC3-CE2B-4BF1-9BE5-6A1FDFEF93F8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whole chapter in three questions</a:t>
            </a:r>
          </a:p>
        </p:txBody>
      </p:sp>
      <p:sp>
        <p:nvSpPr>
          <p:cNvPr id="4" name="SCIENCE">
            <a:extLst>
              <a:ext uri="{FF2B5EF4-FFF2-40B4-BE49-F238E27FC236}">
                <a16:creationId xmlns:a16="http://schemas.microsoft.com/office/drawing/2014/main" id="{5E481D36-0CAF-4A47-B336-CAB21810A04E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SCIENCE</a:t>
            </a:r>
          </a:p>
        </p:txBody>
      </p:sp>
      <p:sp>
        <p:nvSpPr>
          <p:cNvPr id="5" name="Where does the energy come from, and how&#10;does a power p">
            <a:extLst>
              <a:ext uri="{FF2B5EF4-FFF2-40B4-BE49-F238E27FC236}">
                <a16:creationId xmlns:a16="http://schemas.microsoft.com/office/drawing/2014/main" id="{A16190C8-0BA9-4797-BE14-69534A43C3E6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Where does the energy come from, and how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does a power plant or engine transform it?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60FE9038-5599-4460-8A7E-2C235072369C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ISSUES">
            <a:extLst>
              <a:ext uri="{FF2B5EF4-FFF2-40B4-BE49-F238E27FC236}">
                <a16:creationId xmlns:a16="http://schemas.microsoft.com/office/drawing/2014/main" id="{101B8CB1-D707-459E-BFC7-E4CA35BB5D42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</a:p>
        </p:txBody>
      </p:sp>
      <p:sp>
        <p:nvSpPr>
          <p:cNvPr id="8" name="Which harms arise across extraction, use, and waste,&#10;an">
            <a:extLst>
              <a:ext uri="{FF2B5EF4-FFF2-40B4-BE49-F238E27FC236}">
                <a16:creationId xmlns:a16="http://schemas.microsoft.com/office/drawing/2014/main" id="{DD30478D-E8C9-4825-A204-9A738E496F64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harms arise across extraction, use, and waste,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who experiences those harms?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A9A7FE27-F28B-4F77-9477-42696A1654DF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SOLUTIONS">
            <a:extLst>
              <a:ext uri="{FF2B5EF4-FFF2-40B4-BE49-F238E27FC236}">
                <a16:creationId xmlns:a16="http://schemas.microsoft.com/office/drawing/2014/main" id="{ACECEE29-9799-4162-9B3F-E9E124459091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11" name="Which safeguards reduce those harms, and which&#10;losses o">
            <a:extLst>
              <a:ext uri="{FF2B5EF4-FFF2-40B4-BE49-F238E27FC236}">
                <a16:creationId xmlns:a16="http://schemas.microsoft.com/office/drawing/2014/main" id="{EF3D61BD-FDE7-4180-A81A-8D93BF7C9AD8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safeguards reduce those harms, and which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losses or responsibilities remain afterward?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TAKEAWAYS">
            <a:extLst>
              <a:ext uri="{FF2B5EF4-FFF2-40B4-BE49-F238E27FC236}">
                <a16:creationId xmlns:a16="http://schemas.microsoft.com/office/drawing/2014/main" id="{7D5DA6F6-28D4-4057-B4B4-64E77FE10B1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TAKEAWAYS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3209BFF-062F-4B4C-8D0D-0227B2EAFB4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58 / 61</a:t>
            </a:r>
          </a:p>
        </p:txBody>
      </p:sp>
      <p:sp>
        <p:nvSpPr>
          <p:cNvPr id="3" name="Fossil fuels, nuclear energy, and you">
            <a:extLst>
              <a:ext uri="{FF2B5EF4-FFF2-40B4-BE49-F238E27FC236}">
                <a16:creationId xmlns:a16="http://schemas.microsoft.com/office/drawing/2014/main" id="{60A7F26B-3415-439A-9EE6-456E40832E0E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Fossil fuels, nuclear energy, and you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B93628-5D23-4452-A48D-18BB0BCB54C8}"/>
              </a:ext>
            </a:extLst>
          </p:cNvPr>
          <p:cNvSpPr>
            <a:spLocks noGrp="1"/>
          </p:cNvSpPr>
          <p:nvPr/>
        </p:nvSpPr>
        <p:spPr>
          <a:xfrm>
            <a:off x="752475" y="2219325"/>
            <a:ext cx="10553700" cy="3267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Stay informed about energy sources and their full costs.</a:t>
            </a:r>
          </a:p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Participate in local decisions and ask who bears the risks.</a:t>
            </a:r>
          </a:p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Use energy efficiently in buildings and daily activities.</a:t>
            </a:r>
          </a:p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Choose lower-energy transportation when safe and practical.</a:t>
            </a:r>
          </a:p>
        </p:txBody>
      </p:sp>
      <p:sp>
        <p:nvSpPr>
          <p:cNvPr id="5" name="Adapted from “Fossil Fuels, Nuclear Energy, and You.” P">
            <a:extLst>
              <a:ext uri="{FF2B5EF4-FFF2-40B4-BE49-F238E27FC236}">
                <a16:creationId xmlns:a16="http://schemas.microsoft.com/office/drawing/2014/main" id="{642B1675-40B9-4878-AF48-91A61893EED7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“Fossil Fuels, Nuclear Energy, and You.” Personal choices complement the engineering and policy changes discussed in the chapter.</a:t>
            </a:r>
          </a:p>
        </p:txBody>
      </p:sp>
    </p:spTree>
    <p:extLst>
      <p:ext uri="{BB962C8B-B14F-4D97-AF65-F5344CB8AC3E}">
        <p14:creationId xmlns:p14="http://schemas.microsoft.com/office/powerpoint/2010/main" val="162862385"/>
      </p:ext>
    </p:extLst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PTER 9  /  CENTRAL QUESTION">
            <a:extLst>
              <a:ext uri="{FF2B5EF4-FFF2-40B4-BE49-F238E27FC236}">
                <a16:creationId xmlns:a16="http://schemas.microsoft.com/office/drawing/2014/main" id="{FE712877-3E4C-4C80-AC07-B5931B1D3B3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CENTRAL QUESTION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6E616478-BED5-4401-BD32-0E013ABA3EE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59 / 61</a:t>
            </a:r>
          </a:p>
        </p:txBody>
      </p:sp>
      <p:sp>
        <p:nvSpPr>
          <p:cNvPr id="3" name="Returning to the central question">
            <a:extLst>
              <a:ext uri="{FF2B5EF4-FFF2-40B4-BE49-F238E27FC236}">
                <a16:creationId xmlns:a16="http://schemas.microsoft.com/office/drawing/2014/main" id="{F7B161BA-5654-44AC-92D9-823D7747F691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Returning to the central question</a:t>
            </a:r>
          </a:p>
        </p:txBody>
      </p:sp>
      <p:sp>
        <p:nvSpPr>
          <p:cNvPr id="4" name="A synthesis answer">
            <a:extLst>
              <a:ext uri="{FF2B5EF4-FFF2-40B4-BE49-F238E27FC236}">
                <a16:creationId xmlns:a16="http://schemas.microsoft.com/office/drawing/2014/main" id="{B9D335F4-6A95-4017-8460-97B31A87DB56}"/>
              </a:ext>
            </a:extLst>
          </p:cNvPr>
          <p:cNvSpPr>
            <a:spLocks noGrp="1"/>
          </p:cNvSpPr>
          <p:nvPr/>
        </p:nvSpPr>
        <p:spPr>
          <a:xfrm>
            <a:off x="742950" y="2009775"/>
            <a:ext cx="10572750" cy="447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 synthesis answer</a:t>
            </a:r>
          </a:p>
        </p:txBody>
      </p:sp>
      <p:sp>
        <p:nvSpPr>
          <p:cNvPr id="5" name="Use less energy for the services we need. Prevent pollu">
            <a:extLst>
              <a:ext uri="{FF2B5EF4-FFF2-40B4-BE49-F238E27FC236}">
                <a16:creationId xmlns:a16="http://schemas.microsoft.com/office/drawing/2014/main" id="{E0587BD1-7238-4704-9557-4293143253CE}"/>
              </a:ext>
            </a:extLst>
          </p:cNvPr>
          <p:cNvSpPr>
            <a:spLocks noGrp="1"/>
          </p:cNvSpPr>
          <p:nvPr/>
        </p:nvSpPr>
        <p:spPr>
          <a:xfrm>
            <a:off x="742950" y="2781300"/>
            <a:ext cx="10668000" cy="2562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 less energy for the services we need. Prevent pollution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accidents across the full fuel cycle. Restore damaged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ecosystems where possible, and maintain long-term care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waste and contamination. Evaluate the remaining harms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while moving toward more sustainable energy sources.</a:t>
            </a:r>
          </a:p>
        </p:txBody>
      </p:sp>
      <p:sp>
        <p:nvSpPr>
          <p:cNvPr id="6" name="Proposed answer derived from the chapter. Page 293 asks">
            <a:extLst>
              <a:ext uri="{FF2B5EF4-FFF2-40B4-BE49-F238E27FC236}">
                <a16:creationId xmlns:a16="http://schemas.microsoft.com/office/drawing/2014/main" id="{3F2D1532-00ED-476E-9DDE-93B28DD14A0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Proposed answer derived from the chapter. Page 293 asks students to compose an answer; it does not provide a printed answer key.</a:t>
            </a:r>
          </a:p>
        </p:txBody>
      </p:sp>
    </p:spTree>
    <p:extLst>
      <p:ext uri="{BB962C8B-B14F-4D97-AF65-F5344CB8AC3E}">
        <p14:creationId xmlns:p14="http://schemas.microsoft.com/office/powerpoint/2010/main" val="1150782692"/>
      </p:ext>
    </p:extLst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HAPTER 9  /  DISCUSSION">
            <a:extLst>
              <a:ext uri="{FF2B5EF4-FFF2-40B4-BE49-F238E27FC236}">
                <a16:creationId xmlns:a16="http://schemas.microsoft.com/office/drawing/2014/main" id="{325B0F93-5018-4C76-8195-DB6106078A8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DISCUSSION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0066AFB-3BD5-481A-8BC7-AB6227ADAA9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60 / 61</a:t>
            </a:r>
          </a:p>
        </p:txBody>
      </p:sp>
      <p:sp>
        <p:nvSpPr>
          <p:cNvPr id="3" name="What would change your energy decision?">
            <a:extLst>
              <a:ext uri="{FF2B5EF4-FFF2-40B4-BE49-F238E27FC236}">
                <a16:creationId xmlns:a16="http://schemas.microsoft.com/office/drawing/2014/main" id="{ADE9BE0E-556D-4398-BEA0-6BF5E6F4458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would change your energy decision?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B35780-F44C-4F3F-BF22-F787EC77C60C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10572750" cy="3352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impact deserves more weight in your community?</a:t>
            </a:r>
          </a:p>
          <a:p>
            <a:pPr marL="254000" indent="-139700" algn="l">
              <a:spcAft>
                <a:spcPts val="1800"/>
              </a:spcAft>
              <a:buChar char="•"/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What measurement would help you compare the alternatives?</a:t>
            </a:r>
          </a:p>
          <a:p>
            <a:pPr marL="254000" indent="-139700" algn="l">
              <a:spcAft>
                <a:spcPts val="1800"/>
              </a:spcAft>
              <a:buChar char="•"/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safeguard would you require, and how would you test it?</a:t>
            </a:r>
          </a:p>
        </p:txBody>
      </p:sp>
    </p:spTree>
    <p:extLst>
      <p:ext uri="{BB962C8B-B14F-4D97-AF65-F5344CB8AC3E}">
        <p14:creationId xmlns:p14="http://schemas.microsoft.com/office/powerpoint/2010/main" val="1068001178"/>
      </p:ext>
    </p:extLst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— Thank you for your attention">
    <p:bg>
      <p:bgPr>
        <a:solidFill>
          <a:srgbClr val="06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8DE895-43FB-40B7-9050-749D2D13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342900"/>
            <a:ext cx="12192000" cy="6858000"/>
          </a:xfrm>
          <a:prstGeom prst="rect">
            <a:avLst/>
          </a:prstGeom>
        </p:spPr>
      </p:pic>
      <p:sp>
        <p:nvSpPr>
          <p:cNvPr id="2" name="closing-number">
            <a:extLst>
              <a:ext uri="{FF2B5EF4-FFF2-40B4-BE49-F238E27FC236}">
                <a16:creationId xmlns:a16="http://schemas.microsoft.com/office/drawing/2014/main" id="{AA7A0594-B418-44A0-9281-526A610CC948}"/>
              </a:ext>
            </a:extLst>
          </p:cNvPr>
          <p:cNvSpPr>
            <a:spLocks noGrp="1"/>
          </p:cNvSpPr>
          <p:nvPr/>
        </p:nvSpPr>
        <p:spPr>
          <a:xfrm>
            <a:off x="10477500" y="342900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r">
              <a:defRPr sz="1500" b="0">
                <a:solidFill>
                  <a:srgbClr val="D8E4E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D8E4E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4EB"/>
                </a:solidFill>
                <a:latin typeface="Arial"/>
                <a:ea typeface="Arial"/>
                <a:cs typeface="Arial"/>
              </a:rPr>
              <a:t>61 / 61</a:t>
            </a:r>
          </a:p>
        </p:txBody>
      </p:sp>
      <p:sp>
        <p:nvSpPr>
          <p:cNvPr id="3" name="closing-study-label">
            <a:hlinkClick r:id="rIdExamCenter" tooltip="Open the Environmental Science Exam Center"/>
            <a:extLst>
              <a:ext uri="{FF2B5EF4-FFF2-40B4-BE49-F238E27FC236}">
                <a16:creationId xmlns:a16="http://schemas.microsoft.com/office/drawing/2014/main" id="{BB4BD6F6-0C53-443A-B2B7-24C2CF9ED821}"/>
              </a:ext>
            </a:extLst>
          </p:cNvPr>
          <p:cNvSpPr>
            <a:spLocks noGrp="1"/>
          </p:cNvSpPr>
          <p:nvPr/>
        </p:nvSpPr>
        <p:spPr>
          <a:xfrm>
            <a:off x="1285875" y="5267325"/>
            <a:ext cx="9620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025" b="0">
                <a:solidFill>
                  <a:srgbClr val="8EE2D7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0">
                <a:solidFill>
                  <a:srgbClr val="8EE2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EE2D7"/>
                </a:solidFill>
                <a:latin typeface="Arial"/>
                <a:ea typeface="Arial"/>
                <a:cs typeface="Arial"/>
              </a:rPr>
              <a:t>Practice Chapters 9 and 10 in the Exam Center</a:t>
            </a:r>
          </a:p>
        </p:txBody>
      </p:sp>
      <p:sp>
        <p:nvSpPr>
          <p:cNvPr id="4" name="closing-study-url">
            <a:hlinkClick r:id="rIdExamCenter" tooltip="Open the Environmental Science Exam Center"/>
            <a:extLst>
              <a:ext uri="{FF2B5EF4-FFF2-40B4-BE49-F238E27FC236}">
                <a16:creationId xmlns:a16="http://schemas.microsoft.com/office/drawing/2014/main" id="{1AA88FB2-9065-4AB0-B03E-952D69BF42DD}"/>
              </a:ext>
            </a:extLst>
          </p:cNvPr>
          <p:cNvSpPr>
            <a:spLocks noGrp="1"/>
          </p:cNvSpPr>
          <p:nvPr/>
        </p:nvSpPr>
        <p:spPr>
          <a:xfrm>
            <a:off x="1285875" y="5657850"/>
            <a:ext cx="9620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00" b="0">
                <a:solidFill>
                  <a:srgbClr val="D5E6E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0">
                <a:solidFill>
                  <a:srgbClr val="D5E6ED"/>
                </a:solidFill>
                <a:latin typeface="Arial"/>
                <a:ea typeface="Arial"/>
                <a:cs typeface="Arial"/>
              </a:defRPr>
            </a:pPr>
            <a:r>
              <a:rPr lang="en-US" sz="1800" b="0" dirty="0">
                <a:solidFill>
                  <a:srgbClr val="D5E6ED"/>
                </a:solidFill>
                <a:latin typeface="Arial"/>
                <a:ea typeface="Arial"/>
                <a:cs typeface="Arial"/>
              </a:rPr>
              <a:t>emohellebi.github.io/teaching/courses/environmental-science/exam-center/</a:t>
            </a:r>
          </a:p>
        </p:txBody>
      </p:sp>
      <p:sp>
        <p:nvSpPr>
          <p:cNvPr id="5" name="closing-thanks">
            <a:extLst>
              <a:ext uri="{FF2B5EF4-FFF2-40B4-BE49-F238E27FC236}">
                <a16:creationId xmlns:a16="http://schemas.microsoft.com/office/drawing/2014/main" id="{CCA06069-8486-475C-9B97-56DFDF970E8C}"/>
              </a:ext>
            </a:extLst>
          </p:cNvPr>
          <p:cNvSpPr>
            <a:spLocks noGrp="1"/>
          </p:cNvSpPr>
          <p:nvPr/>
        </p:nvSpPr>
        <p:spPr>
          <a:xfrm>
            <a:off x="666750" y="6143625"/>
            <a:ext cx="10858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192601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6000" accel="25000" decel="25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4031</TotalTime>
  <Words>4142</Words>
  <Application>Microsoft Macintosh PowerPoint</Application>
  <DocSecurity>0</DocSecurity>
  <PresentationFormat>Widescreen</PresentationFormat>
  <Paragraphs>686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Aptos</vt:lpstr>
      <vt:lpstr>Arial</vt:lpstr>
      <vt:lpstr>ChatGPT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Elias Zakaria Mohellebi</cp:lastModifiedBy>
  <cp:revision>1</cp:revision>
  <dcterms:created xsi:type="dcterms:W3CDTF">2026-10-12T05:17:13Z</dcterms:created>
  <dcterms:modified xsi:type="dcterms:W3CDTF">2026-10-20T09:09:16Z</dcterms:modified>
</cp:coreProperties>
</file>