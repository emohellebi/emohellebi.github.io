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30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4" r:id="rId50"/>
    <p:sldId id="302" r:id="rId5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9DD415-924D-E249-BD4A-58BFE4959A70}" v="1" dt="2026-10-20T19:53:08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80290"/>
  </p:normalViewPr>
  <p:slideViewPr>
    <p:cSldViewPr snapToGrid="0">
      <p:cViewPr varScale="1">
        <p:scale>
          <a:sx n="100" d="100"/>
          <a:sy n="100" d="100"/>
        </p:scale>
        <p:origin x="17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5/10/relationships/revisionInfo" Target="revisionInfo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as Zakaria Mohellebi" userId="56af4c4a-6968-4862-9093-57b2055c8dd8" providerId="ADAL" clId="{1E1FDC68-94F7-5A2E-B020-A4526CA46D83}"/>
    <pc:docChg chg="undo custSel addSld delSld modSld">
      <pc:chgData name="Elias Zakaria Mohellebi" userId="56af4c4a-6968-4862-9093-57b2055c8dd8" providerId="ADAL" clId="{1E1FDC68-94F7-5A2E-B020-A4526CA46D83}" dt="2026-10-20T21:54:21.634" v="431" actId="6549"/>
      <pc:docMkLst>
        <pc:docMk/>
      </pc:docMkLst>
      <pc:sldChg chg="delSp mod">
        <pc:chgData name="Elias Zakaria Mohellebi" userId="56af4c4a-6968-4862-9093-57b2055c8dd8" providerId="ADAL" clId="{1E1FDC68-94F7-5A2E-B020-A4526CA46D83}" dt="2026-10-20T19:52:36.083" v="404" actId="478"/>
        <pc:sldMkLst>
          <pc:docMk/>
          <pc:sldMk cId="561232591" sldId="256"/>
        </pc:sldMkLst>
        <pc:spChg chg="del">
          <ac:chgData name="Elias Zakaria Mohellebi" userId="56af4c4a-6968-4862-9093-57b2055c8dd8" providerId="ADAL" clId="{1E1FDC68-94F7-5A2E-B020-A4526CA46D83}" dt="2026-10-20T19:52:36.083" v="404" actId="478"/>
          <ac:spMkLst>
            <pc:docMk/>
            <pc:sldMk cId="561232591" sldId="256"/>
            <ac:spMk id="5" creationId="{186D2894-C8BF-4363-87D6-35522F5FEB82}"/>
          </ac:spMkLst>
        </pc:spChg>
      </pc:sldChg>
      <pc:sldChg chg="addSp delSp modSp mod">
        <pc:chgData name="Elias Zakaria Mohellebi" userId="56af4c4a-6968-4862-9093-57b2055c8dd8" providerId="ADAL" clId="{1E1FDC68-94F7-5A2E-B020-A4526CA46D83}" dt="2026-10-20T21:54:21.634" v="431" actId="6549"/>
        <pc:sldMkLst>
          <pc:docMk/>
          <pc:sldMk cId="561232591" sldId="257"/>
        </pc:sldMkLst>
        <pc:spChg chg="del mod">
          <ac:chgData name="Elias Zakaria Mohellebi" userId="56af4c4a-6968-4862-9093-57b2055c8dd8" providerId="ADAL" clId="{1E1FDC68-94F7-5A2E-B020-A4526CA46D83}" dt="2026-10-20T19:53:07.244" v="406" actId="478"/>
          <ac:spMkLst>
            <pc:docMk/>
            <pc:sldMk cId="561232591" sldId="257"/>
            <ac:spMk id="2" creationId="{25AF555C-537E-4434-ADC4-EE853FBE3BB9}"/>
          </ac:spMkLst>
        </pc:spChg>
        <pc:spChg chg="del">
          <ac:chgData name="Elias Zakaria Mohellebi" userId="56af4c4a-6968-4862-9093-57b2055c8dd8" providerId="ADAL" clId="{1E1FDC68-94F7-5A2E-B020-A4526CA46D83}" dt="2026-10-20T19:53:04.471" v="405" actId="478"/>
          <ac:spMkLst>
            <pc:docMk/>
            <pc:sldMk cId="561232591" sldId="257"/>
            <ac:spMk id="4" creationId="{88184E42-430A-4349-BC74-B9607623D2A4}"/>
          </ac:spMkLst>
        </pc:spChg>
        <pc:spChg chg="del">
          <ac:chgData name="Elias Zakaria Mohellebi" userId="56af4c4a-6968-4862-9093-57b2055c8dd8" providerId="ADAL" clId="{1E1FDC68-94F7-5A2E-B020-A4526CA46D83}" dt="2026-10-20T19:53:04.471" v="405" actId="478"/>
          <ac:spMkLst>
            <pc:docMk/>
            <pc:sldMk cId="561232591" sldId="257"/>
            <ac:spMk id="5" creationId="{CFF7FA82-B7CB-4291-9049-62A70C5CDB88}"/>
          </ac:spMkLst>
        </pc:spChg>
        <pc:spChg chg="add mod">
          <ac:chgData name="Elias Zakaria Mohellebi" userId="56af4c4a-6968-4862-9093-57b2055c8dd8" providerId="ADAL" clId="{1E1FDC68-94F7-5A2E-B020-A4526CA46D83}" dt="2026-10-20T19:53:08.948" v="407"/>
          <ac:spMkLst>
            <pc:docMk/>
            <pc:sldMk cId="561232591" sldId="257"/>
            <ac:spMk id="7" creationId="{73BFD920-DE0E-85F6-499B-5429AA7AE2DD}"/>
          </ac:spMkLst>
        </pc:spChg>
        <pc:spChg chg="add mod">
          <ac:chgData name="Elias Zakaria Mohellebi" userId="56af4c4a-6968-4862-9093-57b2055c8dd8" providerId="ADAL" clId="{1E1FDC68-94F7-5A2E-B020-A4526CA46D83}" dt="2026-10-20T19:53:19.998" v="408" actId="1076"/>
          <ac:spMkLst>
            <pc:docMk/>
            <pc:sldMk cId="561232591" sldId="257"/>
            <ac:spMk id="8" creationId="{15BE062F-A739-604C-4249-2EC50115BF50}"/>
          </ac:spMkLst>
        </pc:spChg>
        <pc:spChg chg="add mod">
          <ac:chgData name="Elias Zakaria Mohellebi" userId="56af4c4a-6968-4862-9093-57b2055c8dd8" providerId="ADAL" clId="{1E1FDC68-94F7-5A2E-B020-A4526CA46D83}" dt="2026-10-20T19:53:08.948" v="407"/>
          <ac:spMkLst>
            <pc:docMk/>
            <pc:sldMk cId="561232591" sldId="257"/>
            <ac:spMk id="9" creationId="{EAD6A761-AA49-9B8E-369E-EA8CD404648E}"/>
          </ac:spMkLst>
        </pc:spChg>
        <pc:spChg chg="add mod">
          <ac:chgData name="Elias Zakaria Mohellebi" userId="56af4c4a-6968-4862-9093-57b2055c8dd8" providerId="ADAL" clId="{1E1FDC68-94F7-5A2E-B020-A4526CA46D83}" dt="2026-10-20T19:53:08.948" v="407"/>
          <ac:spMkLst>
            <pc:docMk/>
            <pc:sldMk cId="561232591" sldId="257"/>
            <ac:spMk id="10" creationId="{578D3A8E-4E0C-B1E8-5B7C-AC93F8612E81}"/>
          </ac:spMkLst>
        </pc:spChg>
        <pc:spChg chg="add mod">
          <ac:chgData name="Elias Zakaria Mohellebi" userId="56af4c4a-6968-4862-9093-57b2055c8dd8" providerId="ADAL" clId="{1E1FDC68-94F7-5A2E-B020-A4526CA46D83}" dt="2026-10-20T21:54:21.634" v="431" actId="6549"/>
          <ac:spMkLst>
            <pc:docMk/>
            <pc:sldMk cId="561232591" sldId="257"/>
            <ac:spMk id="11" creationId="{5CC72B25-21A1-DA51-49A9-719DE8ECF7B1}"/>
          </ac:spMkLst>
        </pc:spChg>
        <pc:spChg chg="add mod">
          <ac:chgData name="Elias Zakaria Mohellebi" userId="56af4c4a-6968-4862-9093-57b2055c8dd8" providerId="ADAL" clId="{1E1FDC68-94F7-5A2E-B020-A4526CA46D83}" dt="2026-10-20T19:53:08.948" v="407"/>
          <ac:spMkLst>
            <pc:docMk/>
            <pc:sldMk cId="561232591" sldId="257"/>
            <ac:spMk id="12" creationId="{BC329286-E997-3BD6-F127-62980299B13A}"/>
          </ac:spMkLst>
        </pc:spChg>
        <pc:spChg chg="add mod">
          <ac:chgData name="Elias Zakaria Mohellebi" userId="56af4c4a-6968-4862-9093-57b2055c8dd8" providerId="ADAL" clId="{1E1FDC68-94F7-5A2E-B020-A4526CA46D83}" dt="2026-10-20T19:53:08.948" v="407"/>
          <ac:spMkLst>
            <pc:docMk/>
            <pc:sldMk cId="561232591" sldId="257"/>
            <ac:spMk id="13" creationId="{20E040B0-96F2-0683-E022-9611682E438F}"/>
          </ac:spMkLst>
        </pc:spChg>
        <pc:spChg chg="add mod">
          <ac:chgData name="Elias Zakaria Mohellebi" userId="56af4c4a-6968-4862-9093-57b2055c8dd8" providerId="ADAL" clId="{1E1FDC68-94F7-5A2E-B020-A4526CA46D83}" dt="2026-10-20T19:53:08.948" v="407"/>
          <ac:spMkLst>
            <pc:docMk/>
            <pc:sldMk cId="561232591" sldId="257"/>
            <ac:spMk id="14" creationId="{037A11EC-4714-2317-812B-AFE89FD18948}"/>
          </ac:spMkLst>
        </pc:spChg>
        <pc:spChg chg="add mod">
          <ac:chgData name="Elias Zakaria Mohellebi" userId="56af4c4a-6968-4862-9093-57b2055c8dd8" providerId="ADAL" clId="{1E1FDC68-94F7-5A2E-B020-A4526CA46D83}" dt="2026-10-20T19:53:08.948" v="407"/>
          <ac:spMkLst>
            <pc:docMk/>
            <pc:sldMk cId="561232591" sldId="257"/>
            <ac:spMk id="15" creationId="{C2B7A801-B2A2-6693-0759-C9AEDC3B82CC}"/>
          </ac:spMkLst>
        </pc:spChg>
        <pc:spChg chg="add mod">
          <ac:chgData name="Elias Zakaria Mohellebi" userId="56af4c4a-6968-4862-9093-57b2055c8dd8" providerId="ADAL" clId="{1E1FDC68-94F7-5A2E-B020-A4526CA46D83}" dt="2026-10-20T19:53:08.948" v="407"/>
          <ac:spMkLst>
            <pc:docMk/>
            <pc:sldMk cId="561232591" sldId="257"/>
            <ac:spMk id="16" creationId="{3A2F3364-81BE-3A03-04FB-7A52EA58AB02}"/>
          </ac:spMkLst>
        </pc:spChg>
      </pc:sldChg>
      <pc:sldChg chg="modSp mod">
        <pc:chgData name="Elias Zakaria Mohellebi" userId="56af4c4a-6968-4862-9093-57b2055c8dd8" providerId="ADAL" clId="{1E1FDC68-94F7-5A2E-B020-A4526CA46D83}" dt="2026-10-15T22:03:46.578" v="78" actId="14100"/>
        <pc:sldMkLst>
          <pc:docMk/>
          <pc:sldMk cId="561232591" sldId="258"/>
        </pc:sldMkLst>
        <pc:spChg chg="mod">
          <ac:chgData name="Elias Zakaria Mohellebi" userId="56af4c4a-6968-4862-9093-57b2055c8dd8" providerId="ADAL" clId="{1E1FDC68-94F7-5A2E-B020-A4526CA46D83}" dt="2026-10-15T21:10:46.106" v="18" actId="14100"/>
          <ac:spMkLst>
            <pc:docMk/>
            <pc:sldMk cId="561232591" sldId="258"/>
            <ac:spMk id="4" creationId="{A4A980A0-5D97-4C51-A667-E7677D6845AE}"/>
          </ac:spMkLst>
        </pc:spChg>
        <pc:spChg chg="mod">
          <ac:chgData name="Elias Zakaria Mohellebi" userId="56af4c4a-6968-4862-9093-57b2055c8dd8" providerId="ADAL" clId="{1E1FDC68-94F7-5A2E-B020-A4526CA46D83}" dt="2026-10-15T22:03:46.578" v="78" actId="14100"/>
          <ac:spMkLst>
            <pc:docMk/>
            <pc:sldMk cId="561232591" sldId="258"/>
            <ac:spMk id="6" creationId="{21E4AA7F-6315-4235-B486-79231D7F0E9F}"/>
          </ac:spMkLst>
        </pc:spChg>
        <pc:picChg chg="mod">
          <ac:chgData name="Elias Zakaria Mohellebi" userId="56af4c4a-6968-4862-9093-57b2055c8dd8" providerId="ADAL" clId="{1E1FDC68-94F7-5A2E-B020-A4526CA46D83}" dt="2026-10-15T21:10:34.160" v="15" actId="14100"/>
          <ac:picMkLst>
            <pc:docMk/>
            <pc:sldMk cId="561232591" sldId="258"/>
            <ac:picMk id="5" creationId="{2CAC4E25-BBFF-49AE-8132-011D1A1D5446}"/>
          </ac:picMkLst>
        </pc:picChg>
      </pc:sldChg>
      <pc:sldChg chg="modSp mod">
        <pc:chgData name="Elias Zakaria Mohellebi" userId="56af4c4a-6968-4862-9093-57b2055c8dd8" providerId="ADAL" clId="{1E1FDC68-94F7-5A2E-B020-A4526CA46D83}" dt="2026-10-16T23:04:43.273" v="385" actId="14734"/>
        <pc:sldMkLst>
          <pc:docMk/>
          <pc:sldMk cId="561232591" sldId="259"/>
        </pc:sldMkLst>
        <pc:graphicFrameChg chg="modGraphic">
          <ac:chgData name="Elias Zakaria Mohellebi" userId="56af4c4a-6968-4862-9093-57b2055c8dd8" providerId="ADAL" clId="{1E1FDC68-94F7-5A2E-B020-A4526CA46D83}" dt="2026-10-16T23:04:43.273" v="385" actId="14734"/>
          <ac:graphicFrameMkLst>
            <pc:docMk/>
            <pc:sldMk cId="561232591" sldId="259"/>
            <ac:graphicFrameMk id="4" creationId="{A62E149A-A85B-4108-92B6-A763B16F9FDD}"/>
          </ac:graphicFrameMkLst>
        </pc:graphicFrameChg>
      </pc:sldChg>
      <pc:sldChg chg="modSp mod">
        <pc:chgData name="Elias Zakaria Mohellebi" userId="56af4c4a-6968-4862-9093-57b2055c8dd8" providerId="ADAL" clId="{1E1FDC68-94F7-5A2E-B020-A4526CA46D83}" dt="2026-10-16T16:38:36.865" v="80" actId="1076"/>
        <pc:sldMkLst>
          <pc:docMk/>
          <pc:sldMk cId="561232591" sldId="260"/>
        </pc:sldMkLst>
        <pc:spChg chg="mod">
          <ac:chgData name="Elias Zakaria Mohellebi" userId="56af4c4a-6968-4862-9093-57b2055c8dd8" providerId="ADAL" clId="{1E1FDC68-94F7-5A2E-B020-A4526CA46D83}" dt="2026-10-16T16:38:36.865" v="80" actId="1076"/>
          <ac:spMkLst>
            <pc:docMk/>
            <pc:sldMk cId="561232591" sldId="260"/>
            <ac:spMk id="6" creationId="{A12F0F19-817D-4F5C-BAF1-9ECE40ED9EED}"/>
          </ac:spMkLst>
        </pc:spChg>
      </pc:sldChg>
      <pc:sldChg chg="addSp modSp mod">
        <pc:chgData name="Elias Zakaria Mohellebi" userId="56af4c4a-6968-4862-9093-57b2055c8dd8" providerId="ADAL" clId="{1E1FDC68-94F7-5A2E-B020-A4526CA46D83}" dt="2026-10-16T16:45:02.233" v="213" actId="14100"/>
        <pc:sldMkLst>
          <pc:docMk/>
          <pc:sldMk cId="561232591" sldId="262"/>
        </pc:sldMkLst>
        <pc:spChg chg="mod">
          <ac:chgData name="Elias Zakaria Mohellebi" userId="56af4c4a-6968-4862-9093-57b2055c8dd8" providerId="ADAL" clId="{1E1FDC68-94F7-5A2E-B020-A4526CA46D83}" dt="2026-10-16T16:45:02.233" v="213" actId="14100"/>
          <ac:spMkLst>
            <pc:docMk/>
            <pc:sldMk cId="561232591" sldId="262"/>
            <ac:spMk id="4" creationId="{522962E0-2168-49C0-8ED9-708EF31E0D2C}"/>
          </ac:spMkLst>
        </pc:spChg>
        <pc:spChg chg="add mod">
          <ac:chgData name="Elias Zakaria Mohellebi" userId="56af4c4a-6968-4862-9093-57b2055c8dd8" providerId="ADAL" clId="{1E1FDC68-94F7-5A2E-B020-A4526CA46D83}" dt="2026-10-16T16:43:56.781" v="154" actId="1076"/>
          <ac:spMkLst>
            <pc:docMk/>
            <pc:sldMk cId="561232591" sldId="262"/>
            <ac:spMk id="11" creationId="{DC5067E2-A834-999F-EC42-BA86EB39ADBB}"/>
          </ac:spMkLst>
        </pc:spChg>
        <pc:spChg chg="add mod">
          <ac:chgData name="Elias Zakaria Mohellebi" userId="56af4c4a-6968-4862-9093-57b2055c8dd8" providerId="ADAL" clId="{1E1FDC68-94F7-5A2E-B020-A4526CA46D83}" dt="2026-10-16T16:44:44.975" v="211" actId="1076"/>
          <ac:spMkLst>
            <pc:docMk/>
            <pc:sldMk cId="561232591" sldId="262"/>
            <ac:spMk id="12" creationId="{D747EDF0-45FC-37CD-68C6-F01C431A5CCF}"/>
          </ac:spMkLst>
        </pc:spChg>
        <pc:graphicFrameChg chg="mod">
          <ac:chgData name="Elias Zakaria Mohellebi" userId="56af4c4a-6968-4862-9093-57b2055c8dd8" providerId="ADAL" clId="{1E1FDC68-94F7-5A2E-B020-A4526CA46D83}" dt="2026-10-16T16:43:48.229" v="153" actId="14100"/>
          <ac:graphicFrameMkLst>
            <pc:docMk/>
            <pc:sldMk cId="561232591" sldId="262"/>
            <ac:graphicFrameMk id="5" creationId="{070CE069-3C66-4345-AF14-D2CA7525D0F9}"/>
          </ac:graphicFrameMkLst>
        </pc:graphicFrameChg>
      </pc:sldChg>
      <pc:sldChg chg="modSp mod">
        <pc:chgData name="Elias Zakaria Mohellebi" userId="56af4c4a-6968-4862-9093-57b2055c8dd8" providerId="ADAL" clId="{1E1FDC68-94F7-5A2E-B020-A4526CA46D83}" dt="2026-10-16T21:22:57.274" v="239" actId="14100"/>
        <pc:sldMkLst>
          <pc:docMk/>
          <pc:sldMk cId="561232591" sldId="264"/>
        </pc:sldMkLst>
        <pc:spChg chg="mod">
          <ac:chgData name="Elias Zakaria Mohellebi" userId="56af4c4a-6968-4862-9093-57b2055c8dd8" providerId="ADAL" clId="{1E1FDC68-94F7-5A2E-B020-A4526CA46D83}" dt="2026-10-16T21:22:57.274" v="239" actId="14100"/>
          <ac:spMkLst>
            <pc:docMk/>
            <pc:sldMk cId="561232591" sldId="264"/>
            <ac:spMk id="6" creationId="{0854117E-AEDC-489E-A807-C21F79A61EEE}"/>
          </ac:spMkLst>
        </pc:spChg>
      </pc:sldChg>
      <pc:sldChg chg="modSp mod">
        <pc:chgData name="Elias Zakaria Mohellebi" userId="56af4c4a-6968-4862-9093-57b2055c8dd8" providerId="ADAL" clId="{1E1FDC68-94F7-5A2E-B020-A4526CA46D83}" dt="2026-10-16T16:54:22.973" v="214" actId="14100"/>
        <pc:sldMkLst>
          <pc:docMk/>
          <pc:sldMk cId="561232591" sldId="266"/>
        </pc:sldMkLst>
        <pc:spChg chg="mod">
          <ac:chgData name="Elias Zakaria Mohellebi" userId="56af4c4a-6968-4862-9093-57b2055c8dd8" providerId="ADAL" clId="{1E1FDC68-94F7-5A2E-B020-A4526CA46D83}" dt="2026-10-16T16:54:22.973" v="214" actId="14100"/>
          <ac:spMkLst>
            <pc:docMk/>
            <pc:sldMk cId="561232591" sldId="266"/>
            <ac:spMk id="7" creationId="{D3607B04-8B4D-4B36-9E1E-7040424055B2}"/>
          </ac:spMkLst>
        </pc:spChg>
      </pc:sldChg>
      <pc:sldChg chg="modSp mod">
        <pc:chgData name="Elias Zakaria Mohellebi" userId="56af4c4a-6968-4862-9093-57b2055c8dd8" providerId="ADAL" clId="{1E1FDC68-94F7-5A2E-B020-A4526CA46D83}" dt="2026-10-16T16:56:28.831" v="236" actId="14100"/>
        <pc:sldMkLst>
          <pc:docMk/>
          <pc:sldMk cId="561232591" sldId="269"/>
        </pc:sldMkLst>
        <pc:spChg chg="mod">
          <ac:chgData name="Elias Zakaria Mohellebi" userId="56af4c4a-6968-4862-9093-57b2055c8dd8" providerId="ADAL" clId="{1E1FDC68-94F7-5A2E-B020-A4526CA46D83}" dt="2026-10-16T16:55:43.382" v="230" actId="14100"/>
          <ac:spMkLst>
            <pc:docMk/>
            <pc:sldMk cId="561232591" sldId="269"/>
            <ac:spMk id="5" creationId="{6DD74CC8-9C68-47D0-8E24-0913E53ED7E4}"/>
          </ac:spMkLst>
        </pc:spChg>
        <pc:spChg chg="mod">
          <ac:chgData name="Elias Zakaria Mohellebi" userId="56af4c4a-6968-4862-9093-57b2055c8dd8" providerId="ADAL" clId="{1E1FDC68-94F7-5A2E-B020-A4526CA46D83}" dt="2026-10-16T16:55:49.773" v="232" actId="14100"/>
          <ac:spMkLst>
            <pc:docMk/>
            <pc:sldMk cId="561232591" sldId="269"/>
            <ac:spMk id="6" creationId="{77C7A88B-B607-4930-A63D-A6AEEFA300FE}"/>
          </ac:spMkLst>
        </pc:spChg>
        <pc:spChg chg="mod">
          <ac:chgData name="Elias Zakaria Mohellebi" userId="56af4c4a-6968-4862-9093-57b2055c8dd8" providerId="ADAL" clId="{1E1FDC68-94F7-5A2E-B020-A4526CA46D83}" dt="2026-10-16T16:55:52.404" v="233" actId="14100"/>
          <ac:spMkLst>
            <pc:docMk/>
            <pc:sldMk cId="561232591" sldId="269"/>
            <ac:spMk id="7" creationId="{A09A1979-B633-4C11-A42D-BE3EFD5327E8}"/>
          </ac:spMkLst>
        </pc:spChg>
        <pc:spChg chg="mod">
          <ac:chgData name="Elias Zakaria Mohellebi" userId="56af4c4a-6968-4862-9093-57b2055c8dd8" providerId="ADAL" clId="{1E1FDC68-94F7-5A2E-B020-A4526CA46D83}" dt="2026-10-16T16:56:28.831" v="236" actId="14100"/>
          <ac:spMkLst>
            <pc:docMk/>
            <pc:sldMk cId="561232591" sldId="269"/>
            <ac:spMk id="8" creationId="{48E31539-C461-46BE-8467-6B19A5FA901B}"/>
          </ac:spMkLst>
        </pc:spChg>
      </pc:sldChg>
      <pc:sldChg chg="modSp mod">
        <pc:chgData name="Elias Zakaria Mohellebi" userId="56af4c4a-6968-4862-9093-57b2055c8dd8" providerId="ADAL" clId="{1E1FDC68-94F7-5A2E-B020-A4526CA46D83}" dt="2026-10-16T21:44:20.618" v="315" actId="20577"/>
        <pc:sldMkLst>
          <pc:docMk/>
          <pc:sldMk cId="561232591" sldId="270"/>
        </pc:sldMkLst>
        <pc:spChg chg="mod">
          <ac:chgData name="Elias Zakaria Mohellebi" userId="56af4c4a-6968-4862-9093-57b2055c8dd8" providerId="ADAL" clId="{1E1FDC68-94F7-5A2E-B020-A4526CA46D83}" dt="2026-10-16T16:57:10.217" v="238" actId="14100"/>
          <ac:spMkLst>
            <pc:docMk/>
            <pc:sldMk cId="561232591" sldId="270"/>
            <ac:spMk id="4" creationId="{86A5648A-D92F-4594-82C9-90F812272021}"/>
          </ac:spMkLst>
        </pc:spChg>
        <pc:spChg chg="mod">
          <ac:chgData name="Elias Zakaria Mohellebi" userId="56af4c4a-6968-4862-9093-57b2055c8dd8" providerId="ADAL" clId="{1E1FDC68-94F7-5A2E-B020-A4526CA46D83}" dt="2026-10-16T21:44:20.618" v="315" actId="20577"/>
          <ac:spMkLst>
            <pc:docMk/>
            <pc:sldMk cId="561232591" sldId="270"/>
            <ac:spMk id="6" creationId="{8CB4451D-95EA-4370-A25F-BD063688977E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5:51.853" v="392" actId="1076"/>
        <pc:sldMkLst>
          <pc:docMk/>
          <pc:sldMk cId="561232591" sldId="275"/>
        </pc:sldMkLst>
        <pc:spChg chg="mod">
          <ac:chgData name="Elias Zakaria Mohellebi" userId="56af4c4a-6968-4862-9093-57b2055c8dd8" providerId="ADAL" clId="{1E1FDC68-94F7-5A2E-B020-A4526CA46D83}" dt="2026-10-16T23:15:51.853" v="392" actId="1076"/>
          <ac:spMkLst>
            <pc:docMk/>
            <pc:sldMk cId="561232591" sldId="275"/>
            <ac:spMk id="6" creationId="{6107F2C0-0727-4DD7-98A6-B3141F336507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6:02.194" v="394" actId="1076"/>
        <pc:sldMkLst>
          <pc:docMk/>
          <pc:sldMk cId="561232591" sldId="276"/>
        </pc:sldMkLst>
        <pc:spChg chg="mod">
          <ac:chgData name="Elias Zakaria Mohellebi" userId="56af4c4a-6968-4862-9093-57b2055c8dd8" providerId="ADAL" clId="{1E1FDC68-94F7-5A2E-B020-A4526CA46D83}" dt="2026-10-16T23:16:02.194" v="394" actId="1076"/>
          <ac:spMkLst>
            <pc:docMk/>
            <pc:sldMk cId="561232591" sldId="276"/>
            <ac:spMk id="6" creationId="{6B1BC4C6-6ADC-4BC0-AF7C-3207A8C835DA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1:35.927" v="389" actId="1076"/>
        <pc:sldMkLst>
          <pc:docMk/>
          <pc:sldMk cId="561232591" sldId="280"/>
        </pc:sldMkLst>
        <pc:spChg chg="mod">
          <ac:chgData name="Elias Zakaria Mohellebi" userId="56af4c4a-6968-4862-9093-57b2055c8dd8" providerId="ADAL" clId="{1E1FDC68-94F7-5A2E-B020-A4526CA46D83}" dt="2026-10-16T23:11:35.927" v="389" actId="1076"/>
          <ac:spMkLst>
            <pc:docMk/>
            <pc:sldMk cId="561232591" sldId="280"/>
            <ac:spMk id="6" creationId="{6DB47D28-863A-4C78-9993-DA7907EECC51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1:19.955" v="387" actId="1076"/>
        <pc:sldMkLst>
          <pc:docMk/>
          <pc:sldMk cId="561232591" sldId="281"/>
        </pc:sldMkLst>
        <pc:spChg chg="mod">
          <ac:chgData name="Elias Zakaria Mohellebi" userId="56af4c4a-6968-4862-9093-57b2055c8dd8" providerId="ADAL" clId="{1E1FDC68-94F7-5A2E-B020-A4526CA46D83}" dt="2026-10-16T23:11:19.955" v="387" actId="1076"/>
          <ac:spMkLst>
            <pc:docMk/>
            <pc:sldMk cId="561232591" sldId="281"/>
            <ac:spMk id="6" creationId="{322F4706-371F-421F-9942-CE936ED3AE49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6:17.784" v="396" actId="1076"/>
        <pc:sldMkLst>
          <pc:docMk/>
          <pc:sldMk cId="561232591" sldId="285"/>
        </pc:sldMkLst>
        <pc:spChg chg="mod">
          <ac:chgData name="Elias Zakaria Mohellebi" userId="56af4c4a-6968-4862-9093-57b2055c8dd8" providerId="ADAL" clId="{1E1FDC68-94F7-5A2E-B020-A4526CA46D83}" dt="2026-10-16T23:16:17.784" v="396" actId="1076"/>
          <ac:spMkLst>
            <pc:docMk/>
            <pc:sldMk cId="561232591" sldId="285"/>
            <ac:spMk id="6" creationId="{409374CC-A39B-4B92-9757-252E1167FE9A}"/>
          </ac:spMkLst>
        </pc:spChg>
      </pc:sldChg>
      <pc:sldChg chg="modSp mod">
        <pc:chgData name="Elias Zakaria Mohellebi" userId="56af4c4a-6968-4862-9093-57b2055c8dd8" providerId="ADAL" clId="{1E1FDC68-94F7-5A2E-B020-A4526CA46D83}" dt="2026-10-16T22:20:01.208" v="316" actId="14100"/>
        <pc:sldMkLst>
          <pc:docMk/>
          <pc:sldMk cId="561232591" sldId="288"/>
        </pc:sldMkLst>
        <pc:spChg chg="mod">
          <ac:chgData name="Elias Zakaria Mohellebi" userId="56af4c4a-6968-4862-9093-57b2055c8dd8" providerId="ADAL" clId="{1E1FDC68-94F7-5A2E-B020-A4526CA46D83}" dt="2026-10-16T22:20:01.208" v="316" actId="14100"/>
          <ac:spMkLst>
            <pc:docMk/>
            <pc:sldMk cId="561232591" sldId="288"/>
            <ac:spMk id="8" creationId="{D335EFC8-0CEE-43E9-B226-1F64A1871EFC}"/>
          </ac:spMkLst>
        </pc:spChg>
      </pc:sldChg>
      <pc:sldChg chg="modSp mod">
        <pc:chgData name="Elias Zakaria Mohellebi" userId="56af4c4a-6968-4862-9093-57b2055c8dd8" providerId="ADAL" clId="{1E1FDC68-94F7-5A2E-B020-A4526CA46D83}" dt="2026-10-16T22:20:35.100" v="317" actId="14100"/>
        <pc:sldMkLst>
          <pc:docMk/>
          <pc:sldMk cId="561232591" sldId="289"/>
        </pc:sldMkLst>
        <pc:spChg chg="mod">
          <ac:chgData name="Elias Zakaria Mohellebi" userId="56af4c4a-6968-4862-9093-57b2055c8dd8" providerId="ADAL" clId="{1E1FDC68-94F7-5A2E-B020-A4526CA46D83}" dt="2026-10-16T22:20:35.100" v="317" actId="14100"/>
          <ac:spMkLst>
            <pc:docMk/>
            <pc:sldMk cId="561232591" sldId="289"/>
            <ac:spMk id="8" creationId="{26ECAE0A-A4DE-46BE-8662-229A9706301E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6:33.594" v="398" actId="1076"/>
        <pc:sldMkLst>
          <pc:docMk/>
          <pc:sldMk cId="561232591" sldId="290"/>
        </pc:sldMkLst>
        <pc:spChg chg="mod">
          <ac:chgData name="Elias Zakaria Mohellebi" userId="56af4c4a-6968-4862-9093-57b2055c8dd8" providerId="ADAL" clId="{1E1FDC68-94F7-5A2E-B020-A4526CA46D83}" dt="2026-10-16T22:22:43.387" v="357" actId="20577"/>
          <ac:spMkLst>
            <pc:docMk/>
            <pc:sldMk cId="561232591" sldId="290"/>
            <ac:spMk id="4" creationId="{B718915F-9343-4A9C-9D07-2E54E1EF49AA}"/>
          </ac:spMkLst>
        </pc:spChg>
        <pc:spChg chg="mod">
          <ac:chgData name="Elias Zakaria Mohellebi" userId="56af4c4a-6968-4862-9093-57b2055c8dd8" providerId="ADAL" clId="{1E1FDC68-94F7-5A2E-B020-A4526CA46D83}" dt="2026-10-16T23:16:33.594" v="398" actId="1076"/>
          <ac:spMkLst>
            <pc:docMk/>
            <pc:sldMk cId="561232591" sldId="290"/>
            <ac:spMk id="6" creationId="{215AF547-98B6-4C00-A356-284164386768}"/>
          </ac:spMkLst>
        </pc:spChg>
        <pc:picChg chg="mod">
          <ac:chgData name="Elias Zakaria Mohellebi" userId="56af4c4a-6968-4862-9093-57b2055c8dd8" providerId="ADAL" clId="{1E1FDC68-94F7-5A2E-B020-A4526CA46D83}" dt="2026-10-16T22:22:22.980" v="351" actId="1038"/>
          <ac:picMkLst>
            <pc:docMk/>
            <pc:sldMk cId="561232591" sldId="290"/>
            <ac:picMk id="5" creationId="{2D2B97D2-BC29-46DB-BBDE-5B449B329C37}"/>
          </ac:picMkLst>
        </pc:picChg>
      </pc:sldChg>
      <pc:sldChg chg="modSp mod">
        <pc:chgData name="Elias Zakaria Mohellebi" userId="56af4c4a-6968-4862-9093-57b2055c8dd8" providerId="ADAL" clId="{1E1FDC68-94F7-5A2E-B020-A4526CA46D83}" dt="2026-10-16T22:23:50.236" v="359" actId="14100"/>
        <pc:sldMkLst>
          <pc:docMk/>
          <pc:sldMk cId="561232591" sldId="291"/>
        </pc:sldMkLst>
        <pc:spChg chg="mod">
          <ac:chgData name="Elias Zakaria Mohellebi" userId="56af4c4a-6968-4862-9093-57b2055c8dd8" providerId="ADAL" clId="{1E1FDC68-94F7-5A2E-B020-A4526CA46D83}" dt="2026-10-16T22:23:46.350" v="358" actId="14100"/>
          <ac:spMkLst>
            <pc:docMk/>
            <pc:sldMk cId="561232591" sldId="291"/>
            <ac:spMk id="6" creationId="{76828DD1-AA66-4BD8-8F9E-82632E513148}"/>
          </ac:spMkLst>
        </pc:spChg>
        <pc:spChg chg="mod">
          <ac:chgData name="Elias Zakaria Mohellebi" userId="56af4c4a-6968-4862-9093-57b2055c8dd8" providerId="ADAL" clId="{1E1FDC68-94F7-5A2E-B020-A4526CA46D83}" dt="2026-10-16T22:23:50.236" v="359" actId="14100"/>
          <ac:spMkLst>
            <pc:docMk/>
            <pc:sldMk cId="561232591" sldId="291"/>
            <ac:spMk id="7" creationId="{571EB8EA-C0E8-4DFE-A327-3FC92E63567E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6:49.163" v="400" actId="1076"/>
        <pc:sldMkLst>
          <pc:docMk/>
          <pc:sldMk cId="561232591" sldId="292"/>
        </pc:sldMkLst>
        <pc:spChg chg="mod">
          <ac:chgData name="Elias Zakaria Mohellebi" userId="56af4c4a-6968-4862-9093-57b2055c8dd8" providerId="ADAL" clId="{1E1FDC68-94F7-5A2E-B020-A4526CA46D83}" dt="2026-10-16T23:16:49.163" v="400" actId="1076"/>
          <ac:spMkLst>
            <pc:docMk/>
            <pc:sldMk cId="561232591" sldId="292"/>
            <ac:spMk id="6" creationId="{9A7DB77D-6BD5-43D4-9612-696BEC9EB13E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7:01.363" v="403" actId="1076"/>
        <pc:sldMkLst>
          <pc:docMk/>
          <pc:sldMk cId="561232591" sldId="293"/>
        </pc:sldMkLst>
        <pc:spChg chg="mod">
          <ac:chgData name="Elias Zakaria Mohellebi" userId="56af4c4a-6968-4862-9093-57b2055c8dd8" providerId="ADAL" clId="{1E1FDC68-94F7-5A2E-B020-A4526CA46D83}" dt="2026-10-16T23:17:01.363" v="403" actId="1076"/>
          <ac:spMkLst>
            <pc:docMk/>
            <pc:sldMk cId="561232591" sldId="293"/>
            <ac:spMk id="6" creationId="{1B219BFC-A8D6-42D9-9E0E-2229D99E537D}"/>
          </ac:spMkLst>
        </pc:spChg>
        <pc:picChg chg="mod">
          <ac:chgData name="Elias Zakaria Mohellebi" userId="56af4c4a-6968-4862-9093-57b2055c8dd8" providerId="ADAL" clId="{1E1FDC68-94F7-5A2E-B020-A4526CA46D83}" dt="2026-10-16T22:26:57.423" v="361" actId="1036"/>
          <ac:picMkLst>
            <pc:docMk/>
            <pc:sldMk cId="561232591" sldId="293"/>
            <ac:picMk id="5" creationId="{AABBE380-AF68-4D68-9EE3-BF1D412E13AE}"/>
          </ac:picMkLst>
        </pc:picChg>
      </pc:sldChg>
      <pc:sldChg chg="modSp mod">
        <pc:chgData name="Elias Zakaria Mohellebi" userId="56af4c4a-6968-4862-9093-57b2055c8dd8" providerId="ADAL" clId="{1E1FDC68-94F7-5A2E-B020-A4526CA46D83}" dt="2026-10-16T22:30:37.240" v="377" actId="14100"/>
        <pc:sldMkLst>
          <pc:docMk/>
          <pc:sldMk cId="561232591" sldId="296"/>
        </pc:sldMkLst>
        <pc:spChg chg="mod">
          <ac:chgData name="Elias Zakaria Mohellebi" userId="56af4c4a-6968-4862-9093-57b2055c8dd8" providerId="ADAL" clId="{1E1FDC68-94F7-5A2E-B020-A4526CA46D83}" dt="2026-10-16T22:30:37.240" v="377" actId="14100"/>
          <ac:spMkLst>
            <pc:docMk/>
            <pc:sldMk cId="561232591" sldId="296"/>
            <ac:spMk id="10" creationId="{F55B2394-B13E-40AF-A88D-826FC238FCDF}"/>
          </ac:spMkLst>
        </pc:spChg>
      </pc:sldChg>
      <pc:sldChg chg="addSp delSp modSp mod">
        <pc:chgData name="Elias Zakaria Mohellebi" userId="56af4c4a-6968-4862-9093-57b2055c8dd8" providerId="ADAL" clId="{1E1FDC68-94F7-5A2E-B020-A4526CA46D83}" dt="2026-10-16T22:31:32.012" v="381"/>
        <pc:sldMkLst>
          <pc:docMk/>
          <pc:sldMk cId="561232591" sldId="297"/>
        </pc:sldMkLst>
        <pc:spChg chg="add mod">
          <ac:chgData name="Elias Zakaria Mohellebi" userId="56af4c4a-6968-4862-9093-57b2055c8dd8" providerId="ADAL" clId="{1E1FDC68-94F7-5A2E-B020-A4526CA46D83}" dt="2026-10-16T22:31:32.012" v="381"/>
          <ac:spMkLst>
            <pc:docMk/>
            <pc:sldMk cId="561232591" sldId="297"/>
            <ac:spMk id="19" creationId="{23B02263-0F60-618B-83D1-24835C9B959B}"/>
          </ac:spMkLst>
        </pc:spChg>
      </pc:sldChg>
      <pc:sldChg chg="delSp modSp add mod delAnim">
        <pc:chgData name="Elias Zakaria Mohellebi" userId="56af4c4a-6968-4862-9093-57b2055c8dd8" providerId="ADAL" clId="{1E1FDC68-94F7-5A2E-B020-A4526CA46D83}" dt="2026-10-16T21:24:05.005" v="305" actId="478"/>
        <pc:sldMkLst>
          <pc:docMk/>
          <pc:sldMk cId="4156647659" sldId="303"/>
        </pc:sldMkLst>
        <pc:spChg chg="mod">
          <ac:chgData name="Elias Zakaria Mohellebi" userId="56af4c4a-6968-4862-9093-57b2055c8dd8" providerId="ADAL" clId="{1E1FDC68-94F7-5A2E-B020-A4526CA46D83}" dt="2026-10-16T21:23:52.492" v="300" actId="20577"/>
          <ac:spMkLst>
            <pc:docMk/>
            <pc:sldMk cId="4156647659" sldId="303"/>
            <ac:spMk id="2" creationId="{775875F5-1C73-7A08-964D-46BF1E23A29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Relative direct-beam power (%)</c:v>
          </c:tx>
          <c:spPr>
            <a:solidFill>
              <a:srgbClr val="65D6E5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0°</c:v>
                </c:pt>
                <c:pt idx="1">
                  <c:v>30°</c:v>
                </c:pt>
                <c:pt idx="2">
                  <c:v>60°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86.602540379999994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45-C942-A7E3-0C013E1753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575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71422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Calculated electrical power (kW)</c:v>
          </c:tx>
          <c:spPr>
            <a:solidFill>
              <a:srgbClr val="65D6E5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10 m head</c:v>
                </c:pt>
                <c:pt idx="1">
                  <c:v>20 m head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78.48</c:v>
                </c:pt>
                <c:pt idx="1">
                  <c:v>156.96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2E-634E-A49F-15925348CE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575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71422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Energy (MWh)</c:v>
          </c:tx>
          <c:spPr>
            <a:solidFill>
              <a:srgbClr val="65D6E5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Charged</c:v>
                </c:pt>
                <c:pt idx="1">
                  <c:v>Delivered</c:v>
                </c:pt>
                <c:pt idx="2">
                  <c:v>Demand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</c:v>
                </c:pt>
                <c:pt idx="1">
                  <c:v>1.6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61-F84D-8E70-5826DA37868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575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71422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Reduction in bat fatalities (%)</c:v>
          </c:tx>
          <c:spPr>
            <a:solidFill>
              <a:srgbClr val="B7A0F5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Higher wind trigger</c:v>
                </c:pt>
                <c:pt idx="1">
                  <c:v>Blade-angle change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60</c:v>
                </c:pt>
                <c:pt idx="1">
                  <c:v>57.5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53-634A-BA66-E59D246FE58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575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71422"/>
    </a:solidFill>
    <a:ln w="0"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C2A810-E7AB-407C-96BB-A9A1642E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5873864-8EA6-4BAE-AD23-DF7D1EE8D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45B93AD-B8E9-48E0-9BA9-1FAD5388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ABDACB8-D0FE-4835-A57B-FDA02114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DF97DC7-05A4-4842-9B74-F90566C5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82DFCE-CE18-4F48-9BF1-C732E208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90E0A77-5948-4F1C-96D3-941CC09D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415746A-0452-4F01-BDD2-C85034C37A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079AD55-2821-4492-AA75-50CBE9E1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F8C9763-2CE0-43CD-995B-A816677B3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C2A810-E7AB-407C-96BB-A9A1642E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5873864-8EA6-4BAE-AD23-DF7D1EE8D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45B93AD-B8E9-48E0-9BA9-1FAD5388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ABDACB8-D0FE-4835-A57B-FDA02114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DF97DC7-05A4-4842-9B74-F90566C5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82DFCE-CE18-4F48-9BF1-C732E208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90E0A77-5948-4F1C-96D3-941CC09D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415746A-0452-4F01-BDD2-C85034C37A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079AD55-2821-4492-AA75-50CBE9E1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F8C9763-2CE0-43CD-995B-A816677B3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emohellebi.github.io/teaching/courses/environmental-science/exam-center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6B20C0-55AD-4DDC-9502-C03C65AF32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1">
            <a:extLst>
              <a:ext uri="{FF2B5EF4-FFF2-40B4-BE49-F238E27FC236}">
                <a16:creationId xmlns:a16="http://schemas.microsoft.com/office/drawing/2014/main" id="{B2939B4D-B9EA-44E6-9405-D394B40118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ENVIRONMENTAL SCIENCE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C32A1AB-D32C-40A2-892D-CACCD0071D9D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5524500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Renewable</a:t>
            </a:r>
          </a:p>
          <a:p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CF2EB6E-42FC-4996-BD75-E374C539D67C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5143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6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What will power the light next?</a:t>
            </a:r>
          </a:p>
        </p:txBody>
      </p:sp>
      <p:sp>
        <p:nvSpPr>
          <p:cNvPr id="6" name="slide-number">
            <a:extLst>
              <a:ext uri="{FF2B5EF4-FFF2-40B4-BE49-F238E27FC236}">
                <a16:creationId xmlns:a16="http://schemas.microsoft.com/office/drawing/2014/main" id="{8292281A-9A74-43DC-AA54-F6DFC4C9E02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01 / 49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5">
            <a:extLst>
              <a:ext uri="{FF2B5EF4-FFF2-40B4-BE49-F238E27FC236}">
                <a16:creationId xmlns:a16="http://schemas.microsoft.com/office/drawing/2014/main" id="{AB59CB74-4AA9-4CC5-9AC0-12CC49984BD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CENTRAL QUESTION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F0E8291-4309-4F51-A1A0-3C6BE03EA96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02 / 49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3BFD920-DE0E-85F6-499B-5429AA7AE2DD}"/>
              </a:ext>
            </a:extLst>
          </p:cNvPr>
          <p:cNvSpPr>
            <a:spLocks noGrp="1"/>
          </p:cNvSpPr>
          <p:nvPr/>
        </p:nvSpPr>
        <p:spPr>
          <a:xfrm>
            <a:off x="609600" y="67627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entral question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5BE062F-A739-604C-4249-2EC50115BF50}"/>
              </a:ext>
            </a:extLst>
          </p:cNvPr>
          <p:cNvSpPr>
            <a:spLocks noGrp="1"/>
          </p:cNvSpPr>
          <p:nvPr/>
        </p:nvSpPr>
        <p:spPr>
          <a:xfrm>
            <a:off x="1012825" y="1456497"/>
            <a:ext cx="1106805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4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8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Can we develop renewable energy resources to help sustain a thriving economy without adversely affecting the environment?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EAD6A761-AA49-9B8E-369E-EA8CD404648E}"/>
              </a:ext>
            </a:extLst>
          </p:cNvPr>
          <p:cNvSpPr>
            <a:spLocks noGrp="1"/>
          </p:cNvSpPr>
          <p:nvPr/>
        </p:nvSpPr>
        <p:spPr>
          <a:xfrm>
            <a:off x="609600" y="6145718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SCIENCE  →  ISSUES  →  SOLUTIONS  →  TAKEAWAYS</a:t>
            </a:r>
          </a:p>
        </p:txBody>
      </p:sp>
      <p:sp>
        <p:nvSpPr>
          <p:cNvPr id="10" name="SCIENCE">
            <a:extLst>
              <a:ext uri="{FF2B5EF4-FFF2-40B4-BE49-F238E27FC236}">
                <a16:creationId xmlns:a16="http://schemas.microsoft.com/office/drawing/2014/main" id="{578D3A8E-4E0C-B1E8-5B7C-AC93F8612E81}"/>
              </a:ext>
            </a:extLst>
          </p:cNvPr>
          <p:cNvSpPr>
            <a:spLocks noGrp="1"/>
          </p:cNvSpPr>
          <p:nvPr/>
        </p:nvSpPr>
        <p:spPr>
          <a:xfrm>
            <a:off x="609600" y="2954843"/>
            <a:ext cx="1745307" cy="49485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SCIENCE</a:t>
            </a:r>
          </a:p>
        </p:txBody>
      </p:sp>
      <p:sp>
        <p:nvSpPr>
          <p:cNvPr id="11" name="Where does the energy come from, and how&#10;does a power p">
            <a:extLst>
              <a:ext uri="{FF2B5EF4-FFF2-40B4-BE49-F238E27FC236}">
                <a16:creationId xmlns:a16="http://schemas.microsoft.com/office/drawing/2014/main" id="{5CC72B25-21A1-DA51-49A9-719DE8ECF7B1}"/>
              </a:ext>
            </a:extLst>
          </p:cNvPr>
          <p:cNvSpPr>
            <a:spLocks noGrp="1"/>
          </p:cNvSpPr>
          <p:nvPr/>
        </p:nvSpPr>
        <p:spPr>
          <a:xfrm>
            <a:off x="2581275" y="2954843"/>
            <a:ext cx="8450961" cy="61302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20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Can </a:t>
            </a:r>
            <a:r>
              <a:rPr lang="en-US" sz="20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renewable energy systems </a:t>
            </a:r>
            <a:r>
              <a:rPr lang="en-US" sz="20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provide the energy people need?</a:t>
            </a:r>
            <a:endParaRPr sz="2000" b="0" dirty="0">
              <a:solidFill>
                <a:srgbClr val="EAF1F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C329286-E997-3BD6-F127-62980299B13A}"/>
              </a:ext>
            </a:extLst>
          </p:cNvPr>
          <p:cNvSpPr>
            <a:spLocks noGrp="1"/>
          </p:cNvSpPr>
          <p:nvPr/>
        </p:nvSpPr>
        <p:spPr>
          <a:xfrm>
            <a:off x="609601" y="3935918"/>
            <a:ext cx="10334056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 sz="1050"/>
          </a:p>
        </p:txBody>
      </p:sp>
      <p:sp>
        <p:nvSpPr>
          <p:cNvPr id="13" name="ISSUES">
            <a:extLst>
              <a:ext uri="{FF2B5EF4-FFF2-40B4-BE49-F238E27FC236}">
                <a16:creationId xmlns:a16="http://schemas.microsoft.com/office/drawing/2014/main" id="{20E040B0-96F2-0683-E022-9611682E438F}"/>
              </a:ext>
            </a:extLst>
          </p:cNvPr>
          <p:cNvSpPr>
            <a:spLocks noGrp="1"/>
          </p:cNvSpPr>
          <p:nvPr/>
        </p:nvSpPr>
        <p:spPr>
          <a:xfrm>
            <a:off x="609600" y="4088318"/>
            <a:ext cx="1745307" cy="49485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ISSUES</a:t>
            </a:r>
          </a:p>
        </p:txBody>
      </p:sp>
      <p:sp>
        <p:nvSpPr>
          <p:cNvPr id="14" name="Which harms arise across extraction, use, and waste,&#10;an">
            <a:extLst>
              <a:ext uri="{FF2B5EF4-FFF2-40B4-BE49-F238E27FC236}">
                <a16:creationId xmlns:a16="http://schemas.microsoft.com/office/drawing/2014/main" id="{037A11EC-4714-2317-812B-AFE89FD18948}"/>
              </a:ext>
            </a:extLst>
          </p:cNvPr>
          <p:cNvSpPr>
            <a:spLocks noGrp="1"/>
          </p:cNvSpPr>
          <p:nvPr/>
        </p:nvSpPr>
        <p:spPr>
          <a:xfrm>
            <a:off x="2581275" y="4088318"/>
            <a:ext cx="8450961" cy="61302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</a:t>
            </a:r>
            <a:r>
              <a:rPr lang="en-US" sz="20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at happens to people and ecosystems along the way?</a:t>
            </a:r>
            <a:endParaRPr sz="2000" b="0" dirty="0">
              <a:solidFill>
                <a:srgbClr val="EAF1F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C2B7A801-B2A2-6693-0759-C9AEDC3B82CC}"/>
              </a:ext>
            </a:extLst>
          </p:cNvPr>
          <p:cNvSpPr>
            <a:spLocks noGrp="1"/>
          </p:cNvSpPr>
          <p:nvPr/>
        </p:nvSpPr>
        <p:spPr>
          <a:xfrm>
            <a:off x="609601" y="5069393"/>
            <a:ext cx="10334056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SOLUTIONS">
            <a:extLst>
              <a:ext uri="{FF2B5EF4-FFF2-40B4-BE49-F238E27FC236}">
                <a16:creationId xmlns:a16="http://schemas.microsoft.com/office/drawing/2014/main" id="{3A2F3364-81BE-3A03-04FB-7A52EA58AB02}"/>
              </a:ext>
            </a:extLst>
          </p:cNvPr>
          <p:cNvSpPr>
            <a:spLocks noGrp="1"/>
          </p:cNvSpPr>
          <p:nvPr/>
        </p:nvSpPr>
        <p:spPr>
          <a:xfrm>
            <a:off x="609600" y="5221793"/>
            <a:ext cx="1745307" cy="49485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SOLUTIONS</a:t>
            </a:r>
          </a:p>
        </p:txBody>
      </p:sp>
      <p:sp>
        <p:nvSpPr>
          <p:cNvPr id="17" name="Which safeguards reduce those harms, and which&#10;losses o">
            <a:extLst>
              <a:ext uri="{FF2B5EF4-FFF2-40B4-BE49-F238E27FC236}">
                <a16:creationId xmlns:a16="http://schemas.microsoft.com/office/drawing/2014/main" id="{14C8E4BE-A7C6-1D8C-6259-AC256B3CD115}"/>
              </a:ext>
            </a:extLst>
          </p:cNvPr>
          <p:cNvSpPr>
            <a:spLocks noGrp="1"/>
          </p:cNvSpPr>
          <p:nvPr/>
        </p:nvSpPr>
        <p:spPr>
          <a:xfrm>
            <a:off x="2581275" y="5221793"/>
            <a:ext cx="8450961" cy="61302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</a:t>
            </a:r>
            <a:r>
              <a:rPr lang="en-US" sz="20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at are some ways to reduce</a:t>
            </a:r>
            <a:r>
              <a:rPr sz="20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 those </a:t>
            </a:r>
            <a:r>
              <a:rPr lang="en-US" sz="200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impacts</a:t>
            </a:r>
            <a:r>
              <a:rPr sz="20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9">
            <a:extLst>
              <a:ext uri="{FF2B5EF4-FFF2-40B4-BE49-F238E27FC236}">
                <a16:creationId xmlns:a16="http://schemas.microsoft.com/office/drawing/2014/main" id="{9A8BAD72-A56C-484F-8A42-91B05093EB8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10">
            <a:extLst>
              <a:ext uri="{FF2B5EF4-FFF2-40B4-BE49-F238E27FC236}">
                <a16:creationId xmlns:a16="http://schemas.microsoft.com/office/drawing/2014/main" id="{096E21BF-BAB9-4E2D-9D45-CD2EE164BC5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Samsø: an energy system, not a single device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5883C20-2509-489F-9EC6-BD602D2B4CE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03 / 49</a:t>
            </a:r>
          </a:p>
        </p:txBody>
      </p:sp>
      <p:sp>
        <p:nvSpPr>
          <p:cNvPr id="4" name="text-11">
            <a:extLst>
              <a:ext uri="{FF2B5EF4-FFF2-40B4-BE49-F238E27FC236}">
                <a16:creationId xmlns:a16="http://schemas.microsoft.com/office/drawing/2014/main" id="{A4A980A0-5D97-4C51-A667-E7677D6845AE}"/>
              </a:ext>
            </a:extLst>
          </p:cNvPr>
          <p:cNvSpPr>
            <a:spLocks noGrp="1"/>
          </p:cNvSpPr>
          <p:nvPr/>
        </p:nvSpPr>
        <p:spPr>
          <a:xfrm>
            <a:off x="723899" y="2076452"/>
            <a:ext cx="6535774" cy="320213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Wind supplies electricity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Biomass and solar energy supply heat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Grid connections balance imports and exports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C4E25-BBFF-49AE-8132-011D1A1D5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259673" y="2076451"/>
            <a:ext cx="3732647" cy="3202132"/>
          </a:xfrm>
          <a:prstGeom prst="rect">
            <a:avLst/>
          </a:prstGeom>
        </p:spPr>
      </p:pic>
      <p:sp>
        <p:nvSpPr>
          <p:cNvPr id="6" name="text-12">
            <a:extLst>
              <a:ext uri="{FF2B5EF4-FFF2-40B4-BE49-F238E27FC236}">
                <a16:creationId xmlns:a16="http://schemas.microsoft.com/office/drawing/2014/main" id="{21E4AA7F-6315-4235-B486-79231D7F0E9F}"/>
              </a:ext>
            </a:extLst>
          </p:cNvPr>
          <p:cNvSpPr>
            <a:spLocks noGrp="1"/>
          </p:cNvSpPr>
          <p:nvPr/>
        </p:nvSpPr>
        <p:spPr>
          <a:xfrm>
            <a:off x="7259672" y="6200775"/>
            <a:ext cx="4246527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Offshore-wind photograph from the chapter opening.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3">
            <a:extLst>
              <a:ext uri="{FF2B5EF4-FFF2-40B4-BE49-F238E27FC236}">
                <a16:creationId xmlns:a16="http://schemas.microsoft.com/office/drawing/2014/main" id="{26A4A550-7616-4985-9FC5-4D173691941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14">
            <a:extLst>
              <a:ext uri="{FF2B5EF4-FFF2-40B4-BE49-F238E27FC236}">
                <a16:creationId xmlns:a16="http://schemas.microsoft.com/office/drawing/2014/main" id="{CAA3E32C-F062-42A9-9B6D-DA69AD841F4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renewable energy comes from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2745CDDF-BAB7-4923-8210-6FF170F3385B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04 / 49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2E149A-A85B-4108-92B6-A763B16F9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2049448"/>
              </p:ext>
            </p:extLst>
          </p:nvPr>
        </p:nvGraphicFramePr>
        <p:xfrm>
          <a:off x="685800" y="2133600"/>
          <a:ext cx="10820400" cy="3619500"/>
        </p:xfrm>
        <a:graphic>
          <a:graphicData uri="http://schemas.openxmlformats.org/drawingml/2006/table">
            <a:tbl>
              <a:tblPr/>
              <a:tblGrid>
                <a:gridCol w="295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Primary source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Renewable pathways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Energy we use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Sunlight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Solar, wind, river flow, waves, biomass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Electricity, heat, fuels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Earth’s internal heat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Geothermal systems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Heat and electricity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Gravitational interactions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Ocean tides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Motion and electricity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-15">
            <a:extLst>
              <a:ext uri="{FF2B5EF4-FFF2-40B4-BE49-F238E27FC236}">
                <a16:creationId xmlns:a16="http://schemas.microsoft.com/office/drawing/2014/main" id="{BF08465D-7CF9-4307-A86D-8FCBA2E5C04D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Most pathways begin with sunlight. Geothermal energy and tides have different primary sources.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6">
            <a:extLst>
              <a:ext uri="{FF2B5EF4-FFF2-40B4-BE49-F238E27FC236}">
                <a16:creationId xmlns:a16="http://schemas.microsoft.com/office/drawing/2014/main" id="{AD73A00C-7D15-4C29-8315-4830DA6CFE6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17">
            <a:extLst>
              <a:ext uri="{FF2B5EF4-FFF2-40B4-BE49-F238E27FC236}">
                <a16:creationId xmlns:a16="http://schemas.microsoft.com/office/drawing/2014/main" id="{A6D99FB6-D9E1-49E4-8770-B1633E8D3DDC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ways to use sunlight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3601F51-4185-4B75-A1AB-30CEDD896D15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05 / 49</a:t>
            </a:r>
          </a:p>
        </p:txBody>
      </p:sp>
      <p:sp>
        <p:nvSpPr>
          <p:cNvPr id="4" name="text-18">
            <a:extLst>
              <a:ext uri="{FF2B5EF4-FFF2-40B4-BE49-F238E27FC236}">
                <a16:creationId xmlns:a16="http://schemas.microsoft.com/office/drawing/2014/main" id="{10441D23-C139-45FC-AE04-34CD4C17108A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Direct heating and daylight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Concentrating solar power makes heat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Photovoltaic cells produce electricity directly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9C594-4E97-45FA-91CD-CC17068C6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962650" y="2480807"/>
            <a:ext cx="5562600" cy="3048910"/>
          </a:xfrm>
          <a:prstGeom prst="rect">
            <a:avLst/>
          </a:prstGeom>
        </p:spPr>
      </p:pic>
      <p:sp>
        <p:nvSpPr>
          <p:cNvPr id="6" name="text-19">
            <a:extLst>
              <a:ext uri="{FF2B5EF4-FFF2-40B4-BE49-F238E27FC236}">
                <a16:creationId xmlns:a16="http://schemas.microsoft.com/office/drawing/2014/main" id="{A12F0F19-817D-4F5C-BAF1-9ECE40ED9EED}"/>
              </a:ext>
            </a:extLst>
          </p:cNvPr>
          <p:cNvSpPr>
            <a:spLocks noGrp="1"/>
          </p:cNvSpPr>
          <p:nvPr/>
        </p:nvSpPr>
        <p:spPr>
          <a:xfrm>
            <a:off x="5962650" y="5676900"/>
            <a:ext cx="55435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10.5: the Oberlin atrium uses sunlight for heat and daylight.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0">
            <a:extLst>
              <a:ext uri="{FF2B5EF4-FFF2-40B4-BE49-F238E27FC236}">
                <a16:creationId xmlns:a16="http://schemas.microsoft.com/office/drawing/2014/main" id="{10B61392-665A-4F7E-ADDA-F90E9A710ED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21">
            <a:extLst>
              <a:ext uri="{FF2B5EF4-FFF2-40B4-BE49-F238E27FC236}">
                <a16:creationId xmlns:a16="http://schemas.microsoft.com/office/drawing/2014/main" id="{FC30E161-99F1-4DA3-8C4B-A5919F166F56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a photovoltaic cell produces electricity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17F2CDC-CCC6-4BE1-A7CB-12855F2B9075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06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EF8D2-AC54-4499-B231-C7112E369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761112" y="1781175"/>
            <a:ext cx="8669777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448FFB6A-2B18-4FAD-AD94-11732264E1AE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Light supplies energy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A8F7C059-A419-4110-A244-D32D17BDFF09}"/>
              </a:ext>
            </a:extLst>
          </p:cNvPr>
          <p:cNvSpPr>
            <a:spLocks noGrp="1"/>
          </p:cNvSpPr>
          <p:nvPr/>
        </p:nvSpPr>
        <p:spPr>
          <a:xfrm>
            <a:off x="436245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The junction separates charges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182495CF-8A9A-4038-9F2A-7E16F3C23CBB}"/>
              </a:ext>
            </a:extLst>
          </p:cNvPr>
          <p:cNvSpPr>
            <a:spLocks noGrp="1"/>
          </p:cNvSpPr>
          <p:nvPr/>
        </p:nvSpPr>
        <p:spPr>
          <a:xfrm>
            <a:off x="80772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The external circuit powers a load</a:t>
            </a:r>
          </a:p>
        </p:txBody>
      </p:sp>
      <p:sp>
        <p:nvSpPr>
          <p:cNvPr id="8" name="text-22">
            <a:extLst>
              <a:ext uri="{FF2B5EF4-FFF2-40B4-BE49-F238E27FC236}">
                <a16:creationId xmlns:a16="http://schemas.microsoft.com/office/drawing/2014/main" id="{26A8D5AB-7B1A-41DE-A72D-9EA91D4D1B33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10.7: absorbed light creates mobile charges, and the junction separates them to drive an external circuit.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23">
            <a:extLst>
              <a:ext uri="{FF2B5EF4-FFF2-40B4-BE49-F238E27FC236}">
                <a16:creationId xmlns:a16="http://schemas.microsoft.com/office/drawing/2014/main" id="{29102C9D-BEC3-4830-B1AF-6658C0BDF9B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24">
            <a:extLst>
              <a:ext uri="{FF2B5EF4-FFF2-40B4-BE49-F238E27FC236}">
                <a16:creationId xmlns:a16="http://schemas.microsoft.com/office/drawing/2014/main" id="{17595E1B-8935-4D2F-920E-1F372254FFE4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Experiment: does panel angle matter?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9C92D052-ABFF-48FF-BA41-BF11135F9686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07 / 49</a:t>
            </a:r>
          </a:p>
        </p:txBody>
      </p:sp>
      <p:sp>
        <p:nvSpPr>
          <p:cNvPr id="4" name="text-25">
            <a:extLst>
              <a:ext uri="{FF2B5EF4-FFF2-40B4-BE49-F238E27FC236}">
                <a16:creationId xmlns:a16="http://schemas.microsoft.com/office/drawing/2014/main" id="{522962E0-2168-49C0-8ED9-708EF31E0D2C}"/>
              </a:ext>
            </a:extLst>
          </p:cNvPr>
          <p:cNvSpPr>
            <a:spLocks noGrp="1"/>
          </p:cNvSpPr>
          <p:nvPr/>
        </p:nvSpPr>
        <p:spPr>
          <a:xfrm>
            <a:off x="762000" y="208597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Relative direct-beam power (%)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070CE069-3C66-4345-AF14-D2CA7525D0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8203264"/>
              </p:ext>
            </p:extLst>
          </p:nvPr>
        </p:nvGraphicFramePr>
        <p:xfrm>
          <a:off x="1735282" y="2552700"/>
          <a:ext cx="6170468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-26">
            <a:extLst>
              <a:ext uri="{FF2B5EF4-FFF2-40B4-BE49-F238E27FC236}">
                <a16:creationId xmlns:a16="http://schemas.microsoft.com/office/drawing/2014/main" id="{32070BE3-AE49-4012-AA13-CB91A7BCC85F}"/>
              </a:ext>
            </a:extLst>
          </p:cNvPr>
          <p:cNvSpPr>
            <a:spLocks noGrp="1"/>
          </p:cNvSpPr>
          <p:nvPr/>
        </p:nvSpPr>
        <p:spPr>
          <a:xfrm>
            <a:off x="8286750" y="21431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Predict first</a:t>
            </a:r>
          </a:p>
        </p:txBody>
      </p:sp>
      <p:sp>
        <p:nvSpPr>
          <p:cNvPr id="7" name="text-27">
            <a:extLst>
              <a:ext uri="{FF2B5EF4-FFF2-40B4-BE49-F238E27FC236}">
                <a16:creationId xmlns:a16="http://schemas.microsoft.com/office/drawing/2014/main" id="{5FCB1FCB-C8C8-4791-B947-E8B76715757A}"/>
              </a:ext>
            </a:extLst>
          </p:cNvPr>
          <p:cNvSpPr>
            <a:spLocks noGrp="1"/>
          </p:cNvSpPr>
          <p:nvPr/>
        </p:nvSpPr>
        <p:spPr>
          <a:xfrm>
            <a:off x="8286750" y="2781300"/>
            <a:ext cx="3181350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same panel turns away from a fixed beam.</a:t>
            </a:r>
          </a:p>
          <a:p>
            <a:endParaRPr sz="2175" b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Which angle captures the least power?</a:t>
            </a:r>
          </a:p>
        </p:txBody>
      </p:sp>
      <p:sp>
        <p:nvSpPr>
          <p:cNvPr id="8" name="reveal-1">
            <a:extLst>
              <a:ext uri="{FF2B5EF4-FFF2-40B4-BE49-F238E27FC236}">
                <a16:creationId xmlns:a16="http://schemas.microsoft.com/office/drawing/2014/main" id="{FE3FDDA3-377E-48F5-85AB-C62104F66E2D}"/>
              </a:ext>
            </a:extLst>
          </p:cNvPr>
          <p:cNvSpPr>
            <a:spLocks noGrp="1"/>
          </p:cNvSpPr>
          <p:nvPr/>
        </p:nvSpPr>
        <p:spPr>
          <a:xfrm>
            <a:off x="8267700" y="4905375"/>
            <a:ext cx="3181350" cy="1114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At 60°, the panel intercepts half the direct-beam power.</a:t>
            </a:r>
          </a:p>
        </p:txBody>
      </p:sp>
      <p:sp>
        <p:nvSpPr>
          <p:cNvPr id="9" name="text-28">
            <a:extLst>
              <a:ext uri="{FF2B5EF4-FFF2-40B4-BE49-F238E27FC236}">
                <a16:creationId xmlns:a16="http://schemas.microsoft.com/office/drawing/2014/main" id="{3278EC82-4BE6-4831-8C0F-176E4B9CE902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Ideal direct-beam model, not measured PV performance. Angle is measured from the panel’s perpendicular direction.</a:t>
            </a:r>
          </a:p>
        </p:txBody>
      </p:sp>
      <p:sp>
        <p:nvSpPr>
          <p:cNvPr id="11" name="text-25">
            <a:extLst>
              <a:ext uri="{FF2B5EF4-FFF2-40B4-BE49-F238E27FC236}">
                <a16:creationId xmlns:a16="http://schemas.microsoft.com/office/drawing/2014/main" id="{DC5067E2-A834-999F-EC42-BA86EB39ADBB}"/>
              </a:ext>
            </a:extLst>
          </p:cNvPr>
          <p:cNvSpPr>
            <a:spLocks noGrp="1"/>
          </p:cNvSpPr>
          <p:nvPr/>
        </p:nvSpPr>
        <p:spPr>
          <a:xfrm>
            <a:off x="3056659" y="5524500"/>
            <a:ext cx="3527714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lang="en-US" sz="165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Angle of the bean on the panel</a:t>
            </a:r>
            <a:endParaRPr sz="1650" b="0" dirty="0">
              <a:solidFill>
                <a:srgbClr val="A9BE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-25">
            <a:extLst>
              <a:ext uri="{FF2B5EF4-FFF2-40B4-BE49-F238E27FC236}">
                <a16:creationId xmlns:a16="http://schemas.microsoft.com/office/drawing/2014/main" id="{D747EDF0-45FC-37CD-68C6-F01C431A5CCF}"/>
              </a:ext>
            </a:extLst>
          </p:cNvPr>
          <p:cNvSpPr>
            <a:spLocks noGrp="1"/>
          </p:cNvSpPr>
          <p:nvPr/>
        </p:nvSpPr>
        <p:spPr>
          <a:xfrm>
            <a:off x="450273" y="3324225"/>
            <a:ext cx="1409700" cy="133090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lang="en-US" sz="1650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% of Direct Beam Power</a:t>
            </a:r>
            <a:endParaRPr sz="1650" b="0" dirty="0">
              <a:solidFill>
                <a:srgbClr val="A9BE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9">
            <a:extLst>
              <a:ext uri="{FF2B5EF4-FFF2-40B4-BE49-F238E27FC236}">
                <a16:creationId xmlns:a16="http://schemas.microsoft.com/office/drawing/2014/main" id="{984F7626-9742-4FAB-9D1A-4C989448F67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30">
            <a:extLst>
              <a:ext uri="{FF2B5EF4-FFF2-40B4-BE49-F238E27FC236}">
                <a16:creationId xmlns:a16="http://schemas.microsoft.com/office/drawing/2014/main" id="{608407A2-47D4-407F-BB8F-897360E4717E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Concentrating solar power uses a heat engine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740B6460-2046-4421-970E-38ED2C66D57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08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F3149-6FA3-4512-A58C-BCCE2C1A2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761112" y="1781175"/>
            <a:ext cx="8669777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62A69401-67C2-461C-8BC4-02A00872803E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Mirrors concentrate sunlight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1CC1A60C-BF12-4094-8D33-6E1125E9F34B}"/>
              </a:ext>
            </a:extLst>
          </p:cNvPr>
          <p:cNvSpPr>
            <a:spLocks noGrp="1"/>
          </p:cNvSpPr>
          <p:nvPr/>
        </p:nvSpPr>
        <p:spPr>
          <a:xfrm>
            <a:off x="436245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Heat transfers to a steam cycle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EFA3044E-E3C6-460A-A698-EE90FD0F85F7}"/>
              </a:ext>
            </a:extLst>
          </p:cNvPr>
          <p:cNvSpPr>
            <a:spLocks noGrp="1"/>
          </p:cNvSpPr>
          <p:nvPr/>
        </p:nvSpPr>
        <p:spPr>
          <a:xfrm>
            <a:off x="80772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A turbine drives the generator</a:t>
            </a:r>
          </a:p>
        </p:txBody>
      </p:sp>
      <p:sp>
        <p:nvSpPr>
          <p:cNvPr id="8" name="text-31">
            <a:extLst>
              <a:ext uri="{FF2B5EF4-FFF2-40B4-BE49-F238E27FC236}">
                <a16:creationId xmlns:a16="http://schemas.microsoft.com/office/drawing/2014/main" id="{F6D48AF5-A94E-4B6E-AF2D-A3AC779A6B83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10.6 and §10.8: mirrors supply heat, while a separate steam cycle drives a generator.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32">
            <a:extLst>
              <a:ext uri="{FF2B5EF4-FFF2-40B4-BE49-F238E27FC236}">
                <a16:creationId xmlns:a16="http://schemas.microsoft.com/office/drawing/2014/main" id="{B553DA86-29CE-4A6C-943A-0F2A57CCD03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33">
            <a:extLst>
              <a:ext uri="{FF2B5EF4-FFF2-40B4-BE49-F238E27FC236}">
                <a16:creationId xmlns:a16="http://schemas.microsoft.com/office/drawing/2014/main" id="{ADCDFA4C-C343-4E45-B913-FD92931589A3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wind turbine converts motion to electricity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1F32938-8AA2-4F87-8E48-7924DFDC444D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09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51406D-D48C-4545-B5AB-7A97FAF24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761112" y="1781175"/>
            <a:ext cx="8669777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8A11CCD8-1E60-4A71-A16B-03F900B626B3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Aerodynamic forces turn the rotor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0854117E-AEDC-489E-A807-C21F79A61EEE}"/>
              </a:ext>
            </a:extLst>
          </p:cNvPr>
          <p:cNvSpPr>
            <a:spLocks noGrp="1"/>
          </p:cNvSpPr>
          <p:nvPr/>
        </p:nvSpPr>
        <p:spPr>
          <a:xfrm>
            <a:off x="4114801" y="5695950"/>
            <a:ext cx="3733799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The shaft transfers mechanical energy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7EE9C8DB-D601-43C0-B620-582BFE0C1318}"/>
              </a:ext>
            </a:extLst>
          </p:cNvPr>
          <p:cNvSpPr>
            <a:spLocks noGrp="1"/>
          </p:cNvSpPr>
          <p:nvPr/>
        </p:nvSpPr>
        <p:spPr>
          <a:xfrm>
            <a:off x="80772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The generator produces electricity</a:t>
            </a:r>
          </a:p>
        </p:txBody>
      </p:sp>
      <p:sp>
        <p:nvSpPr>
          <p:cNvPr id="8" name="text-34">
            <a:extLst>
              <a:ext uri="{FF2B5EF4-FFF2-40B4-BE49-F238E27FC236}">
                <a16:creationId xmlns:a16="http://schemas.microsoft.com/office/drawing/2014/main" id="{989E03AC-22C5-4871-A5B4-E8C4543DA999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10.8: moving air turns a rotor coupled to an electrical generator.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09003B-B92C-8A54-2AD2-AA84C8DC1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32">
            <a:extLst>
              <a:ext uri="{FF2B5EF4-FFF2-40B4-BE49-F238E27FC236}">
                <a16:creationId xmlns:a16="http://schemas.microsoft.com/office/drawing/2014/main" id="{641543C6-2C29-862A-148D-232FEFC402E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33">
            <a:extLst>
              <a:ext uri="{FF2B5EF4-FFF2-40B4-BE49-F238E27FC236}">
                <a16:creationId xmlns:a16="http://schemas.microsoft.com/office/drawing/2014/main" id="{775875F5-1C73-7A08-964D-46BF1E23A292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Magnus Effect</a:t>
            </a:r>
            <a:endParaRPr sz="33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9ACFECB-C7EF-201E-D6C1-B69B631BE94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10 / 49</a:t>
            </a:r>
          </a:p>
        </p:txBody>
      </p:sp>
      <p:sp>
        <p:nvSpPr>
          <p:cNvPr id="10" name="magnus-subtitle">
            <a:extLst>
              <a:ext uri="{FF2B5EF4-FFF2-40B4-BE49-F238E27FC236}">
                <a16:creationId xmlns:a16="http://schemas.microsoft.com/office/drawing/2014/main" id="{7711DA22-5561-49CD-B2B4-EA9F4DD40911}"/>
              </a:ext>
            </a:extLst>
          </p:cNvPr>
          <p:cNvSpPr>
            <a:spLocks noGrp="1"/>
          </p:cNvSpPr>
          <p:nvPr/>
        </p:nvSpPr>
        <p:spPr>
          <a:xfrm>
            <a:off x="647700" y="1809750"/>
            <a:ext cx="10896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SPIN CHANGES THE FLOW. THE FLOW EXERTS A SIDEWAYS FORCE.</a:t>
            </a:r>
          </a:p>
        </p:txBody>
      </p:sp>
      <p:pic>
        <p:nvPicPr>
          <p:cNvPr id="11" name="magnus-animation" descr="Real smoke-tunnel experiment: airflow travels right to left around a cylinder. During rotation the wake is deflected upward and the cylinder experiences a downward Magnus force. Animation by MatSouffNC858s, CC BY-SA 4.0.">
            <a:extLst>
              <a:ext uri="{FF2B5EF4-FFF2-40B4-BE49-F238E27FC236}">
                <a16:creationId xmlns:a16="http://schemas.microsoft.com/office/drawing/2014/main" id="{DE8608F8-8636-4B71-AC9B-1BFED3E85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47768" y="2419350"/>
            <a:ext cx="7162665" cy="3854768"/>
          </a:xfrm>
          <a:prstGeom prst="rect">
            <a:avLst/>
          </a:prstGeom>
        </p:spPr>
      </p:pic>
      <p:sp>
        <p:nvSpPr>
          <p:cNvPr id="12" name="magnus-experiment">
            <a:extLst>
              <a:ext uri="{FF2B5EF4-FFF2-40B4-BE49-F238E27FC236}">
                <a16:creationId xmlns:a16="http://schemas.microsoft.com/office/drawing/2014/main" id="{F3C8B934-FA04-43AF-A51F-163FCB41C217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7162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REAL SMOKE-TUNNEL EXPERIMENT</a:t>
            </a:r>
          </a:p>
        </p:txBody>
      </p:sp>
      <p:sp>
        <p:nvSpPr>
          <p:cNvPr id="13" name="magnus-watch-label">
            <a:extLst>
              <a:ext uri="{FF2B5EF4-FFF2-40B4-BE49-F238E27FC236}">
                <a16:creationId xmlns:a16="http://schemas.microsoft.com/office/drawing/2014/main" id="{6956C948-14CA-41F7-961A-A4B9311CA971}"/>
              </a:ext>
            </a:extLst>
          </p:cNvPr>
          <p:cNvSpPr>
            <a:spLocks noGrp="1"/>
          </p:cNvSpPr>
          <p:nvPr/>
        </p:nvSpPr>
        <p:spPr>
          <a:xfrm>
            <a:off x="8191500" y="239077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Watch the smoke</a:t>
            </a:r>
          </a:p>
        </p:txBody>
      </p:sp>
      <p:sp>
        <p:nvSpPr>
          <p:cNvPr id="14" name="magnus-watch">
            <a:extLst>
              <a:ext uri="{FF2B5EF4-FFF2-40B4-BE49-F238E27FC236}">
                <a16:creationId xmlns:a16="http://schemas.microsoft.com/office/drawing/2014/main" id="{62610B3A-8700-43BE-BD49-9610A45F9AA8}"/>
              </a:ext>
            </a:extLst>
          </p:cNvPr>
          <p:cNvSpPr>
            <a:spLocks noGrp="1"/>
          </p:cNvSpPr>
          <p:nvPr/>
        </p:nvSpPr>
        <p:spPr>
          <a:xfrm>
            <a:off x="8191500" y="2924175"/>
            <a:ext cx="333375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Air enters from the right.</a:t>
            </a:r>
          </a:p>
          <a:p>
            <a:endParaRPr sz="2025" b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When the cylinder spins,</a:t>
            </a:r>
          </a:p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wake bends upward.</a:t>
            </a:r>
          </a:p>
        </p:txBody>
      </p:sp>
      <p:sp>
        <p:nvSpPr>
          <p:cNvPr id="15" name="magnus-force-label">
            <a:extLst>
              <a:ext uri="{FF2B5EF4-FFF2-40B4-BE49-F238E27FC236}">
                <a16:creationId xmlns:a16="http://schemas.microsoft.com/office/drawing/2014/main" id="{60876C0B-1E03-4F54-BE01-84D988D68D3C}"/>
              </a:ext>
            </a:extLst>
          </p:cNvPr>
          <p:cNvSpPr>
            <a:spLocks noGrp="1"/>
          </p:cNvSpPr>
          <p:nvPr/>
        </p:nvSpPr>
        <p:spPr>
          <a:xfrm>
            <a:off x="8191500" y="4638675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Air up. Force down.</a:t>
            </a:r>
          </a:p>
        </p:txBody>
      </p:sp>
      <p:sp>
        <p:nvSpPr>
          <p:cNvPr id="16" name="magnus-force">
            <a:extLst>
              <a:ext uri="{FF2B5EF4-FFF2-40B4-BE49-F238E27FC236}">
                <a16:creationId xmlns:a16="http://schemas.microsoft.com/office/drawing/2014/main" id="{24CD233C-D872-4257-925B-EE50F42DFA69}"/>
              </a:ext>
            </a:extLst>
          </p:cNvPr>
          <p:cNvSpPr>
            <a:spLocks noGrp="1"/>
          </p:cNvSpPr>
          <p:nvPr/>
        </p:nvSpPr>
        <p:spPr>
          <a:xfrm>
            <a:off x="8191500" y="5133975"/>
            <a:ext cx="33337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sideways force is</a:t>
            </a:r>
          </a:p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Magnus effect.</a:t>
            </a:r>
          </a:p>
        </p:txBody>
      </p:sp>
      <p:sp>
        <p:nvSpPr>
          <p:cNvPr id="17" name="magnus-credit">
            <a:extLst>
              <a:ext uri="{FF2B5EF4-FFF2-40B4-BE49-F238E27FC236}">
                <a16:creationId xmlns:a16="http://schemas.microsoft.com/office/drawing/2014/main" id="{A36CF008-5F22-4FB2-84E3-10964D596DA8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8966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Animation: MatSouffNC858s · Wikimedia Commons · CC BY-SA 4.0</a:t>
            </a:r>
          </a:p>
        </p:txBody>
      </p:sp>
    </p:spTree>
    <p:extLst>
      <p:ext uri="{BB962C8B-B14F-4D97-AF65-F5344CB8AC3E}">
        <p14:creationId xmlns:p14="http://schemas.microsoft.com/office/powerpoint/2010/main" val="415664765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35">
            <a:extLst>
              <a:ext uri="{FF2B5EF4-FFF2-40B4-BE49-F238E27FC236}">
                <a16:creationId xmlns:a16="http://schemas.microsoft.com/office/drawing/2014/main" id="{010A4E49-89AE-41EF-9490-C1028FB406F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36">
            <a:extLst>
              <a:ext uri="{FF2B5EF4-FFF2-40B4-BE49-F238E27FC236}">
                <a16:creationId xmlns:a16="http://schemas.microsoft.com/office/drawing/2014/main" id="{D5E842A9-31DF-4D55-97A2-17893FC3CB8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 breezes reverse as land heats and cools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EE65C98-37AA-43DF-A838-CB92D81D501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11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79E25-F298-4D4D-A667-A90592123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985642" y="2000250"/>
            <a:ext cx="8220715" cy="300990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9CE659A6-3847-4491-A944-25ED392F5044}"/>
              </a:ext>
            </a:extLst>
          </p:cNvPr>
          <p:cNvSpPr>
            <a:spLocks noGrp="1"/>
          </p:cNvSpPr>
          <p:nvPr/>
        </p:nvSpPr>
        <p:spPr>
          <a:xfrm>
            <a:off x="723900" y="51339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DAY  •  Near-surface air moves from sea to land.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B3154723-F4EE-4C25-911A-9E2D68E4B4FC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NIGHT  •  Near-surface flow can reverse toward the sea.</a:t>
            </a:r>
          </a:p>
        </p:txBody>
      </p:sp>
      <p:sp>
        <p:nvSpPr>
          <p:cNvPr id="7" name="text-37">
            <a:extLst>
              <a:ext uri="{FF2B5EF4-FFF2-40B4-BE49-F238E27FC236}">
                <a16:creationId xmlns:a16="http://schemas.microsoft.com/office/drawing/2014/main" id="{9DE16BFB-5A43-4A7C-B78F-96A407CAB20E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10.9: different heating and cooling rates produce daily changes in coastal air circulation.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38">
            <a:extLst>
              <a:ext uri="{FF2B5EF4-FFF2-40B4-BE49-F238E27FC236}">
                <a16:creationId xmlns:a16="http://schemas.microsoft.com/office/drawing/2014/main" id="{06ABC8EF-2CFC-449E-AA30-C5F824EC6D2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39">
            <a:extLst>
              <a:ext uri="{FF2B5EF4-FFF2-40B4-BE49-F238E27FC236}">
                <a16:creationId xmlns:a16="http://schemas.microsoft.com/office/drawing/2014/main" id="{1F8B90EA-A404-4FE6-9DA3-6093FAE97B8C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Hydropower uses a height difference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75A61BE-2530-438C-A414-1160B52E5906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12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07082-8936-401B-B27D-67F198E0A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751315" y="1781175"/>
            <a:ext cx="8689370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1746A1CC-53BB-4EAB-9EB4-85EB858965A7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Water enters the penstock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5ACA5659-6086-4222-9925-933CE31226B1}"/>
              </a:ext>
            </a:extLst>
          </p:cNvPr>
          <p:cNvSpPr>
            <a:spLocks noGrp="1"/>
          </p:cNvSpPr>
          <p:nvPr/>
        </p:nvSpPr>
        <p:spPr>
          <a:xfrm>
            <a:off x="436245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Flow turns the turbine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D3607B04-8B4D-4B36-9E1E-7040424055B2}"/>
              </a:ext>
            </a:extLst>
          </p:cNvPr>
          <p:cNvSpPr>
            <a:spLocks noGrp="1"/>
          </p:cNvSpPr>
          <p:nvPr/>
        </p:nvSpPr>
        <p:spPr>
          <a:xfrm>
            <a:off x="7848600" y="5695950"/>
            <a:ext cx="37147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Water returns to the downstream river</a:t>
            </a:r>
          </a:p>
        </p:txBody>
      </p:sp>
      <p:sp>
        <p:nvSpPr>
          <p:cNvPr id="8" name="text-40">
            <a:extLst>
              <a:ext uri="{FF2B5EF4-FFF2-40B4-BE49-F238E27FC236}">
                <a16:creationId xmlns:a16="http://schemas.microsoft.com/office/drawing/2014/main" id="{EAAC6411-79D5-4CCE-AFB9-5C4E7BAB40A1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10.12: water loses gravitational potential energy as it passes through a turbine.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41">
            <a:extLst>
              <a:ext uri="{FF2B5EF4-FFF2-40B4-BE49-F238E27FC236}">
                <a16:creationId xmlns:a16="http://schemas.microsoft.com/office/drawing/2014/main" id="{9C4EB159-BFAC-4836-9C65-F7E2829486E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42">
            <a:extLst>
              <a:ext uri="{FF2B5EF4-FFF2-40B4-BE49-F238E27FC236}">
                <a16:creationId xmlns:a16="http://schemas.microsoft.com/office/drawing/2014/main" id="{7C71BDF9-6AA0-4EB6-BBE2-150628EE57EF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Experiment: doubling the water drop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CDBF4EC-83E7-4EFC-970B-BCBF80BB000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13 / 49</a:t>
            </a:r>
          </a:p>
        </p:txBody>
      </p:sp>
      <p:sp>
        <p:nvSpPr>
          <p:cNvPr id="4" name="text-43">
            <a:extLst>
              <a:ext uri="{FF2B5EF4-FFF2-40B4-BE49-F238E27FC236}">
                <a16:creationId xmlns:a16="http://schemas.microsoft.com/office/drawing/2014/main" id="{388E1B9F-8FCB-4219-8FF2-55A69A04CAAB}"/>
              </a:ext>
            </a:extLst>
          </p:cNvPr>
          <p:cNvSpPr>
            <a:spLocks noGrp="1"/>
          </p:cNvSpPr>
          <p:nvPr/>
        </p:nvSpPr>
        <p:spPr>
          <a:xfrm>
            <a:off x="762000" y="208597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Calculated electrical power (kW)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A78E1027-2028-4E6E-BA46-51AC88FF5653}"/>
              </a:ext>
            </a:extLst>
          </p:cNvPr>
          <p:cNvGraphicFramePr/>
          <p:nvPr/>
        </p:nvGraphicFramePr>
        <p:xfrm>
          <a:off x="666750" y="2552700"/>
          <a:ext cx="723900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-44">
            <a:extLst>
              <a:ext uri="{FF2B5EF4-FFF2-40B4-BE49-F238E27FC236}">
                <a16:creationId xmlns:a16="http://schemas.microsoft.com/office/drawing/2014/main" id="{8F69F5AC-811F-4D61-95C7-67224BE039C7}"/>
              </a:ext>
            </a:extLst>
          </p:cNvPr>
          <p:cNvSpPr>
            <a:spLocks noGrp="1"/>
          </p:cNvSpPr>
          <p:nvPr/>
        </p:nvSpPr>
        <p:spPr>
          <a:xfrm>
            <a:off x="8267700" y="2143125"/>
            <a:ext cx="323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Hold flow constant</a:t>
            </a:r>
          </a:p>
        </p:txBody>
      </p:sp>
      <p:sp>
        <p:nvSpPr>
          <p:cNvPr id="7" name="text-45">
            <a:extLst>
              <a:ext uri="{FF2B5EF4-FFF2-40B4-BE49-F238E27FC236}">
                <a16:creationId xmlns:a16="http://schemas.microsoft.com/office/drawing/2014/main" id="{A6A52B1B-BB7D-4FA5-BD8C-176266F9E863}"/>
              </a:ext>
            </a:extLst>
          </p:cNvPr>
          <p:cNvSpPr>
            <a:spLocks noGrp="1"/>
          </p:cNvSpPr>
          <p:nvPr/>
        </p:nvSpPr>
        <p:spPr>
          <a:xfrm>
            <a:off x="8267700" y="3048000"/>
            <a:ext cx="3209925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What happens to power when the height difference doubles?</a:t>
            </a:r>
          </a:p>
        </p:txBody>
      </p:sp>
      <p:sp>
        <p:nvSpPr>
          <p:cNvPr id="8" name="reveal-1">
            <a:extLst>
              <a:ext uri="{FF2B5EF4-FFF2-40B4-BE49-F238E27FC236}">
                <a16:creationId xmlns:a16="http://schemas.microsoft.com/office/drawing/2014/main" id="{4D9561A2-4F89-41E9-AC6A-06D205D474EE}"/>
              </a:ext>
            </a:extLst>
          </p:cNvPr>
          <p:cNvSpPr>
            <a:spLocks noGrp="1"/>
          </p:cNvSpPr>
          <p:nvPr/>
        </p:nvSpPr>
        <p:spPr>
          <a:xfrm>
            <a:off x="8267700" y="4552950"/>
            <a:ext cx="3209925" cy="144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Twice the head gives twice the power, if flow and efficiency stay constant.</a:t>
            </a:r>
          </a:p>
        </p:txBody>
      </p:sp>
      <p:sp>
        <p:nvSpPr>
          <p:cNvPr id="9" name="text-46">
            <a:extLst>
              <a:ext uri="{FF2B5EF4-FFF2-40B4-BE49-F238E27FC236}">
                <a16:creationId xmlns:a16="http://schemas.microsoft.com/office/drawing/2014/main" id="{9909BC33-901F-4941-A416-493E9F8288A2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Calculated classroom example: flow = 1 m³/s, efficiency = 80%, water density = 1,000 kg/m³.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47">
            <a:extLst>
              <a:ext uri="{FF2B5EF4-FFF2-40B4-BE49-F238E27FC236}">
                <a16:creationId xmlns:a16="http://schemas.microsoft.com/office/drawing/2014/main" id="{647646A8-CB05-49BB-9F7D-E976AF6638A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48">
            <a:extLst>
              <a:ext uri="{FF2B5EF4-FFF2-40B4-BE49-F238E27FC236}">
                <a16:creationId xmlns:a16="http://schemas.microsoft.com/office/drawing/2014/main" id="{1FA1AB43-2E99-4BA3-A56B-B3CBCA55C6F4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Tides and waves have different energy sources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2F8EABC-CA48-4CF8-B62B-7168B01B4873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14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2CA73-5638-42F6-8C67-010E2EC2C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333012" y="2266950"/>
            <a:ext cx="3944327" cy="2857500"/>
          </a:xfrm>
          <a:prstGeom prst="rect">
            <a:avLst/>
          </a:prstGeom>
        </p:spPr>
      </p:pic>
      <p:sp>
        <p:nvSpPr>
          <p:cNvPr id="5" name="text-49">
            <a:extLst>
              <a:ext uri="{FF2B5EF4-FFF2-40B4-BE49-F238E27FC236}">
                <a16:creationId xmlns:a16="http://schemas.microsoft.com/office/drawing/2014/main" id="{E5F934FF-8C38-41D7-8363-956DB97628F8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Low tide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68CAE-E063-4B17-B82A-2C7576E72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9886" y="2266950"/>
            <a:ext cx="4033878" cy="2857500"/>
          </a:xfrm>
          <a:prstGeom prst="rect">
            <a:avLst/>
          </a:prstGeom>
        </p:spPr>
      </p:pic>
      <p:sp>
        <p:nvSpPr>
          <p:cNvPr id="7" name="text-50">
            <a:extLst>
              <a:ext uri="{FF2B5EF4-FFF2-40B4-BE49-F238E27FC236}">
                <a16:creationId xmlns:a16="http://schemas.microsoft.com/office/drawing/2014/main" id="{58E8F702-3BA0-4282-99A6-238CAC81C078}"/>
              </a:ext>
            </a:extLst>
          </p:cNvPr>
          <p:cNvSpPr>
            <a:spLocks noGrp="1"/>
          </p:cNvSpPr>
          <p:nvPr/>
        </p:nvSpPr>
        <p:spPr>
          <a:xfrm>
            <a:off x="622935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High tide</a:t>
            </a:r>
          </a:p>
        </p:txBody>
      </p:sp>
      <p:sp>
        <p:nvSpPr>
          <p:cNvPr id="8" name="text-51">
            <a:extLst>
              <a:ext uri="{FF2B5EF4-FFF2-40B4-BE49-F238E27FC236}">
                <a16:creationId xmlns:a16="http://schemas.microsoft.com/office/drawing/2014/main" id="{C9B7CF44-3535-46FF-B6A4-7294913098C8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08394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Tides follow gravitational cycles. Most surface waves gain energy from wind.</a:t>
            </a:r>
          </a:p>
        </p:txBody>
      </p:sp>
      <p:sp>
        <p:nvSpPr>
          <p:cNvPr id="9" name="text-52">
            <a:extLst>
              <a:ext uri="{FF2B5EF4-FFF2-40B4-BE49-F238E27FC236}">
                <a16:creationId xmlns:a16="http://schemas.microsoft.com/office/drawing/2014/main" id="{F06A244B-78F5-41C7-8175-88817C3356F1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10.14: low and high tide at Hopewell Rocks, Bay of Fundy.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53">
            <a:extLst>
              <a:ext uri="{FF2B5EF4-FFF2-40B4-BE49-F238E27FC236}">
                <a16:creationId xmlns:a16="http://schemas.microsoft.com/office/drawing/2014/main" id="{2B006861-4A1A-43AD-A929-E6425467E8A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54">
            <a:extLst>
              <a:ext uri="{FF2B5EF4-FFF2-40B4-BE49-F238E27FC236}">
                <a16:creationId xmlns:a16="http://schemas.microsoft.com/office/drawing/2014/main" id="{03C2547E-FAED-4997-B160-54D9B8C186B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Geothermal energy transfers Earth’s heat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9B22AF16-58B7-41CF-BDFC-EC7D9CA39BF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15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495EC-4BE0-4D39-992B-107C1919D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763442" y="1781175"/>
            <a:ext cx="8665115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6DD74CC8-9C68-47D0-8E24-0913E53ED7E4}"/>
              </a:ext>
            </a:extLst>
          </p:cNvPr>
          <p:cNvSpPr>
            <a:spLocks noGrp="1"/>
          </p:cNvSpPr>
          <p:nvPr/>
        </p:nvSpPr>
        <p:spPr>
          <a:xfrm>
            <a:off x="155864" y="5695950"/>
            <a:ext cx="3418609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Hot water brings heat to the surface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77C7A88B-B607-4930-A63D-A6AEEFA300FE}"/>
              </a:ext>
            </a:extLst>
          </p:cNvPr>
          <p:cNvSpPr>
            <a:spLocks noGrp="1"/>
          </p:cNvSpPr>
          <p:nvPr/>
        </p:nvSpPr>
        <p:spPr>
          <a:xfrm>
            <a:off x="3574473" y="5695950"/>
            <a:ext cx="4177145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A second fluid vaporizes and drives a turbine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A09A1979-B633-4C11-A42D-BE3EFD5327E8}"/>
              </a:ext>
            </a:extLst>
          </p:cNvPr>
          <p:cNvSpPr>
            <a:spLocks noGrp="1"/>
          </p:cNvSpPr>
          <p:nvPr/>
        </p:nvSpPr>
        <p:spPr>
          <a:xfrm>
            <a:off x="7751618" y="5695950"/>
            <a:ext cx="4440382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Cooled geothermal water returns underground</a:t>
            </a:r>
          </a:p>
        </p:txBody>
      </p:sp>
      <p:sp>
        <p:nvSpPr>
          <p:cNvPr id="8" name="text-55">
            <a:extLst>
              <a:ext uri="{FF2B5EF4-FFF2-40B4-BE49-F238E27FC236}">
                <a16:creationId xmlns:a16="http://schemas.microsoft.com/office/drawing/2014/main" id="{48E31539-C461-46BE-8467-6B19A5FA901B}"/>
              </a:ext>
            </a:extLst>
          </p:cNvPr>
          <p:cNvSpPr>
            <a:spLocks noGrp="1"/>
          </p:cNvSpPr>
          <p:nvPr/>
        </p:nvSpPr>
        <p:spPr>
          <a:xfrm>
            <a:off x="155865" y="6200775"/>
            <a:ext cx="11350336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10.19: a binary-cycle plant transfers geothermal heat to a separate working fluid.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56">
            <a:extLst>
              <a:ext uri="{FF2B5EF4-FFF2-40B4-BE49-F238E27FC236}">
                <a16:creationId xmlns:a16="http://schemas.microsoft.com/office/drawing/2014/main" id="{A3C4A73E-9F0F-42C2-A6E5-3B73D27C1C3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57">
            <a:extLst>
              <a:ext uri="{FF2B5EF4-FFF2-40B4-BE49-F238E27FC236}">
                <a16:creationId xmlns:a16="http://schemas.microsoft.com/office/drawing/2014/main" id="{B08E6887-5E69-4009-B8C3-A6B33E28223B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Biomass stores energy in chemical bonds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E75EB03-665E-4FE0-8419-80E758D9FE2B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16 / 49</a:t>
            </a:r>
          </a:p>
        </p:txBody>
      </p:sp>
      <p:sp>
        <p:nvSpPr>
          <p:cNvPr id="4" name="text-58">
            <a:extLst>
              <a:ext uri="{FF2B5EF4-FFF2-40B4-BE49-F238E27FC236}">
                <a16:creationId xmlns:a16="http://schemas.microsoft.com/office/drawing/2014/main" id="{86A5648A-D92F-4594-82C9-90F812272021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Wood and other biomass can burn directly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Sugars and starches can become ethanol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Oils and fats can become biodiesel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7093A-75DA-462F-AACE-339E2A266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962650" y="2095713"/>
            <a:ext cx="5562600" cy="3819099"/>
          </a:xfrm>
          <a:prstGeom prst="rect">
            <a:avLst/>
          </a:prstGeom>
        </p:spPr>
      </p:pic>
      <p:sp>
        <p:nvSpPr>
          <p:cNvPr id="6" name="text-59">
            <a:extLst>
              <a:ext uri="{FF2B5EF4-FFF2-40B4-BE49-F238E27FC236}">
                <a16:creationId xmlns:a16="http://schemas.microsoft.com/office/drawing/2014/main" id="{8CB4451D-95EA-4370-A25F-BD063688977E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10.35</a:t>
            </a:r>
            <a:r>
              <a:rPr lang="en-US"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, excerpt</a:t>
            </a: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: harvested corn is one possible biofuel feedstock.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60">
            <a:extLst>
              <a:ext uri="{FF2B5EF4-FFF2-40B4-BE49-F238E27FC236}">
                <a16:creationId xmlns:a16="http://schemas.microsoft.com/office/drawing/2014/main" id="{35D8F466-1888-4CE4-ADD7-39D181A5463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61">
            <a:extLst>
              <a:ext uri="{FF2B5EF4-FFF2-40B4-BE49-F238E27FC236}">
                <a16:creationId xmlns:a16="http://schemas.microsoft.com/office/drawing/2014/main" id="{33266B3B-A2AD-4D9D-A075-9F604386156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Cellulosic ethanol requires an extra breakdown step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FDFB146-8486-4784-975F-6309CD904E4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17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9CFC81-90C0-49B8-B27C-0323B1C9D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65569" y="1781175"/>
            <a:ext cx="9860861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DDB4EE72-D032-4D25-813A-81694539CDA4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Cellulose contains linked sugar units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9E1C9E1C-4233-43AD-AD4F-E1DE699DE986}"/>
              </a:ext>
            </a:extLst>
          </p:cNvPr>
          <p:cNvSpPr>
            <a:spLocks noGrp="1"/>
          </p:cNvSpPr>
          <p:nvPr/>
        </p:nvSpPr>
        <p:spPr>
          <a:xfrm>
            <a:off x="436245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Enzymes make sugars accessible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C6B411D5-BD6A-4965-B131-18A3B4232306}"/>
              </a:ext>
            </a:extLst>
          </p:cNvPr>
          <p:cNvSpPr>
            <a:spLocks noGrp="1"/>
          </p:cNvSpPr>
          <p:nvPr/>
        </p:nvSpPr>
        <p:spPr>
          <a:xfrm>
            <a:off x="80772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Microbes ferment the sugars</a:t>
            </a:r>
          </a:p>
        </p:txBody>
      </p:sp>
      <p:sp>
        <p:nvSpPr>
          <p:cNvPr id="8" name="text-62">
            <a:extLst>
              <a:ext uri="{FF2B5EF4-FFF2-40B4-BE49-F238E27FC236}">
                <a16:creationId xmlns:a16="http://schemas.microsoft.com/office/drawing/2014/main" id="{8E005467-C48B-49AF-90EC-2FB3C66F333F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10.23: pretreatment and enzymes release sugars before fermentation and ethanol recovery.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63">
            <a:extLst>
              <a:ext uri="{FF2B5EF4-FFF2-40B4-BE49-F238E27FC236}">
                <a16:creationId xmlns:a16="http://schemas.microsoft.com/office/drawing/2014/main" id="{1EAADA28-7EAC-42BC-838B-33FF09CFFAE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64">
            <a:extLst>
              <a:ext uri="{FF2B5EF4-FFF2-40B4-BE49-F238E27FC236}">
                <a16:creationId xmlns:a16="http://schemas.microsoft.com/office/drawing/2014/main" id="{70C1210E-573F-4B6A-9EDF-16BB61F5A293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Quick quiz: which examples use a turbine?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56B8EADD-1942-42ED-B419-F24E800A711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18 / 49</a:t>
            </a:r>
          </a:p>
        </p:txBody>
      </p:sp>
      <p:sp>
        <p:nvSpPr>
          <p:cNvPr id="4" name="text-65">
            <a:extLst>
              <a:ext uri="{FF2B5EF4-FFF2-40B4-BE49-F238E27FC236}">
                <a16:creationId xmlns:a16="http://schemas.microsoft.com/office/drawing/2014/main" id="{C8F25C18-8AE2-4ED4-BB09-42823C596C73}"/>
              </a:ext>
            </a:extLst>
          </p:cNvPr>
          <p:cNvSpPr>
            <a:spLocks noGrp="1"/>
          </p:cNvSpPr>
          <p:nvPr/>
        </p:nvSpPr>
        <p:spPr>
          <a:xfrm>
            <a:off x="714375" y="2114550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66">
            <a:extLst>
              <a:ext uri="{FF2B5EF4-FFF2-40B4-BE49-F238E27FC236}">
                <a16:creationId xmlns:a16="http://schemas.microsoft.com/office/drawing/2014/main" id="{78772B93-7636-4B49-8758-ADAD77FBEB02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Photovoltaic solar electricity</a:t>
            </a:r>
          </a:p>
        </p:txBody>
      </p:sp>
      <p:sp>
        <p:nvSpPr>
          <p:cNvPr id="6" name="reveal-0">
            <a:extLst>
              <a:ext uri="{FF2B5EF4-FFF2-40B4-BE49-F238E27FC236}">
                <a16:creationId xmlns:a16="http://schemas.microsoft.com/office/drawing/2014/main" id="{DE807AAB-B28B-40D5-A806-64324601216A}"/>
              </a:ext>
            </a:extLst>
          </p:cNvPr>
          <p:cNvSpPr>
            <a:spLocks noGrp="1"/>
          </p:cNvSpPr>
          <p:nvPr/>
        </p:nvSpPr>
        <p:spPr>
          <a:xfrm>
            <a:off x="1428750" y="2600325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No. A semiconductor converts light directly.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811B6B6-6BD1-435B-B7A9-D71915DECF09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990600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67">
            <a:extLst>
              <a:ext uri="{FF2B5EF4-FFF2-40B4-BE49-F238E27FC236}">
                <a16:creationId xmlns:a16="http://schemas.microsoft.com/office/drawing/2014/main" id="{DD886CE8-B476-4842-9D56-00608EF4A679}"/>
              </a:ext>
            </a:extLst>
          </p:cNvPr>
          <p:cNvSpPr>
            <a:spLocks noGrp="1"/>
          </p:cNvSpPr>
          <p:nvPr/>
        </p:nvSpPr>
        <p:spPr>
          <a:xfrm>
            <a:off x="714375" y="3400425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68">
            <a:extLst>
              <a:ext uri="{FF2B5EF4-FFF2-40B4-BE49-F238E27FC236}">
                <a16:creationId xmlns:a16="http://schemas.microsoft.com/office/drawing/2014/main" id="{DFD039C6-E960-490A-A189-1781E52657AD}"/>
              </a:ext>
            </a:extLst>
          </p:cNvPr>
          <p:cNvSpPr>
            <a:spLocks noGrp="1"/>
          </p:cNvSpPr>
          <p:nvPr/>
        </p:nvSpPr>
        <p:spPr>
          <a:xfrm>
            <a:off x="1428750" y="3400425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Concentrating solar electricity</a:t>
            </a:r>
          </a:p>
        </p:txBody>
      </p:sp>
      <p:sp>
        <p:nvSpPr>
          <p:cNvPr id="10" name="reveal-1">
            <a:extLst>
              <a:ext uri="{FF2B5EF4-FFF2-40B4-BE49-F238E27FC236}">
                <a16:creationId xmlns:a16="http://schemas.microsoft.com/office/drawing/2014/main" id="{D7820848-FFC6-4A0D-A2C2-7C23DBB47519}"/>
              </a:ext>
            </a:extLst>
          </p:cNvPr>
          <p:cNvSpPr>
            <a:spLocks noGrp="1"/>
          </p:cNvSpPr>
          <p:nvPr/>
        </p:nvSpPr>
        <p:spPr>
          <a:xfrm>
            <a:off x="1428750" y="388620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Yes. In our example, a steam turbine drives a generator.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13689B7-411F-4447-9617-E1D01388EB58}"/>
              </a:ext>
            </a:extLst>
          </p:cNvPr>
          <p:cNvSpPr>
            <a:spLocks noGrp="1"/>
          </p:cNvSpPr>
          <p:nvPr/>
        </p:nvSpPr>
        <p:spPr>
          <a:xfrm>
            <a:off x="1428750" y="4572000"/>
            <a:ext cx="990600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69">
            <a:extLst>
              <a:ext uri="{FF2B5EF4-FFF2-40B4-BE49-F238E27FC236}">
                <a16:creationId xmlns:a16="http://schemas.microsoft.com/office/drawing/2014/main" id="{EC882F0C-8C4C-4A00-A2F2-3AAF7D49B111}"/>
              </a:ext>
            </a:extLst>
          </p:cNvPr>
          <p:cNvSpPr>
            <a:spLocks noGrp="1"/>
          </p:cNvSpPr>
          <p:nvPr/>
        </p:nvSpPr>
        <p:spPr>
          <a:xfrm>
            <a:off x="714375" y="4686300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70">
            <a:extLst>
              <a:ext uri="{FF2B5EF4-FFF2-40B4-BE49-F238E27FC236}">
                <a16:creationId xmlns:a16="http://schemas.microsoft.com/office/drawing/2014/main" id="{114476FF-978C-49EB-BE6A-89C3A781715A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Hydroelectric power</a:t>
            </a:r>
          </a:p>
        </p:txBody>
      </p:sp>
      <p:sp>
        <p:nvSpPr>
          <p:cNvPr id="14" name="reveal-2">
            <a:extLst>
              <a:ext uri="{FF2B5EF4-FFF2-40B4-BE49-F238E27FC236}">
                <a16:creationId xmlns:a16="http://schemas.microsoft.com/office/drawing/2014/main" id="{F4E9489E-36FD-4DAD-AA76-B101141E663A}"/>
              </a:ext>
            </a:extLst>
          </p:cNvPr>
          <p:cNvSpPr>
            <a:spLocks noGrp="1"/>
          </p:cNvSpPr>
          <p:nvPr/>
        </p:nvSpPr>
        <p:spPr>
          <a:xfrm>
            <a:off x="1428750" y="5172075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Yes. Moving water turns the turbine.</a:t>
            </a:r>
          </a:p>
        </p:txBody>
      </p:sp>
      <p:sp>
        <p:nvSpPr>
          <p:cNvPr id="15" name="text-71">
            <a:extLst>
              <a:ext uri="{FF2B5EF4-FFF2-40B4-BE49-F238E27FC236}">
                <a16:creationId xmlns:a16="http://schemas.microsoft.com/office/drawing/2014/main" id="{7704595E-FEAE-4A06-804F-D193C91F1338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Discuss each pathway before revealing its answer.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72">
            <a:extLst>
              <a:ext uri="{FF2B5EF4-FFF2-40B4-BE49-F238E27FC236}">
                <a16:creationId xmlns:a16="http://schemas.microsoft.com/office/drawing/2014/main" id="{E2DB5DFB-EB22-4515-A933-5E136B39663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73">
            <a:extLst>
              <a:ext uri="{FF2B5EF4-FFF2-40B4-BE49-F238E27FC236}">
                <a16:creationId xmlns:a16="http://schemas.microsoft.com/office/drawing/2014/main" id="{97E79430-375D-4DC0-9091-0C75B5967593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Science summary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7BD48D6C-D61A-4382-9842-807BCEC2E3EB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19 / 49</a:t>
            </a:r>
          </a:p>
        </p:txBody>
      </p:sp>
      <p:sp>
        <p:nvSpPr>
          <p:cNvPr id="4" name="text-74">
            <a:extLst>
              <a:ext uri="{FF2B5EF4-FFF2-40B4-BE49-F238E27FC236}">
                <a16:creationId xmlns:a16="http://schemas.microsoft.com/office/drawing/2014/main" id="{90A0CD13-4AB6-4537-8AF3-8B527844BBD1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0193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10.1</a:t>
            </a:r>
          </a:p>
        </p:txBody>
      </p:sp>
      <p:sp>
        <p:nvSpPr>
          <p:cNvPr id="5" name="text-75">
            <a:extLst>
              <a:ext uri="{FF2B5EF4-FFF2-40B4-BE49-F238E27FC236}">
                <a16:creationId xmlns:a16="http://schemas.microsoft.com/office/drawing/2014/main" id="{57716F73-EC24-4EB3-9151-94EB1C232A13}"/>
              </a:ext>
            </a:extLst>
          </p:cNvPr>
          <p:cNvSpPr>
            <a:spLocks noGrp="1"/>
          </p:cNvSpPr>
          <p:nvPr/>
        </p:nvSpPr>
        <p:spPr>
          <a:xfrm>
            <a:off x="2943225" y="2190750"/>
            <a:ext cx="8486775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Solar energy can provide heat or generate electricity.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Photovoltaics and concentrating solar use different mechanisms.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600C948-AD8D-4D45-AAD1-5EA6A6A00305}"/>
              </a:ext>
            </a:extLst>
          </p:cNvPr>
          <p:cNvSpPr>
            <a:spLocks noGrp="1"/>
          </p:cNvSpPr>
          <p:nvPr/>
        </p:nvSpPr>
        <p:spPr>
          <a:xfrm>
            <a:off x="723900" y="33432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76">
            <a:extLst>
              <a:ext uri="{FF2B5EF4-FFF2-40B4-BE49-F238E27FC236}">
                <a16:creationId xmlns:a16="http://schemas.microsoft.com/office/drawing/2014/main" id="{B48D7AAC-65C0-4F97-AA3E-3F018DCEC39E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20193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10.2</a:t>
            </a:r>
          </a:p>
        </p:txBody>
      </p:sp>
      <p:sp>
        <p:nvSpPr>
          <p:cNvPr id="8" name="text-77">
            <a:extLst>
              <a:ext uri="{FF2B5EF4-FFF2-40B4-BE49-F238E27FC236}">
                <a16:creationId xmlns:a16="http://schemas.microsoft.com/office/drawing/2014/main" id="{3808FB94-3947-4EE8-8F31-0B4E168BF31A}"/>
              </a:ext>
            </a:extLst>
          </p:cNvPr>
          <p:cNvSpPr>
            <a:spLocks noGrp="1"/>
          </p:cNvSpPr>
          <p:nvPr/>
        </p:nvSpPr>
        <p:spPr>
          <a:xfrm>
            <a:off x="2943225" y="3390900"/>
            <a:ext cx="8486775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Wind and water supply mechanical energy.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Geothermal systems use Earth’s internal heat.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8F5288C-0D61-4403-8930-F490290688BB}"/>
              </a:ext>
            </a:extLst>
          </p:cNvPr>
          <p:cNvSpPr>
            <a:spLocks noGrp="1"/>
          </p:cNvSpPr>
          <p:nvPr/>
        </p:nvSpPr>
        <p:spPr>
          <a:xfrm>
            <a:off x="723900" y="454342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78">
            <a:extLst>
              <a:ext uri="{FF2B5EF4-FFF2-40B4-BE49-F238E27FC236}">
                <a16:creationId xmlns:a16="http://schemas.microsoft.com/office/drawing/2014/main" id="{10232AC3-FDCD-436D-8F34-F870BAD62369}"/>
              </a:ext>
            </a:extLst>
          </p:cNvPr>
          <p:cNvSpPr>
            <a:spLocks noGrp="1"/>
          </p:cNvSpPr>
          <p:nvPr/>
        </p:nvSpPr>
        <p:spPr>
          <a:xfrm>
            <a:off x="723900" y="4591050"/>
            <a:ext cx="20193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10.3</a:t>
            </a:r>
          </a:p>
        </p:txBody>
      </p:sp>
      <p:sp>
        <p:nvSpPr>
          <p:cNvPr id="11" name="text-79">
            <a:extLst>
              <a:ext uri="{FF2B5EF4-FFF2-40B4-BE49-F238E27FC236}">
                <a16:creationId xmlns:a16="http://schemas.microsoft.com/office/drawing/2014/main" id="{9175B34A-EE0D-46AE-8429-728EF9E3039C}"/>
              </a:ext>
            </a:extLst>
          </p:cNvPr>
          <p:cNvSpPr>
            <a:spLocks noGrp="1"/>
          </p:cNvSpPr>
          <p:nvPr/>
        </p:nvSpPr>
        <p:spPr>
          <a:xfrm>
            <a:off x="2943225" y="4591050"/>
            <a:ext cx="8486775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Biomass stores chemical energy.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Fuel production requires processing and energy input.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80">
            <a:extLst>
              <a:ext uri="{FF2B5EF4-FFF2-40B4-BE49-F238E27FC236}">
                <a16:creationId xmlns:a16="http://schemas.microsoft.com/office/drawing/2014/main" id="{E433D129-C6D0-420E-A997-1714CFAFEE6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81">
            <a:extLst>
              <a:ext uri="{FF2B5EF4-FFF2-40B4-BE49-F238E27FC236}">
                <a16:creationId xmlns:a16="http://schemas.microsoft.com/office/drawing/2014/main" id="{A4E837CE-7717-47CF-A5B8-B271EAF3F711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 environmental and social issues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B359636-5F48-499D-BFBE-6BFAF2706A6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20 / 49</a:t>
            </a:r>
          </a:p>
        </p:txBody>
      </p:sp>
      <p:sp>
        <p:nvSpPr>
          <p:cNvPr id="4" name="text-82">
            <a:extLst>
              <a:ext uri="{FF2B5EF4-FFF2-40B4-BE49-F238E27FC236}">
                <a16:creationId xmlns:a16="http://schemas.microsoft.com/office/drawing/2014/main" id="{ACC96446-37CF-47DE-A072-B99725EEE699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0648950" cy="3819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Habitat loss, fragmentation, and new transmission corridors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Water demand and competition with other uses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Bird and bat mortality near turbines and power lines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Changed river flows, sediments, water quality, and fish migration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Displacement of communities and loss of livelihoods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Competition for agricultural land, food, and water</a:t>
            </a:r>
          </a:p>
        </p:txBody>
      </p:sp>
      <p:sp>
        <p:nvSpPr>
          <p:cNvPr id="5" name="text-83">
            <a:extLst>
              <a:ext uri="{FF2B5EF4-FFF2-40B4-BE49-F238E27FC236}">
                <a16:creationId xmlns:a16="http://schemas.microsoft.com/office/drawing/2014/main" id="{C4031482-3DA5-4537-8135-6BDE469B36B1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Impacts depend on the technology, location, scale, and operating practices.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84">
            <a:extLst>
              <a:ext uri="{FF2B5EF4-FFF2-40B4-BE49-F238E27FC236}">
                <a16:creationId xmlns:a16="http://schemas.microsoft.com/office/drawing/2014/main" id="{D8AFC82E-024A-4F16-B923-F1A274DB423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85">
            <a:extLst>
              <a:ext uri="{FF2B5EF4-FFF2-40B4-BE49-F238E27FC236}">
                <a16:creationId xmlns:a16="http://schemas.microsoft.com/office/drawing/2014/main" id="{0BA666AC-A95F-4530-8023-14C4D8D8370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sunny landscape is also a habitat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2B3B83A2-338B-4142-9A30-5328FD9024F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21 / 49</a:t>
            </a:r>
          </a:p>
        </p:txBody>
      </p:sp>
      <p:sp>
        <p:nvSpPr>
          <p:cNvPr id="4" name="text-86">
            <a:extLst>
              <a:ext uri="{FF2B5EF4-FFF2-40B4-BE49-F238E27FC236}">
                <a16:creationId xmlns:a16="http://schemas.microsoft.com/office/drawing/2014/main" id="{63A0B30C-9020-4BBA-9B10-7339529BB98B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Land clearing removes habitat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Roads and fences interrupt movement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Construction can damage burrows and drainage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72FECA-3AF5-4EA2-9CBA-0CC7BD1F0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962650" y="2177069"/>
            <a:ext cx="5562600" cy="3656387"/>
          </a:xfrm>
          <a:prstGeom prst="rect">
            <a:avLst/>
          </a:prstGeom>
        </p:spPr>
      </p:pic>
      <p:sp>
        <p:nvSpPr>
          <p:cNvPr id="6" name="text-87">
            <a:extLst>
              <a:ext uri="{FF2B5EF4-FFF2-40B4-BE49-F238E27FC236}">
                <a16:creationId xmlns:a16="http://schemas.microsoft.com/office/drawing/2014/main" id="{6107F2C0-0727-4DD7-98A6-B3141F336507}"/>
              </a:ext>
            </a:extLst>
          </p:cNvPr>
          <p:cNvSpPr>
            <a:spLocks noGrp="1"/>
          </p:cNvSpPr>
          <p:nvPr/>
        </p:nvSpPr>
        <p:spPr>
          <a:xfrm>
            <a:off x="5962650" y="5994400"/>
            <a:ext cx="55626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10.25: roads can fragment desert bighorn sheep habitat.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88">
            <a:extLst>
              <a:ext uri="{FF2B5EF4-FFF2-40B4-BE49-F238E27FC236}">
                <a16:creationId xmlns:a16="http://schemas.microsoft.com/office/drawing/2014/main" id="{3EE3F2A3-5A57-47B6-91AE-F87AA8CDCA5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89">
            <a:extLst>
              <a:ext uri="{FF2B5EF4-FFF2-40B4-BE49-F238E27FC236}">
                <a16:creationId xmlns:a16="http://schemas.microsoft.com/office/drawing/2014/main" id="{6EB28C5B-3511-4224-BCAE-DD920D66E011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Concentrating solar power can compete for water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A2A1083-2090-4FD6-B579-D3D9E739650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22 / 49</a:t>
            </a:r>
          </a:p>
        </p:txBody>
      </p:sp>
      <p:sp>
        <p:nvSpPr>
          <p:cNvPr id="4" name="text-90">
            <a:extLst>
              <a:ext uri="{FF2B5EF4-FFF2-40B4-BE49-F238E27FC236}">
                <a16:creationId xmlns:a16="http://schemas.microsoft.com/office/drawing/2014/main" id="{8C848316-076C-4837-BC79-9FE578B43ADA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Steam-cycle cooling can consume water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Strong solar resources often occur in dry regions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Cooling design changes the water requirement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A0911-6D9F-474A-A37E-7913A247E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032669" y="2076450"/>
            <a:ext cx="5422562" cy="3857625"/>
          </a:xfrm>
          <a:prstGeom prst="rect">
            <a:avLst/>
          </a:prstGeom>
        </p:spPr>
      </p:pic>
      <p:sp>
        <p:nvSpPr>
          <p:cNvPr id="6" name="text-91">
            <a:extLst>
              <a:ext uri="{FF2B5EF4-FFF2-40B4-BE49-F238E27FC236}">
                <a16:creationId xmlns:a16="http://schemas.microsoft.com/office/drawing/2014/main" id="{6B1BC4C6-6ADC-4BC0-AF7C-3207A8C835DA}"/>
              </a:ext>
            </a:extLst>
          </p:cNvPr>
          <p:cNvSpPr>
            <a:spLocks noGrp="1"/>
          </p:cNvSpPr>
          <p:nvPr/>
        </p:nvSpPr>
        <p:spPr>
          <a:xfrm>
            <a:off x="6032669" y="6105525"/>
            <a:ext cx="5473531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10.6a: a tower-based solar plant. Cooling requirements differ from those of photovoltaic panels.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92">
            <a:extLst>
              <a:ext uri="{FF2B5EF4-FFF2-40B4-BE49-F238E27FC236}">
                <a16:creationId xmlns:a16="http://schemas.microsoft.com/office/drawing/2014/main" id="{680E9588-502F-4130-BB3D-D89830529E6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93">
            <a:extLst>
              <a:ext uri="{FF2B5EF4-FFF2-40B4-BE49-F238E27FC236}">
                <a16:creationId xmlns:a16="http://schemas.microsoft.com/office/drawing/2014/main" id="{AC1C5BDF-B4A1-4C97-A4A9-9D35DA899C4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return on energy investment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EF52293-7A8B-486A-87B2-8B8C3181D8C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23 / 49</a:t>
            </a:r>
          </a:p>
        </p:txBody>
      </p:sp>
      <p:sp>
        <p:nvSpPr>
          <p:cNvPr id="4" name="text-94">
            <a:extLst>
              <a:ext uri="{FF2B5EF4-FFF2-40B4-BE49-F238E27FC236}">
                <a16:creationId xmlns:a16="http://schemas.microsoft.com/office/drawing/2014/main" id="{DE6DABEA-21EE-47CD-8FC5-59FBEA8A6D0A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Useful energy obtained</a:t>
            </a:r>
          </a:p>
        </p:txBody>
      </p:sp>
      <p:sp>
        <p:nvSpPr>
          <p:cNvPr id="5" name="text-95">
            <a:extLst>
              <a:ext uri="{FF2B5EF4-FFF2-40B4-BE49-F238E27FC236}">
                <a16:creationId xmlns:a16="http://schemas.microsoft.com/office/drawing/2014/main" id="{FF7B3EBD-21C8-43EF-9755-2142D4D88C8B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6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6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200 units</a:t>
            </a:r>
          </a:p>
        </p:txBody>
      </p:sp>
      <p:sp>
        <p:nvSpPr>
          <p:cNvPr id="6" name="text-96">
            <a:extLst>
              <a:ext uri="{FF2B5EF4-FFF2-40B4-BE49-F238E27FC236}">
                <a16:creationId xmlns:a16="http://schemas.microsoft.com/office/drawing/2014/main" id="{1D3B9022-A3B1-4F5C-BEE4-920EF4A31C53}"/>
              </a:ext>
            </a:extLst>
          </p:cNvPr>
          <p:cNvSpPr>
            <a:spLocks noGrp="1"/>
          </p:cNvSpPr>
          <p:nvPr/>
        </p:nvSpPr>
        <p:spPr>
          <a:xfrm>
            <a:off x="6619875" y="2238375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Energy invested</a:t>
            </a:r>
          </a:p>
        </p:txBody>
      </p:sp>
      <p:sp>
        <p:nvSpPr>
          <p:cNvPr id="7" name="text-97">
            <a:extLst>
              <a:ext uri="{FF2B5EF4-FFF2-40B4-BE49-F238E27FC236}">
                <a16:creationId xmlns:a16="http://schemas.microsoft.com/office/drawing/2014/main" id="{A517A5E1-7BDB-4FA3-BB49-722961E6F1C5}"/>
              </a:ext>
            </a:extLst>
          </p:cNvPr>
          <p:cNvSpPr>
            <a:spLocks noGrp="1"/>
          </p:cNvSpPr>
          <p:nvPr/>
        </p:nvSpPr>
        <p:spPr>
          <a:xfrm>
            <a:off x="6619875" y="2857500"/>
            <a:ext cx="4667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6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6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40 units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83B1997-5A9A-4B79-AD11-802D776640E0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1066800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-98">
            <a:extLst>
              <a:ext uri="{FF2B5EF4-FFF2-40B4-BE49-F238E27FC236}">
                <a16:creationId xmlns:a16="http://schemas.microsoft.com/office/drawing/2014/main" id="{0A793590-EE58-4BB5-8332-5034F24AB9D5}"/>
              </a:ext>
            </a:extLst>
          </p:cNvPr>
          <p:cNvSpPr>
            <a:spLocks noGrp="1"/>
          </p:cNvSpPr>
          <p:nvPr/>
        </p:nvSpPr>
        <p:spPr>
          <a:xfrm>
            <a:off x="762000" y="4229100"/>
            <a:ext cx="1057275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7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EROEI = energy out ÷ energy in</a:t>
            </a:r>
          </a:p>
        </p:txBody>
      </p:sp>
      <p:sp>
        <p:nvSpPr>
          <p:cNvPr id="10" name="reveal-0">
            <a:extLst>
              <a:ext uri="{FF2B5EF4-FFF2-40B4-BE49-F238E27FC236}">
                <a16:creationId xmlns:a16="http://schemas.microsoft.com/office/drawing/2014/main" id="{728BFCFB-F2C8-4BE2-BF4C-836380B95DE7}"/>
              </a:ext>
            </a:extLst>
          </p:cNvPr>
          <p:cNvSpPr>
            <a:spLocks noGrp="1"/>
          </p:cNvSpPr>
          <p:nvPr/>
        </p:nvSpPr>
        <p:spPr>
          <a:xfrm>
            <a:off x="762000" y="5057775"/>
            <a:ext cx="105727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9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200 ÷ 40 = 5    |    Net energy = 160 units</a:t>
            </a:r>
          </a:p>
        </p:txBody>
      </p:sp>
      <p:sp>
        <p:nvSpPr>
          <p:cNvPr id="11" name="text-99">
            <a:extLst>
              <a:ext uri="{FF2B5EF4-FFF2-40B4-BE49-F238E27FC236}">
                <a16:creationId xmlns:a16="http://schemas.microsoft.com/office/drawing/2014/main" id="{6E39DF66-0AE2-40A6-B22B-2BB6D86D9096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Illustrative calculation, not a measured value for a particular fuel or technology.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00">
            <a:extLst>
              <a:ext uri="{FF2B5EF4-FFF2-40B4-BE49-F238E27FC236}">
                <a16:creationId xmlns:a16="http://schemas.microsoft.com/office/drawing/2014/main" id="{FBFA9851-5EFD-40D6-97BC-9476FB3D2E1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01">
            <a:extLst>
              <a:ext uri="{FF2B5EF4-FFF2-40B4-BE49-F238E27FC236}">
                <a16:creationId xmlns:a16="http://schemas.microsoft.com/office/drawing/2014/main" id="{748AB9E7-5F64-458D-A0AD-5A8AF31EB28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 development affects birds and bats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5FDC40E-B92C-4CC2-9E04-6C2C7776073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24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D8D9D-0C44-45F8-8C73-521DD2951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454044" y="2266950"/>
            <a:ext cx="3702262" cy="2857500"/>
          </a:xfrm>
          <a:prstGeom prst="rect">
            <a:avLst/>
          </a:prstGeom>
        </p:spPr>
      </p:pic>
      <p:sp>
        <p:nvSpPr>
          <p:cNvPr id="5" name="text-102">
            <a:extLst>
              <a:ext uri="{FF2B5EF4-FFF2-40B4-BE49-F238E27FC236}">
                <a16:creationId xmlns:a16="http://schemas.microsoft.com/office/drawing/2014/main" id="{5F2FCBD3-BC0A-4A25-BC40-53843F9E6957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Bird collisions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22D15C-0C79-4233-BF09-0E136D00E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67695" y="2266950"/>
            <a:ext cx="4638261" cy="2857500"/>
          </a:xfrm>
          <a:prstGeom prst="rect">
            <a:avLst/>
          </a:prstGeom>
        </p:spPr>
      </p:pic>
      <p:sp>
        <p:nvSpPr>
          <p:cNvPr id="7" name="text-103">
            <a:extLst>
              <a:ext uri="{FF2B5EF4-FFF2-40B4-BE49-F238E27FC236}">
                <a16:creationId xmlns:a16="http://schemas.microsoft.com/office/drawing/2014/main" id="{C0C53E0F-F1EF-48F7-B9E2-AFCF48CD63FB}"/>
              </a:ext>
            </a:extLst>
          </p:cNvPr>
          <p:cNvSpPr>
            <a:spLocks noGrp="1"/>
          </p:cNvSpPr>
          <p:nvPr/>
        </p:nvSpPr>
        <p:spPr>
          <a:xfrm>
            <a:off x="622935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Bat fatalities</a:t>
            </a:r>
          </a:p>
        </p:txBody>
      </p:sp>
      <p:sp>
        <p:nvSpPr>
          <p:cNvPr id="8" name="text-104">
            <a:extLst>
              <a:ext uri="{FF2B5EF4-FFF2-40B4-BE49-F238E27FC236}">
                <a16:creationId xmlns:a16="http://schemas.microsoft.com/office/drawing/2014/main" id="{FA377433-D736-44B6-AE4B-28D0B45A5C5B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08394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Risk depends on species, location, migration, and turbine operation.</a:t>
            </a:r>
          </a:p>
        </p:txBody>
      </p:sp>
      <p:sp>
        <p:nvSpPr>
          <p:cNvPr id="9" name="text-105">
            <a:extLst>
              <a:ext uri="{FF2B5EF4-FFF2-40B4-BE49-F238E27FC236}">
                <a16:creationId xmlns:a16="http://schemas.microsoft.com/office/drawing/2014/main" id="{88EE478B-9B28-478E-83CE-D57BF04638FD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Figs. 10.28 and 10.30: a golden eagle and eastern red bats illustrate vulnerable wildlife.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06">
            <a:extLst>
              <a:ext uri="{FF2B5EF4-FFF2-40B4-BE49-F238E27FC236}">
                <a16:creationId xmlns:a16="http://schemas.microsoft.com/office/drawing/2014/main" id="{7D6C56D4-FE9A-45EA-A7B2-B7AA108FE20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07">
            <a:extLst>
              <a:ext uri="{FF2B5EF4-FFF2-40B4-BE49-F238E27FC236}">
                <a16:creationId xmlns:a16="http://schemas.microsoft.com/office/drawing/2014/main" id="{1A073998-1109-40A9-AAFB-556BB5F1449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Transmission corridors extend the footprint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518B49EB-5BDA-4A78-B898-BB1CBAFF994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25 / 49</a:t>
            </a:r>
          </a:p>
        </p:txBody>
      </p:sp>
      <p:sp>
        <p:nvSpPr>
          <p:cNvPr id="4" name="text-108">
            <a:extLst>
              <a:ext uri="{FF2B5EF4-FFF2-40B4-BE49-F238E27FC236}">
                <a16:creationId xmlns:a16="http://schemas.microsoft.com/office/drawing/2014/main" id="{C541AD85-B9E0-4C4A-8C79-14BB56B3AC3E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0648950" cy="3819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Birds may collide with power lines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New roads and corridors can divide habitats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Some grassland birds avoid tall structures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Risk extends beyond the turbine or solar-panel boundary</a:t>
            </a:r>
          </a:p>
        </p:txBody>
      </p:sp>
      <p:sp>
        <p:nvSpPr>
          <p:cNvPr id="5" name="text-109">
            <a:extLst>
              <a:ext uri="{FF2B5EF4-FFF2-40B4-BE49-F238E27FC236}">
                <a16:creationId xmlns:a16="http://schemas.microsoft.com/office/drawing/2014/main" id="{A885816E-26C1-41E9-882C-A187CF972AA3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 project assessment must include the connections that deliver its electricity.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10">
            <a:extLst>
              <a:ext uri="{FF2B5EF4-FFF2-40B4-BE49-F238E27FC236}">
                <a16:creationId xmlns:a16="http://schemas.microsoft.com/office/drawing/2014/main" id="{6ED408FF-8296-4187-9A4D-C4E65850FF5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11">
            <a:extLst>
              <a:ext uri="{FF2B5EF4-FFF2-40B4-BE49-F238E27FC236}">
                <a16:creationId xmlns:a16="http://schemas.microsoft.com/office/drawing/2014/main" id="{90733DF8-C48F-4A79-854C-6793B06CA0C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dam changes an entire river system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6DD0581C-342C-4C9B-9C91-A0639C1D330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26 / 49</a:t>
            </a:r>
          </a:p>
        </p:txBody>
      </p:sp>
      <p:sp>
        <p:nvSpPr>
          <p:cNvPr id="4" name="text-112">
            <a:extLst>
              <a:ext uri="{FF2B5EF4-FFF2-40B4-BE49-F238E27FC236}">
                <a16:creationId xmlns:a16="http://schemas.microsoft.com/office/drawing/2014/main" id="{C94B27BD-BE97-4D2B-868B-ED5FBBC4212F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Reservoirs trap sediments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Dams interrupt fish migration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Water temperature and oxygen can change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Flooded organic matter can produce greenhouse gases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773D4-779D-4BFE-9288-659AC3722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962650" y="2486881"/>
            <a:ext cx="5562600" cy="3036762"/>
          </a:xfrm>
          <a:prstGeom prst="rect">
            <a:avLst/>
          </a:prstGeom>
        </p:spPr>
      </p:pic>
      <p:sp>
        <p:nvSpPr>
          <p:cNvPr id="6" name="text-113">
            <a:extLst>
              <a:ext uri="{FF2B5EF4-FFF2-40B4-BE49-F238E27FC236}">
                <a16:creationId xmlns:a16="http://schemas.microsoft.com/office/drawing/2014/main" id="{6DB47D28-863A-4C78-9993-DA7907EECC51}"/>
              </a:ext>
            </a:extLst>
          </p:cNvPr>
          <p:cNvSpPr>
            <a:spLocks noGrp="1"/>
          </p:cNvSpPr>
          <p:nvPr/>
        </p:nvSpPr>
        <p:spPr>
          <a:xfrm>
            <a:off x="5962650" y="5781675"/>
            <a:ext cx="55626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10.13: the Three Gorges project illustrates the scale of large hydroelectric development.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14">
            <a:extLst>
              <a:ext uri="{FF2B5EF4-FFF2-40B4-BE49-F238E27FC236}">
                <a16:creationId xmlns:a16="http://schemas.microsoft.com/office/drawing/2014/main" id="{D4C606C6-42CE-4BDE-949E-284FEE46BBC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15">
            <a:extLst>
              <a:ext uri="{FF2B5EF4-FFF2-40B4-BE49-F238E27FC236}">
                <a16:creationId xmlns:a16="http://schemas.microsoft.com/office/drawing/2014/main" id="{74FF54D2-C685-4DCB-A72E-88EED791880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Hydropower benefits and costs reach different people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586AE81-1B8C-4A52-AFEC-E5280D0A5AF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27 / 49</a:t>
            </a:r>
          </a:p>
        </p:txBody>
      </p:sp>
      <p:sp>
        <p:nvSpPr>
          <p:cNvPr id="4" name="text-116">
            <a:extLst>
              <a:ext uri="{FF2B5EF4-FFF2-40B4-BE49-F238E27FC236}">
                <a16:creationId xmlns:a16="http://schemas.microsoft.com/office/drawing/2014/main" id="{C8B8A7C0-A40C-4579-9DFA-8CA9AD006A15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Electricity may serve distant cities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Flooding can displace households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Fishing, farming, and cultural sites can be lost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Affected communities need a meaningful voice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3DB2E-3050-4F77-AD4B-CE4A8ADA4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962650" y="2276346"/>
            <a:ext cx="5562600" cy="3457832"/>
          </a:xfrm>
          <a:prstGeom prst="rect">
            <a:avLst/>
          </a:prstGeom>
        </p:spPr>
      </p:pic>
      <p:sp>
        <p:nvSpPr>
          <p:cNvPr id="6" name="text-117">
            <a:extLst>
              <a:ext uri="{FF2B5EF4-FFF2-40B4-BE49-F238E27FC236}">
                <a16:creationId xmlns:a16="http://schemas.microsoft.com/office/drawing/2014/main" id="{322F4706-371F-421F-9942-CE936ED3AE49}"/>
              </a:ext>
            </a:extLst>
          </p:cNvPr>
          <p:cNvSpPr>
            <a:spLocks noGrp="1"/>
          </p:cNvSpPr>
          <p:nvPr/>
        </p:nvSpPr>
        <p:spPr>
          <a:xfrm>
            <a:off x="5962650" y="5905500"/>
            <a:ext cx="55435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10.34: a resident in a partly demolished home before inundation by the Three Gorges reservoir.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18">
            <a:extLst>
              <a:ext uri="{FF2B5EF4-FFF2-40B4-BE49-F238E27FC236}">
                <a16:creationId xmlns:a16="http://schemas.microsoft.com/office/drawing/2014/main" id="{FC8E9582-F971-4B57-B2BC-FD5E8E3CBA0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19">
            <a:extLst>
              <a:ext uri="{FF2B5EF4-FFF2-40B4-BE49-F238E27FC236}">
                <a16:creationId xmlns:a16="http://schemas.microsoft.com/office/drawing/2014/main" id="{1A370D88-91F9-46D7-80FA-031F9B0A5EF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Biofuel demand can change food and land systems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75A4D27-AF80-4921-8D1A-A85122B68E8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28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9B0942-AFA4-4B84-8618-05E2A29BA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99163" y="2266950"/>
            <a:ext cx="4612024" cy="2857500"/>
          </a:xfrm>
          <a:prstGeom prst="rect">
            <a:avLst/>
          </a:prstGeom>
        </p:spPr>
      </p:pic>
      <p:sp>
        <p:nvSpPr>
          <p:cNvPr id="5" name="text-120">
            <a:extLst>
              <a:ext uri="{FF2B5EF4-FFF2-40B4-BE49-F238E27FC236}">
                <a16:creationId xmlns:a16="http://schemas.microsoft.com/office/drawing/2014/main" id="{63DB5CAE-ABD8-4230-94E2-C01A0D76CB91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Diverse prairie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D599A0-9DFA-4CEE-8D4F-627EB923E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19065" y="2266950"/>
            <a:ext cx="4135520" cy="2857500"/>
          </a:xfrm>
          <a:prstGeom prst="rect">
            <a:avLst/>
          </a:prstGeom>
        </p:spPr>
      </p:pic>
      <p:sp>
        <p:nvSpPr>
          <p:cNvPr id="7" name="text-121">
            <a:extLst>
              <a:ext uri="{FF2B5EF4-FFF2-40B4-BE49-F238E27FC236}">
                <a16:creationId xmlns:a16="http://schemas.microsoft.com/office/drawing/2014/main" id="{805C1884-5711-4266-A8EE-10D35C168199}"/>
              </a:ext>
            </a:extLst>
          </p:cNvPr>
          <p:cNvSpPr>
            <a:spLocks noGrp="1"/>
          </p:cNvSpPr>
          <p:nvPr/>
        </p:nvSpPr>
        <p:spPr>
          <a:xfrm>
            <a:off x="622935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Intensive crop production</a:t>
            </a:r>
          </a:p>
        </p:txBody>
      </p:sp>
      <p:sp>
        <p:nvSpPr>
          <p:cNvPr id="8" name="text-122">
            <a:extLst>
              <a:ext uri="{FF2B5EF4-FFF2-40B4-BE49-F238E27FC236}">
                <a16:creationId xmlns:a16="http://schemas.microsoft.com/office/drawing/2014/main" id="{B50015A1-4047-4203-8A85-70814D0F08D5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08394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Food competition, fertilizer runoff, soil loss, and habitat conversion can occur along the fuel pathway.</a:t>
            </a:r>
          </a:p>
        </p:txBody>
      </p:sp>
      <p:sp>
        <p:nvSpPr>
          <p:cNvPr id="9" name="text-123">
            <a:extLst>
              <a:ext uri="{FF2B5EF4-FFF2-40B4-BE49-F238E27FC236}">
                <a16:creationId xmlns:a16="http://schemas.microsoft.com/office/drawing/2014/main" id="{05CF9C3B-B342-4E5D-90B3-619D780A2160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10.36: contrasting ecosystems illustrate the consequences of converting land to intensive agriculture.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24">
            <a:extLst>
              <a:ext uri="{FF2B5EF4-FFF2-40B4-BE49-F238E27FC236}">
                <a16:creationId xmlns:a16="http://schemas.microsoft.com/office/drawing/2014/main" id="{2CFA674E-1F7F-41E8-B5AC-4B16E6468E4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25">
            <a:extLst>
              <a:ext uri="{FF2B5EF4-FFF2-40B4-BE49-F238E27FC236}">
                <a16:creationId xmlns:a16="http://schemas.microsoft.com/office/drawing/2014/main" id="{528F1D95-5020-4C7A-8F29-E93E7AAE935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Comparing complete renewable-energy pathways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6524760-1718-4EF9-9E41-5BD22A242E4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29 / 49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940742-EA50-4D89-98E9-64B29AFF723C}"/>
              </a:ext>
            </a:extLst>
          </p:cNvPr>
          <p:cNvGraphicFramePr/>
          <p:nvPr/>
        </p:nvGraphicFramePr>
        <p:xfrm>
          <a:off x="685800" y="2133600"/>
          <a:ext cx="10820400" cy="366522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Pathway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Main pressures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Questions before development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Solar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Land, materials, cooling water for thermal systems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Which site and cooling design?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Wind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Wildlife, roads, transmission corridors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Which species, seasons, and routes?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Hydropower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River change, flooded land, displacement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What happens upstream and downstream?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Biofuels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Food and land competition, runoff, soil loss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Which feedstock and production boundary?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-126">
            <a:extLst>
              <a:ext uri="{FF2B5EF4-FFF2-40B4-BE49-F238E27FC236}">
                <a16:creationId xmlns:a16="http://schemas.microsoft.com/office/drawing/2014/main" id="{456AAD9A-CC35-4B6C-9EAB-48EB34EC6B57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 chapter synthesis. Local conditions determine the importance of each pressure.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127">
            <a:extLst>
              <a:ext uri="{FF2B5EF4-FFF2-40B4-BE49-F238E27FC236}">
                <a16:creationId xmlns:a16="http://schemas.microsoft.com/office/drawing/2014/main" id="{6C0D6E55-E035-4A28-B7BD-860001B39BA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28">
            <a:extLst>
              <a:ext uri="{FF2B5EF4-FFF2-40B4-BE49-F238E27FC236}">
                <a16:creationId xmlns:a16="http://schemas.microsoft.com/office/drawing/2014/main" id="{EEF80AB4-E974-49FB-898F-45078CCB37F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Issues summary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98B01385-63ED-4AB8-A5C0-14AEB3310D5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30 / 49</a:t>
            </a:r>
          </a:p>
        </p:txBody>
      </p:sp>
      <p:sp>
        <p:nvSpPr>
          <p:cNvPr id="4" name="text-129">
            <a:extLst>
              <a:ext uri="{FF2B5EF4-FFF2-40B4-BE49-F238E27FC236}">
                <a16:creationId xmlns:a16="http://schemas.microsoft.com/office/drawing/2014/main" id="{D156736E-8670-42B5-A3CD-26629C02E091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10.4</a:t>
            </a:r>
          </a:p>
        </p:txBody>
      </p:sp>
      <p:sp>
        <p:nvSpPr>
          <p:cNvPr id="5" name="text-130">
            <a:extLst>
              <a:ext uri="{FF2B5EF4-FFF2-40B4-BE49-F238E27FC236}">
                <a16:creationId xmlns:a16="http://schemas.microsoft.com/office/drawing/2014/main" id="{761A7769-981B-4327-A7E7-D81C8DA23676}"/>
              </a:ext>
            </a:extLst>
          </p:cNvPr>
          <p:cNvSpPr>
            <a:spLocks noGrp="1"/>
          </p:cNvSpPr>
          <p:nvPr/>
        </p:nvSpPr>
        <p:spPr>
          <a:xfrm>
            <a:off x="2943225" y="219075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Solar development can affect habitats and water supplies.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93C0616-1CF1-45D7-AC02-85D4CB9D2818}"/>
              </a:ext>
            </a:extLst>
          </p:cNvPr>
          <p:cNvSpPr>
            <a:spLocks noGrp="1"/>
          </p:cNvSpPr>
          <p:nvPr/>
        </p:nvSpPr>
        <p:spPr>
          <a:xfrm>
            <a:off x="723900" y="30765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131">
            <a:extLst>
              <a:ext uri="{FF2B5EF4-FFF2-40B4-BE49-F238E27FC236}">
                <a16:creationId xmlns:a16="http://schemas.microsoft.com/office/drawing/2014/main" id="{FEE48C07-F6CC-401B-9C89-2E1C4B9EB144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10.5</a:t>
            </a:r>
          </a:p>
        </p:txBody>
      </p:sp>
      <p:sp>
        <p:nvSpPr>
          <p:cNvPr id="8" name="text-132">
            <a:extLst>
              <a:ext uri="{FF2B5EF4-FFF2-40B4-BE49-F238E27FC236}">
                <a16:creationId xmlns:a16="http://schemas.microsoft.com/office/drawing/2014/main" id="{8BE8868F-91C4-4202-B694-D0B5CB7EF6BD}"/>
              </a:ext>
            </a:extLst>
          </p:cNvPr>
          <p:cNvSpPr>
            <a:spLocks noGrp="1"/>
          </p:cNvSpPr>
          <p:nvPr/>
        </p:nvSpPr>
        <p:spPr>
          <a:xfrm>
            <a:off x="2943225" y="312420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Wind turbines and transmission lines can harm wildlife.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3EE77CC-5C11-49CA-AA69-2FE9BB83287A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133">
            <a:extLst>
              <a:ext uri="{FF2B5EF4-FFF2-40B4-BE49-F238E27FC236}">
                <a16:creationId xmlns:a16="http://schemas.microsoft.com/office/drawing/2014/main" id="{8BFCF403-31B0-42E3-A36B-C317E909300D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10.6</a:t>
            </a:r>
          </a:p>
        </p:txBody>
      </p:sp>
      <p:sp>
        <p:nvSpPr>
          <p:cNvPr id="11" name="text-134">
            <a:extLst>
              <a:ext uri="{FF2B5EF4-FFF2-40B4-BE49-F238E27FC236}">
                <a16:creationId xmlns:a16="http://schemas.microsoft.com/office/drawing/2014/main" id="{AAFE1BBF-2ECC-4797-9774-4D3A196AA956}"/>
              </a:ext>
            </a:extLst>
          </p:cNvPr>
          <p:cNvSpPr>
            <a:spLocks noGrp="1"/>
          </p:cNvSpPr>
          <p:nvPr/>
        </p:nvSpPr>
        <p:spPr>
          <a:xfrm>
            <a:off x="2943225" y="405765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Dams alter rivers and can displace communities.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A15AD63-FEAB-486E-A2F0-BBC42C0558CA}"/>
              </a:ext>
            </a:extLst>
          </p:cNvPr>
          <p:cNvSpPr>
            <a:spLocks noGrp="1"/>
          </p:cNvSpPr>
          <p:nvPr/>
        </p:nvSpPr>
        <p:spPr>
          <a:xfrm>
            <a:off x="723900" y="49434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135">
            <a:extLst>
              <a:ext uri="{FF2B5EF4-FFF2-40B4-BE49-F238E27FC236}">
                <a16:creationId xmlns:a16="http://schemas.microsoft.com/office/drawing/2014/main" id="{7468801D-74D4-43DF-894C-240856363E2E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10.7</a:t>
            </a:r>
          </a:p>
        </p:txBody>
      </p:sp>
      <p:sp>
        <p:nvSpPr>
          <p:cNvPr id="14" name="text-136">
            <a:extLst>
              <a:ext uri="{FF2B5EF4-FFF2-40B4-BE49-F238E27FC236}">
                <a16:creationId xmlns:a16="http://schemas.microsoft.com/office/drawing/2014/main" id="{B4A2E793-4E12-445D-A5DE-FBE24E8A9286}"/>
              </a:ext>
            </a:extLst>
          </p:cNvPr>
          <p:cNvSpPr>
            <a:spLocks noGrp="1"/>
          </p:cNvSpPr>
          <p:nvPr/>
        </p:nvSpPr>
        <p:spPr>
          <a:xfrm>
            <a:off x="2943225" y="499110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Biofuel expansion can compete with food and damage ecosystems.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37">
            <a:extLst>
              <a:ext uri="{FF2B5EF4-FFF2-40B4-BE49-F238E27FC236}">
                <a16:creationId xmlns:a16="http://schemas.microsoft.com/office/drawing/2014/main" id="{381D1209-2AE6-40DC-9DF5-3AA174D73C2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38">
            <a:extLst>
              <a:ext uri="{FF2B5EF4-FFF2-40B4-BE49-F238E27FC236}">
                <a16:creationId xmlns:a16="http://schemas.microsoft.com/office/drawing/2014/main" id="{61EF5DBD-3934-4212-AFE9-3A1AA492F80B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Solar siting can reduce habitat damage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65BBD0F4-F168-445A-9A0A-FBB31B60CBE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31 / 49</a:t>
            </a:r>
          </a:p>
        </p:txBody>
      </p:sp>
      <p:sp>
        <p:nvSpPr>
          <p:cNvPr id="4" name="text-139">
            <a:extLst>
              <a:ext uri="{FF2B5EF4-FFF2-40B4-BE49-F238E27FC236}">
                <a16:creationId xmlns:a16="http://schemas.microsoft.com/office/drawing/2014/main" id="{CD4A9412-A449-4321-9D06-C1591FB02A68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Use suitable rooftops and developed sites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Check structural, shading, and grid constraints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Reduce pressure on intact habitats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1DD4F7-E432-40C6-A232-D22AFF44D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986447" y="2076450"/>
            <a:ext cx="5515005" cy="3857625"/>
          </a:xfrm>
          <a:prstGeom prst="rect">
            <a:avLst/>
          </a:prstGeom>
        </p:spPr>
      </p:pic>
      <p:sp>
        <p:nvSpPr>
          <p:cNvPr id="6" name="text-140">
            <a:extLst>
              <a:ext uri="{FF2B5EF4-FFF2-40B4-BE49-F238E27FC236}">
                <a16:creationId xmlns:a16="http://schemas.microsoft.com/office/drawing/2014/main" id="{409374CC-A39B-4B92-9757-252E1167FE9A}"/>
              </a:ext>
            </a:extLst>
          </p:cNvPr>
          <p:cNvSpPr>
            <a:spLocks noGrp="1"/>
          </p:cNvSpPr>
          <p:nvPr/>
        </p:nvSpPr>
        <p:spPr>
          <a:xfrm>
            <a:off x="5981699" y="6096000"/>
            <a:ext cx="5519753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10.40: rooftop photovoltaic systems in Freiburg, Germany.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41">
            <a:extLst>
              <a:ext uri="{FF2B5EF4-FFF2-40B4-BE49-F238E27FC236}">
                <a16:creationId xmlns:a16="http://schemas.microsoft.com/office/drawing/2014/main" id="{8E4F6BC0-6938-4FC8-B3FC-01E04FD8DD6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42">
            <a:extLst>
              <a:ext uri="{FF2B5EF4-FFF2-40B4-BE49-F238E27FC236}">
                <a16:creationId xmlns:a16="http://schemas.microsoft.com/office/drawing/2014/main" id="{9AC6BC8D-C2D5-4FA3-921A-51E087BB998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 shifts energy in time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2E2E11E-78E5-4689-9663-86A1304C9B2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32 / 49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55ACEF-A749-40D9-AF10-1F6E96EDA306}"/>
              </a:ext>
            </a:extLst>
          </p:cNvPr>
          <p:cNvGraphicFramePr/>
          <p:nvPr/>
        </p:nvGraphicFramePr>
        <p:xfrm>
          <a:off x="685800" y="2133600"/>
          <a:ext cx="10820400" cy="36195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Storage approach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What is stored?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What must be checked?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Thermal storage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Heat, for example in molten salt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Heat loss and usable temperature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Batteries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Electrochemical energy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Power, usable capacity, and losses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Pumped storage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Water at higher elevation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Reservoirs, water, and terrain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-143">
            <a:extLst>
              <a:ext uri="{FF2B5EF4-FFF2-40B4-BE49-F238E27FC236}">
                <a16:creationId xmlns:a16="http://schemas.microsoft.com/office/drawing/2014/main" id="{7E8D2206-726D-4E8C-B419-3E98681FE192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Stored energy can serve later demand, but every storage system has limits and losses.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44">
            <a:extLst>
              <a:ext uri="{FF2B5EF4-FFF2-40B4-BE49-F238E27FC236}">
                <a16:creationId xmlns:a16="http://schemas.microsoft.com/office/drawing/2014/main" id="{1EE49005-BC27-47C8-B6E3-9F3024F726B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45">
            <a:extLst>
              <a:ext uri="{FF2B5EF4-FFF2-40B4-BE49-F238E27FC236}">
                <a16:creationId xmlns:a16="http://schemas.microsoft.com/office/drawing/2014/main" id="{EB997E6D-92EB-4966-A11C-7FFD5D62144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 challenge: is the evening covered?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370F926-18B4-447A-AC13-37BFB577C58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33 / 49</a:t>
            </a:r>
          </a:p>
        </p:txBody>
      </p:sp>
      <p:sp>
        <p:nvSpPr>
          <p:cNvPr id="4" name="text-146">
            <a:extLst>
              <a:ext uri="{FF2B5EF4-FFF2-40B4-BE49-F238E27FC236}">
                <a16:creationId xmlns:a16="http://schemas.microsoft.com/office/drawing/2014/main" id="{81023647-1710-4888-8C6D-89A39B1EFDEC}"/>
              </a:ext>
            </a:extLst>
          </p:cNvPr>
          <p:cNvSpPr>
            <a:spLocks noGrp="1"/>
          </p:cNvSpPr>
          <p:nvPr/>
        </p:nvSpPr>
        <p:spPr>
          <a:xfrm>
            <a:off x="762000" y="208597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Energy (MWh)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0ED80D2D-9269-4064-8453-807113F3C6F8}"/>
              </a:ext>
            </a:extLst>
          </p:cNvPr>
          <p:cNvGraphicFramePr/>
          <p:nvPr/>
        </p:nvGraphicFramePr>
        <p:xfrm>
          <a:off x="666750" y="2552700"/>
          <a:ext cx="723900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-147">
            <a:extLst>
              <a:ext uri="{FF2B5EF4-FFF2-40B4-BE49-F238E27FC236}">
                <a16:creationId xmlns:a16="http://schemas.microsoft.com/office/drawing/2014/main" id="{0168C398-D3C7-48AE-81B3-625B8DBE1226}"/>
              </a:ext>
            </a:extLst>
          </p:cNvPr>
          <p:cNvSpPr>
            <a:spLocks noGrp="1"/>
          </p:cNvSpPr>
          <p:nvPr/>
        </p:nvSpPr>
        <p:spPr>
          <a:xfrm>
            <a:off x="8267700" y="2143125"/>
            <a:ext cx="3238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Efficiency = 80%</a:t>
            </a:r>
          </a:p>
        </p:txBody>
      </p:sp>
      <p:sp>
        <p:nvSpPr>
          <p:cNvPr id="7" name="text-148">
            <a:extLst>
              <a:ext uri="{FF2B5EF4-FFF2-40B4-BE49-F238E27FC236}">
                <a16:creationId xmlns:a16="http://schemas.microsoft.com/office/drawing/2014/main" id="{F327D87B-F44C-4CD4-8247-EE9D5D8A7B17}"/>
              </a:ext>
            </a:extLst>
          </p:cNvPr>
          <p:cNvSpPr>
            <a:spLocks noGrp="1"/>
          </p:cNvSpPr>
          <p:nvPr/>
        </p:nvSpPr>
        <p:spPr>
          <a:xfrm>
            <a:off x="8267700" y="2990850"/>
            <a:ext cx="31813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2.0 MWh goes in.</a:t>
            </a:r>
          </a:p>
          <a:p>
            <a:endParaRPr sz="2250" b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algn="l"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Can storage supply the whole evening?</a:t>
            </a:r>
          </a:p>
        </p:txBody>
      </p:sp>
      <p:sp>
        <p:nvSpPr>
          <p:cNvPr id="8" name="reveal-1">
            <a:extLst>
              <a:ext uri="{FF2B5EF4-FFF2-40B4-BE49-F238E27FC236}">
                <a16:creationId xmlns:a16="http://schemas.microsoft.com/office/drawing/2014/main" id="{486F25B4-66B5-486F-9DC6-509E80EF417C}"/>
              </a:ext>
            </a:extLst>
          </p:cNvPr>
          <p:cNvSpPr>
            <a:spLocks noGrp="1"/>
          </p:cNvSpPr>
          <p:nvPr/>
        </p:nvSpPr>
        <p:spPr>
          <a:xfrm>
            <a:off x="8267700" y="4695825"/>
            <a:ext cx="3181350" cy="1304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1.6 MWh delivered. Another 0.4 MWh must come from elsewhere.</a:t>
            </a:r>
          </a:p>
        </p:txBody>
      </p:sp>
      <p:sp>
        <p:nvSpPr>
          <p:cNvPr id="9" name="text-149">
            <a:extLst>
              <a:ext uri="{FF2B5EF4-FFF2-40B4-BE49-F238E27FC236}">
                <a16:creationId xmlns:a16="http://schemas.microsoft.com/office/drawing/2014/main" id="{BF2041D6-B01E-4731-927C-918906BC2109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Classroom assumptions: 2.0 MWh charged, 80% round-trip efficiency, 2.0 MWh evening demand.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50">
            <a:extLst>
              <a:ext uri="{FF2B5EF4-FFF2-40B4-BE49-F238E27FC236}">
                <a16:creationId xmlns:a16="http://schemas.microsoft.com/office/drawing/2014/main" id="{140B3CAC-0D01-4C99-9FB1-D8526630650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51">
            <a:extLst>
              <a:ext uri="{FF2B5EF4-FFF2-40B4-BE49-F238E27FC236}">
                <a16:creationId xmlns:a16="http://schemas.microsoft.com/office/drawing/2014/main" id="{9482FA49-9758-425C-9A61-FE58E50B85C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 design and siting can reduce harm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ECA03F6-EBF1-41F8-93BF-48B2CE548FD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34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D94D72-1E82-46E7-A502-237B8AEA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39791" y="2266950"/>
            <a:ext cx="4130768" cy="2857500"/>
          </a:xfrm>
          <a:prstGeom prst="rect">
            <a:avLst/>
          </a:prstGeom>
        </p:spPr>
      </p:pic>
      <p:sp>
        <p:nvSpPr>
          <p:cNvPr id="5" name="text-152">
            <a:extLst>
              <a:ext uri="{FF2B5EF4-FFF2-40B4-BE49-F238E27FC236}">
                <a16:creationId xmlns:a16="http://schemas.microsoft.com/office/drawing/2014/main" id="{09B23508-1A93-4A4E-9A34-0892596E62C8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Older lattice towers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FD3C1-B64D-41B4-B4CE-FBE35B34E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98329" y="2266950"/>
            <a:ext cx="4176993" cy="2857500"/>
          </a:xfrm>
          <a:prstGeom prst="rect">
            <a:avLst/>
          </a:prstGeom>
        </p:spPr>
      </p:pic>
      <p:sp>
        <p:nvSpPr>
          <p:cNvPr id="7" name="text-153">
            <a:extLst>
              <a:ext uri="{FF2B5EF4-FFF2-40B4-BE49-F238E27FC236}">
                <a16:creationId xmlns:a16="http://schemas.microsoft.com/office/drawing/2014/main" id="{6ACD636C-E5B5-47B2-A463-693D6A1F3F47}"/>
              </a:ext>
            </a:extLst>
          </p:cNvPr>
          <p:cNvSpPr>
            <a:spLocks noGrp="1"/>
          </p:cNvSpPr>
          <p:nvPr/>
        </p:nvSpPr>
        <p:spPr>
          <a:xfrm>
            <a:off x="622935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Newer tubular towers</a:t>
            </a:r>
          </a:p>
        </p:txBody>
      </p:sp>
      <p:sp>
        <p:nvSpPr>
          <p:cNvPr id="8" name="text-154">
            <a:extLst>
              <a:ext uri="{FF2B5EF4-FFF2-40B4-BE49-F238E27FC236}">
                <a16:creationId xmlns:a16="http://schemas.microsoft.com/office/drawing/2014/main" id="{D335EFC8-0CEE-43E9-B226-1F64A1871EFC}"/>
              </a:ext>
            </a:extLst>
          </p:cNvPr>
          <p:cNvSpPr>
            <a:spLocks noGrp="1"/>
          </p:cNvSpPr>
          <p:nvPr/>
        </p:nvSpPr>
        <p:spPr>
          <a:xfrm>
            <a:off x="647699" y="5314950"/>
            <a:ext cx="1111567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Repowering can reduce some bird risks. Careful siting and monitoring remain essential.</a:t>
            </a:r>
          </a:p>
        </p:txBody>
      </p:sp>
      <p:sp>
        <p:nvSpPr>
          <p:cNvPr id="9" name="text-155">
            <a:extLst>
              <a:ext uri="{FF2B5EF4-FFF2-40B4-BE49-F238E27FC236}">
                <a16:creationId xmlns:a16="http://schemas.microsoft.com/office/drawing/2014/main" id="{5C0B9B33-6CF4-4D47-AAE1-8AAAB3AB395B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10.42: turbine designs differ in perch availability and operating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56">
            <a:extLst>
              <a:ext uri="{FF2B5EF4-FFF2-40B4-BE49-F238E27FC236}">
                <a16:creationId xmlns:a16="http://schemas.microsoft.com/office/drawing/2014/main" id="{40D7C0CB-3CB4-4291-B877-E672F7832AC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57">
            <a:extLst>
              <a:ext uri="{FF2B5EF4-FFF2-40B4-BE49-F238E27FC236}">
                <a16:creationId xmlns:a16="http://schemas.microsoft.com/office/drawing/2014/main" id="{B70F3EE4-FE88-45A4-A58A-B09F630702E4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Experiment: changing turbine operation protects bats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B58BDBC-E399-4CD3-8BFE-BC817707CB11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35 / 49</a:t>
            </a:r>
          </a:p>
        </p:txBody>
      </p:sp>
      <p:sp>
        <p:nvSpPr>
          <p:cNvPr id="4" name="text-158">
            <a:extLst>
              <a:ext uri="{FF2B5EF4-FFF2-40B4-BE49-F238E27FC236}">
                <a16:creationId xmlns:a16="http://schemas.microsoft.com/office/drawing/2014/main" id="{E87939F0-8E97-4139-A450-77B154A964D0}"/>
              </a:ext>
            </a:extLst>
          </p:cNvPr>
          <p:cNvSpPr>
            <a:spLocks noGrp="1"/>
          </p:cNvSpPr>
          <p:nvPr/>
        </p:nvSpPr>
        <p:spPr>
          <a:xfrm>
            <a:off x="762000" y="208597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Reduction in bat fatalities (%)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96D98CD8-040E-4D0F-A250-43875D25A539}"/>
              </a:ext>
            </a:extLst>
          </p:cNvPr>
          <p:cNvGraphicFramePr/>
          <p:nvPr/>
        </p:nvGraphicFramePr>
        <p:xfrm>
          <a:off x="666750" y="2552700"/>
          <a:ext cx="723900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-159">
            <a:extLst>
              <a:ext uri="{FF2B5EF4-FFF2-40B4-BE49-F238E27FC236}">
                <a16:creationId xmlns:a16="http://schemas.microsoft.com/office/drawing/2014/main" id="{BB301B03-3A2A-4BDF-B1BC-F37BAA552788}"/>
              </a:ext>
            </a:extLst>
          </p:cNvPr>
          <p:cNvSpPr>
            <a:spLocks noGrp="1"/>
          </p:cNvSpPr>
          <p:nvPr/>
        </p:nvSpPr>
        <p:spPr>
          <a:xfrm>
            <a:off x="8267700" y="2085975"/>
            <a:ext cx="324802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Tested on 21 turbines</a:t>
            </a:r>
          </a:p>
        </p:txBody>
      </p:sp>
      <p:sp>
        <p:nvSpPr>
          <p:cNvPr id="7" name="text-160">
            <a:extLst>
              <a:ext uri="{FF2B5EF4-FFF2-40B4-BE49-F238E27FC236}">
                <a16:creationId xmlns:a16="http://schemas.microsoft.com/office/drawing/2014/main" id="{536C41D9-0257-44FB-BE3C-FF6C959E95DC}"/>
              </a:ext>
            </a:extLst>
          </p:cNvPr>
          <p:cNvSpPr>
            <a:spLocks noGrp="1"/>
          </p:cNvSpPr>
          <p:nvPr/>
        </p:nvSpPr>
        <p:spPr>
          <a:xfrm>
            <a:off x="8267700" y="3086100"/>
            <a:ext cx="3200400" cy="1590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Reduce rotor motion during low-wind periods when bats are at risk.</a:t>
            </a:r>
          </a:p>
        </p:txBody>
      </p:sp>
      <p:sp>
        <p:nvSpPr>
          <p:cNvPr id="8" name="reveal-1">
            <a:extLst>
              <a:ext uri="{FF2B5EF4-FFF2-40B4-BE49-F238E27FC236}">
                <a16:creationId xmlns:a16="http://schemas.microsoft.com/office/drawing/2014/main" id="{26ECAE0A-A4DE-46BE-8662-229A9706301E}"/>
              </a:ext>
            </a:extLst>
          </p:cNvPr>
          <p:cNvSpPr>
            <a:spLocks noGrp="1"/>
          </p:cNvSpPr>
          <p:nvPr/>
        </p:nvSpPr>
        <p:spPr>
          <a:xfrm>
            <a:off x="8267699" y="4829175"/>
            <a:ext cx="3495675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Fewer fatalities—not zero risk. Site-specific evidence matters.</a:t>
            </a:r>
          </a:p>
        </p:txBody>
      </p:sp>
      <p:sp>
        <p:nvSpPr>
          <p:cNvPr id="9" name="text-161">
            <a:extLst>
              <a:ext uri="{FF2B5EF4-FFF2-40B4-BE49-F238E27FC236}">
                <a16:creationId xmlns:a16="http://schemas.microsoft.com/office/drawing/2014/main" id="{CEF02D64-DAD2-4207-AA16-ADA51814AFD9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Baerwald et al. (2009): reductions relative to normal operation at one Alberta site during the peak fatality period.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62">
            <a:extLst>
              <a:ext uri="{FF2B5EF4-FFF2-40B4-BE49-F238E27FC236}">
                <a16:creationId xmlns:a16="http://schemas.microsoft.com/office/drawing/2014/main" id="{303690F7-4895-4FDC-9C7E-AFBB4F600C1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63">
            <a:extLst>
              <a:ext uri="{FF2B5EF4-FFF2-40B4-BE49-F238E27FC236}">
                <a16:creationId xmlns:a16="http://schemas.microsoft.com/office/drawing/2014/main" id="{958A8434-1519-41FF-8346-0A1F9C14EF6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Safer transmission routes and visible lines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63C4302-06DB-4D20-8701-B4F3872FFD3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36 / 49</a:t>
            </a:r>
          </a:p>
        </p:txBody>
      </p:sp>
      <p:sp>
        <p:nvSpPr>
          <p:cNvPr id="4" name="text-164">
            <a:extLst>
              <a:ext uri="{FF2B5EF4-FFF2-40B4-BE49-F238E27FC236}">
                <a16:creationId xmlns:a16="http://schemas.microsoft.com/office/drawing/2014/main" id="{B718915F-9343-4A9C-9D07-2E54E1EF49AA}"/>
              </a:ext>
            </a:extLst>
          </p:cNvPr>
          <p:cNvSpPr>
            <a:spLocks noGrp="1"/>
          </p:cNvSpPr>
          <p:nvPr/>
        </p:nvSpPr>
        <p:spPr>
          <a:xfrm>
            <a:off x="723899" y="2190750"/>
            <a:ext cx="7042993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Avoid important flight, feeding, and roosting areas</a:t>
            </a:r>
            <a:endParaRPr lang="en-US" sz="2325" dirty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sz="2325" dirty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Use suitable existing rights of way</a:t>
            </a:r>
            <a:endParaRPr lang="en-US" sz="2325" dirty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sz="2325" dirty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Mark high-risk spans and measure the outcome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B97D2-BC29-46DB-BBDE-5B449B329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881891" y="2076450"/>
            <a:ext cx="3508853" cy="3857625"/>
          </a:xfrm>
          <a:prstGeom prst="rect">
            <a:avLst/>
          </a:prstGeom>
        </p:spPr>
      </p:pic>
      <p:sp>
        <p:nvSpPr>
          <p:cNvPr id="6" name="text-165">
            <a:extLst>
              <a:ext uri="{FF2B5EF4-FFF2-40B4-BE49-F238E27FC236}">
                <a16:creationId xmlns:a16="http://schemas.microsoft.com/office/drawing/2014/main" id="{215AF547-98B6-4C00-A356-284164386768}"/>
              </a:ext>
            </a:extLst>
          </p:cNvPr>
          <p:cNvSpPr>
            <a:spLocks noGrp="1"/>
          </p:cNvSpPr>
          <p:nvPr/>
        </p:nvSpPr>
        <p:spPr>
          <a:xfrm>
            <a:off x="7881891" y="6105525"/>
            <a:ext cx="3624309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10.44: markers make electrical lines more visible to birds.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166">
            <a:extLst>
              <a:ext uri="{FF2B5EF4-FFF2-40B4-BE49-F238E27FC236}">
                <a16:creationId xmlns:a16="http://schemas.microsoft.com/office/drawing/2014/main" id="{16091C49-C926-4AC8-9E46-6113A28606B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67">
            <a:extLst>
              <a:ext uri="{FF2B5EF4-FFF2-40B4-BE49-F238E27FC236}">
                <a16:creationId xmlns:a16="http://schemas.microsoft.com/office/drawing/2014/main" id="{72C054B2-49BF-474F-85B8-7B17848E1336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Run-of-the-river hydropower preserves some flow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C1A9048-0089-4A26-B2B9-323F5DE5A5D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37 / 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64294A-C57A-4185-98EB-ABC420C12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755982" y="1781175"/>
            <a:ext cx="8680037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C3F66389-50A9-417A-A252-23C95764692D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Divert only part of the river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76828DD1-AA66-4BD8-8F9E-82632E513148}"/>
              </a:ext>
            </a:extLst>
          </p:cNvPr>
          <p:cNvSpPr>
            <a:spLocks noGrp="1"/>
          </p:cNvSpPr>
          <p:nvPr/>
        </p:nvSpPr>
        <p:spPr>
          <a:xfrm>
            <a:off x="4362450" y="5695950"/>
            <a:ext cx="2963767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Maintain ecological flow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571EB8EA-C0E8-4DFE-A327-3FC92E63567E}"/>
              </a:ext>
            </a:extLst>
          </p:cNvPr>
          <p:cNvSpPr>
            <a:spLocks noGrp="1"/>
          </p:cNvSpPr>
          <p:nvPr/>
        </p:nvSpPr>
        <p:spPr>
          <a:xfrm>
            <a:off x="7554817" y="5695950"/>
            <a:ext cx="4008533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Provide fish passage and monitor impacts</a:t>
            </a:r>
          </a:p>
        </p:txBody>
      </p:sp>
      <p:sp>
        <p:nvSpPr>
          <p:cNvPr id="8" name="text-168">
            <a:extLst>
              <a:ext uri="{FF2B5EF4-FFF2-40B4-BE49-F238E27FC236}">
                <a16:creationId xmlns:a16="http://schemas.microsoft.com/office/drawing/2014/main" id="{5110CF31-702B-46A7-BB04-1973335CEF92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Figs. 10.45–10.46: a diversion supplies a powerhouse while the main channel retains flow and fish passage.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69">
            <a:extLst>
              <a:ext uri="{FF2B5EF4-FFF2-40B4-BE49-F238E27FC236}">
                <a16:creationId xmlns:a16="http://schemas.microsoft.com/office/drawing/2014/main" id="{3082398D-6226-46BD-8452-EC9FA56EA94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70">
            <a:extLst>
              <a:ext uri="{FF2B5EF4-FFF2-40B4-BE49-F238E27FC236}">
                <a16:creationId xmlns:a16="http://schemas.microsoft.com/office/drawing/2014/main" id="{B7D39A80-595B-41DC-9359-A27C33A371F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dams can offer alternatives to new barriers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75499F1-19A1-44B4-9229-B124ED35B63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38 / 49</a:t>
            </a:r>
          </a:p>
        </p:txBody>
      </p:sp>
      <p:sp>
        <p:nvSpPr>
          <p:cNvPr id="4" name="text-171">
            <a:extLst>
              <a:ext uri="{FF2B5EF4-FFF2-40B4-BE49-F238E27FC236}">
                <a16:creationId xmlns:a16="http://schemas.microsoft.com/office/drawing/2014/main" id="{4AC2F6FD-A739-4595-B85E-B8B138D9DC75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Assess suitable existing unpowered dams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Improve fish passage and operating rules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Compare refurbishment with removal and other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E92E8A-13DD-4989-98C4-AA73BC4FC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962650" y="2331904"/>
            <a:ext cx="5562600" cy="3346717"/>
          </a:xfrm>
          <a:prstGeom prst="rect">
            <a:avLst/>
          </a:prstGeom>
        </p:spPr>
      </p:pic>
      <p:sp>
        <p:nvSpPr>
          <p:cNvPr id="6" name="text-172">
            <a:extLst>
              <a:ext uri="{FF2B5EF4-FFF2-40B4-BE49-F238E27FC236}">
                <a16:creationId xmlns:a16="http://schemas.microsoft.com/office/drawing/2014/main" id="{9A7DB77D-6BD5-43D4-9612-696BEC9EB13E}"/>
              </a:ext>
            </a:extLst>
          </p:cNvPr>
          <p:cNvSpPr>
            <a:spLocks noGrp="1"/>
          </p:cNvSpPr>
          <p:nvPr/>
        </p:nvSpPr>
        <p:spPr>
          <a:xfrm>
            <a:off x="5962650" y="5997575"/>
            <a:ext cx="55435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10.46: a fish bypass at a low dam illustrates one approach to maintaining passage.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73">
            <a:extLst>
              <a:ext uri="{FF2B5EF4-FFF2-40B4-BE49-F238E27FC236}">
                <a16:creationId xmlns:a16="http://schemas.microsoft.com/office/drawing/2014/main" id="{D0A77CE2-74E4-4465-BC14-C383F0E3B83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74">
            <a:extLst>
              <a:ext uri="{FF2B5EF4-FFF2-40B4-BE49-F238E27FC236}">
                <a16:creationId xmlns:a16="http://schemas.microsoft.com/office/drawing/2014/main" id="{68ABC913-C5F8-4B30-B408-672D3FC5955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Lower-impact biofuels start with the feedstock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D7B0919-0C20-478F-840D-E588A873383D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39 / 49</a:t>
            </a:r>
          </a:p>
        </p:txBody>
      </p:sp>
      <p:sp>
        <p:nvSpPr>
          <p:cNvPr id="4" name="text-175">
            <a:extLst>
              <a:ext uri="{FF2B5EF4-FFF2-40B4-BE49-F238E27FC236}">
                <a16:creationId xmlns:a16="http://schemas.microsoft.com/office/drawing/2014/main" id="{4248914E-E65C-468B-8AE3-B9959BFADA29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Use appropriate residues and waste streams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Protect forests, soils, and food production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Evaluate algae and cellulosic pathways over their full life cycle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BE380-AF68-4D68-9EE3-BF1D412E1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461353" y="2076450"/>
            <a:ext cx="2565194" cy="3857625"/>
          </a:xfrm>
          <a:prstGeom prst="rect">
            <a:avLst/>
          </a:prstGeom>
        </p:spPr>
      </p:pic>
      <p:sp>
        <p:nvSpPr>
          <p:cNvPr id="6" name="text-176">
            <a:extLst>
              <a:ext uri="{FF2B5EF4-FFF2-40B4-BE49-F238E27FC236}">
                <a16:creationId xmlns:a16="http://schemas.microsoft.com/office/drawing/2014/main" id="{1B219BFC-A8D6-42D9-9E0E-2229D99E537D}"/>
              </a:ext>
            </a:extLst>
          </p:cNvPr>
          <p:cNvSpPr>
            <a:spLocks noGrp="1"/>
          </p:cNvSpPr>
          <p:nvPr/>
        </p:nvSpPr>
        <p:spPr>
          <a:xfrm>
            <a:off x="6604000" y="6096000"/>
            <a:ext cx="48768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10.50: algae cultivation is a potential biofuel pathway, with its own resource and processing requirements.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77">
            <a:extLst>
              <a:ext uri="{FF2B5EF4-FFF2-40B4-BE49-F238E27FC236}">
                <a16:creationId xmlns:a16="http://schemas.microsoft.com/office/drawing/2014/main" id="{D6342231-B723-4C17-8E51-E8E98CFCA2B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78">
            <a:extLst>
              <a:ext uri="{FF2B5EF4-FFF2-40B4-BE49-F238E27FC236}">
                <a16:creationId xmlns:a16="http://schemas.microsoft.com/office/drawing/2014/main" id="{AAA56AB1-2D7E-43A4-B804-50AB052A9B0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and community participation shape deployment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265EF0D0-D9BA-434F-9C2C-8FD90E813346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40 / 49</a:t>
            </a:r>
          </a:p>
        </p:txBody>
      </p:sp>
      <p:sp>
        <p:nvSpPr>
          <p:cNvPr id="4" name="text-179">
            <a:extLst>
              <a:ext uri="{FF2B5EF4-FFF2-40B4-BE49-F238E27FC236}">
                <a16:creationId xmlns:a16="http://schemas.microsoft.com/office/drawing/2014/main" id="{E3B1E292-F507-4C57-ADD0-68E6066A0B42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0648950" cy="3819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Clear permitting and grid-connection processes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Financing and incentives aligned with environmental goals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Enforceable habitat and land-use protections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Meaningful community participation and fair distribution of benefits</a:t>
            </a:r>
          </a:p>
        </p:txBody>
      </p:sp>
      <p:sp>
        <p:nvSpPr>
          <p:cNvPr id="5" name="text-180">
            <a:extLst>
              <a:ext uri="{FF2B5EF4-FFF2-40B4-BE49-F238E27FC236}">
                <a16:creationId xmlns:a16="http://schemas.microsoft.com/office/drawing/2014/main" id="{EC81042E-3797-41DB-A97D-9188BB92FEB3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Technical design and social decisions jointly determine the outcome.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181">
            <a:extLst>
              <a:ext uri="{FF2B5EF4-FFF2-40B4-BE49-F238E27FC236}">
                <a16:creationId xmlns:a16="http://schemas.microsoft.com/office/drawing/2014/main" id="{96B3A538-8059-4542-9565-5CDB7817DE9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82">
            <a:extLst>
              <a:ext uri="{FF2B5EF4-FFF2-40B4-BE49-F238E27FC236}">
                <a16:creationId xmlns:a16="http://schemas.microsoft.com/office/drawing/2014/main" id="{872984D2-DEAA-4798-B46C-AE97C91586E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Solutions summary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8BC05E5-B382-4539-9931-51A2415550C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41 / 49</a:t>
            </a:r>
          </a:p>
        </p:txBody>
      </p:sp>
      <p:sp>
        <p:nvSpPr>
          <p:cNvPr id="4" name="text-183">
            <a:extLst>
              <a:ext uri="{FF2B5EF4-FFF2-40B4-BE49-F238E27FC236}">
                <a16:creationId xmlns:a16="http://schemas.microsoft.com/office/drawing/2014/main" id="{72A18404-6BF4-40B3-8B9F-B30746D57E09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10.8</a:t>
            </a:r>
          </a:p>
        </p:txBody>
      </p:sp>
      <p:sp>
        <p:nvSpPr>
          <p:cNvPr id="5" name="text-184">
            <a:extLst>
              <a:ext uri="{FF2B5EF4-FFF2-40B4-BE49-F238E27FC236}">
                <a16:creationId xmlns:a16="http://schemas.microsoft.com/office/drawing/2014/main" id="{20F9B5E7-4C4E-4260-9EA6-BCC1D3F2A8E8}"/>
              </a:ext>
            </a:extLst>
          </p:cNvPr>
          <p:cNvSpPr>
            <a:spLocks noGrp="1"/>
          </p:cNvSpPr>
          <p:nvPr/>
        </p:nvSpPr>
        <p:spPr>
          <a:xfrm>
            <a:off x="2943225" y="219075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Solar: improve siting, cooling design, and storage.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FD9D510-64EE-4C30-852D-02CE9D8A18C0}"/>
              </a:ext>
            </a:extLst>
          </p:cNvPr>
          <p:cNvSpPr>
            <a:spLocks noGrp="1"/>
          </p:cNvSpPr>
          <p:nvPr/>
        </p:nvSpPr>
        <p:spPr>
          <a:xfrm>
            <a:off x="723900" y="30765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185">
            <a:extLst>
              <a:ext uri="{FF2B5EF4-FFF2-40B4-BE49-F238E27FC236}">
                <a16:creationId xmlns:a16="http://schemas.microsoft.com/office/drawing/2014/main" id="{84FD97AE-A1B6-438E-982E-BF4BBA15B5F6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10.9</a:t>
            </a:r>
          </a:p>
        </p:txBody>
      </p:sp>
      <p:sp>
        <p:nvSpPr>
          <p:cNvPr id="8" name="text-186">
            <a:extLst>
              <a:ext uri="{FF2B5EF4-FFF2-40B4-BE49-F238E27FC236}">
                <a16:creationId xmlns:a16="http://schemas.microsoft.com/office/drawing/2014/main" id="{B2984141-FCD0-4CFD-9986-347AAF6CA92D}"/>
              </a:ext>
            </a:extLst>
          </p:cNvPr>
          <p:cNvSpPr>
            <a:spLocks noGrp="1"/>
          </p:cNvSpPr>
          <p:nvPr/>
        </p:nvSpPr>
        <p:spPr>
          <a:xfrm>
            <a:off x="2943225" y="312420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Wind: reduce wildlife exposure through siting and operation.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4399A7F-05CE-46F1-935B-428DBAF77D0D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187">
            <a:extLst>
              <a:ext uri="{FF2B5EF4-FFF2-40B4-BE49-F238E27FC236}">
                <a16:creationId xmlns:a16="http://schemas.microsoft.com/office/drawing/2014/main" id="{99DBD5E6-BA57-4659-9F16-312502463F00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10.10</a:t>
            </a:r>
          </a:p>
        </p:txBody>
      </p:sp>
      <p:sp>
        <p:nvSpPr>
          <p:cNvPr id="11" name="text-188">
            <a:extLst>
              <a:ext uri="{FF2B5EF4-FFF2-40B4-BE49-F238E27FC236}">
                <a16:creationId xmlns:a16="http://schemas.microsoft.com/office/drawing/2014/main" id="{1EF50143-9A7A-436B-A273-04FA4F6CAEEE}"/>
              </a:ext>
            </a:extLst>
          </p:cNvPr>
          <p:cNvSpPr>
            <a:spLocks noGrp="1"/>
          </p:cNvSpPr>
          <p:nvPr/>
        </p:nvSpPr>
        <p:spPr>
          <a:xfrm>
            <a:off x="2943225" y="405765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Hydropower: maintain river function and assess existing barriers.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05B0C9E-9E40-4087-AB5B-7ABDE03D4964}"/>
              </a:ext>
            </a:extLst>
          </p:cNvPr>
          <p:cNvSpPr>
            <a:spLocks noGrp="1"/>
          </p:cNvSpPr>
          <p:nvPr/>
        </p:nvSpPr>
        <p:spPr>
          <a:xfrm>
            <a:off x="723900" y="49434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189">
            <a:extLst>
              <a:ext uri="{FF2B5EF4-FFF2-40B4-BE49-F238E27FC236}">
                <a16:creationId xmlns:a16="http://schemas.microsoft.com/office/drawing/2014/main" id="{0C0A8319-960F-44F8-BDC6-B92B8DD5C0E3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10.11</a:t>
            </a:r>
          </a:p>
        </p:txBody>
      </p:sp>
      <p:sp>
        <p:nvSpPr>
          <p:cNvPr id="14" name="text-190">
            <a:extLst>
              <a:ext uri="{FF2B5EF4-FFF2-40B4-BE49-F238E27FC236}">
                <a16:creationId xmlns:a16="http://schemas.microsoft.com/office/drawing/2014/main" id="{4C099E5D-4C36-4DD6-AAEF-DC7359AB1E96}"/>
              </a:ext>
            </a:extLst>
          </p:cNvPr>
          <p:cNvSpPr>
            <a:spLocks noGrp="1"/>
          </p:cNvSpPr>
          <p:nvPr/>
        </p:nvSpPr>
        <p:spPr>
          <a:xfrm>
            <a:off x="2943225" y="499110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Biofuels: protect ecosystems and choose suitable feedstocks.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191">
            <a:extLst>
              <a:ext uri="{FF2B5EF4-FFF2-40B4-BE49-F238E27FC236}">
                <a16:creationId xmlns:a16="http://schemas.microsoft.com/office/drawing/2014/main" id="{9B6A6421-9306-412D-8D56-0FF917310EF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APPLICATION</a:t>
            </a:r>
          </a:p>
        </p:txBody>
      </p:sp>
      <p:sp>
        <p:nvSpPr>
          <p:cNvPr id="2" name="text-192">
            <a:extLst>
              <a:ext uri="{FF2B5EF4-FFF2-40B4-BE49-F238E27FC236}">
                <a16:creationId xmlns:a16="http://schemas.microsoft.com/office/drawing/2014/main" id="{66064937-930E-4B9C-9081-1852F07F25DF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Grid challenge: four hours after sunset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C145F15-2EA6-4E55-8F13-60BAD9957B2F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42 / 49</a:t>
            </a:r>
          </a:p>
        </p:txBody>
      </p:sp>
      <p:sp>
        <p:nvSpPr>
          <p:cNvPr id="4" name="text-193">
            <a:extLst>
              <a:ext uri="{FF2B5EF4-FFF2-40B4-BE49-F238E27FC236}">
                <a16:creationId xmlns:a16="http://schemas.microsoft.com/office/drawing/2014/main" id="{5859E8CE-17DE-4F22-8AA4-29D27B8E5DA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5" name="text-194">
            <a:extLst>
              <a:ext uri="{FF2B5EF4-FFF2-40B4-BE49-F238E27FC236}">
                <a16:creationId xmlns:a16="http://schemas.microsoft.com/office/drawing/2014/main" id="{AAFF7404-2B5F-4F84-83BD-6DB2CDE89C93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 MW</a:t>
            </a:r>
          </a:p>
        </p:txBody>
      </p:sp>
      <p:sp>
        <p:nvSpPr>
          <p:cNvPr id="6" name="text-195">
            <a:extLst>
              <a:ext uri="{FF2B5EF4-FFF2-40B4-BE49-F238E27FC236}">
                <a16:creationId xmlns:a16="http://schemas.microsoft.com/office/drawing/2014/main" id="{C3F06379-BAB8-40DC-8619-5B00C135A49A}"/>
              </a:ext>
            </a:extLst>
          </p:cNvPr>
          <p:cNvSpPr>
            <a:spLocks noGrp="1"/>
          </p:cNvSpPr>
          <p:nvPr/>
        </p:nvSpPr>
        <p:spPr>
          <a:xfrm>
            <a:off x="348615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WIND</a:t>
            </a:r>
          </a:p>
        </p:txBody>
      </p:sp>
      <p:sp>
        <p:nvSpPr>
          <p:cNvPr id="7" name="text-196">
            <a:extLst>
              <a:ext uri="{FF2B5EF4-FFF2-40B4-BE49-F238E27FC236}">
                <a16:creationId xmlns:a16="http://schemas.microsoft.com/office/drawing/2014/main" id="{399EFF72-558C-4026-86B9-E7F8B52889B7}"/>
              </a:ext>
            </a:extLst>
          </p:cNvPr>
          <p:cNvSpPr>
            <a:spLocks noGrp="1"/>
          </p:cNvSpPr>
          <p:nvPr/>
        </p:nvSpPr>
        <p:spPr>
          <a:xfrm>
            <a:off x="348615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3 MW</a:t>
            </a:r>
          </a:p>
        </p:txBody>
      </p:sp>
      <p:sp>
        <p:nvSpPr>
          <p:cNvPr id="8" name="text-197">
            <a:extLst>
              <a:ext uri="{FF2B5EF4-FFF2-40B4-BE49-F238E27FC236}">
                <a16:creationId xmlns:a16="http://schemas.microsoft.com/office/drawing/2014/main" id="{A98F89EA-E347-481E-8DBB-9BF1057E2203}"/>
              </a:ext>
            </a:extLst>
          </p:cNvPr>
          <p:cNvSpPr>
            <a:spLocks noGrp="1"/>
          </p:cNvSpPr>
          <p:nvPr/>
        </p:nvSpPr>
        <p:spPr>
          <a:xfrm>
            <a:off x="624840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HYDRO</a:t>
            </a:r>
          </a:p>
        </p:txBody>
      </p:sp>
      <p:sp>
        <p:nvSpPr>
          <p:cNvPr id="9" name="text-198">
            <a:extLst>
              <a:ext uri="{FF2B5EF4-FFF2-40B4-BE49-F238E27FC236}">
                <a16:creationId xmlns:a16="http://schemas.microsoft.com/office/drawing/2014/main" id="{06B7F264-FEF6-4D6D-94E2-BDFF0DB2814B}"/>
              </a:ext>
            </a:extLst>
          </p:cNvPr>
          <p:cNvSpPr>
            <a:spLocks noGrp="1"/>
          </p:cNvSpPr>
          <p:nvPr/>
        </p:nvSpPr>
        <p:spPr>
          <a:xfrm>
            <a:off x="624840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4 MW</a:t>
            </a:r>
          </a:p>
        </p:txBody>
      </p:sp>
      <p:sp>
        <p:nvSpPr>
          <p:cNvPr id="10" name="text-199">
            <a:extLst>
              <a:ext uri="{FF2B5EF4-FFF2-40B4-BE49-F238E27FC236}">
                <a16:creationId xmlns:a16="http://schemas.microsoft.com/office/drawing/2014/main" id="{F55B2394-B13E-40AF-A88D-826FC238FCDF}"/>
              </a:ext>
            </a:extLst>
          </p:cNvPr>
          <p:cNvSpPr>
            <a:spLocks noGrp="1"/>
          </p:cNvSpPr>
          <p:nvPr/>
        </p:nvSpPr>
        <p:spPr>
          <a:xfrm>
            <a:off x="8626207" y="2133600"/>
            <a:ext cx="2956193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SOLAR</a:t>
            </a:r>
            <a:r>
              <a:rPr lang="en-US" sz="1650" b="1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 (Photovoltaic)</a:t>
            </a:r>
            <a:endParaRPr sz="1650" b="1" dirty="0">
              <a:solidFill>
                <a:srgbClr val="A9BE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-200">
            <a:extLst>
              <a:ext uri="{FF2B5EF4-FFF2-40B4-BE49-F238E27FC236}">
                <a16:creationId xmlns:a16="http://schemas.microsoft.com/office/drawing/2014/main" id="{B5379A5E-1324-4433-B715-2D4C0138FD14}"/>
              </a:ext>
            </a:extLst>
          </p:cNvPr>
          <p:cNvSpPr>
            <a:spLocks noGrp="1"/>
          </p:cNvSpPr>
          <p:nvPr/>
        </p:nvSpPr>
        <p:spPr>
          <a:xfrm>
            <a:off x="901065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 MW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A40BC11-F245-4832-A3E3-2136C3F28F54}"/>
              </a:ext>
            </a:extLst>
          </p:cNvPr>
          <p:cNvSpPr>
            <a:spLocks noGrp="1"/>
          </p:cNvSpPr>
          <p:nvPr/>
        </p:nvSpPr>
        <p:spPr>
          <a:xfrm>
            <a:off x="723900" y="3695700"/>
            <a:ext cx="10715625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201">
            <a:extLst>
              <a:ext uri="{FF2B5EF4-FFF2-40B4-BE49-F238E27FC236}">
                <a16:creationId xmlns:a16="http://schemas.microsoft.com/office/drawing/2014/main" id="{04D94D67-73E1-46D8-95F5-75BE0A0E5B4A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2476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A0F5"/>
                </a:solidFill>
                <a:latin typeface="Arial"/>
                <a:ea typeface="Arial"/>
                <a:cs typeface="Arial"/>
              </a:rPr>
              <a:t>BATTERY</a:t>
            </a:r>
          </a:p>
        </p:txBody>
      </p:sp>
      <p:sp>
        <p:nvSpPr>
          <p:cNvPr id="14" name="text-202">
            <a:extLst>
              <a:ext uri="{FF2B5EF4-FFF2-40B4-BE49-F238E27FC236}">
                <a16:creationId xmlns:a16="http://schemas.microsoft.com/office/drawing/2014/main" id="{7D3F0F26-B8DA-4D66-96EC-272B9BB214CF}"/>
              </a:ext>
            </a:extLst>
          </p:cNvPr>
          <p:cNvSpPr>
            <a:spLocks noGrp="1"/>
          </p:cNvSpPr>
          <p:nvPr/>
        </p:nvSpPr>
        <p:spPr>
          <a:xfrm>
            <a:off x="3209925" y="3962400"/>
            <a:ext cx="80962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70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3 MW maximum  •  12 MWh usable</a:t>
            </a:r>
          </a:p>
        </p:txBody>
      </p:sp>
      <p:sp>
        <p:nvSpPr>
          <p:cNvPr id="15" name="text-203">
            <a:extLst>
              <a:ext uri="{FF2B5EF4-FFF2-40B4-BE49-F238E27FC236}">
                <a16:creationId xmlns:a16="http://schemas.microsoft.com/office/drawing/2014/main" id="{E7E30F2F-4D6B-4CA6-B26B-B5DE7012E219}"/>
              </a:ext>
            </a:extLst>
          </p:cNvPr>
          <p:cNvSpPr>
            <a:spLocks noGrp="1"/>
          </p:cNvSpPr>
          <p:nvPr/>
        </p:nvSpPr>
        <p:spPr>
          <a:xfrm>
            <a:off x="723900" y="46958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Can the lights stay on for all four hours?</a:t>
            </a:r>
          </a:p>
        </p:txBody>
      </p:sp>
      <p:sp>
        <p:nvSpPr>
          <p:cNvPr id="16" name="reveal-0">
            <a:extLst>
              <a:ext uri="{FF2B5EF4-FFF2-40B4-BE49-F238E27FC236}">
                <a16:creationId xmlns:a16="http://schemas.microsoft.com/office/drawing/2014/main" id="{E3599407-A683-4BDB-A6B8-7921EA114E61}"/>
              </a:ext>
            </a:extLst>
          </p:cNvPr>
          <p:cNvSpPr>
            <a:spLocks noGrp="1"/>
          </p:cNvSpPr>
          <p:nvPr/>
        </p:nvSpPr>
        <p:spPr>
          <a:xfrm>
            <a:off x="723900" y="536257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Gap = 3 MW × 4 hours = 12 MWh. Yes—exactly enough in this model.</a:t>
            </a:r>
          </a:p>
        </p:txBody>
      </p:sp>
      <p:sp>
        <p:nvSpPr>
          <p:cNvPr id="17" name="text-204">
            <a:extLst>
              <a:ext uri="{FF2B5EF4-FFF2-40B4-BE49-F238E27FC236}">
                <a16:creationId xmlns:a16="http://schemas.microsoft.com/office/drawing/2014/main" id="{DDE0C4C6-3751-47D8-BE01-ED4AC0B4B92B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Hypothetical isolated system. Battery starts full with 12 MWh usable output and a 3 MW discharge limit.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205">
            <a:extLst>
              <a:ext uri="{FF2B5EF4-FFF2-40B4-BE49-F238E27FC236}">
                <a16:creationId xmlns:a16="http://schemas.microsoft.com/office/drawing/2014/main" id="{909160FE-5498-4F27-A257-78599112006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APPLICATION</a:t>
            </a:r>
          </a:p>
        </p:txBody>
      </p:sp>
      <p:sp>
        <p:nvSpPr>
          <p:cNvPr id="2" name="text-206">
            <a:extLst>
              <a:ext uri="{FF2B5EF4-FFF2-40B4-BE49-F238E27FC236}">
                <a16:creationId xmlns:a16="http://schemas.microsoft.com/office/drawing/2014/main" id="{47793788-188A-4750-8306-23CD8447F64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Grid challenge: the wind drops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773D6E2D-F832-4C2D-877E-AC13E83A4E6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43 / 49</a:t>
            </a:r>
          </a:p>
        </p:txBody>
      </p:sp>
      <p:sp>
        <p:nvSpPr>
          <p:cNvPr id="4" name="text-207">
            <a:extLst>
              <a:ext uri="{FF2B5EF4-FFF2-40B4-BE49-F238E27FC236}">
                <a16:creationId xmlns:a16="http://schemas.microsoft.com/office/drawing/2014/main" id="{5C9A3933-DE75-4294-B4E3-EE4410F8B4B5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5" name="text-208">
            <a:extLst>
              <a:ext uri="{FF2B5EF4-FFF2-40B4-BE49-F238E27FC236}">
                <a16:creationId xmlns:a16="http://schemas.microsoft.com/office/drawing/2014/main" id="{1F73268D-6B86-4531-B41B-3BAB7221937B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 MW</a:t>
            </a:r>
          </a:p>
        </p:txBody>
      </p:sp>
      <p:sp>
        <p:nvSpPr>
          <p:cNvPr id="6" name="text-209">
            <a:extLst>
              <a:ext uri="{FF2B5EF4-FFF2-40B4-BE49-F238E27FC236}">
                <a16:creationId xmlns:a16="http://schemas.microsoft.com/office/drawing/2014/main" id="{8799DB25-1A6E-4C95-8CA7-41E7D262C35A}"/>
              </a:ext>
            </a:extLst>
          </p:cNvPr>
          <p:cNvSpPr>
            <a:spLocks noGrp="1"/>
          </p:cNvSpPr>
          <p:nvPr/>
        </p:nvSpPr>
        <p:spPr>
          <a:xfrm>
            <a:off x="348615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WIND</a:t>
            </a:r>
          </a:p>
        </p:txBody>
      </p:sp>
      <p:sp>
        <p:nvSpPr>
          <p:cNvPr id="7" name="text-210">
            <a:extLst>
              <a:ext uri="{FF2B5EF4-FFF2-40B4-BE49-F238E27FC236}">
                <a16:creationId xmlns:a16="http://schemas.microsoft.com/office/drawing/2014/main" id="{D42E7C07-03F7-4D45-9A59-66B987B3D2DE}"/>
              </a:ext>
            </a:extLst>
          </p:cNvPr>
          <p:cNvSpPr>
            <a:spLocks noGrp="1"/>
          </p:cNvSpPr>
          <p:nvPr/>
        </p:nvSpPr>
        <p:spPr>
          <a:xfrm>
            <a:off x="348615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1 MW</a:t>
            </a:r>
          </a:p>
        </p:txBody>
      </p:sp>
      <p:sp>
        <p:nvSpPr>
          <p:cNvPr id="8" name="text-211">
            <a:extLst>
              <a:ext uri="{FF2B5EF4-FFF2-40B4-BE49-F238E27FC236}">
                <a16:creationId xmlns:a16="http://schemas.microsoft.com/office/drawing/2014/main" id="{E9AD7621-C120-43F4-B40F-986E634EEC34}"/>
              </a:ext>
            </a:extLst>
          </p:cNvPr>
          <p:cNvSpPr>
            <a:spLocks noGrp="1"/>
          </p:cNvSpPr>
          <p:nvPr/>
        </p:nvSpPr>
        <p:spPr>
          <a:xfrm>
            <a:off x="624840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HYDRO</a:t>
            </a:r>
          </a:p>
        </p:txBody>
      </p:sp>
      <p:sp>
        <p:nvSpPr>
          <p:cNvPr id="9" name="text-212">
            <a:extLst>
              <a:ext uri="{FF2B5EF4-FFF2-40B4-BE49-F238E27FC236}">
                <a16:creationId xmlns:a16="http://schemas.microsoft.com/office/drawing/2014/main" id="{76ED8A7C-6848-4BE1-830A-229E942815F6}"/>
              </a:ext>
            </a:extLst>
          </p:cNvPr>
          <p:cNvSpPr>
            <a:spLocks noGrp="1"/>
          </p:cNvSpPr>
          <p:nvPr/>
        </p:nvSpPr>
        <p:spPr>
          <a:xfrm>
            <a:off x="624840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4 MW</a:t>
            </a:r>
          </a:p>
        </p:txBody>
      </p:sp>
      <p:sp>
        <p:nvSpPr>
          <p:cNvPr id="11" name="text-214">
            <a:extLst>
              <a:ext uri="{FF2B5EF4-FFF2-40B4-BE49-F238E27FC236}">
                <a16:creationId xmlns:a16="http://schemas.microsoft.com/office/drawing/2014/main" id="{5F940B23-0782-4BFD-BE2C-2FD5F577AA56}"/>
              </a:ext>
            </a:extLst>
          </p:cNvPr>
          <p:cNvSpPr>
            <a:spLocks noGrp="1"/>
          </p:cNvSpPr>
          <p:nvPr/>
        </p:nvSpPr>
        <p:spPr>
          <a:xfrm>
            <a:off x="901065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 MW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2305E9C-90CD-47E8-B4EC-107A897E2C70}"/>
              </a:ext>
            </a:extLst>
          </p:cNvPr>
          <p:cNvSpPr>
            <a:spLocks noGrp="1"/>
          </p:cNvSpPr>
          <p:nvPr/>
        </p:nvSpPr>
        <p:spPr>
          <a:xfrm>
            <a:off x="723900" y="3695700"/>
            <a:ext cx="10715625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215">
            <a:extLst>
              <a:ext uri="{FF2B5EF4-FFF2-40B4-BE49-F238E27FC236}">
                <a16:creationId xmlns:a16="http://schemas.microsoft.com/office/drawing/2014/main" id="{83DA1028-8091-43F5-B6F1-677CA924B95A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2476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A0F5"/>
                </a:solidFill>
                <a:latin typeface="Arial"/>
                <a:ea typeface="Arial"/>
                <a:cs typeface="Arial"/>
              </a:rPr>
              <a:t>BATTERY</a:t>
            </a:r>
          </a:p>
        </p:txBody>
      </p:sp>
      <p:sp>
        <p:nvSpPr>
          <p:cNvPr id="14" name="text-216">
            <a:extLst>
              <a:ext uri="{FF2B5EF4-FFF2-40B4-BE49-F238E27FC236}">
                <a16:creationId xmlns:a16="http://schemas.microsoft.com/office/drawing/2014/main" id="{C31C86BA-46F6-4626-ACB7-659A1F64E17C}"/>
              </a:ext>
            </a:extLst>
          </p:cNvPr>
          <p:cNvSpPr>
            <a:spLocks noGrp="1"/>
          </p:cNvSpPr>
          <p:nvPr/>
        </p:nvSpPr>
        <p:spPr>
          <a:xfrm>
            <a:off x="3209925" y="3962400"/>
            <a:ext cx="80962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70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3 MW maximum  •  12 MWh usable</a:t>
            </a:r>
          </a:p>
        </p:txBody>
      </p:sp>
      <p:sp>
        <p:nvSpPr>
          <p:cNvPr id="15" name="text-217">
            <a:extLst>
              <a:ext uri="{FF2B5EF4-FFF2-40B4-BE49-F238E27FC236}">
                <a16:creationId xmlns:a16="http://schemas.microsoft.com/office/drawing/2014/main" id="{4B62839B-64F0-4915-8943-F3E03A38543B}"/>
              </a:ext>
            </a:extLst>
          </p:cNvPr>
          <p:cNvSpPr>
            <a:spLocks noGrp="1"/>
          </p:cNvSpPr>
          <p:nvPr/>
        </p:nvSpPr>
        <p:spPr>
          <a:xfrm>
            <a:off x="723900" y="46958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Is the battery enough now? Propose a response.</a:t>
            </a:r>
          </a:p>
        </p:txBody>
      </p:sp>
      <p:sp>
        <p:nvSpPr>
          <p:cNvPr id="16" name="reveal-0">
            <a:extLst>
              <a:ext uri="{FF2B5EF4-FFF2-40B4-BE49-F238E27FC236}">
                <a16:creationId xmlns:a16="http://schemas.microsoft.com/office/drawing/2014/main" id="{620A4D50-43EF-4659-BF99-1A57F3210CED}"/>
              </a:ext>
            </a:extLst>
          </p:cNvPr>
          <p:cNvSpPr>
            <a:spLocks noGrp="1"/>
          </p:cNvSpPr>
          <p:nvPr/>
        </p:nvSpPr>
        <p:spPr>
          <a:xfrm>
            <a:off x="723900" y="536257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Gap: 5 MW for 4 hours = 20 MWh. Reduce demand by 2 MW, or add 2 MW of reliable supply.</a:t>
            </a:r>
          </a:p>
        </p:txBody>
      </p:sp>
      <p:sp>
        <p:nvSpPr>
          <p:cNvPr id="17" name="text-218">
            <a:extLst>
              <a:ext uri="{FF2B5EF4-FFF2-40B4-BE49-F238E27FC236}">
                <a16:creationId xmlns:a16="http://schemas.microsoft.com/office/drawing/2014/main" id="{8E1EDE23-13D0-4E80-8BBC-4A108DF675B8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Same four-hour scenario, but wind now supplies 1 MW throughout the period. No automatic grid imports are available.</a:t>
            </a:r>
          </a:p>
        </p:txBody>
      </p:sp>
      <p:sp>
        <p:nvSpPr>
          <p:cNvPr id="19" name="text-199">
            <a:extLst>
              <a:ext uri="{FF2B5EF4-FFF2-40B4-BE49-F238E27FC236}">
                <a16:creationId xmlns:a16="http://schemas.microsoft.com/office/drawing/2014/main" id="{23B02263-0F60-618B-83D1-24835C9B959B}"/>
              </a:ext>
            </a:extLst>
          </p:cNvPr>
          <p:cNvSpPr>
            <a:spLocks noGrp="1"/>
          </p:cNvSpPr>
          <p:nvPr/>
        </p:nvSpPr>
        <p:spPr>
          <a:xfrm>
            <a:off x="8626207" y="2133600"/>
            <a:ext cx="2956193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SOLAR</a:t>
            </a:r>
            <a:r>
              <a:rPr lang="en-US" sz="1650" b="1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 (Photovoltaic)</a:t>
            </a:r>
            <a:endParaRPr sz="1650" b="1" dirty="0">
              <a:solidFill>
                <a:srgbClr val="A9BE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219">
            <a:extLst>
              <a:ext uri="{FF2B5EF4-FFF2-40B4-BE49-F238E27FC236}">
                <a16:creationId xmlns:a16="http://schemas.microsoft.com/office/drawing/2014/main" id="{11D2412E-0EC0-494B-9C62-31A79ABAC76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TAKEAWAYS</a:t>
            </a:r>
          </a:p>
        </p:txBody>
      </p:sp>
      <p:sp>
        <p:nvSpPr>
          <p:cNvPr id="2" name="text-220">
            <a:extLst>
              <a:ext uri="{FF2B5EF4-FFF2-40B4-BE49-F238E27FC236}">
                <a16:creationId xmlns:a16="http://schemas.microsoft.com/office/drawing/2014/main" id="{9EFF4903-68D5-4F90-B195-DA552AE1E463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students should take away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770DBE1-7919-40DE-A558-F9C02A546D9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44 / 49</a:t>
            </a:r>
          </a:p>
        </p:txBody>
      </p:sp>
      <p:sp>
        <p:nvSpPr>
          <p:cNvPr id="4" name="text-221">
            <a:extLst>
              <a:ext uri="{FF2B5EF4-FFF2-40B4-BE49-F238E27FC236}">
                <a16:creationId xmlns:a16="http://schemas.microsoft.com/office/drawing/2014/main" id="{D5DB0B59-1523-48FA-8710-486E24A14F3A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476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5" name="text-222">
            <a:extLst>
              <a:ext uri="{FF2B5EF4-FFF2-40B4-BE49-F238E27FC236}">
                <a16:creationId xmlns:a16="http://schemas.microsoft.com/office/drawing/2014/main" id="{6A58CB1C-8627-4EC2-9952-8E893708541D}"/>
              </a:ext>
            </a:extLst>
          </p:cNvPr>
          <p:cNvSpPr>
            <a:spLocks noGrp="1"/>
          </p:cNvSpPr>
          <p:nvPr/>
        </p:nvSpPr>
        <p:spPr>
          <a:xfrm>
            <a:off x="3429000" y="2190750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Trace energy from its primary source to useful output.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FEB641A-56F6-4BBA-8070-9D10A313F8E1}"/>
              </a:ext>
            </a:extLst>
          </p:cNvPr>
          <p:cNvSpPr>
            <a:spLocks noGrp="1"/>
          </p:cNvSpPr>
          <p:nvPr/>
        </p:nvSpPr>
        <p:spPr>
          <a:xfrm>
            <a:off x="723900" y="30765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223">
            <a:extLst>
              <a:ext uri="{FF2B5EF4-FFF2-40B4-BE49-F238E27FC236}">
                <a16:creationId xmlns:a16="http://schemas.microsoft.com/office/drawing/2014/main" id="{63C58160-7B48-4A13-9D9D-A8C6C83F36EF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2476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Consequences</a:t>
            </a:r>
          </a:p>
        </p:txBody>
      </p:sp>
      <p:sp>
        <p:nvSpPr>
          <p:cNvPr id="8" name="text-224">
            <a:extLst>
              <a:ext uri="{FF2B5EF4-FFF2-40B4-BE49-F238E27FC236}">
                <a16:creationId xmlns:a16="http://schemas.microsoft.com/office/drawing/2014/main" id="{B90266A1-F3A0-4D1F-A40D-38E400761BCF}"/>
              </a:ext>
            </a:extLst>
          </p:cNvPr>
          <p:cNvSpPr>
            <a:spLocks noGrp="1"/>
          </p:cNvSpPr>
          <p:nvPr/>
        </p:nvSpPr>
        <p:spPr>
          <a:xfrm>
            <a:off x="3429000" y="3124200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Include land, water, wildlife, and affected communities.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21659B8-77E6-40B2-B22E-929EF29A8DE0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225">
            <a:extLst>
              <a:ext uri="{FF2B5EF4-FFF2-40B4-BE49-F238E27FC236}">
                <a16:creationId xmlns:a16="http://schemas.microsoft.com/office/drawing/2014/main" id="{1E087DBF-C7F3-49B0-AB46-6460C4CD8AF1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2476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1" name="text-226">
            <a:extLst>
              <a:ext uri="{FF2B5EF4-FFF2-40B4-BE49-F238E27FC236}">
                <a16:creationId xmlns:a16="http://schemas.microsoft.com/office/drawing/2014/main" id="{DFFF032F-6C25-44F6-B2D2-514B8F846836}"/>
              </a:ext>
            </a:extLst>
          </p:cNvPr>
          <p:cNvSpPr>
            <a:spLocks noGrp="1"/>
          </p:cNvSpPr>
          <p:nvPr/>
        </p:nvSpPr>
        <p:spPr>
          <a:xfrm>
            <a:off x="3429000" y="4057650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Match the solution to the specific impact and location.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67E9CF2-2931-4E07-B906-C507D2BB43CD}"/>
              </a:ext>
            </a:extLst>
          </p:cNvPr>
          <p:cNvSpPr>
            <a:spLocks noGrp="1"/>
          </p:cNvSpPr>
          <p:nvPr/>
        </p:nvSpPr>
        <p:spPr>
          <a:xfrm>
            <a:off x="723900" y="49434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227">
            <a:extLst>
              <a:ext uri="{FF2B5EF4-FFF2-40B4-BE49-F238E27FC236}">
                <a16:creationId xmlns:a16="http://schemas.microsoft.com/office/drawing/2014/main" id="{7A1015F6-062B-418B-9A2E-953345EA3504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2476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4" name="text-228">
            <a:extLst>
              <a:ext uri="{FF2B5EF4-FFF2-40B4-BE49-F238E27FC236}">
                <a16:creationId xmlns:a16="http://schemas.microsoft.com/office/drawing/2014/main" id="{E521AA29-AD9D-41DD-ACB1-E8F73B459896}"/>
              </a:ext>
            </a:extLst>
          </p:cNvPr>
          <p:cNvSpPr>
            <a:spLocks noGrp="1"/>
          </p:cNvSpPr>
          <p:nvPr/>
        </p:nvSpPr>
        <p:spPr>
          <a:xfrm>
            <a:off x="3429000" y="4991100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Check both the rate of supply and how long it can last.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229">
            <a:extLst>
              <a:ext uri="{FF2B5EF4-FFF2-40B4-BE49-F238E27FC236}">
                <a16:creationId xmlns:a16="http://schemas.microsoft.com/office/drawing/2014/main" id="{04F7C8CE-2ABB-4247-ACE3-93EE78279EA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CENTRAL QUESTION</a:t>
            </a:r>
          </a:p>
        </p:txBody>
      </p:sp>
      <p:sp>
        <p:nvSpPr>
          <p:cNvPr id="2" name="text-230">
            <a:extLst>
              <a:ext uri="{FF2B5EF4-FFF2-40B4-BE49-F238E27FC236}">
                <a16:creationId xmlns:a16="http://schemas.microsoft.com/office/drawing/2014/main" id="{4600C41C-886C-403F-909F-EC446A24064D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Returning to the central question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13083E8-3841-476F-AD0C-520EDF4CD26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45 / 49</a:t>
            </a:r>
          </a:p>
        </p:txBody>
      </p:sp>
      <p:sp>
        <p:nvSpPr>
          <p:cNvPr id="4" name="text-231">
            <a:extLst>
              <a:ext uri="{FF2B5EF4-FFF2-40B4-BE49-F238E27FC236}">
                <a16:creationId xmlns:a16="http://schemas.microsoft.com/office/drawing/2014/main" id="{BF4C042A-76E9-4AC9-B290-16DFC0930B46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10668000" cy="1133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Can we develop renewable energy resources to help sustain a thriving economy without adversely affecting the environment?</a:t>
            </a:r>
          </a:p>
        </p:txBody>
      </p:sp>
      <p:sp>
        <p:nvSpPr>
          <p:cNvPr id="5" name="reveal-0">
            <a:extLst>
              <a:ext uri="{FF2B5EF4-FFF2-40B4-BE49-F238E27FC236}">
                <a16:creationId xmlns:a16="http://schemas.microsoft.com/office/drawing/2014/main" id="{D01C9F85-72C2-47E9-90BA-C9B30C01ACFC}"/>
              </a:ext>
            </a:extLst>
          </p:cNvPr>
          <p:cNvSpPr>
            <a:spLocks noGrp="1"/>
          </p:cNvSpPr>
          <p:nvPr/>
        </p:nvSpPr>
        <p:spPr>
          <a:xfrm>
            <a:off x="714375" y="3476625"/>
            <a:ext cx="10668000" cy="1676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9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Renewables can support a thriving economy while reducing many harms. Their environmental performance depends on where and how we build and operate the system.</a:t>
            </a:r>
          </a:p>
        </p:txBody>
      </p:sp>
      <p:sp>
        <p:nvSpPr>
          <p:cNvPr id="6" name="text-232">
            <a:extLst>
              <a:ext uri="{FF2B5EF4-FFF2-40B4-BE49-F238E27FC236}">
                <a16:creationId xmlns:a16="http://schemas.microsoft.com/office/drawing/2014/main" id="{6226A473-2D86-49E1-A993-44914D03CEA9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1057275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6"/>
                </a:solidFill>
                <a:latin typeface="Arial"/>
                <a:ea typeface="Arial"/>
                <a:cs typeface="Arial"/>
              </a:rPr>
              <a:t>Zero impact is not a realistic promise</a:t>
            </a:r>
          </a:p>
          <a:p>
            <a:pPr marL="304800" indent="-190500" algn="l">
              <a:spcAft>
                <a:spcPts val="1800"/>
              </a:spcAft>
              <a:buChar char="•"/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6"/>
                </a:solidFill>
                <a:latin typeface="Arial"/>
                <a:ea typeface="Arial"/>
                <a:cs typeface="Arial"/>
              </a:rPr>
              <a:t>Lower demand, careful siting, and verified safeguards improve the outcome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233">
            <a:extLst>
              <a:ext uri="{FF2B5EF4-FFF2-40B4-BE49-F238E27FC236}">
                <a16:creationId xmlns:a16="http://schemas.microsoft.com/office/drawing/2014/main" id="{7E3CE922-1656-4BA4-A1E5-D16C0403D2E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TAKEAWAYS</a:t>
            </a:r>
          </a:p>
        </p:txBody>
      </p:sp>
      <p:sp>
        <p:nvSpPr>
          <p:cNvPr id="2" name="text-234">
            <a:extLst>
              <a:ext uri="{FF2B5EF4-FFF2-40B4-BE49-F238E27FC236}">
                <a16:creationId xmlns:a16="http://schemas.microsoft.com/office/drawing/2014/main" id="{0729EB22-671C-4C56-BE22-46CF8683F362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Renewable energy and you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5DEDA1F-D5E2-43B5-8370-32E04BC3C9B5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46 / 49</a:t>
            </a:r>
          </a:p>
        </p:txBody>
      </p:sp>
      <p:sp>
        <p:nvSpPr>
          <p:cNvPr id="4" name="text-235">
            <a:extLst>
              <a:ext uri="{FF2B5EF4-FFF2-40B4-BE49-F238E27FC236}">
                <a16:creationId xmlns:a16="http://schemas.microsoft.com/office/drawing/2014/main" id="{8EBF0C82-2235-45D0-BDD7-EF61F2EAE178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0648950" cy="3819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Reduce avoidable energy use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Choose efficient buildings, appliances, and transport where feasible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Evaluate energy proposals using evidence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Participate in local decisions and ask who benefits</a:t>
            </a:r>
          </a:p>
        </p:txBody>
      </p:sp>
      <p:sp>
        <p:nvSpPr>
          <p:cNvPr id="5" name="text-236">
            <a:extLst>
              <a:ext uri="{FF2B5EF4-FFF2-40B4-BE49-F238E27FC236}">
                <a16:creationId xmlns:a16="http://schemas.microsoft.com/office/drawing/2014/main" id="{248B958B-7913-4346-8223-3BD7C23DDB90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Individual choices matter alongside action by institutions, industry, and government.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237">
            <a:extLst>
              <a:ext uri="{FF2B5EF4-FFF2-40B4-BE49-F238E27FC236}">
                <a16:creationId xmlns:a16="http://schemas.microsoft.com/office/drawing/2014/main" id="{1BDA3CF6-56B6-49E4-9326-170D4FFAACB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DISCUSSION</a:t>
            </a:r>
          </a:p>
        </p:txBody>
      </p:sp>
      <p:sp>
        <p:nvSpPr>
          <p:cNvPr id="2" name="text-238">
            <a:extLst>
              <a:ext uri="{FF2B5EF4-FFF2-40B4-BE49-F238E27FC236}">
                <a16:creationId xmlns:a16="http://schemas.microsoft.com/office/drawing/2014/main" id="{6637AA5F-B34E-4B8A-B3D1-42CBF0731FF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questions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197D0ED-E75F-42B8-A0B4-1FD64FAFF4A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47 / 49</a:t>
            </a:r>
          </a:p>
        </p:txBody>
      </p:sp>
      <p:sp>
        <p:nvSpPr>
          <p:cNvPr id="4" name="text-239">
            <a:extLst>
              <a:ext uri="{FF2B5EF4-FFF2-40B4-BE49-F238E27FC236}">
                <a16:creationId xmlns:a16="http://schemas.microsoft.com/office/drawing/2014/main" id="{7CE46F1E-8428-4E97-B811-8340A9780C98}"/>
              </a:ext>
            </a:extLst>
          </p:cNvPr>
          <p:cNvSpPr>
            <a:spLocks noGrp="1"/>
          </p:cNvSpPr>
          <p:nvPr/>
        </p:nvSpPr>
        <p:spPr>
          <a:xfrm>
            <a:off x="714375" y="2114550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240">
            <a:extLst>
              <a:ext uri="{FF2B5EF4-FFF2-40B4-BE49-F238E27FC236}">
                <a16:creationId xmlns:a16="http://schemas.microsoft.com/office/drawing/2014/main" id="{003E2757-7E2F-4B25-9ACC-404A6007D162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Why can a renewable energy project still harm an ecosystem?</a:t>
            </a:r>
          </a:p>
        </p:txBody>
      </p:sp>
      <p:sp>
        <p:nvSpPr>
          <p:cNvPr id="6" name="reveal-0">
            <a:extLst>
              <a:ext uri="{FF2B5EF4-FFF2-40B4-BE49-F238E27FC236}">
                <a16:creationId xmlns:a16="http://schemas.microsoft.com/office/drawing/2014/main" id="{9D600E13-E2B4-410A-8B52-8A4873EF7D71}"/>
              </a:ext>
            </a:extLst>
          </p:cNvPr>
          <p:cNvSpPr>
            <a:spLocks noGrp="1"/>
          </p:cNvSpPr>
          <p:nvPr/>
        </p:nvSpPr>
        <p:spPr>
          <a:xfrm>
            <a:off x="1428750" y="2600325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Infrastructure, resource use, and operation can change habitats and communities.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777A829-AB05-4FE1-A851-0026676BBCAA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990600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241">
            <a:extLst>
              <a:ext uri="{FF2B5EF4-FFF2-40B4-BE49-F238E27FC236}">
                <a16:creationId xmlns:a16="http://schemas.microsoft.com/office/drawing/2014/main" id="{5B481935-9B95-4BD5-A457-F8057C9CF95F}"/>
              </a:ext>
            </a:extLst>
          </p:cNvPr>
          <p:cNvSpPr>
            <a:spLocks noGrp="1"/>
          </p:cNvSpPr>
          <p:nvPr/>
        </p:nvSpPr>
        <p:spPr>
          <a:xfrm>
            <a:off x="714375" y="3400425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42">
            <a:extLst>
              <a:ext uri="{FF2B5EF4-FFF2-40B4-BE49-F238E27FC236}">
                <a16:creationId xmlns:a16="http://schemas.microsoft.com/office/drawing/2014/main" id="{69162652-0424-45E2-8883-FDA214B99137}"/>
              </a:ext>
            </a:extLst>
          </p:cNvPr>
          <p:cNvSpPr>
            <a:spLocks noGrp="1"/>
          </p:cNvSpPr>
          <p:nvPr/>
        </p:nvSpPr>
        <p:spPr>
          <a:xfrm>
            <a:off x="1428750" y="3400425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Which change could reduce bat fatalities at a wind farm?</a:t>
            </a:r>
          </a:p>
        </p:txBody>
      </p:sp>
      <p:sp>
        <p:nvSpPr>
          <p:cNvPr id="10" name="reveal-1">
            <a:extLst>
              <a:ext uri="{FF2B5EF4-FFF2-40B4-BE49-F238E27FC236}">
                <a16:creationId xmlns:a16="http://schemas.microsoft.com/office/drawing/2014/main" id="{F1868D4B-10F3-4029-BE58-F56CCF5106C8}"/>
              </a:ext>
            </a:extLst>
          </p:cNvPr>
          <p:cNvSpPr>
            <a:spLocks noGrp="1"/>
          </p:cNvSpPr>
          <p:nvPr/>
        </p:nvSpPr>
        <p:spPr>
          <a:xfrm>
            <a:off x="1428750" y="388620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Reduce rotor motion during high-risk low-wind periods, then monitor results.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F3AFDE7-2134-4E3E-806B-469092D700AD}"/>
              </a:ext>
            </a:extLst>
          </p:cNvPr>
          <p:cNvSpPr>
            <a:spLocks noGrp="1"/>
          </p:cNvSpPr>
          <p:nvPr/>
        </p:nvSpPr>
        <p:spPr>
          <a:xfrm>
            <a:off x="1428750" y="4572000"/>
            <a:ext cx="990600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243">
            <a:extLst>
              <a:ext uri="{FF2B5EF4-FFF2-40B4-BE49-F238E27FC236}">
                <a16:creationId xmlns:a16="http://schemas.microsoft.com/office/drawing/2014/main" id="{A11FF19D-5C20-4A62-AC43-E662163AA310}"/>
              </a:ext>
            </a:extLst>
          </p:cNvPr>
          <p:cNvSpPr>
            <a:spLocks noGrp="1"/>
          </p:cNvSpPr>
          <p:nvPr/>
        </p:nvSpPr>
        <p:spPr>
          <a:xfrm>
            <a:off x="714375" y="4686300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244">
            <a:extLst>
              <a:ext uri="{FF2B5EF4-FFF2-40B4-BE49-F238E27FC236}">
                <a16:creationId xmlns:a16="http://schemas.microsoft.com/office/drawing/2014/main" id="{43E94C4D-BA41-473E-A221-03BAB4860E68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Why is a 3 MW battery rating insufficient to describe its usefulness?</a:t>
            </a:r>
          </a:p>
        </p:txBody>
      </p:sp>
      <p:sp>
        <p:nvSpPr>
          <p:cNvPr id="14" name="reveal-2">
            <a:extLst>
              <a:ext uri="{FF2B5EF4-FFF2-40B4-BE49-F238E27FC236}">
                <a16:creationId xmlns:a16="http://schemas.microsoft.com/office/drawing/2014/main" id="{F2F26ACD-BDBA-4D4E-B212-1BF3F2C9CEFD}"/>
              </a:ext>
            </a:extLst>
          </p:cNvPr>
          <p:cNvSpPr>
            <a:spLocks noGrp="1"/>
          </p:cNvSpPr>
          <p:nvPr/>
        </p:nvSpPr>
        <p:spPr>
          <a:xfrm>
            <a:off x="1428750" y="5172075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We also need usable MWh capacity to know how long it can supply power.</a:t>
            </a:r>
          </a:p>
        </p:txBody>
      </p:sp>
      <p:sp>
        <p:nvSpPr>
          <p:cNvPr id="15" name="text-245">
            <a:extLst>
              <a:ext uri="{FF2B5EF4-FFF2-40B4-BE49-F238E27FC236}">
                <a16:creationId xmlns:a16="http://schemas.microsoft.com/office/drawing/2014/main" id="{075A4D61-AC57-4410-8E4E-3D1F27E61B56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Explain a mechanism, a mitigation, and one limitation.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it question 4"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">
            <a:extLst>
              <a:ext uri="{FF2B5EF4-FFF2-40B4-BE49-F238E27FC236}">
                <a16:creationId xmlns:a16="http://schemas.microsoft.com/office/drawing/2014/main" id="{537327AB-85E0-458A-AF23-30F263C0796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DISCUSSION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94251488-9168-47D1-AA57-A1207B62193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D8E4E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D8E4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4EB"/>
                </a:solidFill>
                <a:latin typeface="Arial"/>
                <a:ea typeface="Arial"/>
                <a:cs typeface="Arial"/>
              </a:rPr>
              <a:t>48 / 49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073C84D-3961-4668-AD23-13DD0FFE39A2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question 4</a:t>
            </a:r>
          </a:p>
        </p:txBody>
      </p:sp>
      <p:sp>
        <p:nvSpPr>
          <p:cNvPr id="4" name="question">
            <a:extLst>
              <a:ext uri="{FF2B5EF4-FFF2-40B4-BE49-F238E27FC236}">
                <a16:creationId xmlns:a16="http://schemas.microsoft.com/office/drawing/2014/main" id="{4059B3F5-BADB-4F80-A810-8C9DC4DBFE82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3EDF4"/>
                </a:solidFill>
                <a:latin typeface="Arial"/>
                <a:ea typeface="Arial"/>
                <a:cs typeface="Arial"/>
              </a:rPr>
              <a:t>What is the difference between these systems, if any?</a:t>
            </a:r>
          </a:p>
        </p:txBody>
      </p:sp>
      <p:sp>
        <p:nvSpPr>
          <p:cNvPr id="5" name="system-pv">
            <a:extLst>
              <a:ext uri="{FF2B5EF4-FFF2-40B4-BE49-F238E27FC236}">
                <a16:creationId xmlns:a16="http://schemas.microsoft.com/office/drawing/2014/main" id="{E33F9E67-8C8F-4617-AF1A-AE254D7A51C1}"/>
              </a:ext>
            </a:extLst>
          </p:cNvPr>
          <p:cNvSpPr>
            <a:spLocks noGrp="1"/>
          </p:cNvSpPr>
          <p:nvPr/>
        </p:nvSpPr>
        <p:spPr>
          <a:xfrm>
            <a:off x="609600" y="2314575"/>
            <a:ext cx="335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EDF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14AA40-3E57-4FFB-BB7B-45D7E1A4D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09600" y="2716213"/>
            <a:ext cx="3352800" cy="2235200"/>
          </a:xfrm>
          <a:prstGeom prst="rect">
            <a:avLst/>
          </a:prstGeom>
        </p:spPr>
      </p:pic>
      <p:sp>
        <p:nvSpPr>
          <p:cNvPr id="7" name="reveal-name-pv">
            <a:extLst>
              <a:ext uri="{FF2B5EF4-FFF2-40B4-BE49-F238E27FC236}">
                <a16:creationId xmlns:a16="http://schemas.microsoft.com/office/drawing/2014/main" id="{7E01831B-E840-4DF5-996E-5C1151E6737D}"/>
              </a:ext>
            </a:extLst>
          </p:cNvPr>
          <p:cNvSpPr>
            <a:spLocks noGrp="1"/>
          </p:cNvSpPr>
          <p:nvPr/>
        </p:nvSpPr>
        <p:spPr>
          <a:xfrm>
            <a:off x="609600" y="5076825"/>
            <a:ext cx="3352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63D5E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63D5E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3D5E1"/>
                </a:solidFill>
                <a:latin typeface="Arial"/>
                <a:ea typeface="Arial"/>
                <a:cs typeface="Arial"/>
              </a:rPr>
              <a:t>Photovoltaic panels</a:t>
            </a:r>
          </a:p>
        </p:txBody>
      </p:sp>
      <p:sp>
        <p:nvSpPr>
          <p:cNvPr id="8" name="reveal-detail-pv">
            <a:extLst>
              <a:ext uri="{FF2B5EF4-FFF2-40B4-BE49-F238E27FC236}">
                <a16:creationId xmlns:a16="http://schemas.microsoft.com/office/drawing/2014/main" id="{6A1C4FC2-FD6F-4ECD-B074-AAEBE7EF8E55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33528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Solar electricity</a:t>
            </a:r>
          </a:p>
        </p:txBody>
      </p:sp>
      <p:sp>
        <p:nvSpPr>
          <p:cNvPr id="9" name="reveal-answer-pv">
            <a:extLst>
              <a:ext uri="{FF2B5EF4-FFF2-40B4-BE49-F238E27FC236}">
                <a16:creationId xmlns:a16="http://schemas.microsoft.com/office/drawing/2014/main" id="{11BBDF14-153B-4825-B18B-43D69992B429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33528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Converts sunlight</a:t>
            </a:r>
          </a:p>
          <a:p>
            <a: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into electricity</a:t>
            </a:r>
          </a:p>
        </p:txBody>
      </p:sp>
      <p:sp>
        <p:nvSpPr>
          <p:cNvPr id="10" name="system-thermal">
            <a:extLst>
              <a:ext uri="{FF2B5EF4-FFF2-40B4-BE49-F238E27FC236}">
                <a16:creationId xmlns:a16="http://schemas.microsoft.com/office/drawing/2014/main" id="{4FE01B4E-0E99-481F-B0AE-33C546D5912B}"/>
              </a:ext>
            </a:extLst>
          </p:cNvPr>
          <p:cNvSpPr>
            <a:spLocks noGrp="1"/>
          </p:cNvSpPr>
          <p:nvPr/>
        </p:nvSpPr>
        <p:spPr>
          <a:xfrm>
            <a:off x="4419600" y="2314575"/>
            <a:ext cx="335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EDF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9669E9-EF96-445C-B75A-76F232A16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19600" y="2716213"/>
            <a:ext cx="3352800" cy="2235200"/>
          </a:xfrm>
          <a:prstGeom prst="rect">
            <a:avLst/>
          </a:prstGeom>
        </p:spPr>
      </p:pic>
      <p:sp>
        <p:nvSpPr>
          <p:cNvPr id="12" name="reveal-name-thermal">
            <a:extLst>
              <a:ext uri="{FF2B5EF4-FFF2-40B4-BE49-F238E27FC236}">
                <a16:creationId xmlns:a16="http://schemas.microsoft.com/office/drawing/2014/main" id="{A3CEE4AB-73A0-4242-A101-1B06A716C005}"/>
              </a:ext>
            </a:extLst>
          </p:cNvPr>
          <p:cNvSpPr>
            <a:spLocks noGrp="1"/>
          </p:cNvSpPr>
          <p:nvPr/>
        </p:nvSpPr>
        <p:spPr>
          <a:xfrm>
            <a:off x="4419600" y="5076825"/>
            <a:ext cx="3352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Solar water heater</a:t>
            </a:r>
          </a:p>
        </p:txBody>
      </p:sp>
      <p:sp>
        <p:nvSpPr>
          <p:cNvPr id="13" name="reveal-detail-thermal">
            <a:extLst>
              <a:ext uri="{FF2B5EF4-FFF2-40B4-BE49-F238E27FC236}">
                <a16:creationId xmlns:a16="http://schemas.microsoft.com/office/drawing/2014/main" id="{A5812E15-8136-40A5-9274-269D71D72343}"/>
              </a:ext>
            </a:extLst>
          </p:cNvPr>
          <p:cNvSpPr>
            <a:spLocks noGrp="1"/>
          </p:cNvSpPr>
          <p:nvPr/>
        </p:nvSpPr>
        <p:spPr>
          <a:xfrm>
            <a:off x="4419600" y="5467350"/>
            <a:ext cx="33528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Tank on the roof</a:t>
            </a:r>
          </a:p>
        </p:txBody>
      </p:sp>
      <p:sp>
        <p:nvSpPr>
          <p:cNvPr id="14" name="reveal-answer-thermal">
            <a:extLst>
              <a:ext uri="{FF2B5EF4-FFF2-40B4-BE49-F238E27FC236}">
                <a16:creationId xmlns:a16="http://schemas.microsoft.com/office/drawing/2014/main" id="{C7CEFDD4-54B2-4BAA-B394-15B2AE04D359}"/>
              </a:ext>
            </a:extLst>
          </p:cNvPr>
          <p:cNvSpPr>
            <a:spLocks noGrp="1"/>
          </p:cNvSpPr>
          <p:nvPr/>
        </p:nvSpPr>
        <p:spPr>
          <a:xfrm>
            <a:off x="4419600" y="5905500"/>
            <a:ext cx="33528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Uses solar heat</a:t>
            </a:r>
          </a:p>
          <a:p>
            <a: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to warm water</a:t>
            </a:r>
          </a:p>
        </p:txBody>
      </p:sp>
      <p:sp>
        <p:nvSpPr>
          <p:cNvPr id="15" name="system-flatplate">
            <a:extLst>
              <a:ext uri="{FF2B5EF4-FFF2-40B4-BE49-F238E27FC236}">
                <a16:creationId xmlns:a16="http://schemas.microsoft.com/office/drawing/2014/main" id="{0B6958C3-D5C9-4984-B637-7ED45E532021}"/>
              </a:ext>
            </a:extLst>
          </p:cNvPr>
          <p:cNvSpPr>
            <a:spLocks noGrp="1"/>
          </p:cNvSpPr>
          <p:nvPr/>
        </p:nvSpPr>
        <p:spPr>
          <a:xfrm>
            <a:off x="8229600" y="2314575"/>
            <a:ext cx="335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EDF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7FAEA17-07DE-4842-B8BB-9B504060F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29600" y="2716213"/>
            <a:ext cx="3352800" cy="2235200"/>
          </a:xfrm>
          <a:prstGeom prst="rect">
            <a:avLst/>
          </a:prstGeom>
        </p:spPr>
      </p:pic>
      <p:sp>
        <p:nvSpPr>
          <p:cNvPr id="17" name="reveal-name-flatplate">
            <a:extLst>
              <a:ext uri="{FF2B5EF4-FFF2-40B4-BE49-F238E27FC236}">
                <a16:creationId xmlns:a16="http://schemas.microsoft.com/office/drawing/2014/main" id="{EFA8D55F-8794-4082-A8B9-F60CE90894E3}"/>
              </a:ext>
            </a:extLst>
          </p:cNvPr>
          <p:cNvSpPr>
            <a:spLocks noGrp="1"/>
          </p:cNvSpPr>
          <p:nvPr/>
        </p:nvSpPr>
        <p:spPr>
          <a:xfrm>
            <a:off x="8229600" y="5076825"/>
            <a:ext cx="3352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Solar water heater</a:t>
            </a:r>
          </a:p>
        </p:txBody>
      </p:sp>
      <p:sp>
        <p:nvSpPr>
          <p:cNvPr id="18" name="reveal-detail-flatplate">
            <a:extLst>
              <a:ext uri="{FF2B5EF4-FFF2-40B4-BE49-F238E27FC236}">
                <a16:creationId xmlns:a16="http://schemas.microsoft.com/office/drawing/2014/main" id="{5BAE9428-036A-4DC4-B745-46D42483EB05}"/>
              </a:ext>
            </a:extLst>
          </p:cNvPr>
          <p:cNvSpPr>
            <a:spLocks noGrp="1"/>
          </p:cNvSpPr>
          <p:nvPr/>
        </p:nvSpPr>
        <p:spPr>
          <a:xfrm>
            <a:off x="8229600" y="5467350"/>
            <a:ext cx="33528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Tank inside the building</a:t>
            </a:r>
          </a:p>
        </p:txBody>
      </p:sp>
      <p:sp>
        <p:nvSpPr>
          <p:cNvPr id="19" name="reveal-answer-flatplate">
            <a:extLst>
              <a:ext uri="{FF2B5EF4-FFF2-40B4-BE49-F238E27FC236}">
                <a16:creationId xmlns:a16="http://schemas.microsoft.com/office/drawing/2014/main" id="{CE1B5F61-4245-4C6B-A43A-EBAAF4789F8E}"/>
              </a:ext>
            </a:extLst>
          </p:cNvPr>
          <p:cNvSpPr>
            <a:spLocks noGrp="1"/>
          </p:cNvSpPr>
          <p:nvPr/>
        </p:nvSpPr>
        <p:spPr>
          <a:xfrm>
            <a:off x="8229600" y="5905500"/>
            <a:ext cx="33528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Uses solar heat</a:t>
            </a:r>
          </a:p>
          <a:p>
            <a:pPr algn="ctr">
              <a:defRPr sz="172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to warm water</a:t>
            </a:r>
          </a:p>
        </p:txBody>
      </p:sp>
      <p:sp>
        <p:nvSpPr>
          <p:cNvPr id="20" name="artwork-credit">
            <a:extLst>
              <a:ext uri="{FF2B5EF4-FFF2-40B4-BE49-F238E27FC236}">
                <a16:creationId xmlns:a16="http://schemas.microsoft.com/office/drawing/2014/main" id="{C45677B1-3F81-48C1-A13F-7B12D86AA14E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286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75" b="0">
                <a:solidFill>
                  <a:srgbClr val="A3B7C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A3B7C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3B7C5"/>
                </a:solidFill>
                <a:latin typeface="Arial"/>
                <a:ea typeface="Arial"/>
                <a:cs typeface="Arial"/>
              </a:rPr>
              <a:t>Illustrations</a:t>
            </a:r>
          </a:p>
        </p:txBody>
      </p:sp>
    </p:spTree>
    <p:extLst>
      <p:ext uri="{BB962C8B-B14F-4D97-AF65-F5344CB8AC3E}">
        <p14:creationId xmlns:p14="http://schemas.microsoft.com/office/powerpoint/2010/main" val="887112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3" grpId="0"/>
      <p:bldP spid="14" grpId="0"/>
      <p:bldP spid="17" grpId="0"/>
      <p:bldP spid="18" grpId="0"/>
      <p:bldP spid="1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s, further reading and closing">
    <p:bg>
      <p:bgPr>
        <a:solidFill>
          <a:srgbClr val="001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6581A24A-91CE-4A66-8F8C-4276B165E66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REFERENCES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9AA1232C-34C0-42F1-8C59-17DE08E7F911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D8E4E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D8E4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4EB"/>
                </a:solidFill>
                <a:latin typeface="Arial"/>
                <a:ea typeface="Arial"/>
                <a:cs typeface="Arial"/>
              </a:rPr>
              <a:t>49 / 49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613C579-92A7-4353-BD48-91D0BF86BDCB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096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Sources and further reading</a:t>
            </a:r>
          </a:p>
        </p:txBody>
      </p:sp>
      <p:sp>
        <p:nvSpPr>
          <p:cNvPr id="4" name="primary-label">
            <a:extLst>
              <a:ext uri="{FF2B5EF4-FFF2-40B4-BE49-F238E27FC236}">
                <a16:creationId xmlns:a16="http://schemas.microsoft.com/office/drawing/2014/main" id="{01AD35F9-E132-4F38-996F-1E0AC4621947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PRIMARY COURSE SOURCE</a:t>
            </a:r>
          </a:p>
        </p:txBody>
      </p:sp>
      <p:sp>
        <p:nvSpPr>
          <p:cNvPr id="5" name="book">
            <a:extLst>
              <a:ext uri="{FF2B5EF4-FFF2-40B4-BE49-F238E27FC236}">
                <a16:creationId xmlns:a16="http://schemas.microsoft.com/office/drawing/2014/main" id="{4B172355-CCA6-4297-AD38-0285A520CE4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619750" cy="1038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Molles &amp; Borrell (2016)</a:t>
            </a:r>
          </a:p>
          <a:p>
            <a:pPr algn="l">
              <a:defRPr sz="187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Environment: Science, Issues, Solutions</a:t>
            </a:r>
          </a:p>
          <a:p>
            <a:pPr algn="l">
              <a:defRPr sz="187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Chapter 10: Renewable Energy</a:t>
            </a:r>
          </a:p>
        </p:txBody>
      </p:sp>
      <p:sp>
        <p:nvSpPr>
          <p:cNvPr id="6" name="support-label">
            <a:extLst>
              <a:ext uri="{FF2B5EF4-FFF2-40B4-BE49-F238E27FC236}">
                <a16:creationId xmlns:a16="http://schemas.microsoft.com/office/drawing/2014/main" id="{71B1F7AE-8E0C-43D7-8085-88946DA16222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63D5E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63D5E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3D5E1"/>
                </a:solidFill>
                <a:latin typeface="Arial"/>
                <a:ea typeface="Arial"/>
                <a:cs typeface="Arial"/>
              </a:rPr>
              <a:t>MECHANISMS AND EMPIRICAL EVIDENCE</a:t>
            </a:r>
          </a:p>
        </p:txBody>
      </p:sp>
      <p:sp>
        <p:nvSpPr>
          <p:cNvPr id="7" name="support">
            <a:extLst>
              <a:ext uri="{FF2B5EF4-FFF2-40B4-BE49-F238E27FC236}">
                <a16:creationId xmlns:a16="http://schemas.microsoft.com/office/drawing/2014/main" id="{6AA8C270-505F-4131-BD1E-4AEFEC332443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5429250" cy="1600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U.S. Department of Energy</a:t>
            </a:r>
          </a:p>
          <a:p>
            <a:pPr algn="l">
              <a:defRPr sz="157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Solar, wind, geothermal, and storage</a:t>
            </a:r>
          </a:p>
          <a:p>
            <a:endParaRPr sz="1575" b="0">
              <a:solidFill>
                <a:srgbClr val="E3EDF4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Baerwald et al. (2009)</a:t>
            </a:r>
          </a:p>
          <a:p>
            <a:pPr algn="l">
              <a:defRPr sz="157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Turbine operation and bat fatalities</a:t>
            </a:r>
          </a:p>
          <a:p>
            <a:pPr algn="l">
              <a:defRPr sz="157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The Journal of Wildlife Management</a:t>
            </a:r>
          </a:p>
          <a:p>
            <a:pPr algn="l">
              <a:defRPr sz="1575" b="0">
                <a:solidFill>
                  <a:srgbClr val="E3ED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3EDF4"/>
                </a:solidFill>
                <a:latin typeface="Arial"/>
                <a:ea typeface="Arial"/>
                <a:cs typeface="Arial"/>
              </a:rPr>
              <a:t>doi:10.2193/2008-233</a:t>
            </a:r>
          </a:p>
        </p:txBody>
      </p:sp>
      <p:pic>
        <p:nvPicPr>
          <p:cNvPr id="8" name="closing-microgrid">
            <a:extLst>
              <a:ext uri="{FF2B5EF4-FFF2-40B4-BE49-F238E27FC236}">
                <a16:creationId xmlns:a16="http://schemas.microsoft.com/office/drawing/2014/main" id="{4B6A2AEB-D0E2-437F-A3E4-B5625EC45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286500" y="2286000"/>
            <a:ext cx="5410200" cy="3044855"/>
          </a:xfrm>
          <a:prstGeom prst="rect">
            <a:avLst/>
          </a:prstGeom>
        </p:spPr>
      </p:pic>
      <p:sp>
        <p:nvSpPr>
          <p:cNvPr id="10" name="closing-thanks">
            <a:extLst>
              <a:ext uri="{FF2B5EF4-FFF2-40B4-BE49-F238E27FC236}">
                <a16:creationId xmlns:a16="http://schemas.microsoft.com/office/drawing/2014/main" id="{3A6F8CEA-81ED-4215-A11F-D085E48DDCE9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 for your attention</a:t>
            </a:r>
          </a:p>
        </p:txBody>
      </p:sp>
      <p:sp>
        <p:nvSpPr>
          <p:cNvPr id="11" name="closing-study-label">
            <a:hlinkClick r:id="rId3"/>
            <a:extLst>
              <a:ext uri="{FF2B5EF4-FFF2-40B4-BE49-F238E27FC236}">
                <a16:creationId xmlns:a16="http://schemas.microsoft.com/office/drawing/2014/main" id="{1A47E1FD-FD74-45E2-BBEC-457FEE2C2D6B}"/>
              </a:ext>
            </a:extLst>
          </p:cNvPr>
          <p:cNvSpPr>
            <a:spLocks noGrp="1"/>
          </p:cNvSpPr>
          <p:nvPr/>
        </p:nvSpPr>
        <p:spPr>
          <a:xfrm>
            <a:off x="609600" y="621982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0">
                <a:solidFill>
                  <a:srgbClr val="79DFD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79DFDB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79DFDB"/>
                </a:solidFill>
                <a:latin typeface="Arial"/>
                <a:ea typeface="Arial"/>
                <a:cs typeface="Arial"/>
                <a:hlinkClick r:id="rId3"/>
              </a:rPr>
              <a:t>Practice Chapters 9 and 10 in the Exam Center</a:t>
            </a:r>
          </a:p>
        </p:txBody>
      </p:sp>
      <p:sp>
        <p:nvSpPr>
          <p:cNvPr id="12" name="closing-study-url">
            <a:hlinkClick r:id="rId3"/>
            <a:extLst>
              <a:ext uri="{FF2B5EF4-FFF2-40B4-BE49-F238E27FC236}">
                <a16:creationId xmlns:a16="http://schemas.microsoft.com/office/drawing/2014/main" id="{0720E5B2-F616-488C-AAB2-CA3FE6DAD46B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350" b="0">
                <a:solidFill>
                  <a:srgbClr val="D8E4E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0">
                <a:solidFill>
                  <a:srgbClr val="D8E4EB"/>
                </a:solidFill>
                <a:latin typeface="Arial"/>
                <a:ea typeface="Arial"/>
                <a:cs typeface="Arial"/>
              </a:defRPr>
            </a:pPr>
            <a:r>
              <a:rPr sz="1350" b="0" u="sng">
                <a:solidFill>
                  <a:srgbClr val="D8E4EB"/>
                </a:solidFill>
                <a:latin typeface="Arial"/>
                <a:ea typeface="Arial"/>
                <a:cs typeface="Arial"/>
                <a:hlinkClick r:id="rId3"/>
              </a:rPr>
              <a:t>https://emohellebi.github.io/teaching/courses/environmental-science/exam-center/</a:t>
            </a:r>
          </a:p>
        </p:txBody>
      </p:sp>
      <p:grpSp>
        <p:nvGrpSpPr>
          <p:cNvPr id="8000" name="rotating-turbine-fixed-hub"/>
          <p:cNvGrpSpPr/>
          <p:nvPr/>
        </p:nvGrpSpPr>
        <p:grpSpPr>
          <a:xfrm>
            <a:off x="6515465" y="1505406"/>
            <a:ext cx="2286000" cy="2286000"/>
            <a:chOff x="6515465" y="1505406"/>
            <a:chExt cx="2286000" cy="2286000"/>
          </a:xfrm>
        </p:grpSpPr>
        <p:sp>
          <p:nvSpPr>
            <p:cNvPr id="8001" name="rotation-center-anchor"/>
            <p:cNvSpPr/>
            <p:nvPr/>
          </p:nvSpPr>
          <p:spPr>
            <a:xfrm>
              <a:off x="6515465" y="1505406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closing-rotor">
              <a:extLst>
                <a:ext uri="{FF2B5EF4-FFF2-40B4-BE49-F238E27FC236}">
                  <a16:creationId xmlns:a16="http://schemas.microsoft.com/office/drawing/2014/main" id="{D33B7535-B4CB-402E-9C1F-D3B5141C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/>
          </p:blipFill>
          <p:spPr>
            <a:xfrm>
              <a:off x="6757627" y="1580792"/>
              <a:ext cx="1809750" cy="1809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1232591"/>
      </p:ext>
    </p:extLst>
  </p:cSld>
  <p:clrMapOvr>
    <a:overrideClrMapping bg1="lt1" tx1="dk1" bg2="lt2" tx2="dk2" accent1="accent1" accent2="accent2" accent3="accent3" accent4="accent4" accent5="accent5" accent6="accent6" hlink="accent4" folHlink="accent4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2000" fill="hold"/>
                                        <p:tgtEl>
                                          <p:spTgt spid="80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2868</Words>
  <Application>Microsoft Macintosh PowerPoint</Application>
  <DocSecurity>0</DocSecurity>
  <PresentationFormat>Widescreen</PresentationFormat>
  <Paragraphs>475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Elias Zakaria Mohellebi</cp:lastModifiedBy>
  <cp:revision>1</cp:revision>
  <dcterms:created xsi:type="dcterms:W3CDTF">2026-10-15T16:14:51Z</dcterms:created>
  <dcterms:modified xsi:type="dcterms:W3CDTF">2026-10-20T21:54:29Z</dcterms:modified>
</cp:coreProperties>
</file>